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本页根据用户提供的1672×941可见参考图重建。标题、段落、流程节点、图标、边框、连接箭头、指标数字及散点/Pareto示意图均为PowerPoint原生可编辑对象。</a:t>
            </a:r>
          </a:p>
          <a:p>
            <a:r>
              <a:t>EGFR蛋白和对接复合物复用仓库此前EGFR PPT中的对应插图，作为可替换图片保留；对接图为适应版式做了旋转。没有调用图像生成模型。</a:t>
            </a:r>
          </a:p>
          <a:p>
            <a:r>
              <a:t>散点图与Pareto图仅复刻截图可见外观，没有原始数据，不构成模型验证或实验数据。6/86/0/4为参考图所示内容，未独立运行或核验所描述的研发系统。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页眉标题（可编辑）"/>
          <p:cNvGrpSpPr/>
          <p:nvPr/>
        </p:nvGrpSpPr>
        <p:grpSpPr>
          <a:xfrm>
            <a:off x="246888" y="18288"/>
            <a:ext cx="14785848" cy="1024127"/>
            <a:chOff x="246888" y="18288"/>
            <a:chExt cx="14785848" cy="1024127"/>
          </a:xfrm>
        </p:grpSpPr>
        <p:sp>
          <p:nvSpPr>
            <p:cNvPr id="2" name="文字 | 项目四： EGFR 多源证据驱动的药物候选评估 Agent"/>
            <p:cNvSpPr txBox="1"/>
            <p:nvPr/>
          </p:nvSpPr>
          <p:spPr>
            <a:xfrm>
              <a:off x="621792" y="18288"/>
              <a:ext cx="11402568" cy="58521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4216"/>
                </a:lnSpc>
                <a:spcBef>
                  <a:spcPts val="0"/>
                </a:spcBef>
                <a:spcAft>
                  <a:spcPts val="0"/>
                </a:spcAft>
                <a:defRPr sz="3456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项目四： EGFR 多源证据驱动的药物候选评估 Agent</a:t>
              </a:r>
            </a:p>
          </p:txBody>
        </p:sp>
        <p:sp>
          <p:nvSpPr>
            <p:cNvPr id="3" name="文字 | 基于 LangGraph 的有状态工作流编排与可追溯决策原型"/>
            <p:cNvSpPr txBox="1"/>
            <p:nvPr/>
          </p:nvSpPr>
          <p:spPr>
            <a:xfrm>
              <a:off x="2615184" y="594360"/>
              <a:ext cx="9601200" cy="39319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2635"/>
                </a:lnSpc>
                <a:spcBef>
                  <a:spcPts val="0"/>
                </a:spcBef>
                <a:spcAft>
                  <a:spcPts val="0"/>
                </a:spcAft>
                <a:defRPr sz="2160" b="0">
                  <a:solidFill>
                    <a:srgbClr val="173478"/>
                  </a:solidFill>
                  <a:latin typeface="Arial"/>
                </a:defRPr>
              </a:pPr>
              <a:r>
                <a:rPr>
                  <a:ea typeface="Noto Sans CJK SC"/>
                </a:rPr>
                <a:t>基于 LangGraph 的有状态工作流编排与可追溯决策原型</a:t>
              </a:r>
            </a:p>
          </p:txBody>
        </p:sp>
        <p:cxnSp>
          <p:nvCxnSpPr>
            <p:cNvPr id="4" name="矢量线"/>
            <p:cNvCxnSpPr/>
            <p:nvPr/>
          </p:nvCxnSpPr>
          <p:spPr>
            <a:xfrm>
              <a:off x="246888" y="1042415"/>
              <a:ext cx="11987784" cy="0"/>
            </a:xfrm>
            <a:prstGeom prst="line">
              <a:avLst/>
            </a:prstGeom>
            <a:ln w="16459" cap="rnd">
              <a:solidFill>
                <a:srgbClr val="1789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矢量线"/>
            <p:cNvCxnSpPr/>
            <p:nvPr/>
          </p:nvCxnSpPr>
          <p:spPr>
            <a:xfrm>
              <a:off x="15005304" y="1042415"/>
              <a:ext cx="27432" cy="0"/>
            </a:xfrm>
            <a:prstGeom prst="line">
              <a:avLst/>
            </a:prstGeom>
            <a:ln w="16459" cap="rnd">
              <a:solidFill>
                <a:srgbClr val="1789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蛋白结构插图（独立图片，可替换）"/>
          <p:cNvGrpSpPr/>
          <p:nvPr/>
        </p:nvGrpSpPr>
        <p:grpSpPr>
          <a:xfrm>
            <a:off x="12298680" y="82296"/>
            <a:ext cx="2734056" cy="2359152"/>
            <a:chOff x="12298680" y="82296"/>
            <a:chExt cx="2734056" cy="2359152"/>
          </a:xfrm>
        </p:grpSpPr>
        <p:pic>
          <p:nvPicPr>
            <p:cNvPr id="7" name="EGFR蛋白结构 | 复用此前对应图片" descr="image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98680" y="82296"/>
              <a:ext cx="2624328" cy="2359152"/>
            </a:xfrm>
            <a:prstGeom prst="rect">
              <a:avLst/>
            </a:prstGeom>
            <a:effectLst/>
          </p:spPr>
        </p:pic>
        <p:sp>
          <p:nvSpPr>
            <p:cNvPr id="8" name="文字 | EGFR"/>
            <p:cNvSpPr txBox="1"/>
            <p:nvPr/>
          </p:nvSpPr>
          <p:spPr>
            <a:xfrm>
              <a:off x="14118336" y="1856231"/>
              <a:ext cx="914400" cy="36576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2547"/>
                </a:lnSpc>
                <a:spcBef>
                  <a:spcPts val="0"/>
                </a:spcBef>
                <a:spcAft>
                  <a:spcPts val="0"/>
                </a:spcAft>
                <a:defRPr sz="2088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EGFR</a:t>
              </a:r>
            </a:p>
          </p:txBody>
        </p:sp>
      </p:grpSp>
      <p:grpSp>
        <p:nvGrpSpPr>
          <p:cNvPr id="17" name="研究背景与目标"/>
          <p:cNvGrpSpPr/>
          <p:nvPr/>
        </p:nvGrpSpPr>
        <p:grpSpPr>
          <a:xfrm>
            <a:off x="246888" y="1179576"/>
            <a:ext cx="11987784" cy="1316736"/>
            <a:chOff x="246888" y="1179576"/>
            <a:chExt cx="11987784" cy="1316736"/>
          </a:xfrm>
        </p:grpSpPr>
        <p:sp>
          <p:nvSpPr>
            <p:cNvPr id="10" name="Rounded Rectangle 9"/>
            <p:cNvSpPr/>
            <p:nvPr/>
          </p:nvSpPr>
          <p:spPr>
            <a:xfrm>
              <a:off x="246888" y="1179576"/>
              <a:ext cx="11987784" cy="365760"/>
            </a:xfrm>
            <a:prstGeom prst="roundRect">
              <a:avLst>
                <a:gd name="adj" fmla="val 20000"/>
              </a:avLst>
            </a:prstGeom>
            <a:ln>
              <a:noFill/>
            </a:ln>
            <a:gradFill>
              <a:gsLst>
                <a:gs pos="0">
                  <a:srgbClr val="D9EFFF"/>
                </a:gs>
                <a:gs pos="100000">
                  <a:srgbClr val="FDFEFF"/>
                </a:gs>
              </a:gsLst>
              <a:lin ang="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11480" y="1243584"/>
              <a:ext cx="100584" cy="256032"/>
            </a:xfrm>
            <a:prstGeom prst="roundRect">
              <a:avLst>
                <a:gd name="adj" fmla="val 27272"/>
              </a:avLst>
            </a:prstGeom>
            <a:ln>
              <a:noFill/>
            </a:ln>
            <a:gradFill>
              <a:gsLst>
                <a:gs pos="0">
                  <a:srgbClr val="006ADD"/>
                </a:gs>
                <a:gs pos="100000">
                  <a:srgbClr val="0730B2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文字 | 研究背景与目标"/>
            <p:cNvSpPr txBox="1"/>
            <p:nvPr/>
          </p:nvSpPr>
          <p:spPr>
            <a:xfrm>
              <a:off x="694944" y="1188720"/>
              <a:ext cx="11475720" cy="34747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2547"/>
                </a:lnSpc>
                <a:spcBef>
                  <a:spcPts val="0"/>
                </a:spcBef>
                <a:spcAft>
                  <a:spcPts val="0"/>
                </a:spcAft>
                <a:defRPr sz="2088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研究背景与目标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39496" y="1709928"/>
              <a:ext cx="118872" cy="118872"/>
            </a:xfrm>
            <a:prstGeom prst="rect">
              <a:avLst/>
            </a:prstGeom>
            <a:ln>
              <a:noFill/>
            </a:ln>
            <a:gradFill>
              <a:gsLst>
                <a:gs pos="0">
                  <a:srgbClr val="0667E9"/>
                </a:gs>
                <a:gs pos="100000">
                  <a:srgbClr val="0B1C94"/>
                </a:gs>
              </a:gsLst>
              <a:lin ang="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39496" y="2020824"/>
              <a:ext cx="118872" cy="118872"/>
            </a:xfrm>
            <a:prstGeom prst="rect">
              <a:avLst/>
            </a:prstGeom>
            <a:ln>
              <a:noFill/>
            </a:ln>
            <a:gradFill>
              <a:gsLst>
                <a:gs pos="0">
                  <a:srgbClr val="0667E9"/>
                </a:gs>
                <a:gs pos="100000">
                  <a:srgbClr val="0B1C94"/>
                </a:gs>
              </a:gsLst>
              <a:lin ang="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文字 | 面向 EGFR 靶点小分子虚拟筛选，整合活性预测、结构证据及 ADMET/PK 多维开发性评价。"/>
            <p:cNvSpPr txBox="1"/>
            <p:nvPr/>
          </p:nvSpPr>
          <p:spPr>
            <a:xfrm>
              <a:off x="832104" y="1636776"/>
              <a:ext cx="11329416" cy="30175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defRPr sz="1655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面向 EGFR 靶点小分子虚拟筛选，整合活性预测、结构证据及 ADMET/PK 多维开发性评价。</a:t>
              </a:r>
            </a:p>
          </p:txBody>
        </p:sp>
        <p:sp>
          <p:nvSpPr>
            <p:cNvPr id="16" name="文字 | 构建基于 LLM Function Calling 与 LangGraph 的 Agent 工作流，实现任务规划、工具权限控制、条件路由、证据校验及 / 可追溯报告生成。"/>
            <p:cNvSpPr txBox="1"/>
            <p:nvPr/>
          </p:nvSpPr>
          <p:spPr>
            <a:xfrm>
              <a:off x="832104" y="1938528"/>
              <a:ext cx="11329416" cy="55778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  <a:defRPr sz="1655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构建基于 LLM Function Calling 与 LangGraph 的 Agent 工作流，实现任务规划、工具权限控制、条件路由、证据校验及</a:t>
              </a:r>
            </a:p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  <a:defRPr sz="1655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可追溯报告生成。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246888" y="2560320"/>
            <a:ext cx="14776704" cy="365760"/>
          </a:xfrm>
          <a:prstGeom prst="roundRect">
            <a:avLst>
              <a:gd name="adj" fmla="val 20000"/>
            </a:avLst>
          </a:prstGeom>
          <a:ln>
            <a:noFill/>
          </a:ln>
          <a:gradFill>
            <a:gsLst>
              <a:gs pos="0">
                <a:srgbClr val="D9EFFF"/>
              </a:gs>
              <a:gs pos="100000">
                <a:srgbClr val="FDFE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2624328"/>
            <a:ext cx="100584" cy="256032"/>
          </a:xfrm>
          <a:prstGeom prst="roundRect">
            <a:avLst>
              <a:gd name="adj" fmla="val 27272"/>
            </a:avLst>
          </a:prstGeom>
          <a:ln>
            <a:noFill/>
          </a:ln>
          <a:gradFill>
            <a:gsLst>
              <a:gs pos="0">
                <a:srgbClr val="006ADD"/>
              </a:gs>
              <a:gs pos="100000">
                <a:srgbClr val="0730B2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文字 | 整体架构"/>
          <p:cNvSpPr txBox="1"/>
          <p:nvPr/>
        </p:nvSpPr>
        <p:spPr>
          <a:xfrm>
            <a:off x="694944" y="2569464"/>
            <a:ext cx="14264640" cy="347472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2547"/>
              </a:lnSpc>
              <a:spcBef>
                <a:spcPts val="0"/>
              </a:spcBef>
              <a:spcAft>
                <a:spcPts val="0"/>
              </a:spcAft>
              <a:defRPr sz="2088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整体架构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" y="3008376"/>
            <a:ext cx="14758416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5176" y="3017520"/>
            <a:ext cx="14758416" cy="365760"/>
          </a:xfrm>
          <a:prstGeom prst="roundRect">
            <a:avLst>
              <a:gd name="adj" fmla="val 20000"/>
            </a:avLst>
          </a:prstGeom>
          <a:ln>
            <a:noFill/>
          </a:ln>
          <a:gradFill>
            <a:gsLst>
              <a:gs pos="0">
                <a:srgbClr val="D9EFFF"/>
              </a:gs>
              <a:gs pos="100000">
                <a:srgbClr val="FDFE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6616" y="3017520"/>
            <a:ext cx="402336" cy="365760"/>
          </a:xfrm>
          <a:prstGeom prst="roundRect">
            <a:avLst>
              <a:gd name="adj" fmla="val 20000"/>
            </a:avLst>
          </a:prstGeom>
          <a:ln>
            <a:noFill/>
          </a:ln>
          <a:gradFill>
            <a:gsLst>
              <a:gs pos="0">
                <a:srgbClr val="1F9CFF"/>
              </a:gs>
              <a:gs pos="100000">
                <a:srgbClr val="0472E4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" name="图标 | molecule"/>
          <p:cNvGrpSpPr/>
          <p:nvPr/>
        </p:nvGrpSpPr>
        <p:grpSpPr>
          <a:xfrm>
            <a:off x="454914" y="3106102"/>
            <a:ext cx="197167" cy="167164"/>
            <a:chOff x="454914" y="3106102"/>
            <a:chExt cx="197167" cy="167164"/>
          </a:xfrm>
        </p:grpSpPr>
        <p:cxnSp>
          <p:nvCxnSpPr>
            <p:cNvPr id="24" name="矢量线"/>
            <p:cNvCxnSpPr/>
            <p:nvPr/>
          </p:nvCxnSpPr>
          <p:spPr>
            <a:xfrm flipV="1">
              <a:off x="489204" y="3140392"/>
              <a:ext cx="85725" cy="98584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矢量线"/>
            <p:cNvCxnSpPr/>
            <p:nvPr/>
          </p:nvCxnSpPr>
          <p:spPr>
            <a:xfrm>
              <a:off x="489204" y="3238976"/>
              <a:ext cx="128587" cy="0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矢量线"/>
            <p:cNvCxnSpPr/>
            <p:nvPr/>
          </p:nvCxnSpPr>
          <p:spPr>
            <a:xfrm>
              <a:off x="574929" y="3140392"/>
              <a:ext cx="42862" cy="98584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54914" y="3204686"/>
              <a:ext cx="68580" cy="68580"/>
            </a:xfrm>
            <a:prstGeom prst="ellipse">
              <a:avLst/>
            </a:prstGeom>
            <a:solidFill>
              <a:srgbClr val="FFFFFF"/>
            </a:solidFill>
            <a:ln w="1628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40639" y="3106102"/>
              <a:ext cx="68580" cy="68580"/>
            </a:xfrm>
            <a:prstGeom prst="ellipse">
              <a:avLst/>
            </a:prstGeom>
            <a:solidFill>
              <a:srgbClr val="FFFFFF"/>
            </a:solidFill>
            <a:ln w="1628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83501" y="3204686"/>
              <a:ext cx="68580" cy="68580"/>
            </a:xfrm>
            <a:prstGeom prst="ellipse">
              <a:avLst/>
            </a:prstGeom>
            <a:solidFill>
              <a:srgbClr val="FFFFFF"/>
            </a:solidFill>
            <a:ln w="1628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1" name="文字 | 研发分析能力"/>
          <p:cNvSpPr txBox="1"/>
          <p:nvPr/>
        </p:nvSpPr>
        <p:spPr>
          <a:xfrm>
            <a:off x="877824" y="3044952"/>
            <a:ext cx="14081760" cy="338328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2283"/>
              </a:lnSpc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研发分析能力</a:t>
            </a:r>
          </a:p>
        </p:txBody>
      </p:sp>
      <p:sp>
        <p:nvSpPr>
          <p:cNvPr id="32" name="卡片 | ChEMBL 数据集与分子准备"/>
          <p:cNvSpPr/>
          <p:nvPr/>
        </p:nvSpPr>
        <p:spPr>
          <a:xfrm>
            <a:off x="283464" y="3401568"/>
            <a:ext cx="2816352" cy="1609344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2336" y="3465576"/>
            <a:ext cx="448056" cy="301752"/>
          </a:xfrm>
          <a:prstGeom prst="roundRect">
            <a:avLst>
              <a:gd name="adj" fmla="val 24242"/>
            </a:avLst>
          </a:prstGeom>
          <a:ln>
            <a:noFill/>
          </a:ln>
          <a:gradFill>
            <a:gsLst>
              <a:gs pos="0">
                <a:srgbClr val="168AFF"/>
              </a:gs>
              <a:gs pos="50000">
                <a:srgbClr val="3498FF"/>
              </a:gs>
              <a:gs pos="100000">
                <a:srgbClr val="0877F0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文字 | 01"/>
          <p:cNvSpPr txBox="1"/>
          <p:nvPr/>
        </p:nvSpPr>
        <p:spPr>
          <a:xfrm>
            <a:off x="402336" y="3483864"/>
            <a:ext cx="448056" cy="292608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ctr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FFFFFF"/>
                </a:solidFill>
                <a:latin typeface="Arial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35" name="文字 | ChEMBL 数据集与分子准备"/>
          <p:cNvSpPr txBox="1"/>
          <p:nvPr/>
        </p:nvSpPr>
        <p:spPr>
          <a:xfrm>
            <a:off x="996696" y="3483864"/>
            <a:ext cx="2057400" cy="283464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  <a:defRPr sz="1284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ChEMBL 数据集与分子准备</a:t>
            </a:r>
          </a:p>
        </p:txBody>
      </p:sp>
      <p:sp>
        <p:nvSpPr>
          <p:cNvPr id="36" name="卡片 | QSAR 活性预测"/>
          <p:cNvSpPr/>
          <p:nvPr/>
        </p:nvSpPr>
        <p:spPr>
          <a:xfrm>
            <a:off x="3392424" y="3401568"/>
            <a:ext cx="2660904" cy="1609344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11296" y="3465576"/>
            <a:ext cx="448056" cy="301752"/>
          </a:xfrm>
          <a:prstGeom prst="roundRect">
            <a:avLst>
              <a:gd name="adj" fmla="val 24242"/>
            </a:avLst>
          </a:prstGeom>
          <a:ln>
            <a:noFill/>
          </a:ln>
          <a:gradFill>
            <a:gsLst>
              <a:gs pos="0">
                <a:srgbClr val="168AFF"/>
              </a:gs>
              <a:gs pos="50000">
                <a:srgbClr val="3498FF"/>
              </a:gs>
              <a:gs pos="100000">
                <a:srgbClr val="0877F0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字 | 02"/>
          <p:cNvSpPr txBox="1"/>
          <p:nvPr/>
        </p:nvSpPr>
        <p:spPr>
          <a:xfrm>
            <a:off x="3511296" y="3483864"/>
            <a:ext cx="448056" cy="292608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ctr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FFFFFF"/>
                </a:solidFill>
                <a:latin typeface="Arial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39" name="文字 | QSAR 活性预测"/>
          <p:cNvSpPr txBox="1"/>
          <p:nvPr/>
        </p:nvSpPr>
        <p:spPr>
          <a:xfrm>
            <a:off x="4105656" y="3483864"/>
            <a:ext cx="1901952" cy="283464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1712"/>
              </a:lnSpc>
              <a:spcBef>
                <a:spcPts val="0"/>
              </a:spcBef>
              <a:spcAft>
                <a:spcPts val="0"/>
              </a:spcAft>
              <a:defRPr sz="1404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QSAR 活性预测</a:t>
            </a:r>
          </a:p>
        </p:txBody>
      </p:sp>
      <p:sp>
        <p:nvSpPr>
          <p:cNvPr id="40" name="卡片 | 结构证据分析"/>
          <p:cNvSpPr/>
          <p:nvPr/>
        </p:nvSpPr>
        <p:spPr>
          <a:xfrm>
            <a:off x="6336792" y="3401568"/>
            <a:ext cx="2651760" cy="1609344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55664" y="3465576"/>
            <a:ext cx="448056" cy="301752"/>
          </a:xfrm>
          <a:prstGeom prst="roundRect">
            <a:avLst>
              <a:gd name="adj" fmla="val 24242"/>
            </a:avLst>
          </a:prstGeom>
          <a:ln>
            <a:noFill/>
          </a:ln>
          <a:gradFill>
            <a:gsLst>
              <a:gs pos="0">
                <a:srgbClr val="168AFF"/>
              </a:gs>
              <a:gs pos="50000">
                <a:srgbClr val="3498FF"/>
              </a:gs>
              <a:gs pos="100000">
                <a:srgbClr val="0877F0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文字 | 03"/>
          <p:cNvSpPr txBox="1"/>
          <p:nvPr/>
        </p:nvSpPr>
        <p:spPr>
          <a:xfrm>
            <a:off x="6455664" y="3483864"/>
            <a:ext cx="448056" cy="292608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ctr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FFFFFF"/>
                </a:solidFill>
                <a:latin typeface="Arial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43" name="文字 | 结构证据分析"/>
          <p:cNvSpPr txBox="1"/>
          <p:nvPr/>
        </p:nvSpPr>
        <p:spPr>
          <a:xfrm>
            <a:off x="7050024" y="3483864"/>
            <a:ext cx="1892807" cy="283464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1712"/>
              </a:lnSpc>
              <a:spcBef>
                <a:spcPts val="0"/>
              </a:spcBef>
              <a:spcAft>
                <a:spcPts val="0"/>
              </a:spcAft>
              <a:defRPr sz="1404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结构证据分析</a:t>
            </a:r>
          </a:p>
        </p:txBody>
      </p:sp>
      <p:sp>
        <p:nvSpPr>
          <p:cNvPr id="44" name="卡片 | ADMET / PK 评估"/>
          <p:cNvSpPr/>
          <p:nvPr/>
        </p:nvSpPr>
        <p:spPr>
          <a:xfrm>
            <a:off x="9281160" y="3401568"/>
            <a:ext cx="2660904" cy="1609344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00032" y="3465576"/>
            <a:ext cx="448056" cy="301752"/>
          </a:xfrm>
          <a:prstGeom prst="roundRect">
            <a:avLst>
              <a:gd name="adj" fmla="val 24242"/>
            </a:avLst>
          </a:prstGeom>
          <a:ln>
            <a:noFill/>
          </a:ln>
          <a:gradFill>
            <a:gsLst>
              <a:gs pos="0">
                <a:srgbClr val="168AFF"/>
              </a:gs>
              <a:gs pos="50000">
                <a:srgbClr val="3498FF"/>
              </a:gs>
              <a:gs pos="100000">
                <a:srgbClr val="0877F0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字 | 04"/>
          <p:cNvSpPr txBox="1"/>
          <p:nvPr/>
        </p:nvSpPr>
        <p:spPr>
          <a:xfrm>
            <a:off x="9400032" y="3483864"/>
            <a:ext cx="448056" cy="292608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ctr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FFFFFF"/>
                </a:solidFill>
                <a:latin typeface="Arial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47" name="文字 | ADMET / PK 评估"/>
          <p:cNvSpPr txBox="1"/>
          <p:nvPr/>
        </p:nvSpPr>
        <p:spPr>
          <a:xfrm>
            <a:off x="9994392" y="3483864"/>
            <a:ext cx="1901952" cy="283464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1712"/>
              </a:lnSpc>
              <a:spcBef>
                <a:spcPts val="0"/>
              </a:spcBef>
              <a:spcAft>
                <a:spcPts val="0"/>
              </a:spcAft>
              <a:defRPr sz="1404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ADMET / PK 评估</a:t>
            </a:r>
          </a:p>
        </p:txBody>
      </p:sp>
      <p:sp>
        <p:nvSpPr>
          <p:cNvPr id="48" name="卡片 | 多目标评价"/>
          <p:cNvSpPr/>
          <p:nvPr/>
        </p:nvSpPr>
        <p:spPr>
          <a:xfrm>
            <a:off x="12225528" y="3401568"/>
            <a:ext cx="2798064" cy="1609344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2344400" y="3465576"/>
            <a:ext cx="448056" cy="301752"/>
          </a:xfrm>
          <a:prstGeom prst="roundRect">
            <a:avLst>
              <a:gd name="adj" fmla="val 24242"/>
            </a:avLst>
          </a:prstGeom>
          <a:ln>
            <a:noFill/>
          </a:ln>
          <a:gradFill>
            <a:gsLst>
              <a:gs pos="0">
                <a:srgbClr val="168AFF"/>
              </a:gs>
              <a:gs pos="50000">
                <a:srgbClr val="3498FF"/>
              </a:gs>
              <a:gs pos="100000">
                <a:srgbClr val="0877F0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文字 | 05"/>
          <p:cNvSpPr txBox="1"/>
          <p:nvPr/>
        </p:nvSpPr>
        <p:spPr>
          <a:xfrm>
            <a:off x="12344400" y="3483864"/>
            <a:ext cx="448056" cy="292608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ctr">
              <a:lnSpc>
                <a:spcPts val="1844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FFFFFF"/>
                </a:solidFill>
                <a:latin typeface="Arial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51" name="文字 | 多目标评价"/>
          <p:cNvSpPr txBox="1"/>
          <p:nvPr/>
        </p:nvSpPr>
        <p:spPr>
          <a:xfrm>
            <a:off x="12938760" y="3483864"/>
            <a:ext cx="2039112" cy="283464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1712"/>
              </a:lnSpc>
              <a:spcBef>
                <a:spcPts val="0"/>
              </a:spcBef>
              <a:spcAft>
                <a:spcPts val="0"/>
              </a:spcAft>
              <a:defRPr sz="1404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多目标评价</a:t>
            </a:r>
          </a:p>
        </p:txBody>
      </p:sp>
      <p:sp>
        <p:nvSpPr>
          <p:cNvPr id="52" name="Freeform 51"/>
          <p:cNvSpPr/>
          <p:nvPr/>
        </p:nvSpPr>
        <p:spPr>
          <a:xfrm>
            <a:off x="3075800" y="3922100"/>
            <a:ext cx="300300" cy="536900"/>
          </a:xfrm>
          <a:custGeom>
            <a:avLst/>
            <a:gdLst/>
            <a:ahLst/>
            <a:cxnLst/>
            <a:rect l="l" t="t" r="r" b="b"/>
            <a:pathLst>
              <a:path w="3300" h="5900">
                <a:moveTo>
                  <a:pt x="0" y="1475"/>
                </a:moveTo>
                <a:lnTo>
                  <a:pt x="1452" y="1475"/>
                </a:lnTo>
                <a:lnTo>
                  <a:pt x="1452" y="0"/>
                </a:lnTo>
                <a:lnTo>
                  <a:pt x="3300" y="2950"/>
                </a:lnTo>
                <a:lnTo>
                  <a:pt x="1452" y="5900"/>
                </a:lnTo>
                <a:lnTo>
                  <a:pt x="1452" y="4425"/>
                </a:lnTo>
                <a:lnTo>
                  <a:pt x="0" y="44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6024200" y="3922100"/>
            <a:ext cx="300300" cy="536900"/>
          </a:xfrm>
          <a:custGeom>
            <a:avLst/>
            <a:gdLst/>
            <a:ahLst/>
            <a:cxnLst/>
            <a:rect l="l" t="t" r="r" b="b"/>
            <a:pathLst>
              <a:path w="3300" h="5900">
                <a:moveTo>
                  <a:pt x="0" y="1475"/>
                </a:moveTo>
                <a:lnTo>
                  <a:pt x="1452" y="1475"/>
                </a:lnTo>
                <a:lnTo>
                  <a:pt x="1452" y="0"/>
                </a:lnTo>
                <a:lnTo>
                  <a:pt x="3300" y="2950"/>
                </a:lnTo>
                <a:lnTo>
                  <a:pt x="1452" y="5900"/>
                </a:lnTo>
                <a:lnTo>
                  <a:pt x="1452" y="4425"/>
                </a:lnTo>
                <a:lnTo>
                  <a:pt x="0" y="44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945300" y="3922100"/>
            <a:ext cx="300300" cy="536900"/>
          </a:xfrm>
          <a:custGeom>
            <a:avLst/>
            <a:gdLst/>
            <a:ahLst/>
            <a:cxnLst/>
            <a:rect l="l" t="t" r="r" b="b"/>
            <a:pathLst>
              <a:path w="3300" h="5900">
                <a:moveTo>
                  <a:pt x="0" y="1475"/>
                </a:moveTo>
                <a:lnTo>
                  <a:pt x="1452" y="1475"/>
                </a:lnTo>
                <a:lnTo>
                  <a:pt x="1452" y="0"/>
                </a:lnTo>
                <a:lnTo>
                  <a:pt x="3300" y="2950"/>
                </a:lnTo>
                <a:lnTo>
                  <a:pt x="1452" y="5900"/>
                </a:lnTo>
                <a:lnTo>
                  <a:pt x="1452" y="4425"/>
                </a:lnTo>
                <a:lnTo>
                  <a:pt x="0" y="44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1884600" y="3922100"/>
            <a:ext cx="300300" cy="536900"/>
          </a:xfrm>
          <a:custGeom>
            <a:avLst/>
            <a:gdLst/>
            <a:ahLst/>
            <a:cxnLst/>
            <a:rect l="l" t="t" r="r" b="b"/>
            <a:pathLst>
              <a:path w="3300" h="5900">
                <a:moveTo>
                  <a:pt x="0" y="1475"/>
                </a:moveTo>
                <a:lnTo>
                  <a:pt x="1452" y="1475"/>
                </a:lnTo>
                <a:lnTo>
                  <a:pt x="1452" y="0"/>
                </a:lnTo>
                <a:lnTo>
                  <a:pt x="3300" y="2950"/>
                </a:lnTo>
                <a:lnTo>
                  <a:pt x="1452" y="5900"/>
                </a:lnTo>
                <a:lnTo>
                  <a:pt x="1452" y="4425"/>
                </a:lnTo>
                <a:lnTo>
                  <a:pt x="0" y="44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3" name="01 ChEMBL | 数据库图示与可编辑分子"/>
          <p:cNvGrpSpPr/>
          <p:nvPr/>
        </p:nvGrpSpPr>
        <p:grpSpPr>
          <a:xfrm>
            <a:off x="530352" y="3941063"/>
            <a:ext cx="850392" cy="832105"/>
            <a:chOff x="530352" y="3941063"/>
            <a:chExt cx="850392" cy="832105"/>
          </a:xfrm>
        </p:grpSpPr>
        <p:sp>
          <p:nvSpPr>
            <p:cNvPr id="56" name="Rectangle 55"/>
            <p:cNvSpPr/>
            <p:nvPr/>
          </p:nvSpPr>
          <p:spPr>
            <a:xfrm>
              <a:off x="530352" y="4069080"/>
              <a:ext cx="566928" cy="557784"/>
            </a:xfrm>
            <a:prstGeom prst="rect">
              <a:avLst/>
            </a:prstGeom>
            <a:ln>
              <a:noFill/>
            </a:ln>
            <a:gradFill>
              <a:gsLst>
                <a:gs pos="0">
                  <a:srgbClr val="7A9BD1"/>
                </a:gs>
                <a:gs pos="50000">
                  <a:srgbClr val="365A95"/>
                </a:gs>
                <a:gs pos="100000">
                  <a:srgbClr val="07336C"/>
                </a:gs>
              </a:gsLst>
              <a:lin ang="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30352" y="4562856"/>
              <a:ext cx="566928" cy="210312"/>
            </a:xfrm>
            <a:prstGeom prst="ellipse">
              <a:avLst/>
            </a:prstGeom>
            <a:ln w="7315" cap="rnd">
              <a:solidFill>
                <a:srgbClr val="A4C4E7"/>
              </a:solidFill>
              <a:round/>
            </a:ln>
            <a:gradFill>
              <a:gsLst>
                <a:gs pos="0">
                  <a:srgbClr val="9FBADF"/>
                </a:gs>
                <a:gs pos="50000">
                  <a:srgbClr val="4267A0"/>
                </a:gs>
                <a:gs pos="100000">
                  <a:srgbClr val="103E77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30352" y="4407408"/>
              <a:ext cx="566928" cy="210312"/>
            </a:xfrm>
            <a:prstGeom prst="ellipse">
              <a:avLst/>
            </a:prstGeom>
            <a:ln w="7315" cap="rnd">
              <a:solidFill>
                <a:srgbClr val="A4C4E7"/>
              </a:solidFill>
              <a:round/>
            </a:ln>
            <a:gradFill>
              <a:gsLst>
                <a:gs pos="0">
                  <a:srgbClr val="9FBADF"/>
                </a:gs>
                <a:gs pos="50000">
                  <a:srgbClr val="4267A0"/>
                </a:gs>
                <a:gs pos="100000">
                  <a:srgbClr val="103E77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530352" y="4261104"/>
              <a:ext cx="566928" cy="210312"/>
            </a:xfrm>
            <a:prstGeom prst="ellipse">
              <a:avLst/>
            </a:prstGeom>
            <a:ln w="7315" cap="rnd">
              <a:solidFill>
                <a:srgbClr val="A4C4E7"/>
              </a:solidFill>
              <a:round/>
            </a:ln>
            <a:gradFill>
              <a:gsLst>
                <a:gs pos="0">
                  <a:srgbClr val="9FBADF"/>
                </a:gs>
                <a:gs pos="50000">
                  <a:srgbClr val="4267A0"/>
                </a:gs>
                <a:gs pos="100000">
                  <a:srgbClr val="103E77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530352" y="4096512"/>
              <a:ext cx="566928" cy="210312"/>
            </a:xfrm>
            <a:prstGeom prst="ellipse">
              <a:avLst/>
            </a:prstGeom>
            <a:ln w="7315" cap="rnd">
              <a:solidFill>
                <a:srgbClr val="A4C4E7"/>
              </a:solidFill>
              <a:round/>
            </a:ln>
            <a:gradFill>
              <a:gsLst>
                <a:gs pos="0">
                  <a:srgbClr val="9FBADF"/>
                </a:gs>
                <a:gs pos="50000">
                  <a:srgbClr val="4267A0"/>
                </a:gs>
                <a:gs pos="100000">
                  <a:srgbClr val="103E77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530352" y="3941063"/>
              <a:ext cx="566928" cy="219456"/>
            </a:xfrm>
            <a:prstGeom prst="ellipse">
              <a:avLst/>
            </a:prstGeom>
            <a:ln w="7315" cap="rnd">
              <a:solidFill>
                <a:srgbClr val="ABC9EB"/>
              </a:solidFill>
              <a:round/>
            </a:ln>
            <a:gradFill>
              <a:gsLst>
                <a:gs pos="0">
                  <a:srgbClr val="A9C9F1"/>
                </a:gs>
                <a:gs pos="100000">
                  <a:srgbClr val="7897C9"/>
                </a:gs>
              </a:gsLst>
              <a:lin ang="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矢量线"/>
            <p:cNvCxnSpPr/>
            <p:nvPr/>
          </p:nvCxnSpPr>
          <p:spPr>
            <a:xfrm flipV="1">
              <a:off x="1024128" y="4398264"/>
              <a:ext cx="91440" cy="73152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矢量线"/>
            <p:cNvCxnSpPr/>
            <p:nvPr/>
          </p:nvCxnSpPr>
          <p:spPr>
            <a:xfrm>
              <a:off x="1115568" y="4398264"/>
              <a:ext cx="100584" cy="73152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矢量线"/>
            <p:cNvCxnSpPr/>
            <p:nvPr/>
          </p:nvCxnSpPr>
          <p:spPr>
            <a:xfrm flipH="1">
              <a:off x="1161288" y="4471416"/>
              <a:ext cx="54864" cy="91440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矢量线"/>
            <p:cNvCxnSpPr/>
            <p:nvPr/>
          </p:nvCxnSpPr>
          <p:spPr>
            <a:xfrm>
              <a:off x="1161288" y="4562856"/>
              <a:ext cx="118872" cy="9144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矢量线"/>
            <p:cNvCxnSpPr/>
            <p:nvPr/>
          </p:nvCxnSpPr>
          <p:spPr>
            <a:xfrm flipV="1">
              <a:off x="1280160" y="4471416"/>
              <a:ext cx="54864" cy="100584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矢量线"/>
            <p:cNvCxnSpPr/>
            <p:nvPr/>
          </p:nvCxnSpPr>
          <p:spPr>
            <a:xfrm flipH="1" flipV="1">
              <a:off x="1243584" y="4361688"/>
              <a:ext cx="91440" cy="109728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矢量线"/>
            <p:cNvCxnSpPr/>
            <p:nvPr/>
          </p:nvCxnSpPr>
          <p:spPr>
            <a:xfrm flipV="1">
              <a:off x="1243584" y="4251960"/>
              <a:ext cx="54864" cy="109728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矢量线"/>
            <p:cNvCxnSpPr/>
            <p:nvPr/>
          </p:nvCxnSpPr>
          <p:spPr>
            <a:xfrm flipH="1">
              <a:off x="1088136" y="4562856"/>
              <a:ext cx="73152" cy="73152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矢量线"/>
            <p:cNvCxnSpPr/>
            <p:nvPr/>
          </p:nvCxnSpPr>
          <p:spPr>
            <a:xfrm flipH="1">
              <a:off x="1234440" y="4572000"/>
              <a:ext cx="45720" cy="128016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矢量线"/>
            <p:cNvCxnSpPr/>
            <p:nvPr/>
          </p:nvCxnSpPr>
          <p:spPr>
            <a:xfrm flipH="1" flipV="1">
              <a:off x="987552" y="4617720"/>
              <a:ext cx="100584" cy="18288"/>
            </a:xfrm>
            <a:prstGeom prst="line">
              <a:avLst/>
            </a:prstGeom>
            <a:ln w="27432" cap="rnd">
              <a:solidFill>
                <a:srgbClr val="7790A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>
            <a:xfrm>
              <a:off x="969264" y="4416552"/>
              <a:ext cx="109728" cy="109728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1060704" y="4343400"/>
              <a:ext cx="109728" cy="109728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161288" y="4416552"/>
              <a:ext cx="109728" cy="109728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115568" y="4517136"/>
              <a:ext cx="91440" cy="91440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1234440" y="4526280"/>
              <a:ext cx="91440" cy="91440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1289304" y="4425696"/>
              <a:ext cx="91440" cy="91440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197864" y="4315968"/>
              <a:ext cx="91440" cy="91440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1252728" y="4206240"/>
              <a:ext cx="91440" cy="91440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042415" y="4590288"/>
              <a:ext cx="91440" cy="91440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1188720" y="4654296"/>
              <a:ext cx="91440" cy="91440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950976" y="4581144"/>
              <a:ext cx="73152" cy="73152"/>
            </a:xfrm>
            <a:prstGeom prst="ellipse">
              <a:avLst/>
            </a:prstGeom>
            <a:ln w="6400" cap="rnd">
              <a:solidFill>
                <a:srgbClr val="7396AC"/>
              </a:solidFill>
              <a:round/>
            </a:ln>
            <a:gradFill>
              <a:gsLst>
                <a:gs pos="0">
                  <a:srgbClr val="EDF7FE"/>
                </a:gs>
                <a:gs pos="50000">
                  <a:srgbClr val="A8C6DC"/>
                </a:gs>
                <a:gs pos="100000">
                  <a:srgbClr val="6689AA"/>
                </a:gs>
              </a:gsLst>
              <a:lin ang="42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01 ChEMBL | 说明文字"/>
          <p:cNvGrpSpPr/>
          <p:nvPr/>
        </p:nvGrpSpPr>
        <p:grpSpPr>
          <a:xfrm>
            <a:off x="1545336" y="3950208"/>
            <a:ext cx="1545336" cy="941832"/>
            <a:chOff x="1545336" y="3950208"/>
            <a:chExt cx="1545336" cy="941832"/>
          </a:xfrm>
        </p:grpSpPr>
        <p:sp>
          <p:nvSpPr>
            <p:cNvPr id="84" name="文字 | •"/>
            <p:cNvSpPr txBox="1"/>
            <p:nvPr/>
          </p:nvSpPr>
          <p:spPr>
            <a:xfrm>
              <a:off x="1545336" y="3950208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85" name="文字 | 活性数据清洗"/>
            <p:cNvSpPr txBox="1"/>
            <p:nvPr/>
          </p:nvSpPr>
          <p:spPr>
            <a:xfrm>
              <a:off x="1700784" y="3950208"/>
              <a:ext cx="1325880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活性数据清洗</a:t>
              </a:r>
            </a:p>
          </p:txBody>
        </p:sp>
        <p:sp>
          <p:nvSpPr>
            <p:cNvPr id="86" name="文字 | •"/>
            <p:cNvSpPr txBox="1"/>
            <p:nvPr/>
          </p:nvSpPr>
          <p:spPr>
            <a:xfrm>
              <a:off x="1545336" y="4187952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87" name="文字 | 分子结构标准化"/>
            <p:cNvSpPr txBox="1"/>
            <p:nvPr/>
          </p:nvSpPr>
          <p:spPr>
            <a:xfrm>
              <a:off x="1700784" y="4187952"/>
              <a:ext cx="1325880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分子结构标准化</a:t>
              </a:r>
            </a:p>
          </p:txBody>
        </p:sp>
        <p:sp>
          <p:nvSpPr>
            <p:cNvPr id="88" name="文字 | •"/>
            <p:cNvSpPr txBox="1"/>
            <p:nvPr/>
          </p:nvSpPr>
          <p:spPr>
            <a:xfrm>
              <a:off x="1545336" y="4425696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89" name="文字 | Scaffold 划分"/>
            <p:cNvSpPr txBox="1"/>
            <p:nvPr/>
          </p:nvSpPr>
          <p:spPr>
            <a:xfrm>
              <a:off x="1700784" y="4425696"/>
              <a:ext cx="1325880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Scaffold 划分</a:t>
              </a:r>
            </a:p>
          </p:txBody>
        </p:sp>
        <p:sp>
          <p:nvSpPr>
            <p:cNvPr id="90" name="文字 | ( Train / Valid / Test )"/>
            <p:cNvSpPr txBox="1"/>
            <p:nvPr/>
          </p:nvSpPr>
          <p:spPr>
            <a:xfrm>
              <a:off x="1636776" y="4636008"/>
              <a:ext cx="1453896" cy="25603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67"/>
                </a:lnSpc>
                <a:spcBef>
                  <a:spcPts val="0"/>
                </a:spcBef>
                <a:spcAft>
                  <a:spcPts val="0"/>
                </a:spcAft>
                <a:defRPr sz="1203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( Train / Valid / Test )</a:t>
              </a:r>
            </a:p>
          </p:txBody>
        </p:sp>
      </p:grpSp>
      <p:grpSp>
        <p:nvGrpSpPr>
          <p:cNvPr id="160" name="02 QSAR | 可编辑散点图（仅外观复刻）"/>
          <p:cNvGrpSpPr/>
          <p:nvPr/>
        </p:nvGrpSpPr>
        <p:grpSpPr>
          <a:xfrm>
            <a:off x="3502152" y="3894800"/>
            <a:ext cx="1005840" cy="951520"/>
            <a:chOff x="3502152" y="3894800"/>
            <a:chExt cx="1005840" cy="951520"/>
          </a:xfrm>
        </p:grpSpPr>
        <p:cxnSp>
          <p:nvCxnSpPr>
            <p:cNvPr id="92" name="矢量线"/>
            <p:cNvCxnSpPr/>
            <p:nvPr/>
          </p:nvCxnSpPr>
          <p:spPr>
            <a:xfrm>
              <a:off x="3593592" y="3931920"/>
              <a:ext cx="0" cy="804672"/>
            </a:xfrm>
            <a:prstGeom prst="line">
              <a:avLst/>
            </a:prstGeom>
            <a:ln w="10972" cap="rnd">
              <a:solidFill>
                <a:srgbClr val="2587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矢量线"/>
            <p:cNvCxnSpPr/>
            <p:nvPr/>
          </p:nvCxnSpPr>
          <p:spPr>
            <a:xfrm>
              <a:off x="3593592" y="4736592"/>
              <a:ext cx="896112" cy="0"/>
            </a:xfrm>
            <a:prstGeom prst="line">
              <a:avLst/>
            </a:prstGeom>
            <a:ln w="10972" cap="rnd">
              <a:solidFill>
                <a:srgbClr val="2587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Freeform 93"/>
            <p:cNvSpPr/>
            <p:nvPr/>
          </p:nvSpPr>
          <p:spPr>
            <a:xfrm>
              <a:off x="3549000" y="3894800"/>
              <a:ext cx="54600" cy="54600"/>
            </a:xfrm>
            <a:custGeom>
              <a:avLst/>
              <a:gdLst/>
              <a:ahLst/>
              <a:cxnLst/>
              <a:rect l="l" t="t" r="r" b="b"/>
              <a:pathLst>
                <a:path w="600" h="600">
                  <a:moveTo>
                    <a:pt x="0" y="600"/>
                  </a:moveTo>
                  <a:lnTo>
                    <a:pt x="300" y="0"/>
                  </a:lnTo>
                  <a:lnTo>
                    <a:pt x="600" y="600"/>
                  </a:lnTo>
                  <a:close/>
                </a:path>
              </a:pathLst>
            </a:custGeom>
            <a:solidFill>
              <a:srgbClr val="258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4422600" y="4686500"/>
              <a:ext cx="63700" cy="54600"/>
            </a:xfrm>
            <a:custGeom>
              <a:avLst/>
              <a:gdLst/>
              <a:ahLst/>
              <a:cxnLst/>
              <a:rect l="l" t="t" r="r" b="b"/>
              <a:pathLst>
                <a:path w="700" h="600">
                  <a:moveTo>
                    <a:pt x="0" y="0"/>
                  </a:moveTo>
                  <a:lnTo>
                    <a:pt x="700" y="300"/>
                  </a:lnTo>
                  <a:lnTo>
                    <a:pt x="0" y="600"/>
                  </a:lnTo>
                  <a:close/>
                </a:path>
              </a:pathLst>
            </a:custGeom>
            <a:solidFill>
              <a:srgbClr val="258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矢量线"/>
            <p:cNvCxnSpPr/>
            <p:nvPr/>
          </p:nvCxnSpPr>
          <p:spPr>
            <a:xfrm>
              <a:off x="3767328" y="4718304"/>
              <a:ext cx="0" cy="36576"/>
            </a:xfrm>
            <a:prstGeom prst="line">
              <a:avLst/>
            </a:prstGeom>
            <a:ln w="5486" cap="rnd">
              <a:solidFill>
                <a:srgbClr val="5EA5F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矢量线"/>
            <p:cNvCxnSpPr/>
            <p:nvPr/>
          </p:nvCxnSpPr>
          <p:spPr>
            <a:xfrm>
              <a:off x="3968496" y="4718304"/>
              <a:ext cx="0" cy="36576"/>
            </a:xfrm>
            <a:prstGeom prst="line">
              <a:avLst/>
            </a:prstGeom>
            <a:ln w="5486" cap="rnd">
              <a:solidFill>
                <a:srgbClr val="5EA5F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矢量线"/>
            <p:cNvCxnSpPr/>
            <p:nvPr/>
          </p:nvCxnSpPr>
          <p:spPr>
            <a:xfrm>
              <a:off x="4169663" y="4718304"/>
              <a:ext cx="0" cy="36576"/>
            </a:xfrm>
            <a:prstGeom prst="line">
              <a:avLst/>
            </a:prstGeom>
            <a:ln w="5486" cap="rnd">
              <a:solidFill>
                <a:srgbClr val="5EA5F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矢量线"/>
            <p:cNvCxnSpPr/>
            <p:nvPr/>
          </p:nvCxnSpPr>
          <p:spPr>
            <a:xfrm>
              <a:off x="4370832" y="4718304"/>
              <a:ext cx="0" cy="36576"/>
            </a:xfrm>
            <a:prstGeom prst="line">
              <a:avLst/>
            </a:prstGeom>
            <a:ln w="5486" cap="rnd">
              <a:solidFill>
                <a:srgbClr val="5EA5F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矢量线"/>
            <p:cNvCxnSpPr/>
            <p:nvPr/>
          </p:nvCxnSpPr>
          <p:spPr>
            <a:xfrm>
              <a:off x="3575304" y="4114800"/>
              <a:ext cx="36576" cy="0"/>
            </a:xfrm>
            <a:prstGeom prst="line">
              <a:avLst/>
            </a:prstGeom>
            <a:ln w="5486" cap="rnd">
              <a:solidFill>
                <a:srgbClr val="5EA5F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矢量线"/>
            <p:cNvCxnSpPr/>
            <p:nvPr/>
          </p:nvCxnSpPr>
          <p:spPr>
            <a:xfrm>
              <a:off x="3575304" y="4325112"/>
              <a:ext cx="36576" cy="0"/>
            </a:xfrm>
            <a:prstGeom prst="line">
              <a:avLst/>
            </a:prstGeom>
            <a:ln w="5486" cap="rnd">
              <a:solidFill>
                <a:srgbClr val="5EA5F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矢量线"/>
            <p:cNvCxnSpPr/>
            <p:nvPr/>
          </p:nvCxnSpPr>
          <p:spPr>
            <a:xfrm>
              <a:off x="3575304" y="4526280"/>
              <a:ext cx="36576" cy="0"/>
            </a:xfrm>
            <a:prstGeom prst="line">
              <a:avLst/>
            </a:prstGeom>
            <a:ln w="5486" cap="rnd">
              <a:solidFill>
                <a:srgbClr val="5EA5F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字 | 0"/>
            <p:cNvSpPr txBox="1"/>
            <p:nvPr/>
          </p:nvSpPr>
          <p:spPr>
            <a:xfrm>
              <a:off x="3502152" y="4672584"/>
              <a:ext cx="9144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0</a:t>
              </a:r>
            </a:p>
          </p:txBody>
        </p:sp>
        <p:sp>
          <p:nvSpPr>
            <p:cNvPr id="104" name="文字 | 1"/>
            <p:cNvSpPr txBox="1"/>
            <p:nvPr/>
          </p:nvSpPr>
          <p:spPr>
            <a:xfrm>
              <a:off x="3502152" y="4480560"/>
              <a:ext cx="9144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1</a:t>
              </a:r>
            </a:p>
          </p:txBody>
        </p:sp>
        <p:sp>
          <p:nvSpPr>
            <p:cNvPr id="105" name="文字 | 2"/>
            <p:cNvSpPr txBox="1"/>
            <p:nvPr/>
          </p:nvSpPr>
          <p:spPr>
            <a:xfrm>
              <a:off x="3502152" y="4279392"/>
              <a:ext cx="9144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2</a:t>
              </a:r>
            </a:p>
          </p:txBody>
        </p:sp>
        <p:sp>
          <p:nvSpPr>
            <p:cNvPr id="106" name="文字 | 3"/>
            <p:cNvSpPr txBox="1"/>
            <p:nvPr/>
          </p:nvSpPr>
          <p:spPr>
            <a:xfrm>
              <a:off x="3502152" y="4078224"/>
              <a:ext cx="9144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3</a:t>
              </a:r>
            </a:p>
          </p:txBody>
        </p:sp>
        <p:sp>
          <p:nvSpPr>
            <p:cNvPr id="107" name="文字 | 0"/>
            <p:cNvSpPr txBox="1"/>
            <p:nvPr/>
          </p:nvSpPr>
          <p:spPr>
            <a:xfrm>
              <a:off x="3566160" y="4754880"/>
              <a:ext cx="13716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0</a:t>
              </a:r>
            </a:p>
          </p:txBody>
        </p:sp>
        <p:sp>
          <p:nvSpPr>
            <p:cNvPr id="108" name="文字 | 1"/>
            <p:cNvSpPr txBox="1"/>
            <p:nvPr/>
          </p:nvSpPr>
          <p:spPr>
            <a:xfrm>
              <a:off x="3767328" y="4754880"/>
              <a:ext cx="13716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1</a:t>
              </a:r>
            </a:p>
          </p:txBody>
        </p:sp>
        <p:sp>
          <p:nvSpPr>
            <p:cNvPr id="109" name="文字 | 2"/>
            <p:cNvSpPr txBox="1"/>
            <p:nvPr/>
          </p:nvSpPr>
          <p:spPr>
            <a:xfrm>
              <a:off x="3968496" y="4754880"/>
              <a:ext cx="13716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2</a:t>
              </a:r>
            </a:p>
          </p:txBody>
        </p:sp>
        <p:sp>
          <p:nvSpPr>
            <p:cNvPr id="110" name="文字 | 3"/>
            <p:cNvSpPr txBox="1"/>
            <p:nvPr/>
          </p:nvSpPr>
          <p:spPr>
            <a:xfrm>
              <a:off x="4169663" y="4754880"/>
              <a:ext cx="13716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3</a:t>
              </a:r>
            </a:p>
          </p:txBody>
        </p:sp>
        <p:sp>
          <p:nvSpPr>
            <p:cNvPr id="111" name="文字 | 4"/>
            <p:cNvSpPr txBox="1"/>
            <p:nvPr/>
          </p:nvSpPr>
          <p:spPr>
            <a:xfrm>
              <a:off x="4370832" y="4754880"/>
              <a:ext cx="137160" cy="914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570"/>
                </a:lnSpc>
                <a:spcBef>
                  <a:spcPts val="0"/>
                </a:spcBef>
                <a:spcAft>
                  <a:spcPts val="0"/>
                </a:spcAft>
                <a:defRPr sz="468" b="0">
                  <a:solidFill>
                    <a:srgbClr val="9BAFC4"/>
                  </a:solidFill>
                  <a:latin typeface="Arial"/>
                </a:defRPr>
              </a:pPr>
              <a:r>
                <a:rPr>
                  <a:ea typeface="Noto Sans CJK SC"/>
                </a:rPr>
                <a:t>4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4031604" y="4190056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4312196" y="4031982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4299705" y="3984928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3952020" y="457078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3862546" y="4563771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3747671" y="462391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3838295" y="437038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4201401" y="410740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3695743" y="4668211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4049079" y="435389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4266810" y="4224143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4077033" y="4103311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4113384" y="425670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3786514" y="4608968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4036418" y="4244182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3927663" y="4347786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3951886" y="4404996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4071152" y="4478352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4198392" y="423912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3718987" y="451626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3844870" y="462203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3937897" y="4325102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4219552" y="4094546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3698674" y="4672584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4192494" y="431041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3980732" y="436912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137"/>
            <p:cNvSpPr/>
            <p:nvPr/>
          </p:nvSpPr>
          <p:spPr>
            <a:xfrm>
              <a:off x="3729499" y="4566271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val 138"/>
            <p:cNvSpPr/>
            <p:nvPr/>
          </p:nvSpPr>
          <p:spPr>
            <a:xfrm>
              <a:off x="3854950" y="4544869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3682146" y="460063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4028310" y="4384614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3938608" y="4444627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3865020" y="4672584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4033542" y="446124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4363031" y="3987966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4092680" y="4316626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4187314" y="4195379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3885255" y="4387869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4193115" y="4356614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Oval 149"/>
            <p:cNvSpPr/>
            <p:nvPr/>
          </p:nvSpPr>
          <p:spPr>
            <a:xfrm>
              <a:off x="3889653" y="4403578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>
              <a:off x="4339029" y="415730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4096712" y="428336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>
              <a:off x="3674001" y="4672584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3834761" y="4249367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4281472" y="4144050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>
              <a:off x="4045723" y="4335895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val 156"/>
            <p:cNvSpPr/>
            <p:nvPr/>
          </p:nvSpPr>
          <p:spPr>
            <a:xfrm>
              <a:off x="4157042" y="4173907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>
              <a:off x="4386224" y="4185054"/>
              <a:ext cx="36576" cy="36576"/>
            </a:xfrm>
            <a:prstGeom prst="ellipse">
              <a:avLst/>
            </a:prstGeom>
            <a:solidFill>
              <a:srgbClr val="072D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9" name="矢量线"/>
            <p:cNvCxnSpPr/>
            <p:nvPr/>
          </p:nvCxnSpPr>
          <p:spPr>
            <a:xfrm flipV="1">
              <a:off x="3648456" y="3950208"/>
              <a:ext cx="841248" cy="704088"/>
            </a:xfrm>
            <a:prstGeom prst="line">
              <a:avLst/>
            </a:prstGeom>
            <a:ln w="14630" cap="rnd">
              <a:solidFill>
                <a:srgbClr val="F32027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02 QSAR | 模型说明"/>
          <p:cNvGrpSpPr/>
          <p:nvPr/>
        </p:nvGrpSpPr>
        <p:grpSpPr>
          <a:xfrm>
            <a:off x="4626864" y="3950208"/>
            <a:ext cx="1380744" cy="700887"/>
            <a:chOff x="4626864" y="3950208"/>
            <a:chExt cx="1380744" cy="700887"/>
          </a:xfrm>
        </p:grpSpPr>
        <p:sp>
          <p:nvSpPr>
            <p:cNvPr id="161" name="文字 | •"/>
            <p:cNvSpPr txBox="1"/>
            <p:nvPr/>
          </p:nvSpPr>
          <p:spPr>
            <a:xfrm>
              <a:off x="4626864" y="3950208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62" name="文字 | Morgan 指纹 + RF"/>
            <p:cNvSpPr txBox="1"/>
            <p:nvPr/>
          </p:nvSpPr>
          <p:spPr>
            <a:xfrm>
              <a:off x="4782312" y="3950208"/>
              <a:ext cx="1225296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13"/>
                </a:lnSpc>
                <a:spcBef>
                  <a:spcPts val="0"/>
                </a:spcBef>
                <a:spcAft>
                  <a:spcPts val="0"/>
                </a:spcAft>
                <a:defRPr sz="115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Morgan 指纹 + RF</a:t>
              </a:r>
            </a:p>
          </p:txBody>
        </p:sp>
        <p:sp>
          <p:nvSpPr>
            <p:cNvPr id="163" name="文字 | •"/>
            <p:cNvSpPr txBox="1"/>
            <p:nvPr/>
          </p:nvSpPr>
          <p:spPr>
            <a:xfrm>
              <a:off x="4626864" y="4187952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64" name="文字 | pIC50 回归预测"/>
            <p:cNvSpPr txBox="1"/>
            <p:nvPr/>
          </p:nvSpPr>
          <p:spPr>
            <a:xfrm>
              <a:off x="4782312" y="4187952"/>
              <a:ext cx="1225296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pIC50 回归预测</a:t>
              </a:r>
            </a:p>
          </p:txBody>
        </p:sp>
        <p:sp>
          <p:nvSpPr>
            <p:cNvPr id="165" name="文字 | •"/>
            <p:cNvSpPr txBox="1"/>
            <p:nvPr/>
          </p:nvSpPr>
          <p:spPr>
            <a:xfrm>
              <a:off x="4626864" y="4425696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66" name="文字 | 候选活性初筛"/>
            <p:cNvSpPr txBox="1"/>
            <p:nvPr/>
          </p:nvSpPr>
          <p:spPr>
            <a:xfrm>
              <a:off x="4782312" y="4425696"/>
              <a:ext cx="1225296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候选活性初筛</a:t>
              </a:r>
            </a:p>
          </p:txBody>
        </p:sp>
      </p:grpSp>
      <p:grpSp>
        <p:nvGrpSpPr>
          <p:cNvPr id="169" name="03 结构证据 | 结构图片（可替换）"/>
          <p:cNvGrpSpPr/>
          <p:nvPr/>
        </p:nvGrpSpPr>
        <p:grpSpPr>
          <a:xfrm>
            <a:off x="6419088" y="3831336"/>
            <a:ext cx="1024128" cy="1088136"/>
            <a:chOff x="6419088" y="3831336"/>
            <a:chExt cx="1024128" cy="1088136"/>
          </a:xfrm>
        </p:grpSpPr>
        <p:pic>
          <p:nvPicPr>
            <p:cNvPr id="168" name="对接复合物 | 复用此前结构图，旋转以贴近参考版式" descr="docking_reus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9088" y="3831336"/>
              <a:ext cx="1024128" cy="1088136"/>
            </a:xfrm>
            <a:prstGeom prst="rect">
              <a:avLst/>
            </a:prstGeom>
            <a:effectLst/>
          </p:spPr>
        </p:pic>
      </p:grpSp>
      <p:grpSp>
        <p:nvGrpSpPr>
          <p:cNvPr id="176" name="03 结构证据 | 说明文字"/>
          <p:cNvGrpSpPr/>
          <p:nvPr/>
        </p:nvGrpSpPr>
        <p:grpSpPr>
          <a:xfrm>
            <a:off x="7516368" y="3968496"/>
            <a:ext cx="1426464" cy="703265"/>
            <a:chOff x="7516368" y="3968496"/>
            <a:chExt cx="1426464" cy="703265"/>
          </a:xfrm>
        </p:grpSpPr>
        <p:sp>
          <p:nvSpPr>
            <p:cNvPr id="170" name="文字 | •"/>
            <p:cNvSpPr txBox="1"/>
            <p:nvPr/>
          </p:nvSpPr>
          <p:spPr>
            <a:xfrm>
              <a:off x="7516368" y="3968496"/>
              <a:ext cx="109728" cy="18059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71" name="文字 | 结合模式与关键相互作用"/>
            <p:cNvSpPr txBox="1"/>
            <p:nvPr/>
          </p:nvSpPr>
          <p:spPr>
            <a:xfrm>
              <a:off x="7671816" y="3968496"/>
              <a:ext cx="1271016" cy="20948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086"/>
                </a:lnSpc>
                <a:spcBef>
                  <a:spcPts val="0"/>
                </a:spcBef>
                <a:spcAft>
                  <a:spcPts val="0"/>
                </a:spcAft>
                <a:defRPr sz="890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结合模式与关键相互作用</a:t>
              </a:r>
            </a:p>
          </p:txBody>
        </p:sp>
        <p:sp>
          <p:nvSpPr>
            <p:cNvPr id="172" name="文字 | •"/>
            <p:cNvSpPr txBox="1"/>
            <p:nvPr/>
          </p:nvSpPr>
          <p:spPr>
            <a:xfrm>
              <a:off x="7516368" y="4215384"/>
              <a:ext cx="109728" cy="18059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73" name="文字 | 结构风险与口袋适配"/>
            <p:cNvSpPr txBox="1"/>
            <p:nvPr/>
          </p:nvSpPr>
          <p:spPr>
            <a:xfrm>
              <a:off x="7671816" y="4215384"/>
              <a:ext cx="1271016" cy="20948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27"/>
                </a:lnSpc>
                <a:spcBef>
                  <a:spcPts val="0"/>
                </a:spcBef>
                <a:spcAft>
                  <a:spcPts val="0"/>
                </a:spcAft>
                <a:defRPr sz="108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结构风险与口袋适配</a:t>
              </a:r>
            </a:p>
          </p:txBody>
        </p:sp>
        <p:sp>
          <p:nvSpPr>
            <p:cNvPr id="174" name="文字 | •"/>
            <p:cNvSpPr txBox="1"/>
            <p:nvPr/>
          </p:nvSpPr>
          <p:spPr>
            <a:xfrm>
              <a:off x="7516368" y="4462272"/>
              <a:ext cx="109728" cy="18059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75" name="文字 | 界面几何评估"/>
            <p:cNvSpPr txBox="1"/>
            <p:nvPr/>
          </p:nvSpPr>
          <p:spPr>
            <a:xfrm>
              <a:off x="7671816" y="4462272"/>
              <a:ext cx="1271016" cy="20948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87"/>
                </a:lnSpc>
                <a:spcBef>
                  <a:spcPts val="0"/>
                </a:spcBef>
                <a:spcAft>
                  <a:spcPts val="0"/>
                </a:spcAft>
                <a:defRPr sz="1137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界面几何评估</a:t>
              </a:r>
            </a:p>
          </p:txBody>
        </p:sp>
      </p:grpSp>
      <p:grpSp>
        <p:nvGrpSpPr>
          <p:cNvPr id="195" name="04 ADMET / PK | 图标"/>
          <p:cNvGrpSpPr/>
          <p:nvPr/>
        </p:nvGrpSpPr>
        <p:grpSpPr>
          <a:xfrm>
            <a:off x="9491472" y="3840480"/>
            <a:ext cx="749808" cy="1088136"/>
            <a:chOff x="9491472" y="3840480"/>
            <a:chExt cx="749808" cy="1088136"/>
          </a:xfrm>
        </p:grpSpPr>
        <p:sp>
          <p:nvSpPr>
            <p:cNvPr id="177" name="Rounded Rectangle 176"/>
            <p:cNvSpPr/>
            <p:nvPr/>
          </p:nvSpPr>
          <p:spPr>
            <a:xfrm>
              <a:off x="9491472" y="3840480"/>
              <a:ext cx="484632" cy="484632"/>
            </a:xfrm>
            <a:prstGeom prst="roundRect">
              <a:avLst>
                <a:gd name="adj" fmla="val 22641"/>
              </a:avLst>
            </a:prstGeom>
            <a:solidFill>
              <a:srgbClr val="FFFFFF"/>
            </a:solidFill>
            <a:ln w="10972" cap="rnd">
              <a:solidFill>
                <a:srgbClr val="8FC9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0" name="图标 | pill"/>
            <p:cNvGrpSpPr/>
            <p:nvPr/>
          </p:nvGrpSpPr>
          <p:grpSpPr>
            <a:xfrm>
              <a:off x="9653778" y="3935920"/>
              <a:ext cx="144875" cy="300894"/>
              <a:chOff x="9653778" y="3935920"/>
              <a:chExt cx="144875" cy="300894"/>
            </a:xfrm>
          </p:grpSpPr>
          <p:sp>
            <p:nvSpPr>
              <p:cNvPr id="178" name="Rounded Rectangle 177"/>
              <p:cNvSpPr/>
              <p:nvPr/>
            </p:nvSpPr>
            <p:spPr>
              <a:xfrm rot="2340000">
                <a:off x="9653778" y="3935920"/>
                <a:ext cx="144875" cy="300894"/>
              </a:xfrm>
              <a:prstGeom prst="roundRect">
                <a:avLst>
                  <a:gd name="adj" fmla="val 49000"/>
                </a:avLst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9" name="矢量线"/>
              <p:cNvCxnSpPr/>
              <p:nvPr/>
            </p:nvCxnSpPr>
            <p:spPr>
              <a:xfrm>
                <a:off x="9670494" y="4075223"/>
                <a:ext cx="111442" cy="83582"/>
              </a:xfrm>
              <a:prstGeom prst="line">
                <a:avLst/>
              </a:prstGeom>
              <a:ln w="11144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Rounded Rectangle 180"/>
            <p:cNvSpPr/>
            <p:nvPr/>
          </p:nvSpPr>
          <p:spPr>
            <a:xfrm>
              <a:off x="9756648" y="3995928"/>
              <a:ext cx="484632" cy="475488"/>
            </a:xfrm>
            <a:prstGeom prst="roundRect">
              <a:avLst>
                <a:gd name="adj" fmla="val 23076"/>
              </a:avLst>
            </a:prstGeom>
            <a:solidFill>
              <a:srgbClr val="FFFFFF"/>
            </a:solidFill>
            <a:ln w="9144" cap="rnd">
              <a:solidFill>
                <a:srgbClr val="8FC9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6" name="图标 | bars"/>
            <p:cNvGrpSpPr/>
            <p:nvPr/>
          </p:nvGrpSpPr>
          <p:grpSpPr>
            <a:xfrm>
              <a:off x="9850374" y="4094797"/>
              <a:ext cx="288036" cy="272606"/>
              <a:chOff x="9850374" y="4094797"/>
              <a:chExt cx="288036" cy="272606"/>
            </a:xfrm>
          </p:grpSpPr>
          <p:cxnSp>
            <p:nvCxnSpPr>
              <p:cNvPr id="182" name="矢量线"/>
              <p:cNvCxnSpPr/>
              <p:nvPr/>
            </p:nvCxnSpPr>
            <p:spPr>
              <a:xfrm>
                <a:off x="9850374" y="4367403"/>
                <a:ext cx="288036" cy="0"/>
              </a:xfrm>
              <a:prstGeom prst="line">
                <a:avLst/>
              </a:prstGeom>
              <a:ln w="15430" cap="rnd">
                <a:solidFill>
                  <a:srgbClr val="0088FF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Rectangle 182"/>
              <p:cNvSpPr/>
              <p:nvPr/>
            </p:nvSpPr>
            <p:spPr>
              <a:xfrm>
                <a:off x="9881235" y="4233672"/>
                <a:ext cx="51435" cy="108013"/>
              </a:xfrm>
              <a:prstGeom prst="rect">
                <a:avLst/>
              </a:prstGeom>
              <a:solidFill>
                <a:srgbClr val="008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Rectangle 183"/>
              <p:cNvSpPr/>
              <p:nvPr/>
            </p:nvSpPr>
            <p:spPr>
              <a:xfrm>
                <a:off x="9968674" y="4171950"/>
                <a:ext cx="51435" cy="169735"/>
              </a:xfrm>
              <a:prstGeom prst="rect">
                <a:avLst/>
              </a:prstGeom>
              <a:solidFill>
                <a:srgbClr val="008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10056114" y="4094797"/>
                <a:ext cx="51435" cy="246888"/>
              </a:xfrm>
              <a:prstGeom prst="rect">
                <a:avLst/>
              </a:prstGeom>
              <a:solidFill>
                <a:srgbClr val="0088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7" name="Rounded Rectangle 186"/>
            <p:cNvSpPr/>
            <p:nvPr/>
          </p:nvSpPr>
          <p:spPr>
            <a:xfrm>
              <a:off x="9491472" y="3840480"/>
              <a:ext cx="484632" cy="484632"/>
            </a:xfrm>
            <a:prstGeom prst="roundRect">
              <a:avLst>
                <a:gd name="adj" fmla="val 22641"/>
              </a:avLst>
            </a:prstGeom>
            <a:solidFill>
              <a:srgbClr val="FFFFFF"/>
            </a:solidFill>
            <a:ln w="10972" cap="rnd">
              <a:solidFill>
                <a:srgbClr val="8FC9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0" name="图标 | pill"/>
            <p:cNvGrpSpPr/>
            <p:nvPr/>
          </p:nvGrpSpPr>
          <p:grpSpPr>
            <a:xfrm>
              <a:off x="9653778" y="3935920"/>
              <a:ext cx="144875" cy="300894"/>
              <a:chOff x="9653778" y="3935920"/>
              <a:chExt cx="144875" cy="300894"/>
            </a:xfrm>
          </p:grpSpPr>
          <p:sp>
            <p:nvSpPr>
              <p:cNvPr id="188" name="Rounded Rectangle 187"/>
              <p:cNvSpPr/>
              <p:nvPr/>
            </p:nvSpPr>
            <p:spPr>
              <a:xfrm rot="2340000">
                <a:off x="9653778" y="3935920"/>
                <a:ext cx="144875" cy="300894"/>
              </a:xfrm>
              <a:prstGeom prst="roundRect">
                <a:avLst>
                  <a:gd name="adj" fmla="val 49000"/>
                </a:avLst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89" name="矢量线"/>
              <p:cNvCxnSpPr/>
              <p:nvPr/>
            </p:nvCxnSpPr>
            <p:spPr>
              <a:xfrm>
                <a:off x="9670494" y="4075223"/>
                <a:ext cx="111442" cy="83582"/>
              </a:xfrm>
              <a:prstGeom prst="line">
                <a:avLst/>
              </a:prstGeom>
              <a:ln w="11144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Rounded Rectangle 190"/>
            <p:cNvSpPr/>
            <p:nvPr/>
          </p:nvSpPr>
          <p:spPr>
            <a:xfrm>
              <a:off x="9509760" y="4425696"/>
              <a:ext cx="502920" cy="502920"/>
            </a:xfrm>
            <a:prstGeom prst="roundRect">
              <a:avLst>
                <a:gd name="adj" fmla="val 21818"/>
              </a:avLst>
            </a:prstGeom>
            <a:solidFill>
              <a:srgbClr val="FFFFFF"/>
            </a:solidFill>
            <a:ln w="10972" cap="rnd">
              <a:solidFill>
                <a:srgbClr val="8FC9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4" name="图标 | flask"/>
            <p:cNvGrpSpPr/>
            <p:nvPr/>
          </p:nvGrpSpPr>
          <p:grpSpPr>
            <a:xfrm>
              <a:off x="9603503" y="4497220"/>
              <a:ext cx="221494" cy="314860"/>
              <a:chOff x="9603503" y="4497220"/>
              <a:chExt cx="221494" cy="314860"/>
            </a:xfrm>
          </p:grpSpPr>
          <p:sp>
            <p:nvSpPr>
              <p:cNvPr id="192" name="Freeform 191"/>
              <p:cNvSpPr/>
              <p:nvPr/>
            </p:nvSpPr>
            <p:spPr>
              <a:xfrm>
                <a:off x="9603503" y="4497220"/>
                <a:ext cx="221494" cy="314860"/>
              </a:xfrm>
              <a:custGeom>
                <a:avLst/>
                <a:gdLst/>
                <a:ahLst/>
                <a:cxnLst/>
                <a:rect l="l" t="t" r="r" b="b"/>
                <a:pathLst>
                  <a:path w="2434" h="3460">
                    <a:moveTo>
                      <a:pt x="640" y="0"/>
                    </a:moveTo>
                    <a:lnTo>
                      <a:pt x="1794" y="0"/>
                    </a:lnTo>
                    <a:lnTo>
                      <a:pt x="1794" y="321"/>
                    </a:lnTo>
                    <a:lnTo>
                      <a:pt x="1537" y="321"/>
                    </a:lnTo>
                    <a:lnTo>
                      <a:pt x="1537" y="1538"/>
                    </a:lnTo>
                    <a:lnTo>
                      <a:pt x="2434" y="3075"/>
                    </a:lnTo>
                    <a:lnTo>
                      <a:pt x="2370" y="3460"/>
                    </a:lnTo>
                    <a:lnTo>
                      <a:pt x="64" y="3460"/>
                    </a:lnTo>
                    <a:lnTo>
                      <a:pt x="0" y="3075"/>
                    </a:lnTo>
                    <a:lnTo>
                      <a:pt x="897" y="1538"/>
                    </a:lnTo>
                    <a:lnTo>
                      <a:pt x="897" y="321"/>
                    </a:lnTo>
                    <a:lnTo>
                      <a:pt x="640" y="321"/>
                    </a:lnTo>
                    <a:lnTo>
                      <a:pt x="6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745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Freeform 192"/>
              <p:cNvSpPr/>
              <p:nvPr/>
            </p:nvSpPr>
            <p:spPr>
              <a:xfrm>
                <a:off x="9615151" y="4701242"/>
                <a:ext cx="198198" cy="87451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961">
                    <a:moveTo>
                      <a:pt x="512" y="0"/>
                    </a:moveTo>
                    <a:lnTo>
                      <a:pt x="1666" y="0"/>
                    </a:lnTo>
                    <a:lnTo>
                      <a:pt x="2178" y="961"/>
                    </a:lnTo>
                    <a:lnTo>
                      <a:pt x="0" y="961"/>
                    </a:lnTo>
                    <a:close/>
                  </a:path>
                </a:pathLst>
              </a:cu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03" name="04 ADMET / PK | 说明文字"/>
          <p:cNvGrpSpPr/>
          <p:nvPr/>
        </p:nvGrpSpPr>
        <p:grpSpPr>
          <a:xfrm>
            <a:off x="10396728" y="3950208"/>
            <a:ext cx="1499616" cy="923544"/>
            <a:chOff x="10396728" y="3950208"/>
            <a:chExt cx="1499616" cy="923544"/>
          </a:xfrm>
        </p:grpSpPr>
        <p:sp>
          <p:nvSpPr>
            <p:cNvPr id="196" name="文字 | •"/>
            <p:cNvSpPr txBox="1"/>
            <p:nvPr/>
          </p:nvSpPr>
          <p:spPr>
            <a:xfrm>
              <a:off x="10396728" y="3950208"/>
              <a:ext cx="109728" cy="19202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63"/>
                </a:lnSpc>
                <a:spcBef>
                  <a:spcPts val="0"/>
                </a:spcBef>
                <a:spcAft>
                  <a:spcPts val="0"/>
                </a:spcAft>
                <a:defRPr sz="1281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97" name="文字 | ADMET-AI 多端点"/>
            <p:cNvSpPr txBox="1"/>
            <p:nvPr/>
          </p:nvSpPr>
          <p:spPr>
            <a:xfrm>
              <a:off x="10552176" y="3950208"/>
              <a:ext cx="1344168" cy="222747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ADMET-AI 多端点</a:t>
              </a:r>
            </a:p>
          </p:txBody>
        </p:sp>
        <p:sp>
          <p:nvSpPr>
            <p:cNvPr id="198" name="文字 | •"/>
            <p:cNvSpPr txBox="1"/>
            <p:nvPr/>
          </p:nvSpPr>
          <p:spPr>
            <a:xfrm>
              <a:off x="10396728" y="4187952"/>
              <a:ext cx="109728" cy="19202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63"/>
                </a:lnSpc>
                <a:spcBef>
                  <a:spcPts val="0"/>
                </a:spcBef>
                <a:spcAft>
                  <a:spcPts val="0"/>
                </a:spcAft>
                <a:defRPr sz="1281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199" name="文字 | RDKit PK 风险评分"/>
            <p:cNvSpPr txBox="1"/>
            <p:nvPr/>
          </p:nvSpPr>
          <p:spPr>
            <a:xfrm>
              <a:off x="10552176" y="4187952"/>
              <a:ext cx="1344168" cy="222747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RDKit PK 风险评分</a:t>
              </a:r>
            </a:p>
          </p:txBody>
        </p:sp>
        <p:sp>
          <p:nvSpPr>
            <p:cNvPr id="200" name="文字 | •"/>
            <p:cNvSpPr txBox="1"/>
            <p:nvPr/>
          </p:nvSpPr>
          <p:spPr>
            <a:xfrm>
              <a:off x="10396728" y="4425696"/>
              <a:ext cx="109728" cy="19202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63"/>
                </a:lnSpc>
                <a:spcBef>
                  <a:spcPts val="0"/>
                </a:spcBef>
                <a:spcAft>
                  <a:spcPts val="0"/>
                </a:spcAft>
                <a:defRPr sz="1281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01" name="文字 | D-MPNN 清除率"/>
            <p:cNvSpPr txBox="1"/>
            <p:nvPr/>
          </p:nvSpPr>
          <p:spPr>
            <a:xfrm>
              <a:off x="10552176" y="4425696"/>
              <a:ext cx="1344168" cy="222747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D-MPNN 清除率</a:t>
              </a:r>
            </a:p>
          </p:txBody>
        </p:sp>
        <p:sp>
          <p:nvSpPr>
            <p:cNvPr id="202" name="文字 | Shadow 模型"/>
            <p:cNvSpPr txBox="1"/>
            <p:nvPr/>
          </p:nvSpPr>
          <p:spPr>
            <a:xfrm>
              <a:off x="10543032" y="4636008"/>
              <a:ext cx="1316736" cy="23774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Shadow 模型</a:t>
              </a:r>
            </a:p>
          </p:txBody>
        </p:sp>
      </p:grpSp>
      <p:grpSp>
        <p:nvGrpSpPr>
          <p:cNvPr id="235" name="05 多目标评价 | 可编辑 Pareto 示意图"/>
          <p:cNvGrpSpPr/>
          <p:nvPr/>
        </p:nvGrpSpPr>
        <p:grpSpPr>
          <a:xfrm>
            <a:off x="12399264" y="3867500"/>
            <a:ext cx="1060704" cy="1134268"/>
            <a:chOff x="12399264" y="3867500"/>
            <a:chExt cx="1060704" cy="1134268"/>
          </a:xfrm>
        </p:grpSpPr>
        <p:cxnSp>
          <p:nvCxnSpPr>
            <p:cNvPr id="204" name="矢量线"/>
            <p:cNvCxnSpPr/>
            <p:nvPr/>
          </p:nvCxnSpPr>
          <p:spPr>
            <a:xfrm>
              <a:off x="12600432" y="3913632"/>
              <a:ext cx="0" cy="841248"/>
            </a:xfrm>
            <a:prstGeom prst="line">
              <a:avLst/>
            </a:prstGeom>
            <a:ln w="9144" cap="rnd">
              <a:solidFill>
                <a:srgbClr val="111D54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矢量线"/>
            <p:cNvCxnSpPr/>
            <p:nvPr/>
          </p:nvCxnSpPr>
          <p:spPr>
            <a:xfrm>
              <a:off x="12600432" y="4754880"/>
              <a:ext cx="859536" cy="0"/>
            </a:xfrm>
            <a:prstGeom prst="line">
              <a:avLst/>
            </a:prstGeom>
            <a:ln w="9144" cap="rnd">
              <a:solidFill>
                <a:srgbClr val="111D54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Freeform 205"/>
            <p:cNvSpPr/>
            <p:nvPr/>
          </p:nvSpPr>
          <p:spPr>
            <a:xfrm>
              <a:off x="12512500" y="3867500"/>
              <a:ext cx="54600" cy="54600"/>
            </a:xfrm>
            <a:custGeom>
              <a:avLst/>
              <a:gdLst/>
              <a:ahLst/>
              <a:cxnLst/>
              <a:rect l="l" t="t" r="r" b="b"/>
              <a:pathLst>
                <a:path w="600" h="600">
                  <a:moveTo>
                    <a:pt x="0" y="600"/>
                  </a:moveTo>
                  <a:lnTo>
                    <a:pt x="300" y="0"/>
                  </a:lnTo>
                  <a:lnTo>
                    <a:pt x="600" y="600"/>
                  </a:lnTo>
                  <a:close/>
                </a:path>
              </a:pathLst>
            </a:custGeom>
            <a:solidFill>
              <a:srgbClr val="111D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13367900" y="4704700"/>
              <a:ext cx="54600" cy="54600"/>
            </a:xfrm>
            <a:custGeom>
              <a:avLst/>
              <a:gdLst/>
              <a:ahLst/>
              <a:cxnLst/>
              <a:rect l="l" t="t" r="r" b="b"/>
              <a:pathLst>
                <a:path w="600" h="600">
                  <a:moveTo>
                    <a:pt x="0" y="0"/>
                  </a:moveTo>
                  <a:lnTo>
                    <a:pt x="600" y="300"/>
                  </a:lnTo>
                  <a:lnTo>
                    <a:pt x="0" y="600"/>
                  </a:lnTo>
                  <a:close/>
                </a:path>
              </a:pathLst>
            </a:custGeom>
            <a:solidFill>
              <a:srgbClr val="111D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12801600" y="3986784"/>
              <a:ext cx="54864" cy="54864"/>
            </a:xfrm>
            <a:prstGeom prst="ellipse">
              <a:avLst/>
            </a:prstGeom>
            <a:solidFill>
              <a:srgbClr val="006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>
              <a:off x="12938760" y="4041648"/>
              <a:ext cx="54864" cy="54864"/>
            </a:xfrm>
            <a:prstGeom prst="ellipse">
              <a:avLst/>
            </a:prstGeom>
            <a:solidFill>
              <a:srgbClr val="006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val 209"/>
            <p:cNvSpPr/>
            <p:nvPr/>
          </p:nvSpPr>
          <p:spPr>
            <a:xfrm>
              <a:off x="13057632" y="4114800"/>
              <a:ext cx="54864" cy="54864"/>
            </a:xfrm>
            <a:prstGeom prst="ellipse">
              <a:avLst/>
            </a:prstGeom>
            <a:solidFill>
              <a:srgbClr val="006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val 210"/>
            <p:cNvSpPr/>
            <p:nvPr/>
          </p:nvSpPr>
          <p:spPr>
            <a:xfrm>
              <a:off x="13158216" y="4242816"/>
              <a:ext cx="54864" cy="54864"/>
            </a:xfrm>
            <a:prstGeom prst="ellipse">
              <a:avLst/>
            </a:prstGeom>
            <a:solidFill>
              <a:srgbClr val="006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13240512" y="4370832"/>
              <a:ext cx="54864" cy="54864"/>
            </a:xfrm>
            <a:prstGeom prst="ellipse">
              <a:avLst/>
            </a:prstGeom>
            <a:solidFill>
              <a:srgbClr val="006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13304520" y="4544568"/>
              <a:ext cx="54864" cy="54864"/>
            </a:xfrm>
            <a:prstGeom prst="ellipse">
              <a:avLst/>
            </a:prstGeom>
            <a:solidFill>
              <a:srgbClr val="006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Freeform 213"/>
            <p:cNvSpPr/>
            <p:nvPr/>
          </p:nvSpPr>
          <p:spPr>
            <a:xfrm>
              <a:off x="12639900" y="3967236"/>
              <a:ext cx="637000" cy="628264"/>
            </a:xfrm>
            <a:custGeom>
              <a:avLst/>
              <a:gdLst/>
              <a:ahLst/>
              <a:cxnLst/>
              <a:rect l="l" t="t" r="r" b="b"/>
              <a:pathLst>
                <a:path w="7000" h="6904">
                  <a:moveTo>
                    <a:pt x="0" y="4"/>
                  </a:moveTo>
                  <a:lnTo>
                    <a:pt x="224" y="0"/>
                  </a:lnTo>
                  <a:lnTo>
                    <a:pt x="449" y="6"/>
                  </a:lnTo>
                  <a:lnTo>
                    <a:pt x="676" y="21"/>
                  </a:lnTo>
                  <a:lnTo>
                    <a:pt x="904" y="46"/>
                  </a:lnTo>
                  <a:lnTo>
                    <a:pt x="1133" y="82"/>
                  </a:lnTo>
                  <a:lnTo>
                    <a:pt x="1362" y="128"/>
                  </a:lnTo>
                  <a:lnTo>
                    <a:pt x="1592" y="184"/>
                  </a:lnTo>
                  <a:lnTo>
                    <a:pt x="1822" y="251"/>
                  </a:lnTo>
                  <a:lnTo>
                    <a:pt x="2051" y="329"/>
                  </a:lnTo>
                  <a:lnTo>
                    <a:pt x="2280" y="419"/>
                  </a:lnTo>
                  <a:lnTo>
                    <a:pt x="2508" y="519"/>
                  </a:lnTo>
                  <a:lnTo>
                    <a:pt x="2735" y="632"/>
                  </a:lnTo>
                  <a:lnTo>
                    <a:pt x="2960" y="756"/>
                  </a:lnTo>
                  <a:lnTo>
                    <a:pt x="3184" y="892"/>
                  </a:lnTo>
                  <a:lnTo>
                    <a:pt x="3406" y="1040"/>
                  </a:lnTo>
                  <a:lnTo>
                    <a:pt x="3625" y="1201"/>
                  </a:lnTo>
                  <a:lnTo>
                    <a:pt x="3842" y="1375"/>
                  </a:lnTo>
                  <a:lnTo>
                    <a:pt x="4057" y="1561"/>
                  </a:lnTo>
                  <a:lnTo>
                    <a:pt x="4268" y="1761"/>
                  </a:lnTo>
                  <a:lnTo>
                    <a:pt x="4476" y="1974"/>
                  </a:lnTo>
                  <a:lnTo>
                    <a:pt x="4680" y="2200"/>
                  </a:lnTo>
                  <a:lnTo>
                    <a:pt x="4880" y="2440"/>
                  </a:lnTo>
                  <a:lnTo>
                    <a:pt x="5076" y="2694"/>
                  </a:lnTo>
                  <a:lnTo>
                    <a:pt x="5268" y="2962"/>
                  </a:lnTo>
                  <a:lnTo>
                    <a:pt x="5455" y="3245"/>
                  </a:lnTo>
                  <a:lnTo>
                    <a:pt x="5637" y="3542"/>
                  </a:lnTo>
                  <a:lnTo>
                    <a:pt x="5813" y="3853"/>
                  </a:lnTo>
                  <a:lnTo>
                    <a:pt x="5984" y="4180"/>
                  </a:lnTo>
                  <a:lnTo>
                    <a:pt x="6149" y="4522"/>
                  </a:lnTo>
                  <a:lnTo>
                    <a:pt x="6308" y="4879"/>
                  </a:lnTo>
                  <a:lnTo>
                    <a:pt x="6460" y="5252"/>
                  </a:lnTo>
                  <a:lnTo>
                    <a:pt x="6606" y="5641"/>
                  </a:lnTo>
                  <a:lnTo>
                    <a:pt x="6745" y="6046"/>
                  </a:lnTo>
                  <a:lnTo>
                    <a:pt x="6876" y="6467"/>
                  </a:lnTo>
                  <a:lnTo>
                    <a:pt x="7000" y="6904"/>
                  </a:lnTo>
                </a:path>
              </a:pathLst>
            </a:custGeom>
            <a:noFill/>
            <a:ln w="10972" cap="rnd">
              <a:solidFill>
                <a:srgbClr val="0071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12826466" y="4418891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val 215"/>
            <p:cNvSpPr/>
            <p:nvPr/>
          </p:nvSpPr>
          <p:spPr>
            <a:xfrm>
              <a:off x="12892347" y="4194268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val 216"/>
            <p:cNvSpPr/>
            <p:nvPr/>
          </p:nvSpPr>
          <p:spPr>
            <a:xfrm>
              <a:off x="12958942" y="4337765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12954755" y="4320462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val 218"/>
            <p:cNvSpPr/>
            <p:nvPr/>
          </p:nvSpPr>
          <p:spPr>
            <a:xfrm>
              <a:off x="12862251" y="4221340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val 219"/>
            <p:cNvSpPr/>
            <p:nvPr/>
          </p:nvSpPr>
          <p:spPr>
            <a:xfrm>
              <a:off x="13045912" y="4255573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Oval 220"/>
            <p:cNvSpPr/>
            <p:nvPr/>
          </p:nvSpPr>
          <p:spPr>
            <a:xfrm>
              <a:off x="13038581" y="4479830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Oval 221"/>
            <p:cNvSpPr/>
            <p:nvPr/>
          </p:nvSpPr>
          <p:spPr>
            <a:xfrm>
              <a:off x="13120720" y="4555847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Oval 222"/>
            <p:cNvSpPr/>
            <p:nvPr/>
          </p:nvSpPr>
          <p:spPr>
            <a:xfrm>
              <a:off x="12849370" y="4213390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Oval 223"/>
            <p:cNvSpPr/>
            <p:nvPr/>
          </p:nvSpPr>
          <p:spPr>
            <a:xfrm>
              <a:off x="13064369" y="4377267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Oval 224"/>
            <p:cNvSpPr/>
            <p:nvPr/>
          </p:nvSpPr>
          <p:spPr>
            <a:xfrm>
              <a:off x="12835321" y="4426729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13123859" y="4503389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12841436" y="4243221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Oval 227"/>
            <p:cNvSpPr/>
            <p:nvPr/>
          </p:nvSpPr>
          <p:spPr>
            <a:xfrm>
              <a:off x="12751428" y="4571186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Oval 228"/>
            <p:cNvSpPr/>
            <p:nvPr/>
          </p:nvSpPr>
          <p:spPr>
            <a:xfrm>
              <a:off x="12843303" y="4450718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12979735" y="4385951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Oval 230"/>
            <p:cNvSpPr/>
            <p:nvPr/>
          </p:nvSpPr>
          <p:spPr>
            <a:xfrm>
              <a:off x="12974938" y="4498418"/>
              <a:ext cx="69494" cy="69494"/>
            </a:xfrm>
            <a:prstGeom prst="ellipse">
              <a:avLst/>
            </a:prstGeom>
            <a:solidFill>
              <a:srgbClr val="D7D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Oval 231"/>
            <p:cNvSpPr/>
            <p:nvPr/>
          </p:nvSpPr>
          <p:spPr>
            <a:xfrm>
              <a:off x="13057632" y="3959352"/>
              <a:ext cx="73152" cy="73152"/>
            </a:xfrm>
            <a:prstGeom prst="ellipse">
              <a:avLst/>
            </a:prstGeom>
            <a:solidFill>
              <a:srgbClr val="C3C8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文字 | 开 / 发 / 性"/>
            <p:cNvSpPr txBox="1"/>
            <p:nvPr/>
          </p:nvSpPr>
          <p:spPr>
            <a:xfrm>
              <a:off x="12399264" y="4123944"/>
              <a:ext cx="173736" cy="54864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008"/>
                </a:lnSpc>
                <a:spcBef>
                  <a:spcPts val="0"/>
                </a:spcBef>
                <a:spcAft>
                  <a:spcPts val="0"/>
                </a:spcAft>
                <a:defRPr sz="950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开</a:t>
              </a:r>
            </a:p>
            <a:p>
              <a:pPr algn="l">
                <a:lnSpc>
                  <a:spcPts val="1008"/>
                </a:lnSpc>
                <a:spcBef>
                  <a:spcPts val="0"/>
                </a:spcBef>
                <a:spcAft>
                  <a:spcPts val="0"/>
                </a:spcAft>
                <a:defRPr sz="950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发</a:t>
              </a:r>
            </a:p>
            <a:p>
              <a:pPr algn="l">
                <a:lnSpc>
                  <a:spcPts val="1008"/>
                </a:lnSpc>
                <a:spcBef>
                  <a:spcPts val="0"/>
                </a:spcBef>
                <a:spcAft>
                  <a:spcPts val="0"/>
                </a:spcAft>
                <a:defRPr sz="950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性</a:t>
              </a:r>
            </a:p>
          </p:txBody>
        </p:sp>
        <p:sp>
          <p:nvSpPr>
            <p:cNvPr id="234" name="文字 | 活性"/>
            <p:cNvSpPr txBox="1"/>
            <p:nvPr/>
          </p:nvSpPr>
          <p:spPr>
            <a:xfrm>
              <a:off x="12883896" y="4800600"/>
              <a:ext cx="457200" cy="20116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212"/>
                </a:lnSpc>
                <a:spcBef>
                  <a:spcPts val="0"/>
                </a:spcBef>
                <a:spcAft>
                  <a:spcPts val="0"/>
                </a:spcAft>
                <a:defRPr sz="993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活性</a:t>
              </a:r>
            </a:p>
          </p:txBody>
        </p:sp>
      </p:grpSp>
      <p:grpSp>
        <p:nvGrpSpPr>
          <p:cNvPr id="242" name="05 多目标评价 | 说明文字"/>
          <p:cNvGrpSpPr/>
          <p:nvPr/>
        </p:nvGrpSpPr>
        <p:grpSpPr>
          <a:xfrm>
            <a:off x="13569696" y="3968496"/>
            <a:ext cx="1408176" cy="699287"/>
            <a:chOff x="13569696" y="3968496"/>
            <a:chExt cx="1408176" cy="699287"/>
          </a:xfrm>
        </p:grpSpPr>
        <p:sp>
          <p:nvSpPr>
            <p:cNvPr id="236" name="文字 | •"/>
            <p:cNvSpPr txBox="1"/>
            <p:nvPr/>
          </p:nvSpPr>
          <p:spPr>
            <a:xfrm>
              <a:off x="13569696" y="3968496"/>
              <a:ext cx="109728" cy="177165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37" name="文字 | Pareto 非支配排序"/>
            <p:cNvSpPr txBox="1"/>
            <p:nvPr/>
          </p:nvSpPr>
          <p:spPr>
            <a:xfrm>
              <a:off x="13725144" y="3968496"/>
              <a:ext cx="1252728" cy="205511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61"/>
                </a:lnSpc>
                <a:spcBef>
                  <a:spcPts val="0"/>
                </a:spcBef>
                <a:spcAft>
                  <a:spcPts val="0"/>
                </a:spcAft>
                <a:defRPr sz="111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Pareto 非支配排序</a:t>
              </a:r>
            </a:p>
          </p:txBody>
        </p:sp>
        <p:sp>
          <p:nvSpPr>
            <p:cNvPr id="238" name="文字 | •"/>
            <p:cNvSpPr txBox="1"/>
            <p:nvPr/>
          </p:nvSpPr>
          <p:spPr>
            <a:xfrm>
              <a:off x="13569696" y="4215384"/>
              <a:ext cx="109728" cy="177165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39" name="文字 | 活性 + 结构 + 开发性"/>
            <p:cNvSpPr txBox="1"/>
            <p:nvPr/>
          </p:nvSpPr>
          <p:spPr>
            <a:xfrm>
              <a:off x="13725144" y="4215384"/>
              <a:ext cx="1252728" cy="205511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268"/>
                </a:lnSpc>
                <a:spcBef>
                  <a:spcPts val="0"/>
                </a:spcBef>
                <a:spcAft>
                  <a:spcPts val="0"/>
                </a:spcAft>
                <a:defRPr sz="103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活性 + 结构 + 开发性</a:t>
              </a:r>
            </a:p>
          </p:txBody>
        </p:sp>
        <p:sp>
          <p:nvSpPr>
            <p:cNvPr id="240" name="文字 | •"/>
            <p:cNvSpPr txBox="1"/>
            <p:nvPr/>
          </p:nvSpPr>
          <p:spPr>
            <a:xfrm>
              <a:off x="13569696" y="4462272"/>
              <a:ext cx="109728" cy="177165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41" name="文字 | 候选优先级参考"/>
            <p:cNvSpPr txBox="1"/>
            <p:nvPr/>
          </p:nvSpPr>
          <p:spPr>
            <a:xfrm>
              <a:off x="13725144" y="4462272"/>
              <a:ext cx="1252728" cy="205511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61"/>
                </a:lnSpc>
                <a:spcBef>
                  <a:spcPts val="0"/>
                </a:spcBef>
                <a:spcAft>
                  <a:spcPts val="0"/>
                </a:spcAft>
                <a:defRPr sz="111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候选优先级参考</a:t>
              </a:r>
            </a:p>
          </p:txBody>
        </p:sp>
      </p:grpSp>
      <p:sp>
        <p:nvSpPr>
          <p:cNvPr id="243" name="Rounded Rectangle 242"/>
          <p:cNvSpPr/>
          <p:nvPr/>
        </p:nvSpPr>
        <p:spPr>
          <a:xfrm>
            <a:off x="265176" y="5157216"/>
            <a:ext cx="1475841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265176" y="5138928"/>
            <a:ext cx="14758416" cy="365760"/>
          </a:xfrm>
          <a:prstGeom prst="roundRect">
            <a:avLst>
              <a:gd name="adj" fmla="val 20000"/>
            </a:avLst>
          </a:prstGeom>
          <a:ln>
            <a:noFill/>
          </a:ln>
          <a:gradFill>
            <a:gsLst>
              <a:gs pos="0">
                <a:srgbClr val="D9EFFF"/>
              </a:gs>
              <a:gs pos="100000">
                <a:srgbClr val="FDFE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356616" y="5138928"/>
            <a:ext cx="402336" cy="365760"/>
          </a:xfrm>
          <a:prstGeom prst="roundRect">
            <a:avLst>
              <a:gd name="adj" fmla="val 20000"/>
            </a:avLst>
          </a:prstGeom>
          <a:ln>
            <a:noFill/>
          </a:ln>
          <a:gradFill>
            <a:gsLst>
              <a:gs pos="0">
                <a:srgbClr val="1F9CFF"/>
              </a:gs>
              <a:gs pos="100000">
                <a:srgbClr val="0472E4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5" name="图标 | network"/>
          <p:cNvGrpSpPr/>
          <p:nvPr/>
        </p:nvGrpSpPr>
        <p:grpSpPr>
          <a:xfrm>
            <a:off x="440769" y="5204793"/>
            <a:ext cx="234029" cy="238315"/>
            <a:chOff x="440769" y="5204793"/>
            <a:chExt cx="234029" cy="238315"/>
          </a:xfrm>
        </p:grpSpPr>
        <p:cxnSp>
          <p:nvCxnSpPr>
            <p:cNvPr id="246" name="矢量线"/>
            <p:cNvCxnSpPr/>
            <p:nvPr/>
          </p:nvCxnSpPr>
          <p:spPr>
            <a:xfrm>
              <a:off x="557784" y="5227510"/>
              <a:ext cx="0" cy="85725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矢量线"/>
            <p:cNvCxnSpPr/>
            <p:nvPr/>
          </p:nvCxnSpPr>
          <p:spPr>
            <a:xfrm>
              <a:off x="463486" y="5347525"/>
              <a:ext cx="188595" cy="0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矢量线"/>
            <p:cNvCxnSpPr/>
            <p:nvPr/>
          </p:nvCxnSpPr>
          <p:spPr>
            <a:xfrm flipH="1">
              <a:off x="463486" y="5313235"/>
              <a:ext cx="94298" cy="34290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矢量线"/>
            <p:cNvCxnSpPr/>
            <p:nvPr/>
          </p:nvCxnSpPr>
          <p:spPr>
            <a:xfrm>
              <a:off x="557784" y="5313235"/>
              <a:ext cx="94297" cy="34290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矢量线"/>
            <p:cNvCxnSpPr/>
            <p:nvPr/>
          </p:nvCxnSpPr>
          <p:spPr>
            <a:xfrm>
              <a:off x="557784" y="5347525"/>
              <a:ext cx="0" cy="77153"/>
            </a:xfrm>
            <a:prstGeom prst="line">
              <a:avLst/>
            </a:prstGeom>
            <a:ln w="16287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Oval 250"/>
            <p:cNvSpPr/>
            <p:nvPr/>
          </p:nvSpPr>
          <p:spPr>
            <a:xfrm>
              <a:off x="535066" y="5204793"/>
              <a:ext cx="45434" cy="45434"/>
            </a:xfrm>
            <a:prstGeom prst="ellipse">
              <a:avLst/>
            </a:prstGeom>
            <a:solidFill>
              <a:srgbClr val="FFFFFF"/>
            </a:solidFill>
            <a:ln w="1628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Oval 251"/>
            <p:cNvSpPr/>
            <p:nvPr/>
          </p:nvSpPr>
          <p:spPr>
            <a:xfrm>
              <a:off x="440769" y="5324808"/>
              <a:ext cx="45434" cy="45434"/>
            </a:xfrm>
            <a:prstGeom prst="ellipse">
              <a:avLst/>
            </a:prstGeom>
            <a:solidFill>
              <a:srgbClr val="FFFFFF"/>
            </a:solidFill>
            <a:ln w="1628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Oval 252"/>
            <p:cNvSpPr/>
            <p:nvPr/>
          </p:nvSpPr>
          <p:spPr>
            <a:xfrm>
              <a:off x="629364" y="5324808"/>
              <a:ext cx="45434" cy="45434"/>
            </a:xfrm>
            <a:prstGeom prst="ellipse">
              <a:avLst/>
            </a:prstGeom>
            <a:solidFill>
              <a:srgbClr val="FFFFFF"/>
            </a:solidFill>
            <a:ln w="1628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Oval 253"/>
            <p:cNvSpPr/>
            <p:nvPr/>
          </p:nvSpPr>
          <p:spPr>
            <a:xfrm>
              <a:off x="535066" y="5397674"/>
              <a:ext cx="45434" cy="45434"/>
            </a:xfrm>
            <a:prstGeom prst="ellipse">
              <a:avLst/>
            </a:prstGeom>
            <a:solidFill>
              <a:srgbClr val="FFFFFF"/>
            </a:solidFill>
            <a:ln w="16287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6" name="文字 | LangGraph Agent 工作流"/>
          <p:cNvSpPr txBox="1"/>
          <p:nvPr/>
        </p:nvSpPr>
        <p:spPr>
          <a:xfrm>
            <a:off x="877824" y="5166360"/>
            <a:ext cx="14081760" cy="338328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2283"/>
              </a:lnSpc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LangGraph Agent 工作流</a:t>
            </a:r>
          </a:p>
        </p:txBody>
      </p:sp>
      <p:grpSp>
        <p:nvGrpSpPr>
          <p:cNvPr id="274" name="工作流节点 01 | 任务规划"/>
          <p:cNvGrpSpPr/>
          <p:nvPr/>
        </p:nvGrpSpPr>
        <p:grpSpPr>
          <a:xfrm>
            <a:off x="329184" y="5532120"/>
            <a:ext cx="2194560" cy="1170432"/>
            <a:chOff x="329184" y="5532120"/>
            <a:chExt cx="2194560" cy="1170432"/>
          </a:xfrm>
        </p:grpSpPr>
        <p:sp>
          <p:nvSpPr>
            <p:cNvPr id="257" name="卡片 | 任务规划"/>
            <p:cNvSpPr/>
            <p:nvPr/>
          </p:nvSpPr>
          <p:spPr>
            <a:xfrm>
              <a:off x="329184" y="5532120"/>
              <a:ext cx="2194560" cy="1170432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ounded Rectangle 257"/>
            <p:cNvSpPr/>
            <p:nvPr/>
          </p:nvSpPr>
          <p:spPr>
            <a:xfrm>
              <a:off x="466344" y="5596128"/>
              <a:ext cx="457200" cy="301752"/>
            </a:xfrm>
            <a:prstGeom prst="roundRect">
              <a:avLst>
                <a:gd name="adj" fmla="val 24242"/>
              </a:avLst>
            </a:prstGeom>
            <a:ln>
              <a:noFill/>
            </a:ln>
            <a:gradFill>
              <a:gsLst>
                <a:gs pos="0">
                  <a:srgbClr val="168AFF"/>
                </a:gs>
                <a:gs pos="50000">
                  <a:srgbClr val="3498FF"/>
                </a:gs>
                <a:gs pos="100000">
                  <a:srgbClr val="0877F0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文字 | 01"/>
            <p:cNvSpPr txBox="1"/>
            <p:nvPr/>
          </p:nvSpPr>
          <p:spPr>
            <a:xfrm>
              <a:off x="466344" y="5614416"/>
              <a:ext cx="457200" cy="29260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FFFF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01</a:t>
              </a:r>
            </a:p>
          </p:txBody>
        </p:sp>
        <p:sp>
          <p:nvSpPr>
            <p:cNvPr id="260" name="文字 | 任务规划"/>
            <p:cNvSpPr txBox="1"/>
            <p:nvPr/>
          </p:nvSpPr>
          <p:spPr>
            <a:xfrm>
              <a:off x="1143000" y="5577840"/>
              <a:ext cx="1335024" cy="26517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任务规划</a:t>
              </a:r>
            </a:p>
          </p:txBody>
        </p:sp>
        <p:sp>
          <p:nvSpPr>
            <p:cNvPr id="261" name="文字 | Plan"/>
            <p:cNvSpPr txBox="1"/>
            <p:nvPr/>
          </p:nvSpPr>
          <p:spPr>
            <a:xfrm>
              <a:off x="1170432" y="5806440"/>
              <a:ext cx="1316736" cy="25603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defRPr sz="1332" b="0">
                  <a:solidFill>
                    <a:srgbClr val="005C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Plan</a:t>
              </a:r>
            </a:p>
          </p:txBody>
        </p:sp>
        <p:grpSp>
          <p:nvGrpSpPr>
            <p:cNvPr id="269" name="图标 | file"/>
            <p:cNvGrpSpPr/>
            <p:nvPr/>
          </p:nvGrpSpPr>
          <p:grpSpPr>
            <a:xfrm>
              <a:off x="581854" y="6072521"/>
              <a:ext cx="305685" cy="422058"/>
              <a:chOff x="581854" y="6072521"/>
              <a:chExt cx="305685" cy="422058"/>
            </a:xfrm>
          </p:grpSpPr>
          <p:sp>
            <p:nvSpPr>
              <p:cNvPr id="262" name="Freeform 261"/>
              <p:cNvSpPr/>
              <p:nvPr/>
            </p:nvSpPr>
            <p:spPr>
              <a:xfrm>
                <a:off x="581854" y="6072521"/>
                <a:ext cx="301392" cy="422058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638">
                    <a:moveTo>
                      <a:pt x="0" y="0"/>
                    </a:moveTo>
                    <a:lnTo>
                      <a:pt x="2236" y="0"/>
                    </a:lnTo>
                    <a:lnTo>
                      <a:pt x="3312" y="1077"/>
                    </a:lnTo>
                    <a:lnTo>
                      <a:pt x="3312" y="4638"/>
                    </a:lnTo>
                    <a:lnTo>
                      <a:pt x="0" y="46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65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63" name="矢量线"/>
              <p:cNvCxnSpPr/>
              <p:nvPr/>
            </p:nvCxnSpPr>
            <p:spPr>
              <a:xfrm>
                <a:off x="789098" y="6101905"/>
                <a:ext cx="0" cy="98441"/>
              </a:xfrm>
              <a:prstGeom prst="line">
                <a:avLst/>
              </a:prstGeom>
              <a:ln w="265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矢量线"/>
              <p:cNvCxnSpPr/>
              <p:nvPr/>
            </p:nvCxnSpPr>
            <p:spPr>
              <a:xfrm>
                <a:off x="789098" y="6200346"/>
                <a:ext cx="98441" cy="0"/>
              </a:xfrm>
              <a:prstGeom prst="line">
                <a:avLst/>
              </a:prstGeom>
              <a:ln w="265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矢量线"/>
              <p:cNvCxnSpPr/>
              <p:nvPr/>
            </p:nvCxnSpPr>
            <p:spPr>
              <a:xfrm>
                <a:off x="645223" y="6215491"/>
                <a:ext cx="83296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矢量线"/>
              <p:cNvCxnSpPr/>
              <p:nvPr/>
            </p:nvCxnSpPr>
            <p:spPr>
              <a:xfrm>
                <a:off x="645223" y="6291214"/>
                <a:ext cx="159020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矢量线"/>
              <p:cNvCxnSpPr/>
              <p:nvPr/>
            </p:nvCxnSpPr>
            <p:spPr>
              <a:xfrm>
                <a:off x="645223" y="6366938"/>
                <a:ext cx="128730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矢量线"/>
              <p:cNvCxnSpPr/>
              <p:nvPr/>
            </p:nvCxnSpPr>
            <p:spPr>
              <a:xfrm>
                <a:off x="645223" y="6442662"/>
                <a:ext cx="151448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0" name="文字 | •"/>
            <p:cNvSpPr txBox="1"/>
            <p:nvPr/>
          </p:nvSpPr>
          <p:spPr>
            <a:xfrm>
              <a:off x="1170432" y="6144768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71" name="文字 | 解析研发问题"/>
            <p:cNvSpPr txBox="1"/>
            <p:nvPr/>
          </p:nvSpPr>
          <p:spPr>
            <a:xfrm>
              <a:off x="1325880" y="6144768"/>
              <a:ext cx="1161288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解析研发问题</a:t>
              </a:r>
            </a:p>
          </p:txBody>
        </p:sp>
        <p:sp>
          <p:nvSpPr>
            <p:cNvPr id="272" name="文字 | •"/>
            <p:cNvSpPr txBox="1"/>
            <p:nvPr/>
          </p:nvSpPr>
          <p:spPr>
            <a:xfrm>
              <a:off x="1170432" y="6373368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73" name="文字 | 生成执行计划"/>
            <p:cNvSpPr txBox="1"/>
            <p:nvPr/>
          </p:nvSpPr>
          <p:spPr>
            <a:xfrm>
              <a:off x="1325880" y="6373368"/>
              <a:ext cx="1161288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生成执行计划</a:t>
              </a:r>
            </a:p>
          </p:txBody>
        </p:sp>
      </p:grpSp>
      <p:grpSp>
        <p:nvGrpSpPr>
          <p:cNvPr id="287" name="工作流节点 02 | 权限控制"/>
          <p:cNvGrpSpPr/>
          <p:nvPr/>
        </p:nvGrpSpPr>
        <p:grpSpPr>
          <a:xfrm>
            <a:off x="2798064" y="5532120"/>
            <a:ext cx="2121408" cy="1170432"/>
            <a:chOff x="2798064" y="5532120"/>
            <a:chExt cx="2121408" cy="1170432"/>
          </a:xfrm>
        </p:grpSpPr>
        <p:sp>
          <p:nvSpPr>
            <p:cNvPr id="275" name="卡片 | 权限控制"/>
            <p:cNvSpPr/>
            <p:nvPr/>
          </p:nvSpPr>
          <p:spPr>
            <a:xfrm>
              <a:off x="2798064" y="5532120"/>
              <a:ext cx="2121408" cy="1170432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ounded Rectangle 275"/>
            <p:cNvSpPr/>
            <p:nvPr/>
          </p:nvSpPr>
          <p:spPr>
            <a:xfrm>
              <a:off x="2935224" y="5596128"/>
              <a:ext cx="457200" cy="301752"/>
            </a:xfrm>
            <a:prstGeom prst="roundRect">
              <a:avLst>
                <a:gd name="adj" fmla="val 24242"/>
              </a:avLst>
            </a:prstGeom>
            <a:ln>
              <a:noFill/>
            </a:ln>
            <a:gradFill>
              <a:gsLst>
                <a:gs pos="0">
                  <a:srgbClr val="168AFF"/>
                </a:gs>
                <a:gs pos="50000">
                  <a:srgbClr val="3498FF"/>
                </a:gs>
                <a:gs pos="100000">
                  <a:srgbClr val="0877F0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文字 | 02"/>
            <p:cNvSpPr txBox="1"/>
            <p:nvPr/>
          </p:nvSpPr>
          <p:spPr>
            <a:xfrm>
              <a:off x="2935224" y="5614416"/>
              <a:ext cx="457200" cy="29260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FFFF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02</a:t>
              </a:r>
            </a:p>
          </p:txBody>
        </p:sp>
        <p:sp>
          <p:nvSpPr>
            <p:cNvPr id="278" name="文字 | 权限控制"/>
            <p:cNvSpPr txBox="1"/>
            <p:nvPr/>
          </p:nvSpPr>
          <p:spPr>
            <a:xfrm>
              <a:off x="3611880" y="5577840"/>
              <a:ext cx="1261872" cy="26517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权限控制</a:t>
              </a:r>
            </a:p>
          </p:txBody>
        </p:sp>
        <p:sp>
          <p:nvSpPr>
            <p:cNvPr id="279" name="文字 | Permission"/>
            <p:cNvSpPr txBox="1"/>
            <p:nvPr/>
          </p:nvSpPr>
          <p:spPr>
            <a:xfrm>
              <a:off x="3639312" y="5806440"/>
              <a:ext cx="1243584" cy="25603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defRPr sz="1332" b="0">
                  <a:solidFill>
                    <a:srgbClr val="005C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Permission</a:t>
              </a:r>
            </a:p>
          </p:txBody>
        </p:sp>
        <p:grpSp>
          <p:nvGrpSpPr>
            <p:cNvPr id="282" name="图标 | shield"/>
            <p:cNvGrpSpPr/>
            <p:nvPr/>
          </p:nvGrpSpPr>
          <p:grpSpPr>
            <a:xfrm>
              <a:off x="3016195" y="6064968"/>
              <a:ext cx="346710" cy="437164"/>
              <a:chOff x="3016195" y="6064968"/>
              <a:chExt cx="346710" cy="437164"/>
            </a:xfrm>
          </p:grpSpPr>
          <p:sp>
            <p:nvSpPr>
              <p:cNvPr id="280" name="Freeform 279"/>
              <p:cNvSpPr/>
              <p:nvPr/>
            </p:nvSpPr>
            <p:spPr>
              <a:xfrm>
                <a:off x="3016195" y="6064968"/>
                <a:ext cx="346710" cy="437164"/>
              </a:xfrm>
              <a:custGeom>
                <a:avLst/>
                <a:gdLst/>
                <a:ahLst/>
                <a:cxnLst/>
                <a:rect l="l" t="t" r="r" b="b"/>
                <a:pathLst>
                  <a:path w="3810" h="4804">
                    <a:moveTo>
                      <a:pt x="1905" y="0"/>
                    </a:moveTo>
                    <a:lnTo>
                      <a:pt x="1657" y="168"/>
                    </a:lnTo>
                    <a:lnTo>
                      <a:pt x="1409" y="301"/>
                    </a:lnTo>
                    <a:lnTo>
                      <a:pt x="1164" y="402"/>
                    </a:lnTo>
                    <a:lnTo>
                      <a:pt x="922" y="477"/>
                    </a:lnTo>
                    <a:lnTo>
                      <a:pt x="683" y="528"/>
                    </a:lnTo>
                    <a:lnTo>
                      <a:pt x="449" y="559"/>
                    </a:lnTo>
                    <a:lnTo>
                      <a:pt x="221" y="576"/>
                    </a:lnTo>
                    <a:lnTo>
                      <a:pt x="0" y="580"/>
                    </a:lnTo>
                    <a:lnTo>
                      <a:pt x="0" y="817"/>
                    </a:lnTo>
                    <a:lnTo>
                      <a:pt x="0" y="1053"/>
                    </a:lnTo>
                    <a:lnTo>
                      <a:pt x="0" y="1290"/>
                    </a:lnTo>
                    <a:lnTo>
                      <a:pt x="0" y="1527"/>
                    </a:lnTo>
                    <a:lnTo>
                      <a:pt x="0" y="1763"/>
                    </a:lnTo>
                    <a:lnTo>
                      <a:pt x="0" y="2000"/>
                    </a:lnTo>
                    <a:lnTo>
                      <a:pt x="0" y="2236"/>
                    </a:lnTo>
                    <a:lnTo>
                      <a:pt x="35" y="2533"/>
                    </a:lnTo>
                    <a:lnTo>
                      <a:pt x="99" y="2813"/>
                    </a:lnTo>
                    <a:lnTo>
                      <a:pt x="190" y="3075"/>
                    </a:lnTo>
                    <a:lnTo>
                      <a:pt x="304" y="3321"/>
                    </a:lnTo>
                    <a:lnTo>
                      <a:pt x="439" y="3549"/>
                    </a:lnTo>
                    <a:lnTo>
                      <a:pt x="591" y="3762"/>
                    </a:lnTo>
                    <a:lnTo>
                      <a:pt x="758" y="3957"/>
                    </a:lnTo>
                    <a:lnTo>
                      <a:pt x="937" y="4137"/>
                    </a:lnTo>
                    <a:lnTo>
                      <a:pt x="1125" y="4301"/>
                    </a:lnTo>
                    <a:lnTo>
                      <a:pt x="1318" y="4450"/>
                    </a:lnTo>
                    <a:lnTo>
                      <a:pt x="1515" y="4583"/>
                    </a:lnTo>
                    <a:lnTo>
                      <a:pt x="1711" y="4701"/>
                    </a:lnTo>
                    <a:lnTo>
                      <a:pt x="1905" y="4804"/>
                    </a:lnTo>
                    <a:lnTo>
                      <a:pt x="2132" y="4677"/>
                    </a:lnTo>
                    <a:lnTo>
                      <a:pt x="2349" y="4544"/>
                    </a:lnTo>
                    <a:lnTo>
                      <a:pt x="2557" y="4405"/>
                    </a:lnTo>
                    <a:lnTo>
                      <a:pt x="2753" y="4258"/>
                    </a:lnTo>
                    <a:lnTo>
                      <a:pt x="2937" y="4104"/>
                    </a:lnTo>
                    <a:lnTo>
                      <a:pt x="3107" y="3941"/>
                    </a:lnTo>
                    <a:lnTo>
                      <a:pt x="3261" y="3768"/>
                    </a:lnTo>
                    <a:lnTo>
                      <a:pt x="3399" y="3586"/>
                    </a:lnTo>
                    <a:lnTo>
                      <a:pt x="3519" y="3392"/>
                    </a:lnTo>
                    <a:lnTo>
                      <a:pt x="3620" y="3187"/>
                    </a:lnTo>
                    <a:lnTo>
                      <a:pt x="3701" y="2970"/>
                    </a:lnTo>
                    <a:lnTo>
                      <a:pt x="3761" y="2739"/>
                    </a:lnTo>
                    <a:lnTo>
                      <a:pt x="3797" y="2495"/>
                    </a:lnTo>
                    <a:lnTo>
                      <a:pt x="3810" y="2236"/>
                    </a:lnTo>
                    <a:lnTo>
                      <a:pt x="3810" y="2000"/>
                    </a:lnTo>
                    <a:lnTo>
                      <a:pt x="3810" y="1763"/>
                    </a:lnTo>
                    <a:lnTo>
                      <a:pt x="3810" y="1527"/>
                    </a:lnTo>
                    <a:lnTo>
                      <a:pt x="3810" y="1290"/>
                    </a:lnTo>
                    <a:lnTo>
                      <a:pt x="3810" y="1053"/>
                    </a:lnTo>
                    <a:lnTo>
                      <a:pt x="3810" y="817"/>
                    </a:lnTo>
                    <a:lnTo>
                      <a:pt x="3810" y="580"/>
                    </a:lnTo>
                    <a:lnTo>
                      <a:pt x="3561" y="569"/>
                    </a:lnTo>
                    <a:lnTo>
                      <a:pt x="3314" y="536"/>
                    </a:lnTo>
                    <a:lnTo>
                      <a:pt x="3069" y="484"/>
                    </a:lnTo>
                    <a:lnTo>
                      <a:pt x="2826" y="414"/>
                    </a:lnTo>
                    <a:lnTo>
                      <a:pt x="2588" y="329"/>
                    </a:lnTo>
                    <a:lnTo>
                      <a:pt x="2354" y="231"/>
                    </a:lnTo>
                    <a:lnTo>
                      <a:pt x="2126" y="120"/>
                    </a:lnTo>
                    <a:lnTo>
                      <a:pt x="1905" y="0"/>
                    </a:lnTo>
                  </a:path>
                </a:pathLst>
              </a:custGeom>
              <a:noFill/>
              <a:ln w="30289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Freeform 280"/>
              <p:cNvSpPr/>
              <p:nvPr/>
            </p:nvSpPr>
            <p:spPr>
              <a:xfrm>
                <a:off x="3114202" y="6208202"/>
                <a:ext cx="150696" cy="105469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159">
                    <a:moveTo>
                      <a:pt x="0" y="580"/>
                    </a:moveTo>
                    <a:lnTo>
                      <a:pt x="580" y="1159"/>
                    </a:lnTo>
                    <a:lnTo>
                      <a:pt x="1656" y="0"/>
                    </a:lnTo>
                    <a:close/>
                  </a:path>
                </a:pathLst>
              </a:custGeom>
              <a:noFill/>
              <a:ln w="30289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3" name="文字 | •"/>
            <p:cNvSpPr txBox="1"/>
            <p:nvPr/>
          </p:nvSpPr>
          <p:spPr>
            <a:xfrm>
              <a:off x="3639312" y="6144768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84" name="文字 | Scope 校验"/>
            <p:cNvSpPr txBox="1"/>
            <p:nvPr/>
          </p:nvSpPr>
          <p:spPr>
            <a:xfrm>
              <a:off x="3794760" y="6144768"/>
              <a:ext cx="1088136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Scope 校验</a:t>
              </a:r>
            </a:p>
          </p:txBody>
        </p:sp>
        <p:sp>
          <p:nvSpPr>
            <p:cNvPr id="285" name="文字 | •"/>
            <p:cNvSpPr txBox="1"/>
            <p:nvPr/>
          </p:nvSpPr>
          <p:spPr>
            <a:xfrm>
              <a:off x="3639312" y="6373368"/>
              <a:ext cx="109728" cy="19431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81"/>
                </a:lnSpc>
                <a:spcBef>
                  <a:spcPts val="0"/>
                </a:spcBef>
                <a:spcAft>
                  <a:spcPts val="0"/>
                </a:spcAft>
                <a:defRPr sz="129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86" name="文字 | 限制工具调用"/>
            <p:cNvSpPr txBox="1"/>
            <p:nvPr/>
          </p:nvSpPr>
          <p:spPr>
            <a:xfrm>
              <a:off x="3794760" y="6373368"/>
              <a:ext cx="1088136" cy="22539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93"/>
                </a:lnSpc>
                <a:spcBef>
                  <a:spcPts val="0"/>
                </a:spcBef>
                <a:spcAft>
                  <a:spcPts val="0"/>
                </a:spcAft>
                <a:defRPr sz="122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限制工具调用</a:t>
              </a:r>
            </a:p>
          </p:txBody>
        </p:sp>
      </p:grpSp>
      <p:grpSp>
        <p:nvGrpSpPr>
          <p:cNvPr id="301" name="工作流节点 03 | 工具执行"/>
          <p:cNvGrpSpPr/>
          <p:nvPr/>
        </p:nvGrpSpPr>
        <p:grpSpPr>
          <a:xfrm>
            <a:off x="5202936" y="5532120"/>
            <a:ext cx="2432304" cy="1170432"/>
            <a:chOff x="5202936" y="5532120"/>
            <a:chExt cx="2432304" cy="1170432"/>
          </a:xfrm>
        </p:grpSpPr>
        <p:sp>
          <p:nvSpPr>
            <p:cNvPr id="288" name="卡片 | 工具执行"/>
            <p:cNvSpPr/>
            <p:nvPr/>
          </p:nvSpPr>
          <p:spPr>
            <a:xfrm>
              <a:off x="5202936" y="5532120"/>
              <a:ext cx="2432304" cy="1170432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ounded Rectangle 288"/>
            <p:cNvSpPr/>
            <p:nvPr/>
          </p:nvSpPr>
          <p:spPr>
            <a:xfrm>
              <a:off x="5340096" y="5596128"/>
              <a:ext cx="457200" cy="301752"/>
            </a:xfrm>
            <a:prstGeom prst="roundRect">
              <a:avLst>
                <a:gd name="adj" fmla="val 24242"/>
              </a:avLst>
            </a:prstGeom>
            <a:ln>
              <a:noFill/>
            </a:ln>
            <a:gradFill>
              <a:gsLst>
                <a:gs pos="0">
                  <a:srgbClr val="168AFF"/>
                </a:gs>
                <a:gs pos="50000">
                  <a:srgbClr val="3498FF"/>
                </a:gs>
                <a:gs pos="100000">
                  <a:srgbClr val="0877F0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文字 | 03"/>
            <p:cNvSpPr txBox="1"/>
            <p:nvPr/>
          </p:nvSpPr>
          <p:spPr>
            <a:xfrm>
              <a:off x="5340096" y="5614416"/>
              <a:ext cx="457200" cy="29260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FFFF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03</a:t>
              </a:r>
            </a:p>
          </p:txBody>
        </p:sp>
        <p:sp>
          <p:nvSpPr>
            <p:cNvPr id="291" name="文字 | 工具执行"/>
            <p:cNvSpPr txBox="1"/>
            <p:nvPr/>
          </p:nvSpPr>
          <p:spPr>
            <a:xfrm>
              <a:off x="6016752" y="5577840"/>
              <a:ext cx="1572768" cy="26517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工具执行</a:t>
              </a:r>
            </a:p>
          </p:txBody>
        </p:sp>
        <p:sp>
          <p:nvSpPr>
            <p:cNvPr id="292" name="文字 | Execute"/>
            <p:cNvSpPr txBox="1"/>
            <p:nvPr/>
          </p:nvSpPr>
          <p:spPr>
            <a:xfrm>
              <a:off x="6044184" y="5806440"/>
              <a:ext cx="1554480" cy="25603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defRPr sz="1332" b="0">
                  <a:solidFill>
                    <a:srgbClr val="005C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Execute</a:t>
              </a:r>
            </a:p>
          </p:txBody>
        </p:sp>
        <p:grpSp>
          <p:nvGrpSpPr>
            <p:cNvPr id="296" name="图标 | gear"/>
            <p:cNvGrpSpPr/>
            <p:nvPr/>
          </p:nvGrpSpPr>
          <p:grpSpPr>
            <a:xfrm>
              <a:off x="5366179" y="6066879"/>
              <a:ext cx="433342" cy="433342"/>
              <a:chOff x="5366179" y="6066879"/>
              <a:chExt cx="433342" cy="433342"/>
            </a:xfrm>
          </p:grpSpPr>
          <p:sp>
            <p:nvSpPr>
              <p:cNvPr id="293" name="Freeform 292"/>
              <p:cNvSpPr/>
              <p:nvPr/>
            </p:nvSpPr>
            <p:spPr>
              <a:xfrm>
                <a:off x="5366179" y="6066879"/>
                <a:ext cx="433342" cy="43334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>
                    <a:moveTo>
                      <a:pt x="4286" y="2381"/>
                    </a:moveTo>
                    <a:lnTo>
                      <a:pt x="4762" y="2694"/>
                    </a:lnTo>
                    <a:lnTo>
                      <a:pt x="4701" y="3003"/>
                    </a:lnTo>
                    <a:lnTo>
                      <a:pt x="4600" y="3300"/>
                    </a:lnTo>
                    <a:lnTo>
                      <a:pt x="4461" y="3582"/>
                    </a:lnTo>
                    <a:lnTo>
                      <a:pt x="3892" y="3541"/>
                    </a:lnTo>
                    <a:lnTo>
                      <a:pt x="3728" y="3728"/>
                    </a:lnTo>
                    <a:lnTo>
                      <a:pt x="3843" y="4286"/>
                    </a:lnTo>
                    <a:lnTo>
                      <a:pt x="3582" y="4461"/>
                    </a:lnTo>
                    <a:lnTo>
                      <a:pt x="3300" y="4600"/>
                    </a:lnTo>
                    <a:lnTo>
                      <a:pt x="3003" y="4701"/>
                    </a:lnTo>
                    <a:lnTo>
                      <a:pt x="2630" y="4269"/>
                    </a:lnTo>
                    <a:lnTo>
                      <a:pt x="2381" y="4286"/>
                    </a:lnTo>
                    <a:lnTo>
                      <a:pt x="2068" y="4762"/>
                    </a:lnTo>
                    <a:lnTo>
                      <a:pt x="1759" y="4701"/>
                    </a:lnTo>
                    <a:lnTo>
                      <a:pt x="1462" y="4600"/>
                    </a:lnTo>
                    <a:lnTo>
                      <a:pt x="1180" y="4461"/>
                    </a:lnTo>
                    <a:lnTo>
                      <a:pt x="1221" y="3892"/>
                    </a:lnTo>
                    <a:lnTo>
                      <a:pt x="1034" y="3728"/>
                    </a:lnTo>
                    <a:lnTo>
                      <a:pt x="476" y="3843"/>
                    </a:lnTo>
                    <a:lnTo>
                      <a:pt x="301" y="3582"/>
                    </a:lnTo>
                    <a:lnTo>
                      <a:pt x="162" y="3300"/>
                    </a:lnTo>
                    <a:lnTo>
                      <a:pt x="61" y="3003"/>
                    </a:lnTo>
                    <a:lnTo>
                      <a:pt x="493" y="2630"/>
                    </a:lnTo>
                    <a:lnTo>
                      <a:pt x="476" y="2381"/>
                    </a:lnTo>
                    <a:lnTo>
                      <a:pt x="0" y="2068"/>
                    </a:lnTo>
                    <a:lnTo>
                      <a:pt x="61" y="1759"/>
                    </a:lnTo>
                    <a:lnTo>
                      <a:pt x="162" y="1462"/>
                    </a:lnTo>
                    <a:lnTo>
                      <a:pt x="301" y="1180"/>
                    </a:lnTo>
                    <a:lnTo>
                      <a:pt x="870" y="1221"/>
                    </a:lnTo>
                    <a:lnTo>
                      <a:pt x="1034" y="1034"/>
                    </a:lnTo>
                    <a:lnTo>
                      <a:pt x="919" y="476"/>
                    </a:lnTo>
                    <a:lnTo>
                      <a:pt x="1180" y="301"/>
                    </a:lnTo>
                    <a:lnTo>
                      <a:pt x="1462" y="162"/>
                    </a:lnTo>
                    <a:lnTo>
                      <a:pt x="1759" y="61"/>
                    </a:lnTo>
                    <a:lnTo>
                      <a:pt x="2132" y="493"/>
                    </a:lnTo>
                    <a:lnTo>
                      <a:pt x="2381" y="476"/>
                    </a:lnTo>
                    <a:lnTo>
                      <a:pt x="2694" y="0"/>
                    </a:lnTo>
                    <a:lnTo>
                      <a:pt x="3003" y="61"/>
                    </a:lnTo>
                    <a:lnTo>
                      <a:pt x="3300" y="162"/>
                    </a:lnTo>
                    <a:lnTo>
                      <a:pt x="3582" y="301"/>
                    </a:lnTo>
                    <a:lnTo>
                      <a:pt x="3541" y="870"/>
                    </a:lnTo>
                    <a:lnTo>
                      <a:pt x="3728" y="1034"/>
                    </a:lnTo>
                    <a:lnTo>
                      <a:pt x="4286" y="919"/>
                    </a:lnTo>
                    <a:lnTo>
                      <a:pt x="4461" y="1180"/>
                    </a:lnTo>
                    <a:lnTo>
                      <a:pt x="4600" y="1462"/>
                    </a:lnTo>
                    <a:lnTo>
                      <a:pt x="4701" y="1759"/>
                    </a:lnTo>
                    <a:lnTo>
                      <a:pt x="4269" y="2132"/>
                    </a:lnTo>
                    <a:close/>
                  </a:path>
                </a:pathLst>
              </a:cu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Oval 293"/>
              <p:cNvSpPr/>
              <p:nvPr/>
            </p:nvSpPr>
            <p:spPr>
              <a:xfrm>
                <a:off x="5518975" y="6223063"/>
                <a:ext cx="181737" cy="18173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Oval 294"/>
              <p:cNvSpPr/>
              <p:nvPr/>
            </p:nvSpPr>
            <p:spPr>
              <a:xfrm>
                <a:off x="5564409" y="6268497"/>
                <a:ext cx="90868" cy="90868"/>
              </a:xfrm>
              <a:prstGeom prst="ellipse">
                <a:avLst/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97" name="文字 | •"/>
            <p:cNvSpPr txBox="1"/>
            <p:nvPr/>
          </p:nvSpPr>
          <p:spPr>
            <a:xfrm>
              <a:off x="6044184" y="6144768"/>
              <a:ext cx="109728" cy="16459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52"/>
                </a:lnSpc>
                <a:spcBef>
                  <a:spcPts val="0"/>
                </a:spcBef>
                <a:spcAft>
                  <a:spcPts val="0"/>
                </a:spcAft>
                <a:defRPr sz="110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298" name="文字 | 适配现有 QSAR / 结构工具"/>
            <p:cNvSpPr txBox="1"/>
            <p:nvPr/>
          </p:nvSpPr>
          <p:spPr>
            <a:xfrm>
              <a:off x="6199632" y="6144768"/>
              <a:ext cx="1399032" cy="19092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  <a:defRPr sz="904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适配现有 QSAR / 结构工具</a:t>
              </a:r>
            </a:p>
          </p:txBody>
        </p:sp>
        <p:sp>
          <p:nvSpPr>
            <p:cNvPr id="299" name="文字 | •"/>
            <p:cNvSpPr txBox="1"/>
            <p:nvPr/>
          </p:nvSpPr>
          <p:spPr>
            <a:xfrm>
              <a:off x="6044184" y="6373368"/>
              <a:ext cx="109728" cy="18059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300" name="文字 | 条件路由与失败分支"/>
            <p:cNvSpPr txBox="1"/>
            <p:nvPr/>
          </p:nvSpPr>
          <p:spPr>
            <a:xfrm>
              <a:off x="6199632" y="6373368"/>
              <a:ext cx="1399032" cy="20948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87"/>
                </a:lnSpc>
                <a:spcBef>
                  <a:spcPts val="0"/>
                </a:spcBef>
                <a:spcAft>
                  <a:spcPts val="0"/>
                </a:spcAft>
                <a:defRPr sz="1137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条件路由与失败分支</a:t>
              </a:r>
            </a:p>
          </p:txBody>
        </p:sp>
      </p:grpSp>
      <p:grpSp>
        <p:nvGrpSpPr>
          <p:cNvPr id="319" name="工作流节点 04 | 证据校验"/>
          <p:cNvGrpSpPr/>
          <p:nvPr/>
        </p:nvGrpSpPr>
        <p:grpSpPr>
          <a:xfrm>
            <a:off x="7918704" y="5532120"/>
            <a:ext cx="1920240" cy="1170432"/>
            <a:chOff x="7918704" y="5532120"/>
            <a:chExt cx="1920240" cy="1170432"/>
          </a:xfrm>
        </p:grpSpPr>
        <p:sp>
          <p:nvSpPr>
            <p:cNvPr id="302" name="卡片 | 证据校验"/>
            <p:cNvSpPr/>
            <p:nvPr/>
          </p:nvSpPr>
          <p:spPr>
            <a:xfrm>
              <a:off x="7918704" y="5532120"/>
              <a:ext cx="1920240" cy="1170432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ounded Rectangle 302"/>
            <p:cNvSpPr/>
            <p:nvPr/>
          </p:nvSpPr>
          <p:spPr>
            <a:xfrm>
              <a:off x="8055864" y="5596128"/>
              <a:ext cx="457200" cy="301752"/>
            </a:xfrm>
            <a:prstGeom prst="roundRect">
              <a:avLst>
                <a:gd name="adj" fmla="val 24242"/>
              </a:avLst>
            </a:prstGeom>
            <a:ln>
              <a:noFill/>
            </a:ln>
            <a:gradFill>
              <a:gsLst>
                <a:gs pos="0">
                  <a:srgbClr val="168AFF"/>
                </a:gs>
                <a:gs pos="50000">
                  <a:srgbClr val="3498FF"/>
                </a:gs>
                <a:gs pos="100000">
                  <a:srgbClr val="0877F0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文字 | 04"/>
            <p:cNvSpPr txBox="1"/>
            <p:nvPr/>
          </p:nvSpPr>
          <p:spPr>
            <a:xfrm>
              <a:off x="8055864" y="5614416"/>
              <a:ext cx="457200" cy="29260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FFFF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04</a:t>
              </a:r>
            </a:p>
          </p:txBody>
        </p:sp>
        <p:sp>
          <p:nvSpPr>
            <p:cNvPr id="305" name="文字 | 证据校验"/>
            <p:cNvSpPr txBox="1"/>
            <p:nvPr/>
          </p:nvSpPr>
          <p:spPr>
            <a:xfrm>
              <a:off x="8732520" y="5577840"/>
              <a:ext cx="1060704" cy="26517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证据校验</a:t>
              </a:r>
            </a:p>
          </p:txBody>
        </p:sp>
        <p:sp>
          <p:nvSpPr>
            <p:cNvPr id="306" name="文字 | Validate"/>
            <p:cNvSpPr txBox="1"/>
            <p:nvPr/>
          </p:nvSpPr>
          <p:spPr>
            <a:xfrm>
              <a:off x="8759952" y="5806440"/>
              <a:ext cx="1042415" cy="25603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defRPr sz="1332" b="0">
                  <a:solidFill>
                    <a:srgbClr val="005C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Validate</a:t>
              </a:r>
            </a:p>
          </p:txBody>
        </p:sp>
        <p:grpSp>
          <p:nvGrpSpPr>
            <p:cNvPr id="314" name="图标 | checklist"/>
            <p:cNvGrpSpPr/>
            <p:nvPr/>
          </p:nvGrpSpPr>
          <p:grpSpPr>
            <a:xfrm>
              <a:off x="8143875" y="6094333"/>
              <a:ext cx="363474" cy="431625"/>
              <a:chOff x="8143875" y="6094333"/>
              <a:chExt cx="363474" cy="431625"/>
            </a:xfrm>
          </p:grpSpPr>
          <p:sp>
            <p:nvSpPr>
              <p:cNvPr id="307" name="Rounded Rectangle 306"/>
              <p:cNvSpPr/>
              <p:nvPr/>
            </p:nvSpPr>
            <p:spPr>
              <a:xfrm>
                <a:off x="8143875" y="6094333"/>
                <a:ext cx="363474" cy="431625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28017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Freeform 307"/>
              <p:cNvSpPr/>
              <p:nvPr/>
            </p:nvSpPr>
            <p:spPr>
              <a:xfrm>
                <a:off x="8157422" y="6132854"/>
                <a:ext cx="82901" cy="60242"/>
              </a:xfrm>
              <a:custGeom>
                <a:avLst/>
                <a:gdLst/>
                <a:ahLst/>
                <a:cxnLst/>
                <a:rect l="l" t="t" r="r" b="b"/>
                <a:pathLst>
                  <a:path w="911" h="662">
                    <a:moveTo>
                      <a:pt x="0" y="331"/>
                    </a:moveTo>
                    <a:lnTo>
                      <a:pt x="331" y="662"/>
                    </a:lnTo>
                    <a:lnTo>
                      <a:pt x="911" y="0"/>
                    </a:lnTo>
                    <a:close/>
                  </a:path>
                </a:pathLst>
              </a:custGeom>
              <a:noFill/>
              <a:ln w="22717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09" name="矢量线"/>
              <p:cNvCxnSpPr/>
              <p:nvPr/>
            </p:nvCxnSpPr>
            <p:spPr>
              <a:xfrm>
                <a:off x="8333184" y="6192774"/>
                <a:ext cx="113586" cy="0"/>
              </a:xfrm>
              <a:prstGeom prst="line">
                <a:avLst/>
              </a:prstGeom>
              <a:ln w="18930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0" name="Freeform 309"/>
              <p:cNvSpPr/>
              <p:nvPr/>
            </p:nvSpPr>
            <p:spPr>
              <a:xfrm>
                <a:off x="8157422" y="6260982"/>
                <a:ext cx="82901" cy="60242"/>
              </a:xfrm>
              <a:custGeom>
                <a:avLst/>
                <a:gdLst/>
                <a:ahLst/>
                <a:cxnLst/>
                <a:rect l="l" t="t" r="r" b="b"/>
                <a:pathLst>
                  <a:path w="911" h="662">
                    <a:moveTo>
                      <a:pt x="0" y="331"/>
                    </a:moveTo>
                    <a:lnTo>
                      <a:pt x="331" y="662"/>
                    </a:lnTo>
                    <a:lnTo>
                      <a:pt x="911" y="0"/>
                    </a:lnTo>
                    <a:close/>
                  </a:path>
                </a:pathLst>
              </a:custGeom>
              <a:noFill/>
              <a:ln w="22717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11" name="矢量线"/>
              <p:cNvCxnSpPr/>
              <p:nvPr/>
            </p:nvCxnSpPr>
            <p:spPr>
              <a:xfrm>
                <a:off x="8333184" y="6321504"/>
                <a:ext cx="113586" cy="0"/>
              </a:xfrm>
              <a:prstGeom prst="line">
                <a:avLst/>
              </a:prstGeom>
              <a:ln w="18930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Freeform 311"/>
              <p:cNvSpPr/>
              <p:nvPr/>
            </p:nvSpPr>
            <p:spPr>
              <a:xfrm>
                <a:off x="8157422" y="6381557"/>
                <a:ext cx="82901" cy="60242"/>
              </a:xfrm>
              <a:custGeom>
                <a:avLst/>
                <a:gdLst/>
                <a:ahLst/>
                <a:cxnLst/>
                <a:rect l="l" t="t" r="r" b="b"/>
                <a:pathLst>
                  <a:path w="911" h="662">
                    <a:moveTo>
                      <a:pt x="0" y="331"/>
                    </a:moveTo>
                    <a:lnTo>
                      <a:pt x="331" y="662"/>
                    </a:lnTo>
                    <a:lnTo>
                      <a:pt x="911" y="0"/>
                    </a:lnTo>
                    <a:close/>
                  </a:path>
                </a:pathLst>
              </a:custGeom>
              <a:noFill/>
              <a:ln w="22717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13" name="矢量线"/>
              <p:cNvCxnSpPr/>
              <p:nvPr/>
            </p:nvCxnSpPr>
            <p:spPr>
              <a:xfrm>
                <a:off x="8333184" y="6442662"/>
                <a:ext cx="113586" cy="0"/>
              </a:xfrm>
              <a:prstGeom prst="line">
                <a:avLst/>
              </a:prstGeom>
              <a:ln w="18930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5" name="文字 | •"/>
            <p:cNvSpPr txBox="1"/>
            <p:nvPr/>
          </p:nvSpPr>
          <p:spPr>
            <a:xfrm>
              <a:off x="8759952" y="6144768"/>
              <a:ext cx="109728" cy="180594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  <a:defRPr sz="1209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316" name="文字 | 字段完整性"/>
            <p:cNvSpPr txBox="1"/>
            <p:nvPr/>
          </p:nvSpPr>
          <p:spPr>
            <a:xfrm>
              <a:off x="8915400" y="6144768"/>
              <a:ext cx="886968" cy="209489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87"/>
                </a:lnSpc>
                <a:spcBef>
                  <a:spcPts val="0"/>
                </a:spcBef>
                <a:spcAft>
                  <a:spcPts val="0"/>
                </a:spcAft>
                <a:defRPr sz="1137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字段完整性</a:t>
              </a:r>
            </a:p>
          </p:txBody>
        </p:sp>
        <p:sp>
          <p:nvSpPr>
            <p:cNvPr id="317" name="文字 | •"/>
            <p:cNvSpPr txBox="1"/>
            <p:nvPr/>
          </p:nvSpPr>
          <p:spPr>
            <a:xfrm>
              <a:off x="8759952" y="6373368"/>
              <a:ext cx="109728" cy="177165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318" name="文字 | 来源与状态检查"/>
            <p:cNvSpPr txBox="1"/>
            <p:nvPr/>
          </p:nvSpPr>
          <p:spPr>
            <a:xfrm>
              <a:off x="8915400" y="6373368"/>
              <a:ext cx="886968" cy="205511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179"/>
                </a:lnSpc>
                <a:spcBef>
                  <a:spcPts val="0"/>
                </a:spcBef>
                <a:spcAft>
                  <a:spcPts val="0"/>
                </a:spcAft>
                <a:defRPr sz="96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来源与状态检查</a:t>
              </a:r>
            </a:p>
          </p:txBody>
        </p:sp>
      </p:grpSp>
      <p:grpSp>
        <p:nvGrpSpPr>
          <p:cNvPr id="335" name="工作流节点 05 | 决策汇总"/>
          <p:cNvGrpSpPr/>
          <p:nvPr/>
        </p:nvGrpSpPr>
        <p:grpSpPr>
          <a:xfrm>
            <a:off x="10122408" y="5532120"/>
            <a:ext cx="2404872" cy="1170432"/>
            <a:chOff x="10122408" y="5532120"/>
            <a:chExt cx="2404872" cy="1170432"/>
          </a:xfrm>
        </p:grpSpPr>
        <p:sp>
          <p:nvSpPr>
            <p:cNvPr id="320" name="卡片 | 决策汇总"/>
            <p:cNvSpPr/>
            <p:nvPr/>
          </p:nvSpPr>
          <p:spPr>
            <a:xfrm>
              <a:off x="10122408" y="5532120"/>
              <a:ext cx="2404872" cy="1170432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Rounded Rectangle 320"/>
            <p:cNvSpPr/>
            <p:nvPr/>
          </p:nvSpPr>
          <p:spPr>
            <a:xfrm>
              <a:off x="10259568" y="5596128"/>
              <a:ext cx="457200" cy="301752"/>
            </a:xfrm>
            <a:prstGeom prst="roundRect">
              <a:avLst>
                <a:gd name="adj" fmla="val 24242"/>
              </a:avLst>
            </a:prstGeom>
            <a:ln>
              <a:noFill/>
            </a:ln>
            <a:gradFill>
              <a:gsLst>
                <a:gs pos="0">
                  <a:srgbClr val="168AFF"/>
                </a:gs>
                <a:gs pos="50000">
                  <a:srgbClr val="3498FF"/>
                </a:gs>
                <a:gs pos="100000">
                  <a:srgbClr val="0877F0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文字 | 05"/>
            <p:cNvSpPr txBox="1"/>
            <p:nvPr/>
          </p:nvSpPr>
          <p:spPr>
            <a:xfrm>
              <a:off x="10259568" y="5614416"/>
              <a:ext cx="457200" cy="29260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FFFF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05</a:t>
              </a:r>
            </a:p>
          </p:txBody>
        </p:sp>
        <p:sp>
          <p:nvSpPr>
            <p:cNvPr id="323" name="文字 | 决策汇总"/>
            <p:cNvSpPr txBox="1"/>
            <p:nvPr/>
          </p:nvSpPr>
          <p:spPr>
            <a:xfrm>
              <a:off x="10936224" y="5577840"/>
              <a:ext cx="1545336" cy="26517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决策汇总</a:t>
              </a:r>
            </a:p>
          </p:txBody>
        </p:sp>
        <p:sp>
          <p:nvSpPr>
            <p:cNvPr id="324" name="文字 | Decide"/>
            <p:cNvSpPr txBox="1"/>
            <p:nvPr/>
          </p:nvSpPr>
          <p:spPr>
            <a:xfrm>
              <a:off x="10963656" y="5806440"/>
              <a:ext cx="1527048" cy="25603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defRPr sz="1332" b="0">
                  <a:solidFill>
                    <a:srgbClr val="005C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Decide</a:t>
              </a:r>
            </a:p>
          </p:txBody>
        </p:sp>
        <p:grpSp>
          <p:nvGrpSpPr>
            <p:cNvPr id="330" name="图标 | decide"/>
            <p:cNvGrpSpPr/>
            <p:nvPr/>
          </p:nvGrpSpPr>
          <p:grpSpPr>
            <a:xfrm>
              <a:off x="10287000" y="6071616"/>
              <a:ext cx="484632" cy="484632"/>
              <a:chOff x="10287000" y="6071616"/>
              <a:chExt cx="484632" cy="484632"/>
            </a:xfrm>
          </p:grpSpPr>
          <p:cxnSp>
            <p:nvCxnSpPr>
              <p:cNvPr id="325" name="矢量线"/>
              <p:cNvCxnSpPr/>
              <p:nvPr/>
            </p:nvCxnSpPr>
            <p:spPr>
              <a:xfrm>
                <a:off x="10317289" y="6510813"/>
                <a:ext cx="424053" cy="0"/>
              </a:xfrm>
              <a:prstGeom prst="line">
                <a:avLst/>
              </a:prstGeom>
              <a:ln w="22717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6" name="Rectangle 325"/>
              <p:cNvSpPr/>
              <p:nvPr/>
            </p:nvSpPr>
            <p:spPr>
              <a:xfrm>
                <a:off x="10362723" y="6313932"/>
                <a:ext cx="75723" cy="159019"/>
              </a:xfrm>
              <a:prstGeom prst="rect">
                <a:avLst/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Rectangle 326"/>
              <p:cNvSpPr/>
              <p:nvPr/>
            </p:nvSpPr>
            <p:spPr>
              <a:xfrm>
                <a:off x="10491454" y="6223063"/>
                <a:ext cx="75723" cy="249888"/>
              </a:xfrm>
              <a:prstGeom prst="rect">
                <a:avLst/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Rectangle 327"/>
              <p:cNvSpPr/>
              <p:nvPr/>
            </p:nvSpPr>
            <p:spPr>
              <a:xfrm>
                <a:off x="10620184" y="6109477"/>
                <a:ext cx="75723" cy="363474"/>
              </a:xfrm>
              <a:prstGeom prst="rect">
                <a:avLst/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Rounded Rectangle 328"/>
              <p:cNvSpPr/>
              <p:nvPr/>
            </p:nvSpPr>
            <p:spPr>
              <a:xfrm>
                <a:off x="10287000" y="6071616"/>
                <a:ext cx="484632" cy="484632"/>
              </a:xfrm>
              <a:prstGeom prst="roundRect">
                <a:avLst>
                  <a:gd name="adj" fmla="val 14062"/>
                </a:avLst>
              </a:prstGeom>
              <a:noFill/>
              <a:ln w="7572" cap="rnd">
                <a:solidFill>
                  <a:srgbClr val="A8D6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31" name="文字 | •"/>
            <p:cNvSpPr txBox="1"/>
            <p:nvPr/>
          </p:nvSpPr>
          <p:spPr>
            <a:xfrm>
              <a:off x="10963656" y="6144768"/>
              <a:ext cx="109728" cy="16459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52"/>
                </a:lnSpc>
                <a:spcBef>
                  <a:spcPts val="0"/>
                </a:spcBef>
                <a:spcAft>
                  <a:spcPts val="0"/>
                </a:spcAft>
                <a:defRPr sz="110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332" name="文字 | 当前实现：证据可用性汇总"/>
            <p:cNvSpPr txBox="1"/>
            <p:nvPr/>
          </p:nvSpPr>
          <p:spPr>
            <a:xfrm>
              <a:off x="11119104" y="6144768"/>
              <a:ext cx="1371600" cy="19092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076"/>
                </a:lnSpc>
                <a:spcBef>
                  <a:spcPts val="0"/>
                </a:spcBef>
                <a:spcAft>
                  <a:spcPts val="0"/>
                </a:spcAft>
                <a:defRPr sz="882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当前实现：证据可用性汇总</a:t>
              </a:r>
            </a:p>
          </p:txBody>
        </p:sp>
        <p:sp>
          <p:nvSpPr>
            <p:cNvPr id="333" name="文字 | •"/>
            <p:cNvSpPr txBox="1"/>
            <p:nvPr/>
          </p:nvSpPr>
          <p:spPr>
            <a:xfrm>
              <a:off x="10963656" y="6373368"/>
              <a:ext cx="109728" cy="177165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334" name="文字 | 科学排名引擎待接入"/>
            <p:cNvSpPr txBox="1"/>
            <p:nvPr/>
          </p:nvSpPr>
          <p:spPr>
            <a:xfrm>
              <a:off x="11119104" y="6373368"/>
              <a:ext cx="1371600" cy="205511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361"/>
                </a:lnSpc>
                <a:spcBef>
                  <a:spcPts val="0"/>
                </a:spcBef>
                <a:spcAft>
                  <a:spcPts val="0"/>
                </a:spcAft>
                <a:defRPr sz="111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科学排名引擎待接入</a:t>
              </a:r>
            </a:p>
          </p:txBody>
        </p:sp>
      </p:grpSp>
      <p:grpSp>
        <p:nvGrpSpPr>
          <p:cNvPr id="355" name="工作流节点 06 | 报告与审计"/>
          <p:cNvGrpSpPr/>
          <p:nvPr/>
        </p:nvGrpSpPr>
        <p:grpSpPr>
          <a:xfrm>
            <a:off x="12801600" y="5532120"/>
            <a:ext cx="2212848" cy="1170432"/>
            <a:chOff x="12801600" y="5532120"/>
            <a:chExt cx="2212848" cy="1170432"/>
          </a:xfrm>
        </p:grpSpPr>
        <p:sp>
          <p:nvSpPr>
            <p:cNvPr id="336" name="卡片 | 报告与审计"/>
            <p:cNvSpPr/>
            <p:nvPr/>
          </p:nvSpPr>
          <p:spPr>
            <a:xfrm>
              <a:off x="12801600" y="5532120"/>
              <a:ext cx="2212848" cy="1170432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12938760" y="5596128"/>
              <a:ext cx="457200" cy="301752"/>
            </a:xfrm>
            <a:prstGeom prst="roundRect">
              <a:avLst>
                <a:gd name="adj" fmla="val 24242"/>
              </a:avLst>
            </a:prstGeom>
            <a:ln>
              <a:noFill/>
            </a:ln>
            <a:gradFill>
              <a:gsLst>
                <a:gs pos="0">
                  <a:srgbClr val="168AFF"/>
                </a:gs>
                <a:gs pos="50000">
                  <a:srgbClr val="3498FF"/>
                </a:gs>
                <a:gs pos="100000">
                  <a:srgbClr val="0877F0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文字 | 06"/>
            <p:cNvSpPr txBox="1"/>
            <p:nvPr/>
          </p:nvSpPr>
          <p:spPr>
            <a:xfrm>
              <a:off x="12938760" y="5614416"/>
              <a:ext cx="457200" cy="29260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FFFF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06</a:t>
              </a:r>
            </a:p>
          </p:txBody>
        </p:sp>
        <p:sp>
          <p:nvSpPr>
            <p:cNvPr id="339" name="文字 | 报告与审计"/>
            <p:cNvSpPr txBox="1"/>
            <p:nvPr/>
          </p:nvSpPr>
          <p:spPr>
            <a:xfrm>
              <a:off x="13615416" y="5577840"/>
              <a:ext cx="1353312" cy="265176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  <a:defRPr sz="1512" b="1">
                  <a:solidFill>
                    <a:srgbClr val="073CA9"/>
                  </a:solidFill>
                  <a:latin typeface="Arial"/>
                </a:defRPr>
              </a:pPr>
              <a:r>
                <a:rPr>
                  <a:ea typeface="Noto Sans CJK SC"/>
                </a:rPr>
                <a:t>报告与审计</a:t>
              </a:r>
            </a:p>
          </p:txBody>
        </p:sp>
        <p:sp>
          <p:nvSpPr>
            <p:cNvPr id="340" name="文字 | Report"/>
            <p:cNvSpPr txBox="1"/>
            <p:nvPr/>
          </p:nvSpPr>
          <p:spPr>
            <a:xfrm>
              <a:off x="13642848" y="5806440"/>
              <a:ext cx="1335024" cy="25603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defRPr sz="1332" b="0">
                  <a:solidFill>
                    <a:srgbClr val="005C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Report</a:t>
              </a:r>
            </a:p>
          </p:txBody>
        </p:sp>
        <p:grpSp>
          <p:nvGrpSpPr>
            <p:cNvPr id="350" name="图标 | report"/>
            <p:cNvGrpSpPr/>
            <p:nvPr/>
          </p:nvGrpSpPr>
          <p:grpSpPr>
            <a:xfrm>
              <a:off x="12994254" y="6072521"/>
              <a:ext cx="464142" cy="498871"/>
              <a:chOff x="12994254" y="6072521"/>
              <a:chExt cx="464142" cy="498871"/>
            </a:xfrm>
          </p:grpSpPr>
          <p:sp>
            <p:nvSpPr>
              <p:cNvPr id="341" name="Freeform 340"/>
              <p:cNvSpPr/>
              <p:nvPr/>
            </p:nvSpPr>
            <p:spPr>
              <a:xfrm>
                <a:off x="12994254" y="6072521"/>
                <a:ext cx="301392" cy="422058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638">
                    <a:moveTo>
                      <a:pt x="0" y="0"/>
                    </a:moveTo>
                    <a:lnTo>
                      <a:pt x="2236" y="0"/>
                    </a:lnTo>
                    <a:lnTo>
                      <a:pt x="3312" y="1077"/>
                    </a:lnTo>
                    <a:lnTo>
                      <a:pt x="3312" y="4638"/>
                    </a:lnTo>
                    <a:lnTo>
                      <a:pt x="0" y="46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65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42" name="矢量线"/>
              <p:cNvCxnSpPr/>
              <p:nvPr/>
            </p:nvCxnSpPr>
            <p:spPr>
              <a:xfrm>
                <a:off x="13261514" y="6101905"/>
                <a:ext cx="0" cy="98441"/>
              </a:xfrm>
              <a:prstGeom prst="line">
                <a:avLst/>
              </a:prstGeom>
              <a:ln w="265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矢量线"/>
              <p:cNvCxnSpPr/>
              <p:nvPr/>
            </p:nvCxnSpPr>
            <p:spPr>
              <a:xfrm>
                <a:off x="13261514" y="6200346"/>
                <a:ext cx="98441" cy="0"/>
              </a:xfrm>
              <a:prstGeom prst="line">
                <a:avLst/>
              </a:prstGeom>
              <a:ln w="265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矢量线"/>
              <p:cNvCxnSpPr/>
              <p:nvPr/>
            </p:nvCxnSpPr>
            <p:spPr>
              <a:xfrm>
                <a:off x="13117639" y="6215491"/>
                <a:ext cx="83296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矢量线"/>
              <p:cNvCxnSpPr/>
              <p:nvPr/>
            </p:nvCxnSpPr>
            <p:spPr>
              <a:xfrm>
                <a:off x="13117639" y="6291214"/>
                <a:ext cx="159020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矢量线"/>
              <p:cNvCxnSpPr/>
              <p:nvPr/>
            </p:nvCxnSpPr>
            <p:spPr>
              <a:xfrm>
                <a:off x="13117639" y="6366938"/>
                <a:ext cx="128730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矢量线"/>
              <p:cNvCxnSpPr/>
              <p:nvPr/>
            </p:nvCxnSpPr>
            <p:spPr>
              <a:xfrm>
                <a:off x="13117639" y="6442662"/>
                <a:ext cx="151448" cy="0"/>
              </a:xfrm>
              <a:prstGeom prst="line">
                <a:avLst/>
              </a:prstGeom>
              <a:ln w="20445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8" name="Oval 347"/>
              <p:cNvSpPr/>
              <p:nvPr/>
            </p:nvSpPr>
            <p:spPr>
              <a:xfrm>
                <a:off x="13246369" y="6359366"/>
                <a:ext cx="174164" cy="174164"/>
              </a:xfrm>
              <a:prstGeom prst="ellipse">
                <a:avLst/>
              </a:prstGeom>
              <a:solidFill>
                <a:srgbClr val="FFFFFF"/>
              </a:solidFill>
              <a:ln w="265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49" name="矢量线"/>
              <p:cNvCxnSpPr/>
              <p:nvPr/>
            </p:nvCxnSpPr>
            <p:spPr>
              <a:xfrm>
                <a:off x="13390245" y="6503241"/>
                <a:ext cx="68151" cy="68151"/>
              </a:xfrm>
              <a:prstGeom prst="line">
                <a:avLst/>
              </a:prstGeom>
              <a:ln w="30289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" name="文字 | •"/>
            <p:cNvSpPr txBox="1"/>
            <p:nvPr/>
          </p:nvSpPr>
          <p:spPr>
            <a:xfrm>
              <a:off x="13642848" y="6144768"/>
              <a:ext cx="109728" cy="188595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  <a:defRPr sz="1260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352" name="文字 | 结构化报告"/>
            <p:cNvSpPr txBox="1"/>
            <p:nvPr/>
          </p:nvSpPr>
          <p:spPr>
            <a:xfrm>
              <a:off x="13798296" y="6144768"/>
              <a:ext cx="1179576" cy="21877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结构化报告</a:t>
              </a:r>
            </a:p>
          </p:txBody>
        </p:sp>
        <p:sp>
          <p:nvSpPr>
            <p:cNvPr id="353" name="文字 | •"/>
            <p:cNvSpPr txBox="1"/>
            <p:nvPr/>
          </p:nvSpPr>
          <p:spPr>
            <a:xfrm>
              <a:off x="13642848" y="6373368"/>
              <a:ext cx="109728" cy="179451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466"/>
                </a:lnSpc>
                <a:spcBef>
                  <a:spcPts val="0"/>
                </a:spcBef>
                <a:spcAft>
                  <a:spcPts val="0"/>
                </a:spcAft>
                <a:defRPr sz="1202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•</a:t>
              </a:r>
            </a:p>
          </p:txBody>
        </p:sp>
        <p:sp>
          <p:nvSpPr>
            <p:cNvPr id="354" name="文字 | 执行轨迹与审计记录"/>
            <p:cNvSpPr txBox="1"/>
            <p:nvPr/>
          </p:nvSpPr>
          <p:spPr>
            <a:xfrm>
              <a:off x="13798296" y="6373368"/>
              <a:ext cx="1179576" cy="208163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l">
                <a:lnSpc>
                  <a:spcPts val="1229"/>
                </a:lnSpc>
                <a:spcBef>
                  <a:spcPts val="0"/>
                </a:spcBef>
                <a:spcAft>
                  <a:spcPts val="0"/>
                </a:spcAft>
                <a:defRPr sz="1008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执行轨迹与审计记录</a:t>
              </a:r>
            </a:p>
          </p:txBody>
        </p:sp>
      </p:grpSp>
      <p:sp>
        <p:nvSpPr>
          <p:cNvPr id="356" name="Freeform 355"/>
          <p:cNvSpPr/>
          <p:nvPr/>
        </p:nvSpPr>
        <p:spPr>
          <a:xfrm>
            <a:off x="2511600" y="5933200"/>
            <a:ext cx="273000" cy="427700"/>
          </a:xfrm>
          <a:custGeom>
            <a:avLst/>
            <a:gdLst/>
            <a:ahLst/>
            <a:cxnLst/>
            <a:rect l="l" t="t" r="r" b="b"/>
            <a:pathLst>
              <a:path w="3000" h="4700">
                <a:moveTo>
                  <a:pt x="0" y="1175"/>
                </a:moveTo>
                <a:lnTo>
                  <a:pt x="1320" y="1175"/>
                </a:lnTo>
                <a:lnTo>
                  <a:pt x="1320" y="0"/>
                </a:lnTo>
                <a:lnTo>
                  <a:pt x="3000" y="2350"/>
                </a:lnTo>
                <a:lnTo>
                  <a:pt x="1320" y="4700"/>
                </a:lnTo>
                <a:lnTo>
                  <a:pt x="1320" y="3525"/>
                </a:lnTo>
                <a:lnTo>
                  <a:pt x="0" y="35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4895800" y="5933200"/>
            <a:ext cx="273000" cy="427700"/>
          </a:xfrm>
          <a:custGeom>
            <a:avLst/>
            <a:gdLst/>
            <a:ahLst/>
            <a:cxnLst/>
            <a:rect l="l" t="t" r="r" b="b"/>
            <a:pathLst>
              <a:path w="3000" h="4700">
                <a:moveTo>
                  <a:pt x="0" y="1175"/>
                </a:moveTo>
                <a:lnTo>
                  <a:pt x="1320" y="1175"/>
                </a:lnTo>
                <a:lnTo>
                  <a:pt x="1320" y="0"/>
                </a:lnTo>
                <a:lnTo>
                  <a:pt x="3000" y="2350"/>
                </a:lnTo>
                <a:lnTo>
                  <a:pt x="1320" y="4700"/>
                </a:lnTo>
                <a:lnTo>
                  <a:pt x="1320" y="3525"/>
                </a:lnTo>
                <a:lnTo>
                  <a:pt x="0" y="35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7598500" y="5933200"/>
            <a:ext cx="273000" cy="427700"/>
          </a:xfrm>
          <a:custGeom>
            <a:avLst/>
            <a:gdLst/>
            <a:ahLst/>
            <a:cxnLst/>
            <a:rect l="l" t="t" r="r" b="b"/>
            <a:pathLst>
              <a:path w="3000" h="4700">
                <a:moveTo>
                  <a:pt x="0" y="1175"/>
                </a:moveTo>
                <a:lnTo>
                  <a:pt x="1320" y="1175"/>
                </a:lnTo>
                <a:lnTo>
                  <a:pt x="1320" y="0"/>
                </a:lnTo>
                <a:lnTo>
                  <a:pt x="3000" y="2350"/>
                </a:lnTo>
                <a:lnTo>
                  <a:pt x="1320" y="4700"/>
                </a:lnTo>
                <a:lnTo>
                  <a:pt x="1320" y="3525"/>
                </a:lnTo>
                <a:lnTo>
                  <a:pt x="0" y="35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9791600" y="5933200"/>
            <a:ext cx="273000" cy="427700"/>
          </a:xfrm>
          <a:custGeom>
            <a:avLst/>
            <a:gdLst/>
            <a:ahLst/>
            <a:cxnLst/>
            <a:rect l="l" t="t" r="r" b="b"/>
            <a:pathLst>
              <a:path w="3000" h="4700">
                <a:moveTo>
                  <a:pt x="0" y="1175"/>
                </a:moveTo>
                <a:lnTo>
                  <a:pt x="1320" y="1175"/>
                </a:lnTo>
                <a:lnTo>
                  <a:pt x="1320" y="0"/>
                </a:lnTo>
                <a:lnTo>
                  <a:pt x="3000" y="2350"/>
                </a:lnTo>
                <a:lnTo>
                  <a:pt x="1320" y="4700"/>
                </a:lnTo>
                <a:lnTo>
                  <a:pt x="1320" y="3525"/>
                </a:lnTo>
                <a:lnTo>
                  <a:pt x="0" y="35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2467000" y="5933200"/>
            <a:ext cx="273000" cy="427700"/>
          </a:xfrm>
          <a:custGeom>
            <a:avLst/>
            <a:gdLst/>
            <a:ahLst/>
            <a:cxnLst/>
            <a:rect l="l" t="t" r="r" b="b"/>
            <a:pathLst>
              <a:path w="3000" h="4700">
                <a:moveTo>
                  <a:pt x="0" y="1175"/>
                </a:moveTo>
                <a:lnTo>
                  <a:pt x="1320" y="1175"/>
                </a:lnTo>
                <a:lnTo>
                  <a:pt x="1320" y="0"/>
                </a:lnTo>
                <a:lnTo>
                  <a:pt x="3000" y="2350"/>
                </a:lnTo>
                <a:lnTo>
                  <a:pt x="1320" y="4700"/>
                </a:lnTo>
                <a:lnTo>
                  <a:pt x="1320" y="3525"/>
                </a:lnTo>
                <a:lnTo>
                  <a:pt x="0" y="3525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F5FAFF"/>
              </a:gs>
              <a:gs pos="50000">
                <a:srgbClr val="7FBDFF"/>
              </a:gs>
              <a:gs pos="100000">
                <a:srgbClr val="0075EE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文字 | 注：已实现六节点 StateGraph 原型，包含条件路由与异常处理；当前为 synthetic demo 验证。"/>
          <p:cNvSpPr txBox="1"/>
          <p:nvPr/>
        </p:nvSpPr>
        <p:spPr>
          <a:xfrm>
            <a:off x="393192" y="6748272"/>
            <a:ext cx="14401800" cy="237744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  <a:defRPr sz="1188" b="0">
                <a:solidFill>
                  <a:srgbClr val="2B427C"/>
                </a:solidFill>
                <a:latin typeface="Arial"/>
              </a:defRPr>
            </a:pPr>
            <a:r>
              <a:rPr>
                <a:ea typeface="Noto Sans CJK SC"/>
              </a:rPr>
              <a:t>注：已实现六节点 StateGraph 原型，包含条件路由与异常处理；当前为 synthetic demo 验证。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265176" y="7050024"/>
            <a:ext cx="854964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ounded Rectangle 362"/>
          <p:cNvSpPr/>
          <p:nvPr/>
        </p:nvSpPr>
        <p:spPr>
          <a:xfrm>
            <a:off x="265176" y="7059168"/>
            <a:ext cx="8549640" cy="365760"/>
          </a:xfrm>
          <a:prstGeom prst="roundRect">
            <a:avLst>
              <a:gd name="adj" fmla="val 20000"/>
            </a:avLst>
          </a:prstGeom>
          <a:ln>
            <a:noFill/>
          </a:ln>
          <a:gradFill>
            <a:gsLst>
              <a:gs pos="0">
                <a:srgbClr val="D9EFFF"/>
              </a:gs>
              <a:gs pos="100000">
                <a:srgbClr val="FDFE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ounded Rectangle 363"/>
          <p:cNvSpPr/>
          <p:nvPr/>
        </p:nvSpPr>
        <p:spPr>
          <a:xfrm>
            <a:off x="429768" y="7123176"/>
            <a:ext cx="100584" cy="256032"/>
          </a:xfrm>
          <a:prstGeom prst="roundRect">
            <a:avLst>
              <a:gd name="adj" fmla="val 27272"/>
            </a:avLst>
          </a:prstGeom>
          <a:ln>
            <a:noFill/>
          </a:ln>
          <a:gradFill>
            <a:gsLst>
              <a:gs pos="0">
                <a:srgbClr val="006ADD"/>
              </a:gs>
              <a:gs pos="100000">
                <a:srgbClr val="0730B2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文字 | 核心特色"/>
          <p:cNvSpPr txBox="1"/>
          <p:nvPr/>
        </p:nvSpPr>
        <p:spPr>
          <a:xfrm>
            <a:off x="713232" y="7068312"/>
            <a:ext cx="8037575" cy="347472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2547"/>
              </a:lnSpc>
              <a:spcBef>
                <a:spcPts val="0"/>
              </a:spcBef>
              <a:spcAft>
                <a:spcPts val="0"/>
              </a:spcAft>
              <a:defRPr sz="2088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核心特色</a:t>
            </a:r>
          </a:p>
        </p:txBody>
      </p:sp>
      <p:grpSp>
        <p:nvGrpSpPr>
          <p:cNvPr id="379" name="核心特色 | LangGraph StateGraph"/>
          <p:cNvGrpSpPr/>
          <p:nvPr/>
        </p:nvGrpSpPr>
        <p:grpSpPr>
          <a:xfrm>
            <a:off x="310896" y="7452360"/>
            <a:ext cx="1426464" cy="950976"/>
            <a:chOff x="310896" y="7452360"/>
            <a:chExt cx="1426464" cy="950976"/>
          </a:xfrm>
        </p:grpSpPr>
        <p:sp>
          <p:nvSpPr>
            <p:cNvPr id="366" name="卡片 | LangGraph StateGraph"/>
            <p:cNvSpPr/>
            <p:nvPr/>
          </p:nvSpPr>
          <p:spPr>
            <a:xfrm>
              <a:off x="310896" y="7452360"/>
              <a:ext cx="1426464" cy="950976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76" name="图标 | stategraph"/>
            <p:cNvGrpSpPr/>
            <p:nvPr/>
          </p:nvGrpSpPr>
          <p:grpSpPr>
            <a:xfrm>
              <a:off x="836904" y="7530312"/>
              <a:ext cx="374446" cy="381304"/>
              <a:chOff x="836904" y="7530312"/>
              <a:chExt cx="374446" cy="381304"/>
            </a:xfrm>
          </p:grpSpPr>
          <p:cxnSp>
            <p:nvCxnSpPr>
              <p:cNvPr id="367" name="矢量线"/>
              <p:cNvCxnSpPr/>
              <p:nvPr/>
            </p:nvCxnSpPr>
            <p:spPr>
              <a:xfrm>
                <a:off x="1024128" y="7566660"/>
                <a:ext cx="0" cy="137160"/>
              </a:xfrm>
              <a:prstGeom prst="line">
                <a:avLst/>
              </a:prstGeom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矢量线"/>
              <p:cNvCxnSpPr/>
              <p:nvPr/>
            </p:nvCxnSpPr>
            <p:spPr>
              <a:xfrm>
                <a:off x="873252" y="7758683"/>
                <a:ext cx="301752" cy="0"/>
              </a:xfrm>
              <a:prstGeom prst="line">
                <a:avLst/>
              </a:prstGeom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矢量线"/>
              <p:cNvCxnSpPr/>
              <p:nvPr/>
            </p:nvCxnSpPr>
            <p:spPr>
              <a:xfrm flipH="1">
                <a:off x="873252" y="7703820"/>
                <a:ext cx="150876" cy="54863"/>
              </a:xfrm>
              <a:prstGeom prst="line">
                <a:avLst/>
              </a:prstGeom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矢量线"/>
              <p:cNvCxnSpPr/>
              <p:nvPr/>
            </p:nvCxnSpPr>
            <p:spPr>
              <a:xfrm>
                <a:off x="1024128" y="7703820"/>
                <a:ext cx="150876" cy="54863"/>
              </a:xfrm>
              <a:prstGeom prst="line">
                <a:avLst/>
              </a:prstGeom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矢量线"/>
              <p:cNvCxnSpPr/>
              <p:nvPr/>
            </p:nvCxnSpPr>
            <p:spPr>
              <a:xfrm>
                <a:off x="1024128" y="7758683"/>
                <a:ext cx="0" cy="123444"/>
              </a:xfrm>
              <a:prstGeom prst="line">
                <a:avLst/>
              </a:prstGeom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2" name="Oval 371"/>
              <p:cNvSpPr/>
              <p:nvPr/>
            </p:nvSpPr>
            <p:spPr>
              <a:xfrm>
                <a:off x="987780" y="7530312"/>
                <a:ext cx="72694" cy="72694"/>
              </a:xfrm>
              <a:prstGeom prst="ellipse">
                <a:avLst/>
              </a:prstGeom>
              <a:solidFill>
                <a:srgbClr val="FFFFFF"/>
              </a:solidFill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Oval 372"/>
              <p:cNvSpPr/>
              <p:nvPr/>
            </p:nvSpPr>
            <p:spPr>
              <a:xfrm>
                <a:off x="836904" y="7722336"/>
                <a:ext cx="72694" cy="72694"/>
              </a:xfrm>
              <a:prstGeom prst="ellipse">
                <a:avLst/>
              </a:prstGeom>
              <a:solidFill>
                <a:srgbClr val="FFFFFF"/>
              </a:solidFill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Oval 373"/>
              <p:cNvSpPr/>
              <p:nvPr/>
            </p:nvSpPr>
            <p:spPr>
              <a:xfrm>
                <a:off x="1138656" y="7722336"/>
                <a:ext cx="72694" cy="72694"/>
              </a:xfrm>
              <a:prstGeom prst="ellipse">
                <a:avLst/>
              </a:prstGeom>
              <a:solidFill>
                <a:srgbClr val="FFFFFF"/>
              </a:solidFill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Oval 374"/>
              <p:cNvSpPr/>
              <p:nvPr/>
            </p:nvSpPr>
            <p:spPr>
              <a:xfrm>
                <a:off x="987780" y="7838922"/>
                <a:ext cx="72694" cy="72694"/>
              </a:xfrm>
              <a:prstGeom prst="ellipse">
                <a:avLst/>
              </a:prstGeom>
              <a:solidFill>
                <a:srgbClr val="FFFFFF"/>
              </a:solidFill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77" name="文字 | LangGraph StateGraph"/>
            <p:cNvSpPr txBox="1"/>
            <p:nvPr/>
          </p:nvSpPr>
          <p:spPr>
            <a:xfrm>
              <a:off x="329184" y="7955279"/>
              <a:ext cx="1389888" cy="20116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168"/>
                </a:lnSpc>
                <a:spcBef>
                  <a:spcPts val="0"/>
                </a:spcBef>
                <a:spcAft>
                  <a:spcPts val="0"/>
                </a:spcAft>
                <a:defRPr sz="957" b="1">
                  <a:solidFill>
                    <a:srgbClr val="123168"/>
                  </a:solidFill>
                  <a:latin typeface="Arial"/>
                </a:defRPr>
              </a:pPr>
              <a:r>
                <a:rPr>
                  <a:ea typeface="Noto Sans CJK SC"/>
                </a:rPr>
                <a:t>LangGraph StateGraph</a:t>
              </a:r>
            </a:p>
          </p:txBody>
        </p:sp>
        <p:sp>
          <p:nvSpPr>
            <p:cNvPr id="378" name="文字 | 六节点工作流编排"/>
            <p:cNvSpPr txBox="1"/>
            <p:nvPr/>
          </p:nvSpPr>
          <p:spPr>
            <a:xfrm>
              <a:off x="329184" y="8138160"/>
              <a:ext cx="1389888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304881"/>
                  </a:solidFill>
                  <a:latin typeface="Arial"/>
                </a:defRPr>
              </a:pPr>
              <a:r>
                <a:rPr>
                  <a:ea typeface="Noto Sans CJK SC"/>
                </a:rPr>
                <a:t>六节点工作流编排</a:t>
              </a:r>
            </a:p>
          </p:txBody>
        </p:sp>
      </p:grpSp>
      <p:grpSp>
        <p:nvGrpSpPr>
          <p:cNvPr id="389" name="核心特色 | State 管理"/>
          <p:cNvGrpSpPr/>
          <p:nvPr/>
        </p:nvGrpSpPr>
        <p:grpSpPr>
          <a:xfrm>
            <a:off x="1792224" y="7452360"/>
            <a:ext cx="1133856" cy="950976"/>
            <a:chOff x="1792224" y="7452360"/>
            <a:chExt cx="1133856" cy="950976"/>
          </a:xfrm>
        </p:grpSpPr>
        <p:sp>
          <p:nvSpPr>
            <p:cNvPr id="380" name="卡片 | State 管理"/>
            <p:cNvSpPr/>
            <p:nvPr/>
          </p:nvSpPr>
          <p:spPr>
            <a:xfrm>
              <a:off x="1792224" y="7452360"/>
              <a:ext cx="1133856" cy="950976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86" name="图标 | database"/>
            <p:cNvGrpSpPr/>
            <p:nvPr/>
          </p:nvGrpSpPr>
          <p:grpSpPr>
            <a:xfrm>
              <a:off x="2208276" y="7525512"/>
              <a:ext cx="301752" cy="384047"/>
              <a:chOff x="2208276" y="7525512"/>
              <a:chExt cx="301752" cy="384047"/>
            </a:xfrm>
          </p:grpSpPr>
          <p:sp>
            <p:nvSpPr>
              <p:cNvPr id="381" name="Rectangle 380"/>
              <p:cNvSpPr/>
              <p:nvPr/>
            </p:nvSpPr>
            <p:spPr>
              <a:xfrm>
                <a:off x="2208276" y="7600950"/>
                <a:ext cx="301752" cy="253746"/>
              </a:xfrm>
              <a:prstGeom prst="rect">
                <a:avLst/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Oval 381"/>
              <p:cNvSpPr/>
              <p:nvPr/>
            </p:nvSpPr>
            <p:spPr>
              <a:xfrm>
                <a:off x="2208276" y="7799831"/>
                <a:ext cx="301752" cy="109728"/>
              </a:xfrm>
              <a:prstGeom prst="ellipse">
                <a:avLst/>
              </a:prstGeom>
              <a:solidFill>
                <a:srgbClr val="0078FA"/>
              </a:solidFill>
              <a:ln w="10972" cap="rnd">
                <a:solidFill>
                  <a:srgbClr val="FFF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Oval 382"/>
              <p:cNvSpPr/>
              <p:nvPr/>
            </p:nvSpPr>
            <p:spPr>
              <a:xfrm>
                <a:off x="2208276" y="7717536"/>
                <a:ext cx="301752" cy="109728"/>
              </a:xfrm>
              <a:prstGeom prst="ellipse">
                <a:avLst/>
              </a:prstGeom>
              <a:solidFill>
                <a:srgbClr val="0078FA"/>
              </a:solidFill>
              <a:ln w="10972" cap="rnd">
                <a:solidFill>
                  <a:srgbClr val="FFF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Oval 383"/>
              <p:cNvSpPr/>
              <p:nvPr/>
            </p:nvSpPr>
            <p:spPr>
              <a:xfrm>
                <a:off x="2208276" y="7635240"/>
                <a:ext cx="301752" cy="109728"/>
              </a:xfrm>
              <a:prstGeom prst="ellipse">
                <a:avLst/>
              </a:prstGeom>
              <a:solidFill>
                <a:srgbClr val="0078FA"/>
              </a:solidFill>
              <a:ln w="10972" cap="rnd">
                <a:solidFill>
                  <a:srgbClr val="FFF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Oval 384"/>
              <p:cNvSpPr/>
              <p:nvPr/>
            </p:nvSpPr>
            <p:spPr>
              <a:xfrm>
                <a:off x="2208276" y="7525512"/>
                <a:ext cx="301752" cy="116586"/>
              </a:xfrm>
              <a:prstGeom prst="ellipse">
                <a:avLst/>
              </a:prstGeom>
              <a:solidFill>
                <a:srgbClr val="0078FA"/>
              </a:solidFill>
              <a:ln w="10972" cap="rnd">
                <a:solidFill>
                  <a:srgbClr val="FFF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87" name="文字 | State 管理"/>
            <p:cNvSpPr txBox="1"/>
            <p:nvPr/>
          </p:nvSpPr>
          <p:spPr>
            <a:xfrm>
              <a:off x="1810512" y="7955279"/>
              <a:ext cx="1097280" cy="20116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273"/>
                </a:lnSpc>
                <a:spcBef>
                  <a:spcPts val="0"/>
                </a:spcBef>
                <a:spcAft>
                  <a:spcPts val="0"/>
                </a:spcAft>
                <a:defRPr sz="1044" b="1">
                  <a:solidFill>
                    <a:srgbClr val="123168"/>
                  </a:solidFill>
                  <a:latin typeface="Arial"/>
                </a:defRPr>
              </a:pPr>
              <a:r>
                <a:rPr>
                  <a:ea typeface="Noto Sans CJK SC"/>
                </a:rPr>
                <a:t>State 管理</a:t>
              </a:r>
            </a:p>
          </p:txBody>
        </p:sp>
        <p:sp>
          <p:nvSpPr>
            <p:cNvPr id="388" name="文字 | 跨节点状态传递"/>
            <p:cNvSpPr txBox="1"/>
            <p:nvPr/>
          </p:nvSpPr>
          <p:spPr>
            <a:xfrm>
              <a:off x="1810512" y="8138160"/>
              <a:ext cx="1097280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304881"/>
                  </a:solidFill>
                  <a:latin typeface="Arial"/>
                </a:defRPr>
              </a:pPr>
              <a:r>
                <a:rPr>
                  <a:ea typeface="Noto Sans CJK SC"/>
                </a:rPr>
                <a:t>跨节点状态传递</a:t>
              </a:r>
            </a:p>
          </p:txBody>
        </p:sp>
      </p:grpSp>
      <p:grpSp>
        <p:nvGrpSpPr>
          <p:cNvPr id="400" name="核心特色 | Conditional Routing"/>
          <p:cNvGrpSpPr/>
          <p:nvPr/>
        </p:nvGrpSpPr>
        <p:grpSpPr>
          <a:xfrm>
            <a:off x="2980944" y="7452360"/>
            <a:ext cx="1444752" cy="950976"/>
            <a:chOff x="2980944" y="7452360"/>
            <a:chExt cx="1444752" cy="950976"/>
          </a:xfrm>
        </p:grpSpPr>
        <p:sp>
          <p:nvSpPr>
            <p:cNvPr id="390" name="卡片 | Conditional Routing"/>
            <p:cNvSpPr/>
            <p:nvPr/>
          </p:nvSpPr>
          <p:spPr>
            <a:xfrm>
              <a:off x="2980944" y="7452360"/>
              <a:ext cx="1444752" cy="950976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97" name="图标 | routing"/>
            <p:cNvGrpSpPr/>
            <p:nvPr/>
          </p:nvGrpSpPr>
          <p:grpSpPr>
            <a:xfrm>
              <a:off x="3501225" y="7516600"/>
              <a:ext cx="375375" cy="386102"/>
              <a:chOff x="3501225" y="7516600"/>
              <a:chExt cx="375375" cy="386102"/>
            </a:xfrm>
          </p:grpSpPr>
          <p:cxnSp>
            <p:nvCxnSpPr>
              <p:cNvPr id="391" name="矢量线"/>
              <p:cNvCxnSpPr/>
              <p:nvPr/>
            </p:nvCxnSpPr>
            <p:spPr>
              <a:xfrm flipV="1">
                <a:off x="3703320" y="7573518"/>
                <a:ext cx="0" cy="329184"/>
              </a:xfrm>
              <a:prstGeom prst="line">
                <a:avLst/>
              </a:prstGeom>
              <a:ln w="27432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Freeform 391"/>
              <p:cNvSpPr/>
              <p:nvPr/>
            </p:nvSpPr>
            <p:spPr>
              <a:xfrm>
                <a:off x="3637725" y="7516600"/>
                <a:ext cx="95550" cy="68250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750">
                    <a:moveTo>
                      <a:pt x="0" y="750"/>
                    </a:moveTo>
                    <a:lnTo>
                      <a:pt x="525" y="0"/>
                    </a:lnTo>
                    <a:lnTo>
                      <a:pt x="1050" y="750"/>
                    </a:lnTo>
                    <a:close/>
                  </a:path>
                </a:pathLst>
              </a:cu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Freeform 392"/>
              <p:cNvSpPr/>
              <p:nvPr/>
            </p:nvSpPr>
            <p:spPr>
              <a:xfrm>
                <a:off x="3528525" y="7659834"/>
                <a:ext cx="156975" cy="75166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826">
                    <a:moveTo>
                      <a:pt x="1725" y="826"/>
                    </a:moveTo>
                    <a:lnTo>
                      <a:pt x="1703" y="584"/>
                    </a:lnTo>
                    <a:lnTo>
                      <a:pt x="1639" y="395"/>
                    </a:lnTo>
                    <a:lnTo>
                      <a:pt x="1537" y="251"/>
                    </a:lnTo>
                    <a:lnTo>
                      <a:pt x="1399" y="147"/>
                    </a:lnTo>
                    <a:lnTo>
                      <a:pt x="1228" y="76"/>
                    </a:lnTo>
                    <a:lnTo>
                      <a:pt x="1028" y="32"/>
                    </a:lnTo>
                    <a:lnTo>
                      <a:pt x="803" y="9"/>
                    </a:lnTo>
                    <a:lnTo>
                      <a:pt x="554" y="0"/>
                    </a:lnTo>
                    <a:lnTo>
                      <a:pt x="285" y="0"/>
                    </a:lnTo>
                    <a:lnTo>
                      <a:pt x="0" y="1"/>
                    </a:lnTo>
                  </a:path>
                </a:pathLst>
              </a:custGeom>
              <a:noFill/>
              <a:ln w="27432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Freeform 393"/>
              <p:cNvSpPr/>
              <p:nvPr/>
            </p:nvSpPr>
            <p:spPr>
              <a:xfrm>
                <a:off x="3501225" y="7612150"/>
                <a:ext cx="75075" cy="955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1050">
                    <a:moveTo>
                      <a:pt x="825" y="0"/>
                    </a:moveTo>
                    <a:lnTo>
                      <a:pt x="0" y="525"/>
                    </a:lnTo>
                    <a:lnTo>
                      <a:pt x="825" y="1050"/>
                    </a:lnTo>
                    <a:close/>
                  </a:path>
                </a:pathLst>
              </a:cu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Freeform 394"/>
              <p:cNvSpPr/>
              <p:nvPr/>
            </p:nvSpPr>
            <p:spPr>
              <a:xfrm>
                <a:off x="3685500" y="7659834"/>
                <a:ext cx="156975" cy="75166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826">
                    <a:moveTo>
                      <a:pt x="0" y="826"/>
                    </a:moveTo>
                    <a:lnTo>
                      <a:pt x="24" y="584"/>
                    </a:lnTo>
                    <a:lnTo>
                      <a:pt x="93" y="395"/>
                    </a:lnTo>
                    <a:lnTo>
                      <a:pt x="202" y="251"/>
                    </a:lnTo>
                    <a:lnTo>
                      <a:pt x="348" y="147"/>
                    </a:lnTo>
                    <a:lnTo>
                      <a:pt x="525" y="76"/>
                    </a:lnTo>
                    <a:lnTo>
                      <a:pt x="729" y="32"/>
                    </a:lnTo>
                    <a:lnTo>
                      <a:pt x="956" y="9"/>
                    </a:lnTo>
                    <a:lnTo>
                      <a:pt x="1200" y="0"/>
                    </a:lnTo>
                    <a:lnTo>
                      <a:pt x="1458" y="0"/>
                    </a:lnTo>
                    <a:lnTo>
                      <a:pt x="1725" y="1"/>
                    </a:lnTo>
                  </a:path>
                </a:pathLst>
              </a:custGeom>
              <a:noFill/>
              <a:ln w="27432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Freeform 395"/>
              <p:cNvSpPr/>
              <p:nvPr/>
            </p:nvSpPr>
            <p:spPr>
              <a:xfrm>
                <a:off x="3794700" y="7612150"/>
                <a:ext cx="81900" cy="955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1050">
                    <a:moveTo>
                      <a:pt x="0" y="0"/>
                    </a:moveTo>
                    <a:lnTo>
                      <a:pt x="900" y="525"/>
                    </a:lnTo>
                    <a:lnTo>
                      <a:pt x="0" y="1050"/>
                    </a:lnTo>
                    <a:close/>
                  </a:path>
                </a:pathLst>
              </a:cu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98" name="文字 | Conditional Routing"/>
            <p:cNvSpPr txBox="1"/>
            <p:nvPr/>
          </p:nvSpPr>
          <p:spPr>
            <a:xfrm>
              <a:off x="2999232" y="7955279"/>
              <a:ext cx="1408176" cy="20116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203"/>
                </a:lnSpc>
                <a:spcBef>
                  <a:spcPts val="0"/>
                </a:spcBef>
                <a:spcAft>
                  <a:spcPts val="0"/>
                </a:spcAft>
                <a:defRPr sz="986" b="1">
                  <a:solidFill>
                    <a:srgbClr val="123168"/>
                  </a:solidFill>
                  <a:latin typeface="Arial"/>
                </a:defRPr>
              </a:pPr>
              <a:r>
                <a:rPr>
                  <a:ea typeface="Noto Sans CJK SC"/>
                </a:rPr>
                <a:t>Conditional Routing</a:t>
              </a:r>
            </a:p>
          </p:txBody>
        </p:sp>
        <p:sp>
          <p:nvSpPr>
            <p:cNvPr id="399" name="文字 | 动态路由与异常分支"/>
            <p:cNvSpPr txBox="1"/>
            <p:nvPr/>
          </p:nvSpPr>
          <p:spPr>
            <a:xfrm>
              <a:off x="2999232" y="8138160"/>
              <a:ext cx="1408176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304881"/>
                  </a:solidFill>
                  <a:latin typeface="Arial"/>
                </a:defRPr>
              </a:pPr>
              <a:r>
                <a:rPr>
                  <a:ea typeface="Noto Sans CJK SC"/>
                </a:rPr>
                <a:t>动态路由与异常分支</a:t>
              </a:r>
            </a:p>
          </p:txBody>
        </p:sp>
      </p:grpSp>
      <p:grpSp>
        <p:nvGrpSpPr>
          <p:cNvPr id="409" name="核心特色 | Tool Scope Control"/>
          <p:cNvGrpSpPr/>
          <p:nvPr/>
        </p:nvGrpSpPr>
        <p:grpSpPr>
          <a:xfrm>
            <a:off x="4480560" y="7452360"/>
            <a:ext cx="1289304" cy="950976"/>
            <a:chOff x="4480560" y="7452360"/>
            <a:chExt cx="1289304" cy="950976"/>
          </a:xfrm>
        </p:grpSpPr>
        <p:sp>
          <p:nvSpPr>
            <p:cNvPr id="401" name="卡片 | Tool Scope Control"/>
            <p:cNvSpPr/>
            <p:nvPr/>
          </p:nvSpPr>
          <p:spPr>
            <a:xfrm>
              <a:off x="4480560" y="7452360"/>
              <a:ext cx="1289304" cy="950976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06" name="图标 | lock"/>
            <p:cNvGrpSpPr/>
            <p:nvPr/>
          </p:nvGrpSpPr>
          <p:grpSpPr>
            <a:xfrm>
              <a:off x="4988052" y="7492758"/>
              <a:ext cx="281178" cy="409943"/>
              <a:chOff x="4988052" y="7492758"/>
              <a:chExt cx="281178" cy="409943"/>
            </a:xfrm>
          </p:grpSpPr>
          <p:sp>
            <p:nvSpPr>
              <p:cNvPr id="402" name="Freeform 401"/>
              <p:cNvSpPr/>
              <p:nvPr/>
            </p:nvSpPr>
            <p:spPr>
              <a:xfrm>
                <a:off x="5018650" y="7492758"/>
                <a:ext cx="170625" cy="153517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87">
                    <a:moveTo>
                      <a:pt x="0" y="1687"/>
                    </a:moveTo>
                    <a:lnTo>
                      <a:pt x="0" y="1462"/>
                    </a:lnTo>
                    <a:lnTo>
                      <a:pt x="0" y="1237"/>
                    </a:lnTo>
                    <a:lnTo>
                      <a:pt x="0" y="1012"/>
                    </a:lnTo>
                    <a:lnTo>
                      <a:pt x="27" y="743"/>
                    </a:lnTo>
                    <a:lnTo>
                      <a:pt x="104" y="516"/>
                    </a:lnTo>
                    <a:lnTo>
                      <a:pt x="221" y="330"/>
                    </a:lnTo>
                    <a:lnTo>
                      <a:pt x="372" y="185"/>
                    </a:lnTo>
                    <a:lnTo>
                      <a:pt x="547" y="82"/>
                    </a:lnTo>
                    <a:lnTo>
                      <a:pt x="738" y="20"/>
                    </a:lnTo>
                    <a:lnTo>
                      <a:pt x="938" y="0"/>
                    </a:lnTo>
                    <a:lnTo>
                      <a:pt x="1137" y="20"/>
                    </a:lnTo>
                    <a:lnTo>
                      <a:pt x="1328" y="82"/>
                    </a:lnTo>
                    <a:lnTo>
                      <a:pt x="1503" y="185"/>
                    </a:lnTo>
                    <a:lnTo>
                      <a:pt x="1654" y="330"/>
                    </a:lnTo>
                    <a:lnTo>
                      <a:pt x="1771" y="516"/>
                    </a:lnTo>
                    <a:lnTo>
                      <a:pt x="1848" y="743"/>
                    </a:lnTo>
                    <a:lnTo>
                      <a:pt x="1875" y="1012"/>
                    </a:lnTo>
                    <a:lnTo>
                      <a:pt x="1875" y="1237"/>
                    </a:lnTo>
                    <a:lnTo>
                      <a:pt x="1875" y="1462"/>
                    </a:lnTo>
                    <a:lnTo>
                      <a:pt x="1875" y="1687"/>
                    </a:lnTo>
                  </a:path>
                </a:pathLst>
              </a:custGeom>
              <a:noFill/>
              <a:ln w="27432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Rounded Rectangle 402"/>
              <p:cNvSpPr/>
              <p:nvPr/>
            </p:nvSpPr>
            <p:spPr>
              <a:xfrm>
                <a:off x="4988052" y="7669529"/>
                <a:ext cx="281178" cy="233172"/>
              </a:xfrm>
              <a:prstGeom prst="roundRect">
                <a:avLst>
                  <a:gd name="adj" fmla="val 14705"/>
                </a:avLst>
              </a:pr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Oval 403"/>
              <p:cNvSpPr/>
              <p:nvPr/>
            </p:nvSpPr>
            <p:spPr>
              <a:xfrm>
                <a:off x="5097780" y="7731252"/>
                <a:ext cx="54864" cy="548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Rounded Rectangle 404"/>
              <p:cNvSpPr/>
              <p:nvPr/>
            </p:nvSpPr>
            <p:spPr>
              <a:xfrm>
                <a:off x="5111496" y="7772400"/>
                <a:ext cx="27432" cy="61722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07" name="文字 | Tool Scope Control"/>
            <p:cNvSpPr txBox="1"/>
            <p:nvPr/>
          </p:nvSpPr>
          <p:spPr>
            <a:xfrm>
              <a:off x="4498848" y="7955279"/>
              <a:ext cx="1252728" cy="20116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194"/>
                </a:lnSpc>
                <a:spcBef>
                  <a:spcPts val="0"/>
                </a:spcBef>
                <a:spcAft>
                  <a:spcPts val="0"/>
                </a:spcAft>
                <a:defRPr sz="979" b="1">
                  <a:solidFill>
                    <a:srgbClr val="123168"/>
                  </a:solidFill>
                  <a:latin typeface="Arial"/>
                </a:defRPr>
              </a:pPr>
              <a:r>
                <a:rPr>
                  <a:ea typeface="Noto Sans CJK SC"/>
                </a:rPr>
                <a:t>Tool Scope Control</a:t>
              </a:r>
            </a:p>
          </p:txBody>
        </p:sp>
        <p:sp>
          <p:nvSpPr>
            <p:cNvPr id="408" name="文字 | 工具权限约束"/>
            <p:cNvSpPr txBox="1"/>
            <p:nvPr/>
          </p:nvSpPr>
          <p:spPr>
            <a:xfrm>
              <a:off x="4498848" y="8138160"/>
              <a:ext cx="1252728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304881"/>
                  </a:solidFill>
                  <a:latin typeface="Arial"/>
                </a:defRPr>
              </a:pPr>
              <a:r>
                <a:rPr>
                  <a:ea typeface="Noto Sans CJK SC"/>
                </a:rPr>
                <a:t>工具权限约束</a:t>
              </a:r>
            </a:p>
          </p:txBody>
        </p:sp>
      </p:grpSp>
      <p:grpSp>
        <p:nvGrpSpPr>
          <p:cNvPr id="416" name="核心特色 | Evidence Validation"/>
          <p:cNvGrpSpPr/>
          <p:nvPr/>
        </p:nvGrpSpPr>
        <p:grpSpPr>
          <a:xfrm>
            <a:off x="5824728" y="7452360"/>
            <a:ext cx="1426464" cy="950976"/>
            <a:chOff x="5824728" y="7452360"/>
            <a:chExt cx="1426464" cy="950976"/>
          </a:xfrm>
        </p:grpSpPr>
        <p:sp>
          <p:nvSpPr>
            <p:cNvPr id="410" name="卡片 | Evidence Validation"/>
            <p:cNvSpPr/>
            <p:nvPr/>
          </p:nvSpPr>
          <p:spPr>
            <a:xfrm>
              <a:off x="5824728" y="7452360"/>
              <a:ext cx="1426464" cy="950976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13" name="图标 | verified"/>
            <p:cNvGrpSpPr/>
            <p:nvPr/>
          </p:nvGrpSpPr>
          <p:grpSpPr>
            <a:xfrm>
              <a:off x="6342700" y="7482475"/>
              <a:ext cx="320775" cy="389025"/>
              <a:chOff x="6342700" y="7482475"/>
              <a:chExt cx="320775" cy="389025"/>
            </a:xfrm>
          </p:grpSpPr>
          <p:sp>
            <p:nvSpPr>
              <p:cNvPr id="411" name="Freeform 410"/>
              <p:cNvSpPr/>
              <p:nvPr/>
            </p:nvSpPr>
            <p:spPr>
              <a:xfrm>
                <a:off x="6342700" y="7482475"/>
                <a:ext cx="320775" cy="38902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4275">
                    <a:moveTo>
                      <a:pt x="1800" y="0"/>
                    </a:moveTo>
                    <a:lnTo>
                      <a:pt x="3525" y="675"/>
                    </a:lnTo>
                    <a:lnTo>
                      <a:pt x="3525" y="2025"/>
                    </a:lnTo>
                    <a:lnTo>
                      <a:pt x="3150" y="3075"/>
                    </a:lnTo>
                    <a:lnTo>
                      <a:pt x="2550" y="3825"/>
                    </a:lnTo>
                    <a:lnTo>
                      <a:pt x="1800" y="4275"/>
                    </a:lnTo>
                    <a:lnTo>
                      <a:pt x="975" y="3750"/>
                    </a:lnTo>
                    <a:lnTo>
                      <a:pt x="300" y="2925"/>
                    </a:lnTo>
                    <a:lnTo>
                      <a:pt x="0" y="1875"/>
                    </a:lnTo>
                    <a:lnTo>
                      <a:pt x="0" y="675"/>
                    </a:lnTo>
                    <a:close/>
                  </a:path>
                </a:pathLst>
              </a:custGeom>
              <a:solidFill>
                <a:srgbClr val="0078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Freeform 411"/>
              <p:cNvSpPr/>
              <p:nvPr/>
            </p:nvSpPr>
            <p:spPr>
              <a:xfrm>
                <a:off x="6424600" y="7605325"/>
                <a:ext cx="163800" cy="116025"/>
              </a:xfrm>
              <a:custGeom>
                <a:avLst/>
                <a:gdLst/>
                <a:ahLst/>
                <a:cxnLst/>
                <a:rect l="l" t="t" r="r" b="b"/>
                <a:pathLst>
                  <a:path w="1800" h="1275">
                    <a:moveTo>
                      <a:pt x="0" y="600"/>
                    </a:moveTo>
                    <a:lnTo>
                      <a:pt x="675" y="1275"/>
                    </a:lnTo>
                    <a:lnTo>
                      <a:pt x="1800" y="0"/>
                    </a:lnTo>
                    <a:close/>
                  </a:path>
                </a:pathLst>
              </a:custGeom>
              <a:noFill/>
              <a:ln w="27432" cap="rnd">
                <a:solidFill>
                  <a:srgbClr val="FFF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14" name="文字 | Evidence Validation"/>
            <p:cNvSpPr txBox="1"/>
            <p:nvPr/>
          </p:nvSpPr>
          <p:spPr>
            <a:xfrm>
              <a:off x="5843016" y="7955279"/>
              <a:ext cx="1389888" cy="20116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185"/>
                </a:lnSpc>
                <a:spcBef>
                  <a:spcPts val="0"/>
                </a:spcBef>
                <a:spcAft>
                  <a:spcPts val="0"/>
                </a:spcAft>
                <a:defRPr sz="971" b="1">
                  <a:solidFill>
                    <a:srgbClr val="123168"/>
                  </a:solidFill>
                  <a:latin typeface="Arial"/>
                </a:defRPr>
              </a:pPr>
              <a:r>
                <a:rPr>
                  <a:ea typeface="Noto Sans CJK SC"/>
                </a:rPr>
                <a:t>Evidence Validation</a:t>
              </a:r>
            </a:p>
          </p:txBody>
        </p:sp>
        <p:sp>
          <p:nvSpPr>
            <p:cNvPr id="415" name="文字 | 证据完整性校验"/>
            <p:cNvSpPr txBox="1"/>
            <p:nvPr/>
          </p:nvSpPr>
          <p:spPr>
            <a:xfrm>
              <a:off x="5843016" y="8138160"/>
              <a:ext cx="1389888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49"/>
                </a:lnSpc>
                <a:spcBef>
                  <a:spcPts val="0"/>
                </a:spcBef>
                <a:spcAft>
                  <a:spcPts val="0"/>
                </a:spcAft>
                <a:defRPr sz="1188" b="0">
                  <a:solidFill>
                    <a:srgbClr val="304881"/>
                  </a:solidFill>
                  <a:latin typeface="Arial"/>
                </a:defRPr>
              </a:pPr>
              <a:r>
                <a:rPr>
                  <a:ea typeface="Noto Sans CJK SC"/>
                </a:rPr>
                <a:t>证据完整性校验</a:t>
              </a:r>
            </a:p>
          </p:txBody>
        </p:sp>
      </p:grpSp>
      <p:grpSp>
        <p:nvGrpSpPr>
          <p:cNvPr id="430" name="核心特色 | Audit &amp; Testing"/>
          <p:cNvGrpSpPr/>
          <p:nvPr/>
        </p:nvGrpSpPr>
        <p:grpSpPr>
          <a:xfrm>
            <a:off x="7315200" y="7452360"/>
            <a:ext cx="1453896" cy="950976"/>
            <a:chOff x="7315200" y="7452360"/>
            <a:chExt cx="1453896" cy="950976"/>
          </a:xfrm>
        </p:grpSpPr>
        <p:sp>
          <p:nvSpPr>
            <p:cNvPr id="417" name="卡片 | Audit &amp; Testing"/>
            <p:cNvSpPr/>
            <p:nvPr/>
          </p:nvSpPr>
          <p:spPr>
            <a:xfrm>
              <a:off x="7315200" y="7452360"/>
              <a:ext cx="1453896" cy="950976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9144" cap="rnd">
              <a:solidFill>
                <a:srgbClr val="9BD2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27" name="图标 | report"/>
            <p:cNvGrpSpPr/>
            <p:nvPr/>
          </p:nvGrpSpPr>
          <p:grpSpPr>
            <a:xfrm>
              <a:off x="7866950" y="7489300"/>
              <a:ext cx="401512" cy="461408"/>
              <a:chOff x="7866950" y="7489300"/>
              <a:chExt cx="401512" cy="461408"/>
            </a:xfrm>
          </p:grpSpPr>
          <p:sp>
            <p:nvSpPr>
              <p:cNvPr id="418" name="Freeform 417"/>
              <p:cNvSpPr/>
              <p:nvPr/>
            </p:nvSpPr>
            <p:spPr>
              <a:xfrm>
                <a:off x="7866950" y="7489300"/>
                <a:ext cx="273000" cy="382200"/>
              </a:xfrm>
              <a:custGeom>
                <a:avLst/>
                <a:gdLst/>
                <a:ahLst/>
                <a:cxnLst/>
                <a:rect l="l" t="t" r="r" b="b"/>
                <a:pathLst>
                  <a:path w="3000" h="4200">
                    <a:moveTo>
                      <a:pt x="0" y="0"/>
                    </a:moveTo>
                    <a:lnTo>
                      <a:pt x="2025" y="0"/>
                    </a:lnTo>
                    <a:lnTo>
                      <a:pt x="3000" y="975"/>
                    </a:lnTo>
                    <a:lnTo>
                      <a:pt x="3000" y="4200"/>
                    </a:lnTo>
                    <a:lnTo>
                      <a:pt x="0" y="4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19" name="矢量线"/>
              <p:cNvCxnSpPr/>
              <p:nvPr/>
            </p:nvCxnSpPr>
            <p:spPr>
              <a:xfrm>
                <a:off x="8090154" y="7525512"/>
                <a:ext cx="0" cy="89154"/>
              </a:xfrm>
              <a:prstGeom prst="line">
                <a:avLst/>
              </a:prstGeom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矢量线"/>
              <p:cNvCxnSpPr/>
              <p:nvPr/>
            </p:nvCxnSpPr>
            <p:spPr>
              <a:xfrm>
                <a:off x="8090154" y="7614666"/>
                <a:ext cx="89154" cy="0"/>
              </a:xfrm>
              <a:prstGeom prst="line">
                <a:avLst/>
              </a:prstGeom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矢量线"/>
              <p:cNvCxnSpPr/>
              <p:nvPr/>
            </p:nvCxnSpPr>
            <p:spPr>
              <a:xfrm>
                <a:off x="7959852" y="7628381"/>
                <a:ext cx="75438" cy="0"/>
              </a:xfrm>
              <a:prstGeom prst="line">
                <a:avLst/>
              </a:prstGeom>
              <a:ln w="18516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矢量线"/>
              <p:cNvCxnSpPr/>
              <p:nvPr/>
            </p:nvCxnSpPr>
            <p:spPr>
              <a:xfrm>
                <a:off x="7959852" y="7696962"/>
                <a:ext cx="144018" cy="0"/>
              </a:xfrm>
              <a:prstGeom prst="line">
                <a:avLst/>
              </a:prstGeom>
              <a:ln w="18516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矢量线"/>
              <p:cNvCxnSpPr/>
              <p:nvPr/>
            </p:nvCxnSpPr>
            <p:spPr>
              <a:xfrm>
                <a:off x="7959852" y="7765542"/>
                <a:ext cx="116586" cy="0"/>
              </a:xfrm>
              <a:prstGeom prst="line">
                <a:avLst/>
              </a:prstGeom>
              <a:ln w="18516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矢量线"/>
              <p:cNvCxnSpPr/>
              <p:nvPr/>
            </p:nvCxnSpPr>
            <p:spPr>
              <a:xfrm>
                <a:off x="7959852" y="7834122"/>
                <a:ext cx="137160" cy="0"/>
              </a:xfrm>
              <a:prstGeom prst="line">
                <a:avLst/>
              </a:prstGeom>
              <a:ln w="18516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5" name="Oval 424"/>
              <p:cNvSpPr/>
              <p:nvPr/>
            </p:nvSpPr>
            <p:spPr>
              <a:xfrm>
                <a:off x="8076438" y="7758683"/>
                <a:ext cx="157734" cy="157734"/>
              </a:xfrm>
              <a:prstGeom prst="ellipse">
                <a:avLst/>
              </a:prstGeom>
              <a:solidFill>
                <a:srgbClr val="FFFFFF"/>
              </a:solidFill>
              <a:ln w="24003" cap="rnd">
                <a:solidFill>
                  <a:srgbClr val="0078F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26" name="矢量线"/>
              <p:cNvCxnSpPr/>
              <p:nvPr/>
            </p:nvCxnSpPr>
            <p:spPr>
              <a:xfrm>
                <a:off x="8206740" y="7888986"/>
                <a:ext cx="61722" cy="61722"/>
              </a:xfrm>
              <a:prstGeom prst="line">
                <a:avLst/>
              </a:prstGeom>
              <a:ln w="27432" cap="rnd">
                <a:solidFill>
                  <a:srgbClr val="0078FA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8" name="文字 | Audit &amp; Testing"/>
            <p:cNvSpPr txBox="1"/>
            <p:nvPr/>
          </p:nvSpPr>
          <p:spPr>
            <a:xfrm>
              <a:off x="7333488" y="7955279"/>
              <a:ext cx="1417320" cy="201168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273"/>
                </a:lnSpc>
                <a:spcBef>
                  <a:spcPts val="0"/>
                </a:spcBef>
                <a:spcAft>
                  <a:spcPts val="0"/>
                </a:spcAft>
                <a:defRPr sz="1044" b="1">
                  <a:solidFill>
                    <a:srgbClr val="123168"/>
                  </a:solidFill>
                  <a:latin typeface="Arial"/>
                </a:defRPr>
              </a:pPr>
              <a:r>
                <a:rPr>
                  <a:ea typeface="Noto Sans CJK SC"/>
                </a:rPr>
                <a:t>Audit &amp; Testing</a:t>
              </a:r>
            </a:p>
          </p:txBody>
        </p:sp>
        <p:sp>
          <p:nvSpPr>
            <p:cNvPr id="429" name="文字 | 执行轨迹与自动化测试"/>
            <p:cNvSpPr txBox="1"/>
            <p:nvPr/>
          </p:nvSpPr>
          <p:spPr>
            <a:xfrm>
              <a:off x="7333488" y="8138160"/>
              <a:ext cx="1417320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335"/>
                </a:lnSpc>
                <a:spcBef>
                  <a:spcPts val="0"/>
                </a:spcBef>
                <a:spcAft>
                  <a:spcPts val="0"/>
                </a:spcAft>
                <a:defRPr sz="1094" b="0">
                  <a:solidFill>
                    <a:srgbClr val="304881"/>
                  </a:solidFill>
                  <a:latin typeface="Arial"/>
                </a:defRPr>
              </a:pPr>
              <a:r>
                <a:rPr>
                  <a:ea typeface="Noto Sans CJK SC"/>
                </a:rPr>
                <a:t>执行轨迹与自动化测试</a:t>
              </a:r>
            </a:p>
          </p:txBody>
        </p:sp>
      </p:grpSp>
      <p:sp>
        <p:nvSpPr>
          <p:cNvPr id="431" name="Rounded Rectangle 430"/>
          <p:cNvSpPr/>
          <p:nvPr/>
        </p:nvSpPr>
        <p:spPr>
          <a:xfrm>
            <a:off x="8961120" y="7050024"/>
            <a:ext cx="606247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144" cap="rnd">
            <a:solidFill>
              <a:srgbClr val="9BD2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ounded Rectangle 431"/>
          <p:cNvSpPr/>
          <p:nvPr/>
        </p:nvSpPr>
        <p:spPr>
          <a:xfrm>
            <a:off x="8961120" y="7059168"/>
            <a:ext cx="6062472" cy="365760"/>
          </a:xfrm>
          <a:prstGeom prst="roundRect">
            <a:avLst>
              <a:gd name="adj" fmla="val 20000"/>
            </a:avLst>
          </a:prstGeom>
          <a:ln>
            <a:noFill/>
          </a:ln>
          <a:gradFill>
            <a:gsLst>
              <a:gs pos="0">
                <a:srgbClr val="D9EFFF"/>
              </a:gs>
              <a:gs pos="100000">
                <a:srgbClr val="FDFE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ounded Rectangle 432"/>
          <p:cNvSpPr/>
          <p:nvPr/>
        </p:nvSpPr>
        <p:spPr>
          <a:xfrm>
            <a:off x="9125712" y="7123176"/>
            <a:ext cx="100584" cy="256032"/>
          </a:xfrm>
          <a:prstGeom prst="roundRect">
            <a:avLst>
              <a:gd name="adj" fmla="val 27272"/>
            </a:avLst>
          </a:prstGeom>
          <a:ln>
            <a:noFill/>
          </a:ln>
          <a:gradFill>
            <a:gsLst>
              <a:gs pos="0">
                <a:srgbClr val="006ADD"/>
              </a:gs>
              <a:gs pos="100000">
                <a:srgbClr val="0730B2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文字 | 当前验证结果"/>
          <p:cNvSpPr txBox="1"/>
          <p:nvPr/>
        </p:nvSpPr>
        <p:spPr>
          <a:xfrm>
            <a:off x="9409176" y="7068312"/>
            <a:ext cx="5550408" cy="347472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2547"/>
              </a:lnSpc>
              <a:spcBef>
                <a:spcPts val="0"/>
              </a:spcBef>
              <a:spcAft>
                <a:spcPts val="0"/>
              </a:spcAft>
              <a:defRPr sz="2088" b="1">
                <a:solidFill>
                  <a:srgbClr val="073CA9"/>
                </a:solidFill>
                <a:latin typeface="Arial"/>
              </a:defRPr>
            </a:pPr>
            <a:r>
              <a:rPr>
                <a:ea typeface="Noto Sans CJK SC"/>
              </a:rPr>
              <a:t>当前验证结果</a:t>
            </a:r>
          </a:p>
        </p:txBody>
      </p:sp>
      <p:grpSp>
        <p:nvGrpSpPr>
          <p:cNvPr id="448" name="验证结果 | 工作流节点"/>
          <p:cNvGrpSpPr/>
          <p:nvPr/>
        </p:nvGrpSpPr>
        <p:grpSpPr>
          <a:xfrm>
            <a:off x="9043416" y="7479792"/>
            <a:ext cx="1289304" cy="667512"/>
            <a:chOff x="9043416" y="7479792"/>
            <a:chExt cx="1289304" cy="667512"/>
          </a:xfrm>
        </p:grpSpPr>
        <p:sp>
          <p:nvSpPr>
            <p:cNvPr id="435" name="Rounded Rectangle 434"/>
            <p:cNvSpPr/>
            <p:nvPr/>
          </p:nvSpPr>
          <p:spPr>
            <a:xfrm>
              <a:off x="9043416" y="7479792"/>
              <a:ext cx="1289304" cy="667512"/>
            </a:xfrm>
            <a:prstGeom prst="roundRect">
              <a:avLst>
                <a:gd name="adj" fmla="val 10958"/>
              </a:avLst>
            </a:prstGeom>
            <a:ln>
              <a:noFill/>
            </a:ln>
            <a:gradFill>
              <a:gsLst>
                <a:gs pos="0">
                  <a:srgbClr val="E7F5FF"/>
                </a:gs>
                <a:gs pos="100000">
                  <a:srgbClr val="E6F4FF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45" name="图标 | stategraph"/>
            <p:cNvGrpSpPr/>
            <p:nvPr/>
          </p:nvGrpSpPr>
          <p:grpSpPr>
            <a:xfrm>
              <a:off x="9168174" y="7668558"/>
              <a:ext cx="280835" cy="285978"/>
              <a:chOff x="9168174" y="7668558"/>
              <a:chExt cx="280835" cy="285978"/>
            </a:xfrm>
          </p:grpSpPr>
          <p:cxnSp>
            <p:nvCxnSpPr>
              <p:cNvPr id="436" name="矢量线"/>
              <p:cNvCxnSpPr/>
              <p:nvPr/>
            </p:nvCxnSpPr>
            <p:spPr>
              <a:xfrm>
                <a:off x="9308592" y="7695819"/>
                <a:ext cx="0" cy="102870"/>
              </a:xfrm>
              <a:prstGeom prst="line">
                <a:avLst/>
              </a:prstGeom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矢量线"/>
              <p:cNvCxnSpPr/>
              <p:nvPr/>
            </p:nvCxnSpPr>
            <p:spPr>
              <a:xfrm>
                <a:off x="9195435" y="7839837"/>
                <a:ext cx="226314" cy="0"/>
              </a:xfrm>
              <a:prstGeom prst="line">
                <a:avLst/>
              </a:prstGeom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矢量线"/>
              <p:cNvCxnSpPr/>
              <p:nvPr/>
            </p:nvCxnSpPr>
            <p:spPr>
              <a:xfrm flipH="1">
                <a:off x="9195435" y="7798689"/>
                <a:ext cx="113157" cy="41148"/>
              </a:xfrm>
              <a:prstGeom prst="line">
                <a:avLst/>
              </a:prstGeom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矢量线"/>
              <p:cNvCxnSpPr/>
              <p:nvPr/>
            </p:nvCxnSpPr>
            <p:spPr>
              <a:xfrm>
                <a:off x="9308592" y="7798689"/>
                <a:ext cx="113157" cy="41148"/>
              </a:xfrm>
              <a:prstGeom prst="line">
                <a:avLst/>
              </a:prstGeom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矢量线"/>
              <p:cNvCxnSpPr/>
              <p:nvPr/>
            </p:nvCxnSpPr>
            <p:spPr>
              <a:xfrm>
                <a:off x="9308592" y="7839837"/>
                <a:ext cx="0" cy="92583"/>
              </a:xfrm>
              <a:prstGeom prst="line">
                <a:avLst/>
              </a:prstGeom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1" name="Oval 440"/>
              <p:cNvSpPr/>
              <p:nvPr/>
            </p:nvSpPr>
            <p:spPr>
              <a:xfrm>
                <a:off x="9281331" y="7668558"/>
                <a:ext cx="54521" cy="54521"/>
              </a:xfrm>
              <a:prstGeom prst="ellipse">
                <a:avLst/>
              </a:prstGeom>
              <a:solidFill>
                <a:srgbClr val="FFFFFF"/>
              </a:solidFill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Oval 441"/>
              <p:cNvSpPr/>
              <p:nvPr/>
            </p:nvSpPr>
            <p:spPr>
              <a:xfrm>
                <a:off x="9168174" y="7812576"/>
                <a:ext cx="54521" cy="54521"/>
              </a:xfrm>
              <a:prstGeom prst="ellipse">
                <a:avLst/>
              </a:prstGeom>
              <a:solidFill>
                <a:srgbClr val="FFFFFF"/>
              </a:solidFill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Oval 442"/>
              <p:cNvSpPr/>
              <p:nvPr/>
            </p:nvSpPr>
            <p:spPr>
              <a:xfrm>
                <a:off x="9394488" y="7812576"/>
                <a:ext cx="54521" cy="54521"/>
              </a:xfrm>
              <a:prstGeom prst="ellipse">
                <a:avLst/>
              </a:prstGeom>
              <a:solidFill>
                <a:srgbClr val="FFFFFF"/>
              </a:solidFill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Oval 443"/>
              <p:cNvSpPr/>
              <p:nvPr/>
            </p:nvSpPr>
            <p:spPr>
              <a:xfrm>
                <a:off x="9281331" y="7900015"/>
                <a:ext cx="54521" cy="54521"/>
              </a:xfrm>
              <a:prstGeom prst="ellipse">
                <a:avLst/>
              </a:prstGeom>
              <a:solidFill>
                <a:srgbClr val="FFFFFF"/>
              </a:solidFill>
              <a:ln w="18002" cap="rnd">
                <a:solidFill>
                  <a:srgbClr val="006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46" name="文字 | 6"/>
            <p:cNvSpPr txBox="1"/>
            <p:nvPr/>
          </p:nvSpPr>
          <p:spPr>
            <a:xfrm>
              <a:off x="9500616" y="7498079"/>
              <a:ext cx="768096" cy="39319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2986"/>
                </a:lnSpc>
                <a:spcBef>
                  <a:spcPts val="0"/>
                </a:spcBef>
                <a:spcAft>
                  <a:spcPts val="0"/>
                </a:spcAft>
                <a:defRPr sz="2448" b="1">
                  <a:solidFill>
                    <a:srgbClr val="006FFF"/>
                  </a:solidFill>
                  <a:latin typeface="Arial"/>
                </a:defRPr>
              </a:pPr>
              <a:r>
                <a:rPr>
                  <a:ea typeface="Noto Sans CJK SC"/>
                </a:rPr>
                <a:t>6</a:t>
              </a:r>
            </a:p>
          </p:txBody>
        </p:sp>
        <p:sp>
          <p:nvSpPr>
            <p:cNvPr id="447" name="文字 | 工作流节点"/>
            <p:cNvSpPr txBox="1"/>
            <p:nvPr/>
          </p:nvSpPr>
          <p:spPr>
            <a:xfrm>
              <a:off x="9445752" y="7882127"/>
              <a:ext cx="859536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23"/>
                </a:lnSpc>
                <a:spcBef>
                  <a:spcPts val="0"/>
                </a:spcBef>
                <a:spcAft>
                  <a:spcPts val="0"/>
                </a:spcAft>
                <a:defRPr sz="116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工作流节点</a:t>
              </a:r>
            </a:p>
          </p:txBody>
        </p:sp>
      </p:grpSp>
      <p:grpSp>
        <p:nvGrpSpPr>
          <p:cNvPr id="455" name="验证结果 | 自动化测试通过"/>
          <p:cNvGrpSpPr/>
          <p:nvPr/>
        </p:nvGrpSpPr>
        <p:grpSpPr>
          <a:xfrm>
            <a:off x="10424160" y="7479792"/>
            <a:ext cx="1490472" cy="667512"/>
            <a:chOff x="10424160" y="7479792"/>
            <a:chExt cx="1490472" cy="667512"/>
          </a:xfrm>
        </p:grpSpPr>
        <p:sp>
          <p:nvSpPr>
            <p:cNvPr id="449" name="Rounded Rectangle 448"/>
            <p:cNvSpPr/>
            <p:nvPr/>
          </p:nvSpPr>
          <p:spPr>
            <a:xfrm>
              <a:off x="10424160" y="7479792"/>
              <a:ext cx="1490472" cy="667512"/>
            </a:xfrm>
            <a:prstGeom prst="roundRect">
              <a:avLst>
                <a:gd name="adj" fmla="val 10958"/>
              </a:avLst>
            </a:prstGeom>
            <a:ln>
              <a:noFill/>
            </a:ln>
            <a:gradFill>
              <a:gsLst>
                <a:gs pos="0">
                  <a:srgbClr val="EAFFF0"/>
                </a:gs>
                <a:gs pos="100000">
                  <a:srgbClr val="DFF6E6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52" name="图标 | tick"/>
            <p:cNvGrpSpPr/>
            <p:nvPr/>
          </p:nvGrpSpPr>
          <p:grpSpPr>
            <a:xfrm>
              <a:off x="10545318" y="7664958"/>
              <a:ext cx="288036" cy="288036"/>
              <a:chOff x="10545318" y="7664958"/>
              <a:chExt cx="288036" cy="288036"/>
            </a:xfrm>
          </p:grpSpPr>
          <p:sp>
            <p:nvSpPr>
              <p:cNvPr id="450" name="Oval 449"/>
              <p:cNvSpPr/>
              <p:nvPr/>
            </p:nvSpPr>
            <p:spPr>
              <a:xfrm>
                <a:off x="10545318" y="7664958"/>
                <a:ext cx="288036" cy="288036"/>
              </a:xfrm>
              <a:prstGeom prst="ellipse">
                <a:avLst/>
              </a:prstGeom>
              <a:solidFill>
                <a:srgbClr val="008B3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Freeform 450"/>
              <p:cNvSpPr/>
              <p:nvPr/>
            </p:nvSpPr>
            <p:spPr>
              <a:xfrm>
                <a:off x="10561096" y="7720258"/>
                <a:ext cx="153608" cy="107471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181">
                    <a:moveTo>
                      <a:pt x="0" y="618"/>
                    </a:moveTo>
                    <a:lnTo>
                      <a:pt x="563" y="1181"/>
                    </a:lnTo>
                    <a:lnTo>
                      <a:pt x="1688" y="0"/>
                    </a:lnTo>
                    <a:close/>
                  </a:path>
                </a:pathLst>
              </a:custGeom>
              <a:noFill/>
              <a:ln w="25717" cap="rnd">
                <a:solidFill>
                  <a:srgbClr val="FFFFF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53" name="文字 | 86"/>
            <p:cNvSpPr txBox="1"/>
            <p:nvPr/>
          </p:nvSpPr>
          <p:spPr>
            <a:xfrm>
              <a:off x="10881360" y="7498079"/>
              <a:ext cx="969264" cy="39319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2986"/>
                </a:lnSpc>
                <a:spcBef>
                  <a:spcPts val="0"/>
                </a:spcBef>
                <a:spcAft>
                  <a:spcPts val="0"/>
                </a:spcAft>
                <a:defRPr sz="2448" b="1">
                  <a:solidFill>
                    <a:srgbClr val="008B35"/>
                  </a:solidFill>
                  <a:latin typeface="Arial"/>
                </a:defRPr>
              </a:pPr>
              <a:r>
                <a:rPr>
                  <a:ea typeface="Noto Sans CJK SC"/>
                </a:rPr>
                <a:t>86</a:t>
              </a:r>
            </a:p>
          </p:txBody>
        </p:sp>
        <p:sp>
          <p:nvSpPr>
            <p:cNvPr id="454" name="文字 | 自动化测试通过"/>
            <p:cNvSpPr txBox="1"/>
            <p:nvPr/>
          </p:nvSpPr>
          <p:spPr>
            <a:xfrm>
              <a:off x="10826496" y="7882127"/>
              <a:ext cx="1060704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17"/>
                </a:lnSpc>
                <a:spcBef>
                  <a:spcPts val="0"/>
                </a:spcBef>
                <a:spcAft>
                  <a:spcPts val="0"/>
                </a:spcAft>
                <a:defRPr sz="1162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自动化测试通过</a:t>
              </a:r>
            </a:p>
          </p:txBody>
        </p:sp>
      </p:grpSp>
      <p:grpSp>
        <p:nvGrpSpPr>
          <p:cNvPr id="465" name="验证结果 | 失败"/>
          <p:cNvGrpSpPr/>
          <p:nvPr/>
        </p:nvGrpSpPr>
        <p:grpSpPr>
          <a:xfrm>
            <a:off x="12015216" y="7479792"/>
            <a:ext cx="1353312" cy="667512"/>
            <a:chOff x="12015216" y="7479792"/>
            <a:chExt cx="1353312" cy="667512"/>
          </a:xfrm>
        </p:grpSpPr>
        <p:sp>
          <p:nvSpPr>
            <p:cNvPr id="456" name="Rounded Rectangle 455"/>
            <p:cNvSpPr/>
            <p:nvPr/>
          </p:nvSpPr>
          <p:spPr>
            <a:xfrm>
              <a:off x="12015216" y="7479792"/>
              <a:ext cx="1353312" cy="667512"/>
            </a:xfrm>
            <a:prstGeom prst="roundRect">
              <a:avLst>
                <a:gd name="adj" fmla="val 10958"/>
              </a:avLst>
            </a:prstGeom>
            <a:ln>
              <a:noFill/>
            </a:ln>
            <a:gradFill>
              <a:gsLst>
                <a:gs pos="0">
                  <a:srgbClr val="FFECEF"/>
                </a:gs>
                <a:gs pos="100000">
                  <a:srgbClr val="FFE4E9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60" name="图标 | cross"/>
            <p:cNvGrpSpPr/>
            <p:nvPr/>
          </p:nvGrpSpPr>
          <p:grpSpPr>
            <a:xfrm>
              <a:off x="12136374" y="7664958"/>
              <a:ext cx="288036" cy="288036"/>
              <a:chOff x="12136374" y="7664958"/>
              <a:chExt cx="288036" cy="288036"/>
            </a:xfrm>
          </p:grpSpPr>
          <p:sp>
            <p:nvSpPr>
              <p:cNvPr id="457" name="Oval 456"/>
              <p:cNvSpPr/>
              <p:nvPr/>
            </p:nvSpPr>
            <p:spPr>
              <a:xfrm>
                <a:off x="12136374" y="7664958"/>
                <a:ext cx="288036" cy="288036"/>
              </a:xfrm>
              <a:prstGeom prst="ellipse">
                <a:avLst/>
              </a:prstGeom>
              <a:solidFill>
                <a:srgbClr val="C6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58" name="矢量线"/>
              <p:cNvCxnSpPr/>
              <p:nvPr/>
            </p:nvCxnSpPr>
            <p:spPr>
              <a:xfrm>
                <a:off x="12234100" y="7757541"/>
                <a:ext cx="102870" cy="108013"/>
              </a:xfrm>
              <a:prstGeom prst="line">
                <a:avLst/>
              </a:prstGeom>
              <a:ln w="25717" cap="rnd">
                <a:solidFill>
                  <a:srgbClr val="C60000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矢量线"/>
              <p:cNvCxnSpPr/>
              <p:nvPr/>
            </p:nvCxnSpPr>
            <p:spPr>
              <a:xfrm flipH="1">
                <a:off x="12234100" y="7757541"/>
                <a:ext cx="102870" cy="108013"/>
              </a:xfrm>
              <a:prstGeom prst="line">
                <a:avLst/>
              </a:prstGeom>
              <a:ln w="25717" cap="rnd">
                <a:solidFill>
                  <a:srgbClr val="C60000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1" name="矢量线"/>
            <p:cNvCxnSpPr/>
            <p:nvPr/>
          </p:nvCxnSpPr>
          <p:spPr>
            <a:xfrm>
              <a:off x="12225528" y="7754112"/>
              <a:ext cx="128016" cy="128015"/>
            </a:xfrm>
            <a:prstGeom prst="line">
              <a:avLst/>
            </a:prstGeom>
            <a:ln w="23774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矢量线"/>
            <p:cNvCxnSpPr/>
            <p:nvPr/>
          </p:nvCxnSpPr>
          <p:spPr>
            <a:xfrm flipH="1">
              <a:off x="12225528" y="7754112"/>
              <a:ext cx="128016" cy="128015"/>
            </a:xfrm>
            <a:prstGeom prst="line">
              <a:avLst/>
            </a:prstGeom>
            <a:ln w="23774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文字 | 0"/>
            <p:cNvSpPr txBox="1"/>
            <p:nvPr/>
          </p:nvSpPr>
          <p:spPr>
            <a:xfrm>
              <a:off x="12472416" y="7498079"/>
              <a:ext cx="832104" cy="39319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2986"/>
                </a:lnSpc>
                <a:spcBef>
                  <a:spcPts val="0"/>
                </a:spcBef>
                <a:spcAft>
                  <a:spcPts val="0"/>
                </a:spcAft>
                <a:defRPr sz="2448" b="1">
                  <a:solidFill>
                    <a:srgbClr val="C60000"/>
                  </a:solidFill>
                  <a:latin typeface="Arial"/>
                </a:defRPr>
              </a:pPr>
              <a:r>
                <a:rPr>
                  <a:ea typeface="Noto Sans CJK SC"/>
                </a:rPr>
                <a:t>0</a:t>
              </a:r>
            </a:p>
          </p:txBody>
        </p:sp>
        <p:sp>
          <p:nvSpPr>
            <p:cNvPr id="464" name="文字 | 失败"/>
            <p:cNvSpPr txBox="1"/>
            <p:nvPr/>
          </p:nvSpPr>
          <p:spPr>
            <a:xfrm>
              <a:off x="12417552" y="7882127"/>
              <a:ext cx="923544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23"/>
                </a:lnSpc>
                <a:spcBef>
                  <a:spcPts val="0"/>
                </a:spcBef>
                <a:spcAft>
                  <a:spcPts val="0"/>
                </a:spcAft>
                <a:defRPr sz="1166" b="0">
                  <a:solidFill>
                    <a:srgbClr val="C60000"/>
                  </a:solidFill>
                  <a:latin typeface="Arial"/>
                </a:defRPr>
              </a:pPr>
              <a:r>
                <a:rPr>
                  <a:ea typeface="Noto Sans CJK SC"/>
                </a:rPr>
                <a:t>失败</a:t>
              </a:r>
            </a:p>
          </p:txBody>
        </p:sp>
      </p:grpSp>
      <p:grpSp>
        <p:nvGrpSpPr>
          <p:cNvPr id="472" name="验证结果 | 子测试通过"/>
          <p:cNvGrpSpPr/>
          <p:nvPr/>
        </p:nvGrpSpPr>
        <p:grpSpPr>
          <a:xfrm>
            <a:off x="13450824" y="7479792"/>
            <a:ext cx="1490472" cy="667512"/>
            <a:chOff x="13450824" y="7479792"/>
            <a:chExt cx="1490472" cy="667512"/>
          </a:xfrm>
        </p:grpSpPr>
        <p:sp>
          <p:nvSpPr>
            <p:cNvPr id="466" name="Rounded Rectangle 465"/>
            <p:cNvSpPr/>
            <p:nvPr/>
          </p:nvSpPr>
          <p:spPr>
            <a:xfrm>
              <a:off x="13450824" y="7479792"/>
              <a:ext cx="1490472" cy="667512"/>
            </a:xfrm>
            <a:prstGeom prst="roundRect">
              <a:avLst>
                <a:gd name="adj" fmla="val 10958"/>
              </a:avLst>
            </a:prstGeom>
            <a:ln>
              <a:noFill/>
            </a:ln>
            <a:gradFill>
              <a:gsLst>
                <a:gs pos="0">
                  <a:srgbClr val="F3ECFF"/>
                </a:gs>
                <a:gs pos="100000">
                  <a:srgbClr val="ECE4FF"/>
                </a:gs>
              </a:gsLst>
              <a:lin ang="5400000" scaled="1"/>
            </a:gra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69" name="图标 | flask"/>
            <p:cNvGrpSpPr/>
            <p:nvPr/>
          </p:nvGrpSpPr>
          <p:grpSpPr>
            <a:xfrm>
              <a:off x="13552721" y="7633171"/>
              <a:ext cx="194558" cy="276458"/>
              <a:chOff x="13552721" y="7633171"/>
              <a:chExt cx="194558" cy="276458"/>
            </a:xfrm>
          </p:grpSpPr>
          <p:sp>
            <p:nvSpPr>
              <p:cNvPr id="467" name="Freeform 466"/>
              <p:cNvSpPr/>
              <p:nvPr/>
            </p:nvSpPr>
            <p:spPr>
              <a:xfrm>
                <a:off x="13552721" y="7633171"/>
                <a:ext cx="194558" cy="276458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038">
                    <a:moveTo>
                      <a:pt x="563" y="0"/>
                    </a:moveTo>
                    <a:lnTo>
                      <a:pt x="1575" y="0"/>
                    </a:lnTo>
                    <a:lnTo>
                      <a:pt x="1575" y="281"/>
                    </a:lnTo>
                    <a:lnTo>
                      <a:pt x="1350" y="281"/>
                    </a:lnTo>
                    <a:lnTo>
                      <a:pt x="1350" y="1350"/>
                    </a:lnTo>
                    <a:lnTo>
                      <a:pt x="2138" y="2700"/>
                    </a:lnTo>
                    <a:lnTo>
                      <a:pt x="2081" y="3038"/>
                    </a:lnTo>
                    <a:lnTo>
                      <a:pt x="57" y="3038"/>
                    </a:lnTo>
                    <a:lnTo>
                      <a:pt x="0" y="2700"/>
                    </a:lnTo>
                    <a:lnTo>
                      <a:pt x="788" y="1350"/>
                    </a:lnTo>
                    <a:lnTo>
                      <a:pt x="788" y="281"/>
                    </a:lnTo>
                    <a:lnTo>
                      <a:pt x="563" y="281"/>
                    </a:lnTo>
                    <a:lnTo>
                      <a:pt x="5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16459" cap="rnd">
                <a:solidFill>
                  <a:srgbClr val="4F0BD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Freeform 467"/>
              <p:cNvSpPr/>
              <p:nvPr/>
            </p:nvSpPr>
            <p:spPr>
              <a:xfrm>
                <a:off x="13563004" y="7812350"/>
                <a:ext cx="173992" cy="76804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844">
                    <a:moveTo>
                      <a:pt x="450" y="0"/>
                    </a:moveTo>
                    <a:lnTo>
                      <a:pt x="1462" y="0"/>
                    </a:lnTo>
                    <a:lnTo>
                      <a:pt x="1912" y="844"/>
                    </a:lnTo>
                    <a:lnTo>
                      <a:pt x="0" y="844"/>
                    </a:lnTo>
                    <a:close/>
                  </a:path>
                </a:pathLst>
              </a:custGeom>
              <a:solidFill>
                <a:srgbClr val="4F0BD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70" name="文字 | 4"/>
            <p:cNvSpPr txBox="1"/>
            <p:nvPr/>
          </p:nvSpPr>
          <p:spPr>
            <a:xfrm>
              <a:off x="13908024" y="7498079"/>
              <a:ext cx="969264" cy="393192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2986"/>
                </a:lnSpc>
                <a:spcBef>
                  <a:spcPts val="0"/>
                </a:spcBef>
                <a:spcAft>
                  <a:spcPts val="0"/>
                </a:spcAft>
                <a:defRPr sz="2448" b="1">
                  <a:solidFill>
                    <a:srgbClr val="4F0BD6"/>
                  </a:solidFill>
                  <a:latin typeface="Arial"/>
                </a:defRPr>
              </a:pPr>
              <a:r>
                <a:rPr>
                  <a:ea typeface="Noto Sans CJK SC"/>
                </a:rPr>
                <a:t>4</a:t>
              </a:r>
            </a:p>
          </p:txBody>
        </p:sp>
        <p:sp>
          <p:nvSpPr>
            <p:cNvPr id="471" name="文字 | 子测试通过"/>
            <p:cNvSpPr txBox="1"/>
            <p:nvPr/>
          </p:nvSpPr>
          <p:spPr>
            <a:xfrm>
              <a:off x="13853160" y="7882127"/>
              <a:ext cx="1060704" cy="228600"/>
            </a:xfrm>
            <a:prstGeom prst="rect">
              <a:avLst/>
            </a:prstGeom>
            <a:noFill/>
            <a:effectLst/>
          </p:spPr>
          <p:txBody>
            <a:bodyPr wrap="none" horzOverflow="overflow" vertOverflow="overflow" lIns="0" rIns="0" tIns="0" bIns="0" anchor="t">
              <a:noAutofit/>
            </a:bodyPr>
            <a:lstStyle/>
            <a:p>
              <a:pPr algn="ctr">
                <a:lnSpc>
                  <a:spcPts val="1423"/>
                </a:lnSpc>
                <a:spcBef>
                  <a:spcPts val="0"/>
                </a:spcBef>
                <a:spcAft>
                  <a:spcPts val="0"/>
                </a:spcAft>
                <a:defRPr sz="1166" b="0">
                  <a:solidFill>
                    <a:srgbClr val="1A326B"/>
                  </a:solidFill>
                  <a:latin typeface="Arial"/>
                </a:defRPr>
              </a:pPr>
              <a:r>
                <a:rPr>
                  <a:ea typeface="Noto Sans CJK SC"/>
                </a:rPr>
                <a:t>子测试通过</a:t>
              </a:r>
            </a:p>
          </p:txBody>
        </p:sp>
      </p:grpSp>
      <p:sp>
        <p:nvSpPr>
          <p:cNvPr id="473" name="文字 | 当前验证：离线 demo 与自动化测试通过；真实工具回放与科学决策引擎集成待完成。"/>
          <p:cNvSpPr txBox="1"/>
          <p:nvPr/>
        </p:nvSpPr>
        <p:spPr>
          <a:xfrm>
            <a:off x="9070848" y="8229600"/>
            <a:ext cx="5861304" cy="219456"/>
          </a:xfrm>
          <a:prstGeom prst="rect">
            <a:avLst/>
          </a:prstGeom>
          <a:noFill/>
          <a:effectLst/>
        </p:spPr>
        <p:txBody>
          <a:bodyPr wrap="none" horzOverflow="overflow" vertOverflow="overflow" lIns="0" rIns="0" tIns="0" bIns="0" anchor="t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9" b="0">
                <a:solidFill>
                  <a:srgbClr val="304881"/>
                </a:solidFill>
                <a:latin typeface="Arial"/>
              </a:defRPr>
            </a:pPr>
            <a:r>
              <a:rPr>
                <a:ea typeface="Noto Sans CJK SC"/>
              </a:rPr>
              <a:t>当前验证：离线 demo 与自动化测试通过；真实工具回放与科学决策引擎集成待完成。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EGFR 多源证据驱动的药物候选评估 Agent</dc:title>
  <dc:subject>基于 LangGraph 的有状态工作流编排与可追溯决策原型</dc:subject>
  <dc:creator/>
  <cp:keywords/>
  <dc:description>根据用户参考图重建；文本、图标、流程、示意图表均为原生可编辑对象。结构插图复用此前对应资产；图表仅复刻外观。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