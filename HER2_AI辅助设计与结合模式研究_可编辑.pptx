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HER2靶向结合肽截图重建。标题、文字、编号、流程框、箭头、结构标注、ipTM/pTM指标表及问题分析均为原生可编辑对象。HER2分子表面、蛋白骨架、结合模式、放大图和热图由AI按参考截图外观复刻，为可替换图片，并非原图像素或可验证的原始结构/接触数据。热图未恢复原始数值。ipTM 0.81、pTM 0.84、Binder length 89 aa、Interface residues 23及表位260/262/264、107–171均按截图录入，未做外部科学核验。参考截图流程第4步卡片的标题存在重叠，重建稿使用可辨识的Evaluate &amp; Redesign标题。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88767" cy="8604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82296"/>
            <a:ext cx="987552" cy="612648"/>
          </a:xfrm>
          <a:custGeom>
            <a:avLst/>
            <a:gdLst/>
            <a:ahLst/>
            <a:cxnLst/>
            <a:rect l="l" t="t" r="r" b="b"/>
            <a:pathLst>
              <a:path w="108" h="67">
                <a:moveTo>
                  <a:pt x="0" y="0"/>
                </a:moveTo>
                <a:lnTo>
                  <a:pt x="108" y="0"/>
                </a:lnTo>
                <a:lnTo>
                  <a:pt x="88" y="67"/>
                </a:lnTo>
                <a:lnTo>
                  <a:pt x="0" y="67"/>
                </a:lnTo>
                <a:close/>
              </a:path>
            </a:pathLst>
          </a:custGeom>
          <a:solidFill>
            <a:srgbClr val="C7E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82296"/>
            <a:ext cx="868680" cy="539496"/>
          </a:xfrm>
          <a:custGeom>
            <a:avLst/>
            <a:gdLst/>
            <a:ahLst/>
            <a:cxnLst/>
            <a:rect l="l" t="t" r="r" b="b"/>
            <a:pathLst>
              <a:path w="95" h="59">
                <a:moveTo>
                  <a:pt x="0" y="0"/>
                </a:moveTo>
                <a:lnTo>
                  <a:pt x="95" y="0"/>
                </a:lnTo>
                <a:lnTo>
                  <a:pt x="77" y="59"/>
                </a:lnTo>
                <a:lnTo>
                  <a:pt x="0" y="59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003481"/>
              </a:gs>
              <a:gs pos="100000">
                <a:srgbClr val="3B84C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3/4"/>
          <p:cNvSpPr txBox="1"/>
          <p:nvPr/>
        </p:nvSpPr>
        <p:spPr>
          <a:xfrm>
            <a:off x="164592" y="164592"/>
            <a:ext cx="50292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3/4</a:t>
            </a:r>
          </a:p>
        </p:txBody>
      </p:sp>
      <p:sp>
        <p:nvSpPr>
          <p:cNvPr id="6" name="HER2 靶向结合肽 AI辅助设计与结合模式研究"/>
          <p:cNvSpPr txBox="1"/>
          <p:nvPr/>
        </p:nvSpPr>
        <p:spPr>
          <a:xfrm>
            <a:off x="1133856" y="91440"/>
            <a:ext cx="9747504" cy="585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8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HER2 靶向结合肽 AI辅助设计与结合模式研究</a:t>
            </a:r>
          </a:p>
        </p:txBody>
      </p:sp>
      <p:sp>
        <p:nvSpPr>
          <p:cNvPr id="7" name="AI-Driven Design of HER2-Targeted Binding Peptides and Binding Mode Analysis"/>
          <p:cNvSpPr txBox="1"/>
          <p:nvPr/>
        </p:nvSpPr>
        <p:spPr>
          <a:xfrm>
            <a:off x="11247120" y="137160"/>
            <a:ext cx="3858768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67728E"/>
                </a:solidFill>
                <a:latin typeface="Noto Sans CJK SC"/>
              </a:defRPr>
            </a:pPr>
            <a:r>
              <a:rPr>
                <a:ea typeface="Noto Sans CJK SC"/>
              </a:rPr>
              <a:t>AI-Driven Design of HER2-Targeted Binding Peptides</a:t>
            </a:r>
          </a:p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67728E"/>
                </a:solidFill>
                <a:latin typeface="Noto Sans CJK SC"/>
              </a:defRPr>
            </a:pPr>
            <a:r>
              <a:rPr>
                <a:ea typeface="Noto Sans CJK SC"/>
              </a:rPr>
              <a:t>and Binding Mode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"/>
            <a:ext cx="15288767" cy="27432"/>
          </a:xfrm>
          <a:prstGeom prst="rect">
            <a:avLst/>
          </a:prstGeom>
          <a:ln>
            <a:noFill/>
          </a:ln>
          <a:gradFill>
            <a:gsLst>
              <a:gs pos="0">
                <a:srgbClr val="D8E8F6"/>
              </a:gs>
              <a:gs pos="100000">
                <a:srgbClr val="83B7F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2" y="914400"/>
            <a:ext cx="5852160" cy="2825496"/>
          </a:xfrm>
          <a:prstGeom prst="roundRect">
            <a:avLst>
              <a:gd name="adj" fmla="val 2800"/>
            </a:avLst>
          </a:prstGeom>
          <a:solidFill>
            <a:srgbClr val="FAFDFF"/>
          </a:solidFill>
          <a:ln w="8890">
            <a:solidFill>
              <a:srgbClr val="E7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4592" y="914400"/>
            <a:ext cx="5852160" cy="420624"/>
          </a:xfrm>
          <a:prstGeom prst="roundRect">
            <a:avLst>
              <a:gd name="adj" fmla="val 6000"/>
            </a:avLst>
          </a:prstGeom>
          <a:ln>
            <a:noFill/>
          </a:ln>
          <a:gradFill>
            <a:gsLst>
              <a:gs pos="0">
                <a:srgbClr val="DAEFFF"/>
              </a:gs>
              <a:gs pos="100000">
                <a:srgbClr val="F4FB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3736" y="960120"/>
            <a:ext cx="347472" cy="347472"/>
          </a:xfrm>
          <a:prstGeom prst="roundRect">
            <a:avLst>
              <a:gd name="adj" fmla="val 28000"/>
            </a:avLst>
          </a:prstGeom>
          <a:ln>
            <a:noFill/>
          </a:ln>
          <a:gradFill>
            <a:gsLst>
              <a:gs pos="0">
                <a:srgbClr val="71B9EB"/>
              </a:gs>
              <a:gs pos="100000">
                <a:srgbClr val="002D9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" y="1042415"/>
            <a:ext cx="182880" cy="182880"/>
          </a:xfrm>
          <a:prstGeom prst="ellipse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2608" y="1078992"/>
            <a:ext cx="109728" cy="109728"/>
          </a:xfrm>
          <a:prstGeom prst="ellipse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38328" y="1051560"/>
            <a:ext cx="91440" cy="9144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02336" y="1024128"/>
            <a:ext cx="54864" cy="73152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0" y="0"/>
                </a:moveTo>
                <a:lnTo>
                  <a:pt x="6" y="4"/>
                </a:lnTo>
                <a:lnTo>
                  <a:pt x="2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研究背景与目标"/>
          <p:cNvSpPr txBox="1"/>
          <p:nvPr/>
        </p:nvSpPr>
        <p:spPr>
          <a:xfrm>
            <a:off x="630936" y="1005840"/>
            <a:ext cx="533095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研究背景与目标</a:t>
            </a:r>
          </a:p>
        </p:txBody>
      </p:sp>
      <p:sp>
        <p:nvSpPr>
          <p:cNvPr id="17" name="Oval 16"/>
          <p:cNvSpPr/>
          <p:nvPr/>
        </p:nvSpPr>
        <p:spPr>
          <a:xfrm>
            <a:off x="384048" y="1627632"/>
            <a:ext cx="82296" cy="82296"/>
          </a:xfrm>
          <a:prstGeom prst="ellipse">
            <a:avLst/>
          </a:prstGeom>
          <a:solidFill>
            <a:srgbClr val="002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R2 是乳腺癌的重要治疗靶点， 开发高亲和力、高特异性的结合肽 具有重要的应用价值。"/>
          <p:cNvSpPr txBox="1"/>
          <p:nvPr/>
        </p:nvSpPr>
        <p:spPr>
          <a:xfrm>
            <a:off x="612648" y="1536192"/>
            <a:ext cx="278892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HER2 是乳腺癌的重要治疗靶点，</a:t>
            </a: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开发高亲和力、高特异性的结合肽</a:t>
            </a: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具有重要的应用价值。</a:t>
            </a:r>
          </a:p>
        </p:txBody>
      </p:sp>
      <p:sp>
        <p:nvSpPr>
          <p:cNvPr id="19" name="Oval 18"/>
          <p:cNvSpPr/>
          <p:nvPr/>
        </p:nvSpPr>
        <p:spPr>
          <a:xfrm>
            <a:off x="384048" y="2505456"/>
            <a:ext cx="82296" cy="82296"/>
          </a:xfrm>
          <a:prstGeom prst="ellipse">
            <a:avLst/>
          </a:prstGeom>
          <a:solidFill>
            <a:srgbClr val="002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基于AI结构生成与预测，设计靶向 HER2 260/262/264 表位的结合肽， 并解析其结合模式，为后续优化 提供结构依据。"/>
          <p:cNvSpPr txBox="1"/>
          <p:nvPr/>
        </p:nvSpPr>
        <p:spPr>
          <a:xfrm>
            <a:off x="612648" y="2414016"/>
            <a:ext cx="2788920" cy="1106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基于AI结构生成与预测，设计靶向</a:t>
            </a: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HER2 260/262/264 表位的结合肽，</a:t>
            </a: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并解析其结合模式，为后续优化</a:t>
            </a: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提供结构依据。</a:t>
            </a:r>
          </a:p>
        </p:txBody>
      </p:sp>
      <p:pic>
        <p:nvPicPr>
          <p:cNvPr id="21" name="HER2_ECD靶表位结构（参考图复刻，可替换）" descr="HER2_ECD靶表位结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53312"/>
            <a:ext cx="1837943" cy="2139696"/>
          </a:xfrm>
          <a:prstGeom prst="rect">
            <a:avLst/>
          </a:prstGeom>
        </p:spPr>
      </p:pic>
      <p:sp>
        <p:nvSpPr>
          <p:cNvPr id="22" name="Target epitope 260/262/264"/>
          <p:cNvSpPr txBox="1"/>
          <p:nvPr/>
        </p:nvSpPr>
        <p:spPr>
          <a:xfrm>
            <a:off x="4709160" y="1773936"/>
            <a:ext cx="1225296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E00000"/>
                </a:solidFill>
                <a:latin typeface="Noto Sans CJK SC"/>
              </a:defRPr>
            </a:pPr>
            <a:r>
              <a:rPr>
                <a:ea typeface="Noto Sans CJK SC"/>
              </a:rPr>
              <a:t>Target epitope</a:t>
            </a:r>
          </a:p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E00000"/>
                </a:solidFill>
                <a:latin typeface="Noto Sans CJK SC"/>
              </a:defRPr>
            </a:pPr>
            <a:r>
              <a:rPr>
                <a:ea typeface="Noto Sans CJK SC"/>
              </a:rPr>
              <a:t>260/262/264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334256" y="2212848"/>
            <a:ext cx="731520" cy="265176"/>
          </a:xfrm>
          <a:prstGeom prst="line">
            <a:avLst/>
          </a:prstGeom>
          <a:ln w="7620">
            <a:solidFill>
              <a:srgbClr val="E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4242816" y="2157984"/>
            <a:ext cx="429768" cy="54864"/>
          </a:xfrm>
          <a:prstGeom prst="line">
            <a:avLst/>
          </a:prstGeom>
          <a:ln w="7620">
            <a:solidFill>
              <a:srgbClr val="E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HER2 ECD"/>
          <p:cNvSpPr txBox="1"/>
          <p:nvPr/>
        </p:nvSpPr>
        <p:spPr>
          <a:xfrm>
            <a:off x="3703320" y="3465576"/>
            <a:ext cx="136245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HER2 ECD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914400"/>
            <a:ext cx="8887968" cy="2825496"/>
          </a:xfrm>
          <a:prstGeom prst="roundRect">
            <a:avLst>
              <a:gd name="adj" fmla="val 2800"/>
            </a:avLst>
          </a:prstGeom>
          <a:solidFill>
            <a:srgbClr val="FAFDFF"/>
          </a:solidFill>
          <a:ln w="8890">
            <a:solidFill>
              <a:srgbClr val="E7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914400"/>
            <a:ext cx="8887968" cy="420624"/>
          </a:xfrm>
          <a:prstGeom prst="roundRect">
            <a:avLst>
              <a:gd name="adj" fmla="val 6000"/>
            </a:avLst>
          </a:prstGeom>
          <a:ln>
            <a:noFill/>
          </a:ln>
          <a:gradFill>
            <a:gsLst>
              <a:gs pos="0">
                <a:srgbClr val="DAEFFF"/>
              </a:gs>
              <a:gs pos="100000">
                <a:srgbClr val="F4FB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7064" y="960120"/>
            <a:ext cx="347472" cy="347472"/>
          </a:xfrm>
          <a:prstGeom prst="roundRect">
            <a:avLst>
              <a:gd name="adj" fmla="val 28000"/>
            </a:avLst>
          </a:prstGeom>
          <a:ln>
            <a:noFill/>
          </a:ln>
          <a:gradFill>
            <a:gsLst>
              <a:gs pos="0">
                <a:srgbClr val="71B9EB"/>
              </a:gs>
              <a:gs pos="100000">
                <a:srgbClr val="002D9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6291072" y="102412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20" y="10"/>
                </a:moveTo>
                <a:lnTo>
                  <a:pt x="24" y="10"/>
                </a:lnTo>
                <a:lnTo>
                  <a:pt x="24" y="14"/>
                </a:lnTo>
                <a:lnTo>
                  <a:pt x="20" y="14"/>
                </a:lnTo>
                <a:lnTo>
                  <a:pt x="19" y="16"/>
                </a:lnTo>
                <a:lnTo>
                  <a:pt x="22" y="19"/>
                </a:lnTo>
                <a:lnTo>
                  <a:pt x="19" y="22"/>
                </a:lnTo>
                <a:lnTo>
                  <a:pt x="16" y="19"/>
                </a:lnTo>
                <a:lnTo>
                  <a:pt x="14" y="20"/>
                </a:lnTo>
                <a:lnTo>
                  <a:pt x="14" y="24"/>
                </a:lnTo>
                <a:lnTo>
                  <a:pt x="10" y="24"/>
                </a:lnTo>
                <a:lnTo>
                  <a:pt x="10" y="20"/>
                </a:lnTo>
                <a:lnTo>
                  <a:pt x="8" y="19"/>
                </a:lnTo>
                <a:lnTo>
                  <a:pt x="5" y="22"/>
                </a:lnTo>
                <a:lnTo>
                  <a:pt x="2" y="19"/>
                </a:lnTo>
                <a:lnTo>
                  <a:pt x="5" y="16"/>
                </a:lnTo>
                <a:lnTo>
                  <a:pt x="4" y="14"/>
                </a:lnTo>
                <a:lnTo>
                  <a:pt x="0" y="14"/>
                </a:lnTo>
                <a:lnTo>
                  <a:pt x="0" y="10"/>
                </a:lnTo>
                <a:lnTo>
                  <a:pt x="4" y="10"/>
                </a:lnTo>
                <a:lnTo>
                  <a:pt x="5" y="8"/>
                </a:lnTo>
                <a:lnTo>
                  <a:pt x="2" y="5"/>
                </a:lnTo>
                <a:lnTo>
                  <a:pt x="5" y="2"/>
                </a:lnTo>
                <a:lnTo>
                  <a:pt x="8" y="5"/>
                </a:lnTo>
                <a:lnTo>
                  <a:pt x="10" y="4"/>
                </a:lnTo>
                <a:lnTo>
                  <a:pt x="10" y="0"/>
                </a:lnTo>
                <a:lnTo>
                  <a:pt x="14" y="0"/>
                </a:lnTo>
                <a:lnTo>
                  <a:pt x="14" y="4"/>
                </a:lnTo>
                <a:lnTo>
                  <a:pt x="16" y="5"/>
                </a:lnTo>
                <a:lnTo>
                  <a:pt x="19" y="2"/>
                </a:lnTo>
                <a:lnTo>
                  <a:pt x="22" y="5"/>
                </a:lnTo>
                <a:lnTo>
                  <a:pt x="19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4" y="1097280"/>
            <a:ext cx="73152" cy="73152"/>
          </a:xfrm>
          <a:prstGeom prst="ellipse">
            <a:avLst/>
          </a:prstGeom>
          <a:solidFill>
            <a:srgbClr val="075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I 设计流程（Design → Predict → Evaluate → Redesign）"/>
          <p:cNvSpPr txBox="1"/>
          <p:nvPr/>
        </p:nvSpPr>
        <p:spPr>
          <a:xfrm>
            <a:off x="6684264" y="1005840"/>
            <a:ext cx="836676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AI 设计流程（Design → Predict → Evaluate → Redesign）</a:t>
            </a:r>
          </a:p>
        </p:txBody>
      </p:sp>
      <p:sp>
        <p:nvSpPr>
          <p:cNvPr id="32" name="Chevron 31"/>
          <p:cNvSpPr/>
          <p:nvPr/>
        </p:nvSpPr>
        <p:spPr>
          <a:xfrm>
            <a:off x="6217920" y="1362456"/>
            <a:ext cx="1984248" cy="530352"/>
          </a:xfrm>
          <a:prstGeom prst="chevron">
            <a:avLst>
              <a:gd name="adj" fmla="val 27000"/>
            </a:avLst>
          </a:prstGeom>
          <a:ln>
            <a:noFill/>
          </a:ln>
          <a:gradFill>
            <a:gsLst>
              <a:gs pos="0">
                <a:srgbClr val="AED7FA"/>
              </a:gs>
              <a:gs pos="100000">
                <a:srgbClr val="AFD9F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1463040"/>
            <a:ext cx="320040" cy="320040"/>
          </a:xfrm>
          <a:prstGeom prst="ellipse">
            <a:avLst/>
          </a:prstGeom>
          <a:ln>
            <a:noFill/>
          </a:ln>
          <a:gradFill>
            <a:gsLst>
              <a:gs pos="0">
                <a:srgbClr val="64B7E8"/>
              </a:gs>
              <a:gs pos="100000">
                <a:srgbClr val="03439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1"/>
          <p:cNvSpPr txBox="1"/>
          <p:nvPr/>
        </p:nvSpPr>
        <p:spPr>
          <a:xfrm>
            <a:off x="6409944" y="1472184"/>
            <a:ext cx="32004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</a:t>
            </a:r>
          </a:p>
        </p:txBody>
      </p:sp>
      <p:sp>
        <p:nvSpPr>
          <p:cNvPr id="35" name="Design"/>
          <p:cNvSpPr txBox="1"/>
          <p:nvPr/>
        </p:nvSpPr>
        <p:spPr>
          <a:xfrm>
            <a:off x="6949440" y="1408176"/>
            <a:ext cx="117957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Design</a:t>
            </a:r>
          </a:p>
        </p:txBody>
      </p:sp>
      <p:sp>
        <p:nvSpPr>
          <p:cNvPr id="36" name="骨架生成"/>
          <p:cNvSpPr txBox="1"/>
          <p:nvPr/>
        </p:nvSpPr>
        <p:spPr>
          <a:xfrm>
            <a:off x="6949440" y="1636776"/>
            <a:ext cx="117957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骨架生成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1901952"/>
            <a:ext cx="198424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890">
            <a:solidFill>
              <a:srgbClr val="B5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7064" y="1920240"/>
            <a:ext cx="1965960" cy="329184"/>
          </a:xfrm>
          <a:prstGeom prst="rect">
            <a:avLst/>
          </a:prstGeom>
          <a:ln>
            <a:noFill/>
          </a:ln>
          <a:gradFill>
            <a:gsLst>
              <a:gs pos="0">
                <a:srgbClr val="F4FBFF"/>
              </a:gs>
              <a:gs pos="100000">
                <a:srgbClr val="D9EEF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Fdiffusion"/>
          <p:cNvSpPr txBox="1"/>
          <p:nvPr/>
        </p:nvSpPr>
        <p:spPr>
          <a:xfrm>
            <a:off x="6291072" y="1947672"/>
            <a:ext cx="1837943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RFdiffusion</a:t>
            </a:r>
          </a:p>
        </p:txBody>
      </p:sp>
      <p:sp>
        <p:nvSpPr>
          <p:cNvPr id="40" name="Chevron 39"/>
          <p:cNvSpPr/>
          <p:nvPr/>
        </p:nvSpPr>
        <p:spPr>
          <a:xfrm>
            <a:off x="8403336" y="1362456"/>
            <a:ext cx="1984248" cy="530352"/>
          </a:xfrm>
          <a:prstGeom prst="chevron">
            <a:avLst>
              <a:gd name="adj" fmla="val 27000"/>
            </a:avLst>
          </a:prstGeom>
          <a:ln>
            <a:noFill/>
          </a:ln>
          <a:gradFill>
            <a:gsLst>
              <a:gs pos="0">
                <a:srgbClr val="AED7FA"/>
              </a:gs>
              <a:gs pos="100000">
                <a:srgbClr val="AFD9F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0" y="1463040"/>
            <a:ext cx="320040" cy="320040"/>
          </a:xfrm>
          <a:prstGeom prst="ellipse">
            <a:avLst/>
          </a:prstGeom>
          <a:ln>
            <a:noFill/>
          </a:ln>
          <a:gradFill>
            <a:gsLst>
              <a:gs pos="0">
                <a:srgbClr val="64B7E8"/>
              </a:gs>
              <a:gs pos="100000">
                <a:srgbClr val="03439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2"/>
          <p:cNvSpPr txBox="1"/>
          <p:nvPr/>
        </p:nvSpPr>
        <p:spPr>
          <a:xfrm>
            <a:off x="8595360" y="1472184"/>
            <a:ext cx="32004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</a:t>
            </a:r>
          </a:p>
        </p:txBody>
      </p:sp>
      <p:sp>
        <p:nvSpPr>
          <p:cNvPr id="43" name="Sequence"/>
          <p:cNvSpPr txBox="1"/>
          <p:nvPr/>
        </p:nvSpPr>
        <p:spPr>
          <a:xfrm>
            <a:off x="9134856" y="1408176"/>
            <a:ext cx="117957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Sequence</a:t>
            </a:r>
          </a:p>
        </p:txBody>
      </p:sp>
      <p:sp>
        <p:nvSpPr>
          <p:cNvPr id="44" name="序列设计"/>
          <p:cNvSpPr txBox="1"/>
          <p:nvPr/>
        </p:nvSpPr>
        <p:spPr>
          <a:xfrm>
            <a:off x="9134856" y="1636776"/>
            <a:ext cx="117957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序列设计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03336" y="1901952"/>
            <a:ext cx="198424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890">
            <a:solidFill>
              <a:srgbClr val="B5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12480" y="1920240"/>
            <a:ext cx="1965960" cy="329184"/>
          </a:xfrm>
          <a:prstGeom prst="rect">
            <a:avLst/>
          </a:prstGeom>
          <a:ln>
            <a:noFill/>
          </a:ln>
          <a:gradFill>
            <a:gsLst>
              <a:gs pos="0">
                <a:srgbClr val="F4FBFF"/>
              </a:gs>
              <a:gs pos="100000">
                <a:srgbClr val="D9EEF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roteinMPNN"/>
          <p:cNvSpPr txBox="1"/>
          <p:nvPr/>
        </p:nvSpPr>
        <p:spPr>
          <a:xfrm>
            <a:off x="8476488" y="1947672"/>
            <a:ext cx="1837943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ProteinMPNN</a:t>
            </a:r>
          </a:p>
        </p:txBody>
      </p:sp>
      <p:sp>
        <p:nvSpPr>
          <p:cNvPr id="48" name="Chevron 47"/>
          <p:cNvSpPr/>
          <p:nvPr/>
        </p:nvSpPr>
        <p:spPr>
          <a:xfrm>
            <a:off x="10597896" y="1362456"/>
            <a:ext cx="1984248" cy="530352"/>
          </a:xfrm>
          <a:prstGeom prst="chevron">
            <a:avLst>
              <a:gd name="adj" fmla="val 27000"/>
            </a:avLst>
          </a:prstGeom>
          <a:ln>
            <a:noFill/>
          </a:ln>
          <a:gradFill>
            <a:gsLst>
              <a:gs pos="0">
                <a:srgbClr val="AED7FA"/>
              </a:gs>
              <a:gs pos="100000">
                <a:srgbClr val="AFD9F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89920" y="1463040"/>
            <a:ext cx="320040" cy="320040"/>
          </a:xfrm>
          <a:prstGeom prst="ellipse">
            <a:avLst/>
          </a:prstGeom>
          <a:ln>
            <a:noFill/>
          </a:ln>
          <a:gradFill>
            <a:gsLst>
              <a:gs pos="0">
                <a:srgbClr val="64B7E8"/>
              </a:gs>
              <a:gs pos="100000">
                <a:srgbClr val="03439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3"/>
          <p:cNvSpPr txBox="1"/>
          <p:nvPr/>
        </p:nvSpPr>
        <p:spPr>
          <a:xfrm>
            <a:off x="10789920" y="1472184"/>
            <a:ext cx="32004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3</a:t>
            </a:r>
          </a:p>
        </p:txBody>
      </p:sp>
      <p:sp>
        <p:nvSpPr>
          <p:cNvPr id="51" name="Predict"/>
          <p:cNvSpPr txBox="1"/>
          <p:nvPr/>
        </p:nvSpPr>
        <p:spPr>
          <a:xfrm>
            <a:off x="11329416" y="1408176"/>
            <a:ext cx="117957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Predict</a:t>
            </a:r>
          </a:p>
        </p:txBody>
      </p:sp>
      <p:sp>
        <p:nvSpPr>
          <p:cNvPr id="52" name="结构预测"/>
          <p:cNvSpPr txBox="1"/>
          <p:nvPr/>
        </p:nvSpPr>
        <p:spPr>
          <a:xfrm>
            <a:off x="11329416" y="1636776"/>
            <a:ext cx="117957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结构预测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97896" y="1901952"/>
            <a:ext cx="198424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890">
            <a:solidFill>
              <a:srgbClr val="B5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607040" y="1920240"/>
            <a:ext cx="1965960" cy="329184"/>
          </a:xfrm>
          <a:prstGeom prst="rect">
            <a:avLst/>
          </a:prstGeom>
          <a:ln>
            <a:noFill/>
          </a:ln>
          <a:gradFill>
            <a:gsLst>
              <a:gs pos="0">
                <a:srgbClr val="F4FBFF"/>
              </a:gs>
              <a:gs pos="100000">
                <a:srgbClr val="D9EEF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lphaFold2-Multimer"/>
          <p:cNvSpPr txBox="1"/>
          <p:nvPr/>
        </p:nvSpPr>
        <p:spPr>
          <a:xfrm>
            <a:off x="10671048" y="1947672"/>
            <a:ext cx="1837943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9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AlphaFold2-Multimer</a:t>
            </a:r>
          </a:p>
        </p:txBody>
      </p:sp>
      <p:sp>
        <p:nvSpPr>
          <p:cNvPr id="56" name="Chevron 55"/>
          <p:cNvSpPr/>
          <p:nvPr/>
        </p:nvSpPr>
        <p:spPr>
          <a:xfrm>
            <a:off x="12783312" y="1362456"/>
            <a:ext cx="2249424" cy="530352"/>
          </a:xfrm>
          <a:prstGeom prst="chevron">
            <a:avLst>
              <a:gd name="adj" fmla="val 27000"/>
            </a:avLst>
          </a:prstGeom>
          <a:ln>
            <a:noFill/>
          </a:ln>
          <a:gradFill>
            <a:gsLst>
              <a:gs pos="0">
                <a:srgbClr val="AED7FA"/>
              </a:gs>
              <a:gs pos="100000">
                <a:srgbClr val="AFD9F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2975336" y="1463040"/>
            <a:ext cx="320040" cy="320040"/>
          </a:xfrm>
          <a:prstGeom prst="ellipse">
            <a:avLst/>
          </a:prstGeom>
          <a:ln>
            <a:noFill/>
          </a:ln>
          <a:gradFill>
            <a:gsLst>
              <a:gs pos="0">
                <a:srgbClr val="64B7E8"/>
              </a:gs>
              <a:gs pos="100000">
                <a:srgbClr val="03439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4"/>
          <p:cNvSpPr txBox="1"/>
          <p:nvPr/>
        </p:nvSpPr>
        <p:spPr>
          <a:xfrm>
            <a:off x="12975336" y="1472184"/>
            <a:ext cx="32004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4</a:t>
            </a:r>
          </a:p>
        </p:txBody>
      </p:sp>
      <p:sp>
        <p:nvSpPr>
          <p:cNvPr id="59" name="Evaluate &amp; Redesign"/>
          <p:cNvSpPr txBox="1"/>
          <p:nvPr/>
        </p:nvSpPr>
        <p:spPr>
          <a:xfrm>
            <a:off x="13331952" y="1408176"/>
            <a:ext cx="1655064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Evaluate &amp; Redesign</a:t>
            </a:r>
          </a:p>
        </p:txBody>
      </p:sp>
      <p:sp>
        <p:nvSpPr>
          <p:cNvPr id="60" name="表位分析与迭代优化"/>
          <p:cNvSpPr txBox="1"/>
          <p:nvPr/>
        </p:nvSpPr>
        <p:spPr>
          <a:xfrm>
            <a:off x="13331952" y="1636776"/>
            <a:ext cx="1655064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表位分析与迭代优化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783312" y="1901952"/>
            <a:ext cx="2249424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890">
            <a:solidFill>
              <a:srgbClr val="B5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792456" y="1920240"/>
            <a:ext cx="2231136" cy="329184"/>
          </a:xfrm>
          <a:prstGeom prst="rect">
            <a:avLst/>
          </a:prstGeom>
          <a:ln>
            <a:noFill/>
          </a:ln>
          <a:gradFill>
            <a:gsLst>
              <a:gs pos="0">
                <a:srgbClr val="F4FBFF"/>
              </a:gs>
              <a:gs pos="100000">
                <a:srgbClr val="D9EEF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valuate &amp; Redesign"/>
          <p:cNvSpPr txBox="1"/>
          <p:nvPr/>
        </p:nvSpPr>
        <p:spPr>
          <a:xfrm>
            <a:off x="12856464" y="1947672"/>
            <a:ext cx="210312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9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Evaluate &amp; Redesign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8202168" y="2624328"/>
            <a:ext cx="210312" cy="256032"/>
          </a:xfrm>
          <a:prstGeom prst="rightArrow">
            <a:avLst/>
          </a:prstGeom>
          <a:ln>
            <a:noFill/>
          </a:ln>
          <a:gradFill>
            <a:gsLst>
              <a:gs pos="0">
                <a:srgbClr val="EBF7FF"/>
              </a:gs>
              <a:gs pos="100000">
                <a:srgbClr val="8ABFE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ight Arrow 64"/>
          <p:cNvSpPr/>
          <p:nvPr/>
        </p:nvSpPr>
        <p:spPr>
          <a:xfrm>
            <a:off x="10387584" y="2624328"/>
            <a:ext cx="210312" cy="256032"/>
          </a:xfrm>
          <a:prstGeom prst="rightArrow">
            <a:avLst/>
          </a:prstGeom>
          <a:ln>
            <a:noFill/>
          </a:ln>
          <a:gradFill>
            <a:gsLst>
              <a:gs pos="0">
                <a:srgbClr val="EBF7FF"/>
              </a:gs>
              <a:gs pos="100000">
                <a:srgbClr val="8ABFE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Arrow 65"/>
          <p:cNvSpPr/>
          <p:nvPr/>
        </p:nvSpPr>
        <p:spPr>
          <a:xfrm>
            <a:off x="12582144" y="2624328"/>
            <a:ext cx="210312" cy="256032"/>
          </a:xfrm>
          <a:prstGeom prst="rightArrow">
            <a:avLst/>
          </a:prstGeom>
          <a:ln>
            <a:noFill/>
          </a:ln>
          <a:gradFill>
            <a:gsLst>
              <a:gs pos="0">
                <a:srgbClr val="EBF7FF"/>
              </a:gs>
              <a:gs pos="100000">
                <a:srgbClr val="8ABFE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HER2_RFdiffusion骨架（参考图复刻，可替换）" descr="HER2_RFdiffusion骨架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258568"/>
            <a:ext cx="1536192" cy="960120"/>
          </a:xfrm>
          <a:prstGeom prst="rect">
            <a:avLst/>
          </a:prstGeom>
        </p:spPr>
      </p:pic>
      <p:sp>
        <p:nvSpPr>
          <p:cNvPr id="68" name="生成多样化结合肽骨架"/>
          <p:cNvSpPr txBox="1"/>
          <p:nvPr/>
        </p:nvSpPr>
        <p:spPr>
          <a:xfrm>
            <a:off x="6309360" y="3246120"/>
            <a:ext cx="180136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生成多样化结合肽骨架</a:t>
            </a:r>
          </a:p>
        </p:txBody>
      </p:sp>
      <p:sp>
        <p:nvSpPr>
          <p:cNvPr id="69" name="MKTAYIAKQRQISFVK LGGPGSSTTK..."/>
          <p:cNvSpPr txBox="1"/>
          <p:nvPr/>
        </p:nvSpPr>
        <p:spPr>
          <a:xfrm>
            <a:off x="8622792" y="2459736"/>
            <a:ext cx="1709928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MKTAYIAKQRQISFVK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LGGPGSSTTK...</a:t>
            </a:r>
          </a:p>
        </p:txBody>
      </p:sp>
      <p:sp>
        <p:nvSpPr>
          <p:cNvPr id="70" name="设计高亲和力序列"/>
          <p:cNvSpPr txBox="1"/>
          <p:nvPr/>
        </p:nvSpPr>
        <p:spPr>
          <a:xfrm>
            <a:off x="8531352" y="3255264"/>
            <a:ext cx="1746504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设计高亲和力序列</a:t>
            </a:r>
          </a:p>
        </p:txBody>
      </p:sp>
      <p:pic>
        <p:nvPicPr>
          <p:cNvPr id="71" name="HER2_AlphaFold多聚体预测（参考图复刻，可替换）" descr="HER2_AlphaFold多聚体预测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48" y="2258568"/>
            <a:ext cx="1444752" cy="896112"/>
          </a:xfrm>
          <a:prstGeom prst="rect">
            <a:avLst/>
          </a:prstGeom>
        </p:spPr>
      </p:pic>
      <p:sp>
        <p:nvSpPr>
          <p:cNvPr id="72" name="预测复合物结构 计算 ipTM / 接触图"/>
          <p:cNvSpPr txBox="1"/>
          <p:nvPr/>
        </p:nvSpPr>
        <p:spPr>
          <a:xfrm>
            <a:off x="10725912" y="3182112"/>
            <a:ext cx="172821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预测复合物结构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计算 ipTM / 接触图</a:t>
            </a:r>
          </a:p>
        </p:txBody>
      </p:sp>
      <p:pic>
        <p:nvPicPr>
          <p:cNvPr id="73" name="HER2_接触热图外观复刻（参考图复刻，可替换）" descr="HER2_接触热图外观复刻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49656" y="2295144"/>
            <a:ext cx="1444752" cy="859536"/>
          </a:xfrm>
          <a:prstGeom prst="rect">
            <a:avLst/>
          </a:prstGeom>
        </p:spPr>
      </p:pic>
      <p:cxnSp>
        <p:nvCxnSpPr>
          <p:cNvPr id="74" name="Connector 73"/>
          <p:cNvCxnSpPr/>
          <p:nvPr/>
        </p:nvCxnSpPr>
        <p:spPr>
          <a:xfrm>
            <a:off x="13139928" y="2322576"/>
            <a:ext cx="36576" cy="0"/>
          </a:xfrm>
          <a:prstGeom prst="line">
            <a:avLst/>
          </a:prstGeom>
          <a:ln w="6350">
            <a:solidFill>
              <a:srgbClr val="101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3139928" y="2410358"/>
            <a:ext cx="36576" cy="0"/>
          </a:xfrm>
          <a:prstGeom prst="line">
            <a:avLst/>
          </a:prstGeom>
          <a:ln w="6350">
            <a:solidFill>
              <a:srgbClr val="101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3139928" y="2498140"/>
            <a:ext cx="36576" cy="0"/>
          </a:xfrm>
          <a:prstGeom prst="line">
            <a:avLst/>
          </a:prstGeom>
          <a:ln w="6350">
            <a:solidFill>
              <a:srgbClr val="101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3139928" y="2585923"/>
            <a:ext cx="36576" cy="0"/>
          </a:xfrm>
          <a:prstGeom prst="line">
            <a:avLst/>
          </a:prstGeom>
          <a:ln w="6350">
            <a:solidFill>
              <a:srgbClr val="101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3139928" y="2673705"/>
            <a:ext cx="36576" cy="0"/>
          </a:xfrm>
          <a:prstGeom prst="line">
            <a:avLst/>
          </a:prstGeom>
          <a:ln w="6350">
            <a:solidFill>
              <a:srgbClr val="101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3139928" y="2761488"/>
            <a:ext cx="36576" cy="0"/>
          </a:xfrm>
          <a:prstGeom prst="line">
            <a:avLst/>
          </a:prstGeom>
          <a:ln w="6350">
            <a:solidFill>
              <a:srgbClr val="101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3139928" y="2849270"/>
            <a:ext cx="36576" cy="0"/>
          </a:xfrm>
          <a:prstGeom prst="line">
            <a:avLst/>
          </a:prstGeom>
          <a:ln w="6350">
            <a:solidFill>
              <a:srgbClr val="101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3139928" y="2937052"/>
            <a:ext cx="36576" cy="0"/>
          </a:xfrm>
          <a:prstGeom prst="line">
            <a:avLst/>
          </a:prstGeom>
          <a:ln w="6350">
            <a:solidFill>
              <a:srgbClr val="101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3139928" y="3024835"/>
            <a:ext cx="36576" cy="0"/>
          </a:xfrm>
          <a:prstGeom prst="line">
            <a:avLst/>
          </a:prstGeom>
          <a:ln w="6350">
            <a:solidFill>
              <a:srgbClr val="101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3139928" y="3112617"/>
            <a:ext cx="36576" cy="0"/>
          </a:xfrm>
          <a:prstGeom prst="line">
            <a:avLst/>
          </a:prstGeom>
          <a:ln w="6350">
            <a:solidFill>
              <a:srgbClr val="101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分析表位接触情况 发现问题并进行优化设计"/>
          <p:cNvSpPr txBox="1"/>
          <p:nvPr/>
        </p:nvSpPr>
        <p:spPr>
          <a:xfrm>
            <a:off x="12893040" y="3182112"/>
            <a:ext cx="2029968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分析表位接触情况</a:t>
            </a:r>
          </a:p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发现问题并进行优化设计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64592" y="3931920"/>
            <a:ext cx="5413248" cy="4178808"/>
          </a:xfrm>
          <a:prstGeom prst="roundRect">
            <a:avLst>
              <a:gd name="adj" fmla="val 2800"/>
            </a:avLst>
          </a:prstGeom>
          <a:solidFill>
            <a:srgbClr val="FAFDFF"/>
          </a:solidFill>
          <a:ln w="8890">
            <a:solidFill>
              <a:srgbClr val="E7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64592" y="3931920"/>
            <a:ext cx="5413248" cy="420624"/>
          </a:xfrm>
          <a:prstGeom prst="roundRect">
            <a:avLst>
              <a:gd name="adj" fmla="val 6000"/>
            </a:avLst>
          </a:prstGeom>
          <a:ln>
            <a:noFill/>
          </a:ln>
          <a:gradFill>
            <a:gsLst>
              <a:gs pos="0">
                <a:srgbClr val="DAEFFF"/>
              </a:gs>
              <a:gs pos="100000">
                <a:srgbClr val="F4FB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73736" y="3977639"/>
            <a:ext cx="347472" cy="347472"/>
          </a:xfrm>
          <a:prstGeom prst="roundRect">
            <a:avLst>
              <a:gd name="adj" fmla="val 28000"/>
            </a:avLst>
          </a:prstGeom>
          <a:ln>
            <a:noFill/>
          </a:ln>
          <a:gradFill>
            <a:gsLst>
              <a:gs pos="0">
                <a:srgbClr val="71B9EB"/>
              </a:gs>
              <a:gs pos="100000">
                <a:srgbClr val="002D9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56032" y="4160520"/>
            <a:ext cx="3657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0896" y="4087368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65760" y="4123944"/>
            <a:ext cx="36576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20624" y="4041648"/>
            <a:ext cx="36576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关键结果 1：初始设计获得稳定结合，但发生表位漂移"/>
          <p:cNvSpPr txBox="1"/>
          <p:nvPr/>
        </p:nvSpPr>
        <p:spPr>
          <a:xfrm>
            <a:off x="630936" y="4023360"/>
            <a:ext cx="4892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8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关键结果 1：初始设计获得稳定结合，但发生表位漂移</a:t>
            </a:r>
          </a:p>
        </p:txBody>
      </p:sp>
      <p:sp>
        <p:nvSpPr>
          <p:cNvPr id="93" name="V9M02 复合物预测结果"/>
          <p:cNvSpPr txBox="1"/>
          <p:nvPr/>
        </p:nvSpPr>
        <p:spPr>
          <a:xfrm>
            <a:off x="356616" y="4480560"/>
            <a:ext cx="4343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V9M02 复合物预测结果</a:t>
            </a:r>
          </a:p>
        </p:txBody>
      </p:sp>
      <p:pic>
        <p:nvPicPr>
          <p:cNvPr id="94" name="HER2_V9M02结合模式（参考图复刻，可替换）" descr="HER2_V9M02结合模式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4956048"/>
            <a:ext cx="2359152" cy="2743200"/>
          </a:xfrm>
          <a:prstGeom prst="rect">
            <a:avLst/>
          </a:prstGeom>
        </p:spPr>
      </p:pic>
      <p:sp>
        <p:nvSpPr>
          <p:cNvPr id="95" name="HER2"/>
          <p:cNvSpPr txBox="1"/>
          <p:nvPr/>
        </p:nvSpPr>
        <p:spPr>
          <a:xfrm>
            <a:off x="283464" y="5394960"/>
            <a:ext cx="8961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6D6D75"/>
                </a:solidFill>
                <a:latin typeface="Noto Sans CJK SC"/>
              </a:defRPr>
            </a:pPr>
            <a:r>
              <a:rPr>
                <a:ea typeface="Noto Sans CJK SC"/>
              </a:rPr>
              <a:t>HER2</a:t>
            </a:r>
          </a:p>
        </p:txBody>
      </p:sp>
      <p:sp>
        <p:nvSpPr>
          <p:cNvPr id="96" name="AI设计 binder"/>
          <p:cNvSpPr txBox="1"/>
          <p:nvPr/>
        </p:nvSpPr>
        <p:spPr>
          <a:xfrm>
            <a:off x="448056" y="7205472"/>
            <a:ext cx="95097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70" b="1">
                <a:solidFill>
                  <a:srgbClr val="0238BC"/>
                </a:solidFill>
                <a:latin typeface="Noto Sans CJK SC"/>
              </a:defRPr>
            </a:pPr>
            <a:r>
              <a:rPr>
                <a:ea typeface="Noto Sans CJK SC"/>
              </a:rPr>
              <a:t>AI设计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70" b="1">
                <a:solidFill>
                  <a:srgbClr val="0238BC"/>
                </a:solidFill>
                <a:latin typeface="Noto Sans CJK SC"/>
              </a:defRPr>
            </a:pPr>
            <a:r>
              <a:rPr>
                <a:ea typeface="Noto Sans CJK SC"/>
              </a:rPr>
              <a:t>binder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761488" y="4855464"/>
            <a:ext cx="2697480" cy="2002536"/>
          </a:xfrm>
          <a:prstGeom prst="roundRect">
            <a:avLst>
              <a:gd name="adj" fmla="val 5000"/>
            </a:avLst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8" name="Table 97"/>
          <p:cNvGraphicFramePr>
            <a:graphicFrameLocks noGrp="1"/>
          </p:cNvGraphicFramePr>
          <p:nvPr/>
        </p:nvGraphicFramePr>
        <p:xfrm>
          <a:off x="2770632" y="4855464"/>
          <a:ext cx="2688336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804672"/>
              </a:tblGrid>
              <a:tr h="498348">
                <a:tc>
                  <a:txBody>
                    <a:bodyPr/>
                    <a:lstStyle/>
                    <a:p>
                      <a:pPr algn="l">
                        <a:defRPr sz="1470" b="0">
                          <a:solidFill>
                            <a:srgbClr val="101838"/>
                          </a:solidFill>
                          <a:latin typeface="Noto Sans CJK SC"/>
                        </a:defRPr>
                      </a:pPr>
                      <a:r>
                        <a:t>ipTM</a:t>
                      </a:r>
                    </a:p>
                  </a:txBody>
                  <a:tcPr marL="201168" marR="18288" marT="109728" marB="0">
                    <a:solidFill>
                      <a:srgbClr val="F4F9FE"/>
                    </a:solidFill>
                    <a:lnL w="3000">
                      <a:noFill/>
                    </a:lnL>
                    <a:lnR w="3000">
                      <a:noFill/>
                    </a:lnR>
                    <a:lnT w="3000">
                      <a:noFill/>
                    </a:lnT>
                    <a:lnB w="3000">
                      <a:solidFill>
                        <a:srgbClr val="E0EEF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70" b="1">
                          <a:solidFill>
                            <a:srgbClr val="101838"/>
                          </a:solidFill>
                          <a:latin typeface="Noto Sans CJK SC"/>
                        </a:defRPr>
                      </a:pPr>
                      <a:r>
                        <a:t>0.81</a:t>
                      </a:r>
                    </a:p>
                  </a:txBody>
                  <a:tcPr marL="18288" marR="18288" marT="109728" marB="0">
                    <a:solidFill>
                      <a:srgbClr val="F4F9FE"/>
                    </a:solidFill>
                    <a:lnL w="3000">
                      <a:noFill/>
                    </a:lnL>
                    <a:lnR w="3000">
                      <a:noFill/>
                    </a:lnR>
                    <a:lnT w="3000">
                      <a:noFill/>
                    </a:lnT>
                    <a:lnB w="3000">
                      <a:solidFill>
                        <a:srgbClr val="E0EEFA"/>
                      </a:solidFill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470" b="0">
                          <a:solidFill>
                            <a:srgbClr val="101838"/>
                          </a:solidFill>
                          <a:latin typeface="Noto Sans CJK SC"/>
                        </a:defRPr>
                      </a:pPr>
                      <a:r>
                        <a:t>pTM</a:t>
                      </a:r>
                    </a:p>
                  </a:txBody>
                  <a:tcPr marL="201168" marR="18288" marT="109728" marB="0">
                    <a:solidFill>
                      <a:srgbClr val="F4F9FE"/>
                    </a:solidFill>
                    <a:lnL w="3000">
                      <a:noFill/>
                    </a:lnL>
                    <a:lnR w="3000">
                      <a:noFill/>
                    </a:lnR>
                    <a:lnT w="3000">
                      <a:noFill/>
                    </a:lnT>
                    <a:lnB w="3000">
                      <a:solidFill>
                        <a:srgbClr val="E0EEF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70" b="1">
                          <a:solidFill>
                            <a:srgbClr val="101838"/>
                          </a:solidFill>
                          <a:latin typeface="Noto Sans CJK SC"/>
                        </a:defRPr>
                      </a:pPr>
                      <a:r>
                        <a:t>0.84</a:t>
                      </a:r>
                    </a:p>
                  </a:txBody>
                  <a:tcPr marL="18288" marR="18288" marT="109728" marB="0">
                    <a:solidFill>
                      <a:srgbClr val="F4F9FE"/>
                    </a:solidFill>
                    <a:lnL w="3000">
                      <a:noFill/>
                    </a:lnL>
                    <a:lnR w="3000">
                      <a:noFill/>
                    </a:lnR>
                    <a:lnT w="3000">
                      <a:noFill/>
                    </a:lnT>
                    <a:lnB w="3000">
                      <a:solidFill>
                        <a:srgbClr val="E0EEFA"/>
                      </a:solidFill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470" b="0">
                          <a:solidFill>
                            <a:srgbClr val="101838"/>
                          </a:solidFill>
                          <a:latin typeface="Noto Sans CJK SC"/>
                        </a:defRPr>
                      </a:pPr>
                      <a:r>
                        <a:t>Binder length</a:t>
                      </a:r>
                    </a:p>
                  </a:txBody>
                  <a:tcPr marL="201168" marR="18288" marT="109728" marB="0">
                    <a:solidFill>
                      <a:srgbClr val="F4F9FE"/>
                    </a:solidFill>
                    <a:lnL w="3000">
                      <a:noFill/>
                    </a:lnL>
                    <a:lnR w="3000">
                      <a:noFill/>
                    </a:lnR>
                    <a:lnT w="3000">
                      <a:noFill/>
                    </a:lnT>
                    <a:lnB w="3000">
                      <a:solidFill>
                        <a:srgbClr val="E0EEF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70" b="1">
                          <a:solidFill>
                            <a:srgbClr val="101838"/>
                          </a:solidFill>
                          <a:latin typeface="Noto Sans CJK SC"/>
                        </a:defRPr>
                      </a:pPr>
                      <a:r>
                        <a:t>89 aa</a:t>
                      </a:r>
                    </a:p>
                  </a:txBody>
                  <a:tcPr marL="18288" marR="18288" marT="109728" marB="0">
                    <a:solidFill>
                      <a:srgbClr val="F4F9FE"/>
                    </a:solidFill>
                    <a:lnL w="3000">
                      <a:noFill/>
                    </a:lnL>
                    <a:lnR w="3000">
                      <a:noFill/>
                    </a:lnR>
                    <a:lnT w="3000">
                      <a:noFill/>
                    </a:lnT>
                    <a:lnB w="3000">
                      <a:solidFill>
                        <a:srgbClr val="E0EEFA"/>
                      </a:solidFill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470" b="0">
                          <a:solidFill>
                            <a:srgbClr val="101838"/>
                          </a:solidFill>
                          <a:latin typeface="Noto Sans CJK SC"/>
                        </a:defRPr>
                      </a:pPr>
                      <a:r>
                        <a:t>Interface residues</a:t>
                      </a:r>
                    </a:p>
                  </a:txBody>
                  <a:tcPr marL="201168" marR="18288" marT="109728" marB="0">
                    <a:solidFill>
                      <a:srgbClr val="F4F9FE"/>
                    </a:solidFill>
                    <a:lnL w="3000">
                      <a:noFill/>
                    </a:lnL>
                    <a:lnR w="3000">
                      <a:noFill/>
                    </a:lnR>
                    <a:lnT w="3000">
                      <a:noFill/>
                    </a:lnT>
                    <a:lnB w="300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470" b="1">
                          <a:solidFill>
                            <a:srgbClr val="101838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18288" marR="18288" marT="109728" marB="0">
                    <a:solidFill>
                      <a:srgbClr val="F4F9FE"/>
                    </a:solidFill>
                    <a:lnL w="3000">
                      <a:noFill/>
                    </a:lnL>
                    <a:lnR w="3000">
                      <a:noFill/>
                    </a:lnR>
                    <a:lnT w="3000">
                      <a:noFill/>
                    </a:lnT>
                    <a:lnB w="300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9" name="Rounded Rectangle 98"/>
          <p:cNvSpPr/>
          <p:nvPr/>
        </p:nvSpPr>
        <p:spPr>
          <a:xfrm>
            <a:off x="2761488" y="6995160"/>
            <a:ext cx="2807208" cy="777240"/>
          </a:xfrm>
          <a:prstGeom prst="roundRect">
            <a:avLst>
              <a:gd name="adj" fmla="val 8000"/>
            </a:avLst>
          </a:prstGeom>
          <a:solidFill>
            <a:srgbClr val="F7FCFF"/>
          </a:solidFill>
          <a:ln w="8890">
            <a:solidFill>
              <a:srgbClr val="A4D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预测结果显示结合模式稳定， 但未结合目标260/262/264表位。"/>
          <p:cNvSpPr txBox="1"/>
          <p:nvPr/>
        </p:nvSpPr>
        <p:spPr>
          <a:xfrm>
            <a:off x="2862072" y="7123176"/>
            <a:ext cx="26060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310" b="1">
                <a:solidFill>
                  <a:srgbClr val="E00000"/>
                </a:solidFill>
                <a:latin typeface="Noto Sans CJK SC"/>
              </a:defRPr>
            </a:pPr>
            <a:r>
              <a:rPr sz="1310" b="1">
                <a:solidFill>
                  <a:srgbClr val="101838"/>
                </a:solidFill>
                <a:latin typeface="Noto Sans CJK SC"/>
                <a:ea typeface="Noto Sans CJK SC"/>
              </a:rPr>
              <a:t>预测结果显示</a:t>
            </a:r>
            <a:r>
              <a:rPr sz="1310" b="1">
                <a:solidFill>
                  <a:srgbClr val="E00000"/>
                </a:solidFill>
                <a:latin typeface="Noto Sans CJK SC"/>
                <a:ea typeface="Noto Sans CJK SC"/>
              </a:rPr>
              <a:t>结合模式稳定，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310" b="1">
                <a:solidFill>
                  <a:srgbClr val="E00000"/>
                </a:solidFill>
                <a:latin typeface="Noto Sans CJK SC"/>
              </a:defRPr>
            </a:pPr>
            <a:r>
              <a:rPr>
                <a:ea typeface="Noto Sans CJK SC"/>
              </a:rPr>
              <a:t>但未结合目标260/262/264表位。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760720" y="3931920"/>
            <a:ext cx="5239512" cy="4178808"/>
          </a:xfrm>
          <a:prstGeom prst="roundRect">
            <a:avLst>
              <a:gd name="adj" fmla="val 2800"/>
            </a:avLst>
          </a:prstGeom>
          <a:solidFill>
            <a:srgbClr val="FAFDFF"/>
          </a:solidFill>
          <a:ln w="8890">
            <a:solidFill>
              <a:srgbClr val="E7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5760720" y="3931920"/>
            <a:ext cx="5239512" cy="420624"/>
          </a:xfrm>
          <a:prstGeom prst="roundRect">
            <a:avLst>
              <a:gd name="adj" fmla="val 6000"/>
            </a:avLst>
          </a:prstGeom>
          <a:ln>
            <a:noFill/>
          </a:ln>
          <a:gradFill>
            <a:gsLst>
              <a:gs pos="0">
                <a:srgbClr val="DAEFFF"/>
              </a:gs>
              <a:gs pos="100000">
                <a:srgbClr val="F4FB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5769864" y="3977639"/>
            <a:ext cx="347472" cy="347472"/>
          </a:xfrm>
          <a:prstGeom prst="roundRect">
            <a:avLst>
              <a:gd name="adj" fmla="val 28000"/>
            </a:avLst>
          </a:prstGeom>
          <a:ln>
            <a:noFill/>
          </a:ln>
          <a:gradFill>
            <a:gsLst>
              <a:gs pos="0">
                <a:srgbClr val="71B9EB"/>
              </a:gs>
              <a:gs pos="100000">
                <a:srgbClr val="002D9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 flipV="1">
            <a:off x="5870448" y="4069080"/>
            <a:ext cx="82296" cy="1371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952744" y="4069080"/>
            <a:ext cx="73152" cy="146304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870448" y="4206240"/>
            <a:ext cx="155448" cy="9144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5843016" y="417880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925312" y="404164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998464" y="418795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843016" y="4206240"/>
            <a:ext cx="3657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907024" y="4169663"/>
            <a:ext cx="3657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971032" y="4123944"/>
            <a:ext cx="36576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关键结果 2：结构分析发现趋同性非目标结合区域"/>
          <p:cNvSpPr txBox="1"/>
          <p:nvPr/>
        </p:nvSpPr>
        <p:spPr>
          <a:xfrm>
            <a:off x="6227064" y="4023360"/>
            <a:ext cx="471830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6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关键结果 2：结构分析发现趋同性非目标结合区域</a:t>
            </a:r>
          </a:p>
        </p:txBody>
      </p:sp>
      <p:pic>
        <p:nvPicPr>
          <p:cNvPr id="114" name="HER2_非目标区域结合模式（参考图复刻，可替换）" descr="HER2_非目标区域结合模式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5321808"/>
            <a:ext cx="2212848" cy="2468880"/>
          </a:xfrm>
          <a:prstGeom prst="rect">
            <a:avLst/>
          </a:prstGeom>
        </p:spPr>
      </p:pic>
      <p:pic>
        <p:nvPicPr>
          <p:cNvPr id="115" name="HER2_107_171结合区域放大（参考图复刻，可替换）" descr="HER2_107_171结合区域放大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3960" y="5541264"/>
            <a:ext cx="1956816" cy="1947672"/>
          </a:xfrm>
          <a:prstGeom prst="rect">
            <a:avLst/>
          </a:prstGeom>
        </p:spPr>
      </p:pic>
      <p:sp>
        <p:nvSpPr>
          <p:cNvPr id="116" name="Predicted binding region 107 – 171"/>
          <p:cNvSpPr txBox="1"/>
          <p:nvPr/>
        </p:nvSpPr>
        <p:spPr>
          <a:xfrm>
            <a:off x="5852160" y="4946904"/>
            <a:ext cx="1225296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003CBF"/>
                </a:solidFill>
                <a:latin typeface="Noto Sans CJK SC"/>
              </a:defRPr>
            </a:pPr>
            <a:r>
              <a:rPr>
                <a:ea typeface="Noto Sans CJK SC"/>
              </a:rPr>
              <a:t>Predicted</a:t>
            </a:r>
          </a:p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003CBF"/>
                </a:solidFill>
                <a:latin typeface="Noto Sans CJK SC"/>
              </a:defRPr>
            </a:pPr>
            <a:r>
              <a:rPr>
                <a:ea typeface="Noto Sans CJK SC"/>
              </a:rPr>
              <a:t>binding region</a:t>
            </a:r>
          </a:p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003CBF"/>
                </a:solidFill>
                <a:latin typeface="Noto Sans CJK SC"/>
              </a:defRPr>
            </a:pPr>
            <a:r>
              <a:rPr>
                <a:ea typeface="Noto Sans CJK SC"/>
              </a:rPr>
              <a:t>107 – 171</a:t>
            </a:r>
          </a:p>
        </p:txBody>
      </p:sp>
      <p:sp>
        <p:nvSpPr>
          <p:cNvPr id="117" name="Target epitope 260/262/264"/>
          <p:cNvSpPr txBox="1"/>
          <p:nvPr/>
        </p:nvSpPr>
        <p:spPr>
          <a:xfrm>
            <a:off x="7278624" y="4800600"/>
            <a:ext cx="1325880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360" b="1">
                <a:solidFill>
                  <a:srgbClr val="E00000"/>
                </a:solidFill>
                <a:latin typeface="Noto Sans CJK SC"/>
              </a:defRPr>
            </a:pPr>
            <a:r>
              <a:rPr>
                <a:ea typeface="Noto Sans CJK SC"/>
              </a:rPr>
              <a:t>Target epitope</a:t>
            </a:r>
          </a:p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360" b="1">
                <a:solidFill>
                  <a:srgbClr val="E00000"/>
                </a:solidFill>
                <a:latin typeface="Noto Sans CJK SC"/>
              </a:defRPr>
            </a:pPr>
            <a:r>
              <a:rPr>
                <a:ea typeface="Noto Sans CJK SC"/>
              </a:rPr>
              <a:t>260/262/264</a:t>
            </a:r>
          </a:p>
        </p:txBody>
      </p:sp>
      <p:sp>
        <p:nvSpPr>
          <p:cNvPr id="118" name="HER2 107–171"/>
          <p:cNvSpPr txBox="1"/>
          <p:nvPr/>
        </p:nvSpPr>
        <p:spPr>
          <a:xfrm>
            <a:off x="9244584" y="4956048"/>
            <a:ext cx="168249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0" b="1">
                <a:solidFill>
                  <a:srgbClr val="003CBF"/>
                </a:solidFill>
                <a:latin typeface="Noto Sans CJK SC"/>
              </a:defRPr>
            </a:pPr>
            <a:r>
              <a:rPr>
                <a:ea typeface="Noto Sans CJK SC"/>
              </a:rPr>
              <a:t>HER2 107–171</a:t>
            </a:r>
          </a:p>
        </p:txBody>
      </p:sp>
      <p:sp>
        <p:nvSpPr>
          <p:cNvPr id="119" name="（实际结合区域）"/>
          <p:cNvSpPr txBox="1"/>
          <p:nvPr/>
        </p:nvSpPr>
        <p:spPr>
          <a:xfrm>
            <a:off x="9162288" y="5166360"/>
            <a:ext cx="1755648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3CBF"/>
                </a:solidFill>
                <a:latin typeface="Noto Sans CJK SC"/>
              </a:defRPr>
            </a:pPr>
            <a:r>
              <a:rPr>
                <a:ea typeface="Noto Sans CJK SC"/>
              </a:rPr>
              <a:t>（实际结合区域）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382512" y="5568696"/>
            <a:ext cx="109728" cy="292608"/>
          </a:xfrm>
          <a:prstGeom prst="line">
            <a:avLst/>
          </a:prstGeom>
          <a:ln w="10160">
            <a:solidFill>
              <a:srgbClr val="003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7717536" y="5276088"/>
            <a:ext cx="164591" cy="667512"/>
          </a:xfrm>
          <a:prstGeom prst="line">
            <a:avLst/>
          </a:prstGeom>
          <a:ln w="10160">
            <a:solidFill>
              <a:srgbClr val="E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6245352" y="5641848"/>
            <a:ext cx="960120" cy="850392"/>
          </a:xfrm>
          <a:prstGeom prst="ellipse">
            <a:avLst/>
          </a:prstGeom>
          <a:noFill/>
          <a:ln w="12700">
            <a:solidFill>
              <a:srgbClr val="E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461504" y="5888736"/>
            <a:ext cx="502920" cy="749808"/>
          </a:xfrm>
          <a:prstGeom prst="ellipse">
            <a:avLst/>
          </a:prstGeom>
          <a:noFill/>
          <a:ln w="9525"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 flipV="1">
            <a:off x="7872983" y="5541264"/>
            <a:ext cx="941833" cy="576072"/>
          </a:xfrm>
          <a:prstGeom prst="line">
            <a:avLst/>
          </a:prstGeom>
          <a:ln w="11430">
            <a:solidFill>
              <a:srgbClr val="0048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882127" y="6537960"/>
            <a:ext cx="932689" cy="950976"/>
          </a:xfrm>
          <a:prstGeom prst="line">
            <a:avLst/>
          </a:prstGeom>
          <a:ln w="11430">
            <a:solidFill>
              <a:srgbClr val="0048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8814816" y="5532120"/>
            <a:ext cx="1984248" cy="19659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0048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HER2"/>
          <p:cNvSpPr txBox="1"/>
          <p:nvPr/>
        </p:nvSpPr>
        <p:spPr>
          <a:xfrm>
            <a:off x="6601968" y="7726679"/>
            <a:ext cx="1033271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90" b="1">
                <a:solidFill>
                  <a:srgbClr val="73737B"/>
                </a:solidFill>
                <a:latin typeface="Noto Sans CJK SC"/>
              </a:defRPr>
            </a:pPr>
            <a:r>
              <a:rPr>
                <a:ea typeface="Noto Sans CJK SC"/>
              </a:rPr>
              <a:t>HER2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1192256" y="3931920"/>
            <a:ext cx="3913632" cy="4178808"/>
          </a:xfrm>
          <a:prstGeom prst="roundRect">
            <a:avLst>
              <a:gd name="adj" fmla="val 2800"/>
            </a:avLst>
          </a:prstGeom>
          <a:solidFill>
            <a:srgbClr val="FAFDFF"/>
          </a:solidFill>
          <a:ln w="8890">
            <a:solidFill>
              <a:srgbClr val="E7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1192256" y="3931920"/>
            <a:ext cx="3913632" cy="420624"/>
          </a:xfrm>
          <a:prstGeom prst="roundRect">
            <a:avLst>
              <a:gd name="adj" fmla="val 6000"/>
            </a:avLst>
          </a:prstGeom>
          <a:ln>
            <a:noFill/>
          </a:ln>
          <a:gradFill>
            <a:gsLst>
              <a:gs pos="0">
                <a:srgbClr val="DAEFFF"/>
              </a:gs>
              <a:gs pos="100000">
                <a:srgbClr val="F4FB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11201400" y="3977639"/>
            <a:ext cx="347472" cy="347472"/>
          </a:xfrm>
          <a:prstGeom prst="roundRect">
            <a:avLst>
              <a:gd name="adj" fmla="val 28000"/>
            </a:avLst>
          </a:prstGeom>
          <a:ln>
            <a:noFill/>
          </a:ln>
          <a:gradFill>
            <a:gsLst>
              <a:gs pos="0">
                <a:srgbClr val="71B9EB"/>
              </a:gs>
              <a:gs pos="100000">
                <a:srgbClr val="002D9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320272" y="4032504"/>
            <a:ext cx="109728" cy="1554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347704" y="4178808"/>
            <a:ext cx="54864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11347704" y="4251960"/>
            <a:ext cx="54864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问题分析与后续优化策略"/>
          <p:cNvSpPr txBox="1"/>
          <p:nvPr/>
        </p:nvSpPr>
        <p:spPr>
          <a:xfrm>
            <a:off x="11658600" y="4023360"/>
            <a:ext cx="339242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问题分析与后续优化策略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1219688" y="4370832"/>
            <a:ext cx="3858768" cy="1444752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8890">
            <a:solidFill>
              <a:srgbClr val="F0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1219688" y="5879592"/>
            <a:ext cx="3858768" cy="93268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8890">
            <a:solidFill>
              <a:srgbClr val="F0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1219688" y="6885432"/>
            <a:ext cx="3858768" cy="11155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8890">
            <a:solidFill>
              <a:srgbClr val="F0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1356848" y="4480560"/>
            <a:ext cx="320040" cy="320040"/>
          </a:xfrm>
          <a:prstGeom prst="ellipse">
            <a:avLst/>
          </a:prstGeom>
          <a:ln>
            <a:noFill/>
          </a:ln>
          <a:gradFill>
            <a:gsLst>
              <a:gs pos="0">
                <a:srgbClr val="64B7E8"/>
              </a:gs>
              <a:gs pos="100000">
                <a:srgbClr val="03439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1"/>
          <p:cNvSpPr txBox="1"/>
          <p:nvPr/>
        </p:nvSpPr>
        <p:spPr>
          <a:xfrm>
            <a:off x="11356848" y="4489704"/>
            <a:ext cx="32004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</a:t>
            </a:r>
          </a:p>
        </p:txBody>
      </p:sp>
      <p:sp>
        <p:nvSpPr>
          <p:cNvPr id="140" name="表位漂移原因"/>
          <p:cNvSpPr txBox="1"/>
          <p:nvPr/>
        </p:nvSpPr>
        <p:spPr>
          <a:xfrm>
            <a:off x="11768328" y="4498848"/>
            <a:ext cx="3264408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表位漂移原因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1768328" y="4946904"/>
            <a:ext cx="54864" cy="54864"/>
          </a:xfrm>
          <a:prstGeom prst="rect">
            <a:avLst/>
          </a:prstGeom>
          <a:solidFill>
            <a:srgbClr val="002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107–171 区域表面更连续、平坦， 更易形成稳定相互作用。"/>
          <p:cNvSpPr txBox="1"/>
          <p:nvPr/>
        </p:nvSpPr>
        <p:spPr>
          <a:xfrm>
            <a:off x="11942064" y="4864608"/>
            <a:ext cx="3035808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107–171 区域表面更连续、平坦，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更易形成稳定相互作用。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768328" y="5394960"/>
            <a:ext cx="54864" cy="54864"/>
          </a:xfrm>
          <a:prstGeom prst="rect">
            <a:avLst/>
          </a:prstGeom>
          <a:solidFill>
            <a:srgbClr val="002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当前生成的长α螺旋binder更倾向 结合大面积表面。"/>
          <p:cNvSpPr txBox="1"/>
          <p:nvPr/>
        </p:nvSpPr>
        <p:spPr>
          <a:xfrm>
            <a:off x="11942064" y="5312664"/>
            <a:ext cx="3035808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当前生成的长α螺旋binder更倾向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结合大面积表面。</a:t>
            </a:r>
          </a:p>
        </p:txBody>
      </p:sp>
      <p:sp>
        <p:nvSpPr>
          <p:cNvPr id="145" name="Oval 144"/>
          <p:cNvSpPr/>
          <p:nvPr/>
        </p:nvSpPr>
        <p:spPr>
          <a:xfrm>
            <a:off x="11356848" y="5907024"/>
            <a:ext cx="320040" cy="320040"/>
          </a:xfrm>
          <a:prstGeom prst="ellipse">
            <a:avLst/>
          </a:prstGeom>
          <a:ln>
            <a:noFill/>
          </a:ln>
          <a:gradFill>
            <a:gsLst>
              <a:gs pos="0">
                <a:srgbClr val="64B7E8"/>
              </a:gs>
              <a:gs pos="100000">
                <a:srgbClr val="03439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2"/>
          <p:cNvSpPr txBox="1"/>
          <p:nvPr/>
        </p:nvSpPr>
        <p:spPr>
          <a:xfrm>
            <a:off x="11356848" y="5916168"/>
            <a:ext cx="32004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</a:t>
            </a:r>
          </a:p>
        </p:txBody>
      </p:sp>
      <p:sp>
        <p:nvSpPr>
          <p:cNvPr id="147" name="结构验证"/>
          <p:cNvSpPr txBox="1"/>
          <p:nvPr/>
        </p:nvSpPr>
        <p:spPr>
          <a:xfrm>
            <a:off x="11768328" y="5925312"/>
            <a:ext cx="3264408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结构验证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768328" y="6327648"/>
            <a:ext cx="54864" cy="54864"/>
          </a:xfrm>
          <a:prstGeom prst="rect">
            <a:avLst/>
          </a:prstGeom>
          <a:solidFill>
            <a:srgbClr val="002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260/262/264 区域为表面暴露的局部区域，"/>
          <p:cNvSpPr txBox="1"/>
          <p:nvPr/>
        </p:nvSpPr>
        <p:spPr>
          <a:xfrm>
            <a:off x="11942064" y="6245352"/>
            <a:ext cx="3044952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260/262/264 区域为表面暴露的局部区域，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1768328" y="6556248"/>
            <a:ext cx="54864" cy="54864"/>
          </a:xfrm>
          <a:prstGeom prst="rect">
            <a:avLst/>
          </a:prstGeom>
          <a:solidFill>
            <a:srgbClr val="002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但几何形状更复杂，需要更精细的结构匹配。"/>
          <p:cNvSpPr txBox="1"/>
          <p:nvPr/>
        </p:nvSpPr>
        <p:spPr>
          <a:xfrm>
            <a:off x="11942064" y="6473952"/>
            <a:ext cx="3044952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但几何形状更复杂，需要更精细的结构匹配。</a:t>
            </a:r>
          </a:p>
        </p:txBody>
      </p:sp>
      <p:sp>
        <p:nvSpPr>
          <p:cNvPr id="152" name="Oval 151"/>
          <p:cNvSpPr/>
          <p:nvPr/>
        </p:nvSpPr>
        <p:spPr>
          <a:xfrm>
            <a:off x="11356848" y="6912864"/>
            <a:ext cx="320040" cy="320040"/>
          </a:xfrm>
          <a:prstGeom prst="ellipse">
            <a:avLst/>
          </a:prstGeom>
          <a:ln>
            <a:noFill/>
          </a:ln>
          <a:gradFill>
            <a:gsLst>
              <a:gs pos="0">
                <a:srgbClr val="64B7E8"/>
              </a:gs>
              <a:gs pos="100000">
                <a:srgbClr val="03439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3"/>
          <p:cNvSpPr txBox="1"/>
          <p:nvPr/>
        </p:nvSpPr>
        <p:spPr>
          <a:xfrm>
            <a:off x="11356848" y="6922008"/>
            <a:ext cx="32004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3</a:t>
            </a:r>
          </a:p>
        </p:txBody>
      </p:sp>
      <p:sp>
        <p:nvSpPr>
          <p:cNvPr id="154" name="后续优化（Epitope-constrained redesign）"/>
          <p:cNvSpPr txBox="1"/>
          <p:nvPr/>
        </p:nvSpPr>
        <p:spPr>
          <a:xfrm>
            <a:off x="11768328" y="6958584"/>
            <a:ext cx="331012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297C"/>
                </a:solidFill>
                <a:latin typeface="Noto Sans CJK SC"/>
              </a:defRPr>
            </a:pPr>
            <a:r>
              <a:rPr>
                <a:ea typeface="Noto Sans CJK SC"/>
              </a:rPr>
              <a:t>后续优化（Epitope-constrained redesign）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594592" y="7370064"/>
            <a:ext cx="54864" cy="54864"/>
          </a:xfrm>
          <a:prstGeom prst="rect">
            <a:avLst/>
          </a:prstGeom>
          <a:solidFill>
            <a:srgbClr val="002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在 RFdiffusion 中增加260/262/264的motif约束"/>
          <p:cNvSpPr txBox="1"/>
          <p:nvPr/>
        </p:nvSpPr>
        <p:spPr>
          <a:xfrm>
            <a:off x="11768328" y="7287768"/>
            <a:ext cx="325526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在 RFdiffusion 中增加260/262/264的motif约束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1594592" y="7607808"/>
            <a:ext cx="54864" cy="54864"/>
          </a:xfrm>
          <a:prstGeom prst="rect">
            <a:avLst/>
          </a:prstGeom>
          <a:solidFill>
            <a:srgbClr val="002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调整 binder scaffold（更短长度、增加loop/β结构）"/>
          <p:cNvSpPr txBox="1"/>
          <p:nvPr/>
        </p:nvSpPr>
        <p:spPr>
          <a:xfrm>
            <a:off x="11768328" y="7525512"/>
            <a:ext cx="325526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调整 binder scaffold（更短长度、增加loop/β结构）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1594592" y="7845552"/>
            <a:ext cx="54864" cy="54864"/>
          </a:xfrm>
          <a:prstGeom prst="rect">
            <a:avLst/>
          </a:prstGeom>
          <a:solidFill>
            <a:srgbClr val="002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基于表位接触分析进行迭代筛选与优化设计"/>
          <p:cNvSpPr txBox="1"/>
          <p:nvPr/>
        </p:nvSpPr>
        <p:spPr>
          <a:xfrm>
            <a:off x="11768328" y="7763256"/>
            <a:ext cx="325526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101838"/>
                </a:solidFill>
                <a:latin typeface="Noto Sans CJK SC"/>
              </a:defRPr>
            </a:pPr>
            <a:r>
              <a:rPr>
                <a:ea typeface="Noto Sans CJK SC"/>
              </a:rPr>
              <a:t>基于表位接触分析进行迭代筛选与优化设计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0" y="8330183"/>
            <a:ext cx="15288767" cy="274320"/>
          </a:xfrm>
          <a:prstGeom prst="rect">
            <a:avLst/>
          </a:prstGeom>
          <a:ln>
            <a:noFill/>
          </a:ln>
          <a:gradFill>
            <a:gsLst>
              <a:gs pos="0">
                <a:srgbClr val="00358D"/>
              </a:gs>
              <a:gs pos="100000">
                <a:srgbClr val="DEECF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HER2靶向结合肽AI辅助设计与结合模式研究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