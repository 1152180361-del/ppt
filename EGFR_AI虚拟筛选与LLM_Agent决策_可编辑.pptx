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EGFR截图重建。所有文字、架构卡片、箭头、候选排名列表、开发性评估图标及底部特色栏均为原生可编辑对象。EGFR表面结构、分子对接图、数据库图标、机器人及QSAR散点图由AI按参考截图外观复刻，分别为可替换图片，并非原图像素。散点图未恢复原始观测数据，不包含人为生成的数值数据集；不能用于精确读取或验证模型结果。标题按参考图保留多维证据驱驱动中的重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88767" cy="8604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7/9"/>
          <p:cNvSpPr txBox="1"/>
          <p:nvPr/>
        </p:nvSpPr>
        <p:spPr>
          <a:xfrm>
            <a:off x="329184" y="118872"/>
            <a:ext cx="777240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7/9</a:t>
            </a:r>
          </a:p>
        </p:txBody>
      </p:sp>
      <p:sp>
        <p:nvSpPr>
          <p:cNvPr id="4" name="项目四："/>
          <p:cNvSpPr txBox="1"/>
          <p:nvPr/>
        </p:nvSpPr>
        <p:spPr>
          <a:xfrm>
            <a:off x="1225296" y="201168"/>
            <a:ext cx="190195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项目四：</a:t>
            </a:r>
          </a:p>
        </p:txBody>
      </p:sp>
      <p:sp>
        <p:nvSpPr>
          <p:cNvPr id="5" name="EGFR"/>
          <p:cNvSpPr txBox="1"/>
          <p:nvPr/>
        </p:nvSpPr>
        <p:spPr>
          <a:xfrm>
            <a:off x="3182112" y="155448"/>
            <a:ext cx="159105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EGFR</a:t>
            </a:r>
          </a:p>
        </p:txBody>
      </p:sp>
      <p:sp>
        <p:nvSpPr>
          <p:cNvPr id="6" name="AI辅助虚拟筛选与多维证据驱驱动 LLM Agent 决策"/>
          <p:cNvSpPr txBox="1"/>
          <p:nvPr/>
        </p:nvSpPr>
        <p:spPr>
          <a:xfrm>
            <a:off x="4773168" y="237744"/>
            <a:ext cx="1015898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4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AI辅助虚拟筛选与多维证据驱驱动 LLM Agent 决策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941832"/>
            <a:ext cx="14584680" cy="0"/>
          </a:xfrm>
          <a:prstGeom prst="line">
            <a:avLst/>
          </a:prstGeom>
          <a:ln w="16510">
            <a:solidFill>
              <a:srgbClr val="007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" y="1078992"/>
            <a:ext cx="8183879" cy="566928"/>
          </a:xfrm>
          <a:prstGeom prst="roundRect">
            <a:avLst>
              <a:gd name="adj" fmla="val 9000"/>
            </a:avLst>
          </a:prstGeom>
          <a:ln>
            <a:noFill/>
          </a:ln>
          <a:gradFill>
            <a:gsLst>
              <a:gs pos="0">
                <a:srgbClr val="DFF1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" y="1197864"/>
            <a:ext cx="118872" cy="347472"/>
          </a:xfrm>
          <a:prstGeom prst="roundRect">
            <a:avLst>
              <a:gd name="adj" fmla="val 17000"/>
            </a:avLst>
          </a:prstGeom>
          <a:solidFill>
            <a:srgbClr val="00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研究背景与目标"/>
          <p:cNvSpPr txBox="1"/>
          <p:nvPr/>
        </p:nvSpPr>
        <p:spPr>
          <a:xfrm>
            <a:off x="1069848" y="1097280"/>
            <a:ext cx="722376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研究背景与目标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1883664"/>
            <a:ext cx="128016" cy="128016"/>
          </a:xfrm>
          <a:prstGeom prst="rect">
            <a:avLst/>
          </a:prstGeom>
          <a:solidFill>
            <a:srgbClr val="00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面向 EGFR 靶点，构建从数据收集、虚拟筛选到大语言模型辅助决策的自动化流程。"/>
          <p:cNvSpPr txBox="1"/>
          <p:nvPr/>
        </p:nvSpPr>
        <p:spPr>
          <a:xfrm>
            <a:off x="1097280" y="1719072"/>
            <a:ext cx="11009376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面向 EGFR 靶点，构建从数据收集、虚拟筛选到大语言模型辅助决策的自动化流程。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377440"/>
            <a:ext cx="128016" cy="128016"/>
          </a:xfrm>
          <a:prstGeom prst="rect">
            <a:avLst/>
          </a:prstGeom>
          <a:solidFill>
            <a:srgbClr val="00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整合活性预测、结构证据、多维度开发性评估与确定性排序，利用 LLM Agent 进行证据驱动的 候选分子优先级排序与分析报告生成。"/>
          <p:cNvSpPr txBox="1"/>
          <p:nvPr/>
        </p:nvSpPr>
        <p:spPr>
          <a:xfrm>
            <a:off x="1097280" y="2212848"/>
            <a:ext cx="11439144" cy="813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整合活性预测、结构证据、多维度开发性评估与确定性排序，利用 LLM Agent 进行证据驱动的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候选分子优先级排序与分析报告生成。</a:t>
            </a:r>
          </a:p>
        </p:txBody>
      </p:sp>
      <p:pic>
        <p:nvPicPr>
          <p:cNvPr id="15" name="EGFR_蛋白表面结构（参考图复刻，可替换）" descr="EGFR_蛋白表面结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824" y="1024128"/>
            <a:ext cx="2606040" cy="2350008"/>
          </a:xfrm>
          <a:prstGeom prst="rect">
            <a:avLst/>
          </a:prstGeom>
        </p:spPr>
      </p:pic>
      <p:sp>
        <p:nvSpPr>
          <p:cNvPr id="16" name="EGFR"/>
          <p:cNvSpPr txBox="1"/>
          <p:nvPr/>
        </p:nvSpPr>
        <p:spPr>
          <a:xfrm>
            <a:off x="14008608" y="2642616"/>
            <a:ext cx="1005840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EGFR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136392"/>
            <a:ext cx="8183879" cy="566928"/>
          </a:xfrm>
          <a:prstGeom prst="roundRect">
            <a:avLst>
              <a:gd name="adj" fmla="val 9000"/>
            </a:avLst>
          </a:prstGeom>
          <a:ln>
            <a:noFill/>
          </a:ln>
          <a:gradFill>
            <a:gsLst>
              <a:gs pos="0">
                <a:srgbClr val="DFF1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" y="3255264"/>
            <a:ext cx="118872" cy="347472"/>
          </a:xfrm>
          <a:prstGeom prst="roundRect">
            <a:avLst>
              <a:gd name="adj" fmla="val 17000"/>
            </a:avLst>
          </a:prstGeom>
          <a:solidFill>
            <a:srgbClr val="00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整体架构"/>
          <p:cNvSpPr txBox="1"/>
          <p:nvPr/>
        </p:nvSpPr>
        <p:spPr>
          <a:xfrm>
            <a:off x="1069848" y="3154680"/>
            <a:ext cx="722376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整体架构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4" y="3730752"/>
            <a:ext cx="2807208" cy="317296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4904" y="3730752"/>
            <a:ext cx="2807208" cy="850392"/>
          </a:xfrm>
          <a:prstGeom prst="roundRect">
            <a:avLst>
              <a:gd name="adj" fmla="val 3500"/>
            </a:avLst>
          </a:prstGeom>
          <a:ln>
            <a:noFill/>
          </a:ln>
          <a:gradFill>
            <a:gsLst>
              <a:gs pos="0">
                <a:srgbClr val="E6F5FF"/>
              </a:gs>
              <a:gs pos="100000">
                <a:srgbClr val="E2F3F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MBL 数据 分子库准备"/>
          <p:cNvSpPr txBox="1"/>
          <p:nvPr/>
        </p:nvSpPr>
        <p:spPr>
          <a:xfrm>
            <a:off x="448056" y="3794760"/>
            <a:ext cx="2660904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26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ChEMBL 数据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26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分子库准备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82696" y="3730752"/>
            <a:ext cx="2578608" cy="317296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82696" y="3730752"/>
            <a:ext cx="2578608" cy="850392"/>
          </a:xfrm>
          <a:prstGeom prst="roundRect">
            <a:avLst>
              <a:gd name="adj" fmla="val 3500"/>
            </a:avLst>
          </a:prstGeom>
          <a:ln>
            <a:noFill/>
          </a:ln>
          <a:gradFill>
            <a:gsLst>
              <a:gs pos="0">
                <a:srgbClr val="E6F5FF"/>
              </a:gs>
              <a:gs pos="100000">
                <a:srgbClr val="E2F3F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QSAR 预测 初筛"/>
          <p:cNvSpPr txBox="1"/>
          <p:nvPr/>
        </p:nvSpPr>
        <p:spPr>
          <a:xfrm>
            <a:off x="3355848" y="3794760"/>
            <a:ext cx="2432304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26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QSAR 预测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26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初筛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07608" y="3730752"/>
            <a:ext cx="2523744" cy="317296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07608" y="3730752"/>
            <a:ext cx="2523744" cy="1014984"/>
          </a:xfrm>
          <a:prstGeom prst="roundRect">
            <a:avLst>
              <a:gd name="adj" fmla="val 3500"/>
            </a:avLst>
          </a:prstGeom>
          <a:ln>
            <a:noFill/>
          </a:ln>
          <a:gradFill>
            <a:gsLst>
              <a:gs pos="0">
                <a:srgbClr val="E6F5FF"/>
              </a:gs>
              <a:gs pos="100000">
                <a:srgbClr val="E2F3F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分子对接 结构证据 通用域分析"/>
          <p:cNvSpPr txBox="1"/>
          <p:nvPr/>
        </p:nvSpPr>
        <p:spPr>
          <a:xfrm>
            <a:off x="6080760" y="3794760"/>
            <a:ext cx="2377440" cy="969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分子对接</a:t>
            </a:r>
          </a:p>
          <a:p>
            <a:pPr algn="ctr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结构证据</a:t>
            </a:r>
          </a:p>
          <a:p>
            <a:pPr algn="ctr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通用域分析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59368" y="3730752"/>
            <a:ext cx="2039112" cy="317296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59368" y="3730752"/>
            <a:ext cx="2039112" cy="850392"/>
          </a:xfrm>
          <a:prstGeom prst="roundRect">
            <a:avLst>
              <a:gd name="adj" fmla="val 3500"/>
            </a:avLst>
          </a:prstGeom>
          <a:ln>
            <a:noFill/>
          </a:ln>
          <a:gradFill>
            <a:gsLst>
              <a:gs pos="0">
                <a:srgbClr val="E6F5FF"/>
              </a:gs>
              <a:gs pos="100000">
                <a:srgbClr val="E2F3F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多维度开发性评估"/>
          <p:cNvSpPr txBox="1"/>
          <p:nvPr/>
        </p:nvSpPr>
        <p:spPr>
          <a:xfrm>
            <a:off x="8732520" y="3977639"/>
            <a:ext cx="1892807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多维度开发性评估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35640" y="3730752"/>
            <a:ext cx="2029968" cy="317296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835640" y="3730752"/>
            <a:ext cx="2029968" cy="850392"/>
          </a:xfrm>
          <a:prstGeom prst="roundRect">
            <a:avLst>
              <a:gd name="adj" fmla="val 3500"/>
            </a:avLst>
          </a:prstGeom>
          <a:ln>
            <a:noFill/>
          </a:ln>
          <a:gradFill>
            <a:gsLst>
              <a:gs pos="0">
                <a:srgbClr val="E6F5FF"/>
              </a:gs>
              <a:gs pos="100000">
                <a:srgbClr val="E2F3F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候选优先级排序 Top-N"/>
          <p:cNvSpPr txBox="1"/>
          <p:nvPr/>
        </p:nvSpPr>
        <p:spPr>
          <a:xfrm>
            <a:off x="10908792" y="3794760"/>
            <a:ext cx="1883664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8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候选优先级排序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8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Top-N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002768" y="3730752"/>
            <a:ext cx="1938528" cy="317296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002768" y="3730752"/>
            <a:ext cx="1938528" cy="850392"/>
          </a:xfrm>
          <a:prstGeom prst="roundRect">
            <a:avLst>
              <a:gd name="adj" fmla="val 3500"/>
            </a:avLst>
          </a:prstGeom>
          <a:ln>
            <a:noFill/>
          </a:ln>
          <a:gradFill>
            <a:gsLst>
              <a:gs pos="0">
                <a:srgbClr val="E6F5FF"/>
              </a:gs>
              <a:gs pos="100000">
                <a:srgbClr val="E2F3F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LM Agent 智能分析"/>
          <p:cNvSpPr txBox="1"/>
          <p:nvPr/>
        </p:nvSpPr>
        <p:spPr>
          <a:xfrm>
            <a:off x="13075920" y="3794760"/>
            <a:ext cx="1792224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26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LLM Agent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26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智能分析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944368" y="5010912"/>
            <a:ext cx="557784" cy="621792"/>
          </a:xfrm>
          <a:prstGeom prst="rightArrow">
            <a:avLst/>
          </a:prstGeom>
          <a:ln>
            <a:noFill/>
          </a:ln>
          <a:gradFill>
            <a:gsLst>
              <a:gs pos="0">
                <a:srgbClr val="E5F5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5678424" y="5010912"/>
            <a:ext cx="557784" cy="621792"/>
          </a:xfrm>
          <a:prstGeom prst="rightArrow">
            <a:avLst/>
          </a:prstGeom>
          <a:ln>
            <a:noFill/>
          </a:ln>
          <a:gradFill>
            <a:gsLst>
              <a:gs pos="0">
                <a:srgbClr val="E5F5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8330183" y="5010912"/>
            <a:ext cx="557784" cy="621792"/>
          </a:xfrm>
          <a:prstGeom prst="rightArrow">
            <a:avLst/>
          </a:prstGeom>
          <a:ln>
            <a:noFill/>
          </a:ln>
          <a:gradFill>
            <a:gsLst>
              <a:gs pos="0">
                <a:srgbClr val="E5F5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10561320" y="5010912"/>
            <a:ext cx="557784" cy="621792"/>
          </a:xfrm>
          <a:prstGeom prst="rightArrow">
            <a:avLst/>
          </a:prstGeom>
          <a:ln>
            <a:noFill/>
          </a:ln>
          <a:gradFill>
            <a:gsLst>
              <a:gs pos="0">
                <a:srgbClr val="E5F5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12701016" y="5010912"/>
            <a:ext cx="557784" cy="621792"/>
          </a:xfrm>
          <a:prstGeom prst="rightArrow">
            <a:avLst/>
          </a:prstGeom>
          <a:ln>
            <a:noFill/>
          </a:ln>
          <a:gradFill>
            <a:gsLst>
              <a:gs pos="0">
                <a:srgbClr val="E5F5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EGFR_ChEMBL数据库图标（参考图复刻，可替换）" descr="EGFR_ChEMBL数据库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718304"/>
            <a:ext cx="804672" cy="1097280"/>
          </a:xfrm>
          <a:prstGeom prst="rect">
            <a:avLst/>
          </a:prstGeom>
        </p:spPr>
      </p:pic>
      <p:sp>
        <p:nvSpPr>
          <p:cNvPr id="44" name="数据清洗 分子标准化"/>
          <p:cNvSpPr txBox="1"/>
          <p:nvPr/>
        </p:nvSpPr>
        <p:spPr>
          <a:xfrm>
            <a:off x="740664" y="5961888"/>
            <a:ext cx="2066543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数据清洗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分子标准化</a:t>
            </a:r>
          </a:p>
        </p:txBody>
      </p:sp>
      <p:pic>
        <p:nvPicPr>
          <p:cNvPr id="45" name="EGFR_QSAR散点图外观复刻（参考图复刻，可替换）" descr="EGFR_QSAR散点图外观复刻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4754880"/>
            <a:ext cx="1481328" cy="1060704"/>
          </a:xfrm>
          <a:prstGeom prst="rect">
            <a:avLst/>
          </a:prstGeom>
        </p:spPr>
      </p:pic>
      <p:cxnSp>
        <p:nvCxnSpPr>
          <p:cNvPr id="46" name="Connector 45"/>
          <p:cNvCxnSpPr/>
          <p:nvPr/>
        </p:nvCxnSpPr>
        <p:spPr>
          <a:xfrm>
            <a:off x="3886200" y="4754880"/>
            <a:ext cx="1527048" cy="0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86200" y="5815584"/>
            <a:ext cx="1527048" cy="0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886200" y="4663440"/>
            <a:ext cx="0" cy="1152144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413248" y="4754880"/>
            <a:ext cx="0" cy="1060704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86200" y="5815584"/>
            <a:ext cx="0" cy="36576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0"/>
          <p:cNvSpPr txBox="1"/>
          <p:nvPr/>
        </p:nvSpPr>
        <p:spPr>
          <a:xfrm>
            <a:off x="3776472" y="5833872"/>
            <a:ext cx="21945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191609" y="5815584"/>
            <a:ext cx="0" cy="36576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5"/>
          <p:cNvSpPr txBox="1"/>
          <p:nvPr/>
        </p:nvSpPr>
        <p:spPr>
          <a:xfrm>
            <a:off x="4081881" y="5833872"/>
            <a:ext cx="21945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5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497019" y="5815584"/>
            <a:ext cx="0" cy="36576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10"/>
          <p:cNvSpPr txBox="1"/>
          <p:nvPr/>
        </p:nvSpPr>
        <p:spPr>
          <a:xfrm>
            <a:off x="4387291" y="5833872"/>
            <a:ext cx="21945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10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802428" y="5815584"/>
            <a:ext cx="0" cy="36576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15"/>
          <p:cNvSpPr txBox="1"/>
          <p:nvPr/>
        </p:nvSpPr>
        <p:spPr>
          <a:xfrm>
            <a:off x="4692700" y="5833872"/>
            <a:ext cx="21945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15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107838" y="5815584"/>
            <a:ext cx="0" cy="36576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20"/>
          <p:cNvSpPr txBox="1"/>
          <p:nvPr/>
        </p:nvSpPr>
        <p:spPr>
          <a:xfrm>
            <a:off x="4998110" y="5833872"/>
            <a:ext cx="21945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20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413248" y="5815584"/>
            <a:ext cx="0" cy="36576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25"/>
          <p:cNvSpPr txBox="1"/>
          <p:nvPr/>
        </p:nvSpPr>
        <p:spPr>
          <a:xfrm>
            <a:off x="5303520" y="5833872"/>
            <a:ext cx="21945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25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849624" y="5815584"/>
            <a:ext cx="36576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-10"/>
          <p:cNvSpPr txBox="1"/>
          <p:nvPr/>
        </p:nvSpPr>
        <p:spPr>
          <a:xfrm>
            <a:off x="3621024" y="5742432"/>
            <a:ext cx="21945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-10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849624" y="5550408"/>
            <a:ext cx="36576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-5"/>
          <p:cNvSpPr txBox="1"/>
          <p:nvPr/>
        </p:nvSpPr>
        <p:spPr>
          <a:xfrm>
            <a:off x="3621024" y="5477256"/>
            <a:ext cx="21945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-5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849624" y="5285232"/>
            <a:ext cx="36576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0"/>
          <p:cNvSpPr txBox="1"/>
          <p:nvPr/>
        </p:nvSpPr>
        <p:spPr>
          <a:xfrm>
            <a:off x="3621024" y="5212080"/>
            <a:ext cx="21945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849624" y="5020056"/>
            <a:ext cx="36576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5"/>
          <p:cNvSpPr txBox="1"/>
          <p:nvPr/>
        </p:nvSpPr>
        <p:spPr>
          <a:xfrm>
            <a:off x="3621024" y="4946904"/>
            <a:ext cx="21945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5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849624" y="4754880"/>
            <a:ext cx="36576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10"/>
          <p:cNvSpPr txBox="1"/>
          <p:nvPr/>
        </p:nvSpPr>
        <p:spPr>
          <a:xfrm>
            <a:off x="3621024" y="4681728"/>
            <a:ext cx="21945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111"/>
                </a:solidFill>
                <a:latin typeface="Noto Sans CJK SC"/>
              </a:defRPr>
            </a:pPr>
            <a:r>
              <a:rPr>
                <a:ea typeface="Noto Sans CJK SC"/>
              </a:rPr>
              <a:t>10</a:t>
            </a:r>
          </a:p>
        </p:txBody>
      </p:sp>
      <p:sp>
        <p:nvSpPr>
          <p:cNvPr id="72" name="活性预测 性能过滤"/>
          <p:cNvSpPr txBox="1"/>
          <p:nvPr/>
        </p:nvSpPr>
        <p:spPr>
          <a:xfrm>
            <a:off x="3547872" y="6035040"/>
            <a:ext cx="20574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活性预测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性能过滤</a:t>
            </a:r>
          </a:p>
        </p:txBody>
      </p:sp>
      <p:pic>
        <p:nvPicPr>
          <p:cNvPr id="73" name="EGFR_分子对接结构证据（参考图复刻，可替换）" descr="EGFR_分子对接结构证据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818888"/>
            <a:ext cx="1783080" cy="1060704"/>
          </a:xfrm>
          <a:prstGeom prst="rect">
            <a:avLst/>
          </a:prstGeom>
        </p:spPr>
      </p:pic>
      <p:sp>
        <p:nvSpPr>
          <p:cNvPr id="74" name="结合能评估 相互作用分析 化学空间覆盖评估"/>
          <p:cNvSpPr txBox="1"/>
          <p:nvPr/>
        </p:nvSpPr>
        <p:spPr>
          <a:xfrm>
            <a:off x="6153912" y="5888736"/>
            <a:ext cx="2231136" cy="932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1939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结合能评估</a:t>
            </a:r>
          </a:p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1939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相互作用分析</a:t>
            </a:r>
          </a:p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1939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化学空间覆盖评估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924544" y="4654296"/>
            <a:ext cx="493776" cy="521207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924544" y="5303520"/>
            <a:ext cx="493776" cy="521207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924544" y="5952744"/>
            <a:ext cx="493776" cy="521207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8997696" y="4727448"/>
            <a:ext cx="320040" cy="374904"/>
          </a:xfrm>
          <a:custGeom>
            <a:avLst/>
            <a:gdLst/>
            <a:ahLst/>
            <a:cxnLst/>
            <a:rect l="l" t="t" r="r" b="b"/>
            <a:pathLst>
              <a:path w="35" h="41">
                <a:moveTo>
                  <a:pt x="19" y="4"/>
                </a:moveTo>
                <a:lnTo>
                  <a:pt x="20" y="3"/>
                </a:lnTo>
                <a:lnTo>
                  <a:pt x="21" y="2"/>
                </a:lnTo>
                <a:lnTo>
                  <a:pt x="23" y="1"/>
                </a:lnTo>
                <a:lnTo>
                  <a:pt x="24" y="1"/>
                </a:lnTo>
                <a:lnTo>
                  <a:pt x="25" y="0"/>
                </a:lnTo>
                <a:lnTo>
                  <a:pt x="27" y="0"/>
                </a:lnTo>
                <a:lnTo>
                  <a:pt x="28" y="1"/>
                </a:lnTo>
                <a:lnTo>
                  <a:pt x="30" y="1"/>
                </a:lnTo>
                <a:lnTo>
                  <a:pt x="31" y="2"/>
                </a:lnTo>
                <a:lnTo>
                  <a:pt x="32" y="3"/>
                </a:lnTo>
                <a:lnTo>
                  <a:pt x="33" y="4"/>
                </a:lnTo>
                <a:lnTo>
                  <a:pt x="34" y="6"/>
                </a:lnTo>
                <a:lnTo>
                  <a:pt x="34" y="7"/>
                </a:lnTo>
                <a:lnTo>
                  <a:pt x="35" y="8"/>
                </a:lnTo>
                <a:lnTo>
                  <a:pt x="35" y="10"/>
                </a:lnTo>
                <a:lnTo>
                  <a:pt x="34" y="11"/>
                </a:lnTo>
                <a:lnTo>
                  <a:pt x="34" y="13"/>
                </a:lnTo>
                <a:lnTo>
                  <a:pt x="33" y="14"/>
                </a:lnTo>
                <a:lnTo>
                  <a:pt x="16" y="37"/>
                </a:lnTo>
                <a:lnTo>
                  <a:pt x="15" y="38"/>
                </a:lnTo>
                <a:lnTo>
                  <a:pt x="14" y="39"/>
                </a:lnTo>
                <a:lnTo>
                  <a:pt x="12" y="40"/>
                </a:lnTo>
                <a:lnTo>
                  <a:pt x="11" y="40"/>
                </a:lnTo>
                <a:lnTo>
                  <a:pt x="10" y="41"/>
                </a:lnTo>
                <a:lnTo>
                  <a:pt x="8" y="41"/>
                </a:lnTo>
                <a:lnTo>
                  <a:pt x="7" y="40"/>
                </a:lnTo>
                <a:lnTo>
                  <a:pt x="5" y="40"/>
                </a:lnTo>
                <a:lnTo>
                  <a:pt x="4" y="39"/>
                </a:lnTo>
                <a:lnTo>
                  <a:pt x="3" y="38"/>
                </a:lnTo>
                <a:lnTo>
                  <a:pt x="2" y="37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1"/>
                </a:lnTo>
                <a:lnTo>
                  <a:pt x="1" y="30"/>
                </a:lnTo>
                <a:lnTo>
                  <a:pt x="1" y="28"/>
                </a:lnTo>
                <a:lnTo>
                  <a:pt x="2" y="27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8997696" y="4864608"/>
            <a:ext cx="219456" cy="237744"/>
          </a:xfrm>
          <a:custGeom>
            <a:avLst/>
            <a:gdLst/>
            <a:ahLst/>
            <a:cxnLst/>
            <a:rect l="l" t="t" r="r" b="b"/>
            <a:pathLst>
              <a:path w="24" h="26">
                <a:moveTo>
                  <a:pt x="24" y="10"/>
                </a:moveTo>
                <a:lnTo>
                  <a:pt x="16" y="22"/>
                </a:lnTo>
                <a:lnTo>
                  <a:pt x="15" y="23"/>
                </a:lnTo>
                <a:lnTo>
                  <a:pt x="14" y="24"/>
                </a:lnTo>
                <a:lnTo>
                  <a:pt x="12" y="25"/>
                </a:lnTo>
                <a:lnTo>
                  <a:pt x="11" y="25"/>
                </a:lnTo>
                <a:lnTo>
                  <a:pt x="10" y="26"/>
                </a:lnTo>
                <a:lnTo>
                  <a:pt x="8" y="26"/>
                </a:lnTo>
                <a:lnTo>
                  <a:pt x="7" y="25"/>
                </a:lnTo>
                <a:lnTo>
                  <a:pt x="5" y="25"/>
                </a:lnTo>
                <a:lnTo>
                  <a:pt x="4" y="24"/>
                </a:lnTo>
                <a:lnTo>
                  <a:pt x="3" y="23"/>
                </a:lnTo>
                <a:lnTo>
                  <a:pt x="2" y="22"/>
                </a:lnTo>
                <a:lnTo>
                  <a:pt x="1" y="20"/>
                </a:lnTo>
                <a:lnTo>
                  <a:pt x="1" y="19"/>
                </a:lnTo>
                <a:lnTo>
                  <a:pt x="0" y="18"/>
                </a:lnTo>
                <a:lnTo>
                  <a:pt x="0" y="16"/>
                </a:lnTo>
                <a:lnTo>
                  <a:pt x="1" y="15"/>
                </a:lnTo>
                <a:lnTo>
                  <a:pt x="1" y="13"/>
                </a:lnTo>
                <a:lnTo>
                  <a:pt x="2" y="12"/>
                </a:lnTo>
                <a:lnTo>
                  <a:pt x="10" y="0"/>
                </a:lnTo>
                <a:close/>
              </a:path>
            </a:pathLst>
          </a:custGeom>
          <a:solidFill>
            <a:srgbClr val="00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015984" y="5568696"/>
            <a:ext cx="73152" cy="173736"/>
          </a:xfrm>
          <a:prstGeom prst="rect">
            <a:avLst/>
          </a:prstGeom>
          <a:solidFill>
            <a:srgbClr val="00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25712" y="5477256"/>
            <a:ext cx="73152" cy="265176"/>
          </a:xfrm>
          <a:prstGeom prst="rect">
            <a:avLst/>
          </a:prstGeom>
          <a:solidFill>
            <a:srgbClr val="00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35440" y="5394960"/>
            <a:ext cx="73152" cy="347472"/>
          </a:xfrm>
          <a:prstGeom prst="rect">
            <a:avLst/>
          </a:prstGeom>
          <a:solidFill>
            <a:srgbClr val="00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9034272" y="6053328"/>
            <a:ext cx="310896" cy="356616"/>
          </a:xfrm>
          <a:custGeom>
            <a:avLst/>
            <a:gdLst/>
            <a:ahLst/>
            <a:cxnLst/>
            <a:rect l="l" t="t" r="r" b="b"/>
            <a:pathLst>
              <a:path w="34" h="39">
                <a:moveTo>
                  <a:pt x="11" y="0"/>
                </a:moveTo>
                <a:lnTo>
                  <a:pt x="23" y="0"/>
                </a:lnTo>
                <a:lnTo>
                  <a:pt x="23" y="13"/>
                </a:lnTo>
                <a:lnTo>
                  <a:pt x="34" y="34"/>
                </a:lnTo>
                <a:lnTo>
                  <a:pt x="32" y="39"/>
                </a:lnTo>
                <a:lnTo>
                  <a:pt x="2" y="39"/>
                </a:lnTo>
                <a:lnTo>
                  <a:pt x="0" y="34"/>
                </a:lnTo>
                <a:lnTo>
                  <a:pt x="11" y="13"/>
                </a:lnTo>
                <a:close/>
              </a:path>
            </a:pathLst>
          </a:custGeom>
          <a:noFill/>
          <a:ln w="22860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107424" y="6035040"/>
            <a:ext cx="164592" cy="36576"/>
          </a:xfrm>
          <a:prstGeom prst="rect">
            <a:avLst/>
          </a:prstGeom>
          <a:solidFill>
            <a:srgbClr val="00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9061704" y="6272784"/>
            <a:ext cx="265176" cy="100584"/>
          </a:xfrm>
          <a:custGeom>
            <a:avLst/>
            <a:gdLst/>
            <a:ahLst/>
            <a:cxnLst/>
            <a:rect l="l" t="t" r="r" b="b"/>
            <a:pathLst>
              <a:path w="29" h="11">
                <a:moveTo>
                  <a:pt x="5" y="0"/>
                </a:moveTo>
                <a:lnTo>
                  <a:pt x="23" y="0"/>
                </a:lnTo>
                <a:lnTo>
                  <a:pt x="29" y="11"/>
                </a:lnTo>
                <a:lnTo>
                  <a:pt x="0" y="11"/>
                </a:lnTo>
                <a:close/>
              </a:path>
            </a:pathLst>
          </a:custGeom>
          <a:solidFill>
            <a:srgbClr val="00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DMET 风险"/>
          <p:cNvSpPr txBox="1"/>
          <p:nvPr/>
        </p:nvSpPr>
        <p:spPr>
          <a:xfrm>
            <a:off x="9528048" y="4773168"/>
            <a:ext cx="120700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ADMET 风险</a:t>
            </a:r>
          </a:p>
        </p:txBody>
      </p:sp>
      <p:sp>
        <p:nvSpPr>
          <p:cNvPr id="87" name="PK 性质"/>
          <p:cNvSpPr txBox="1"/>
          <p:nvPr/>
        </p:nvSpPr>
        <p:spPr>
          <a:xfrm>
            <a:off x="9528048" y="5422392"/>
            <a:ext cx="120700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PK 性质</a:t>
            </a:r>
          </a:p>
        </p:txBody>
      </p:sp>
      <p:sp>
        <p:nvSpPr>
          <p:cNvPr id="88" name="合成可行性"/>
          <p:cNvSpPr txBox="1"/>
          <p:nvPr/>
        </p:nvSpPr>
        <p:spPr>
          <a:xfrm>
            <a:off x="9528048" y="6071616"/>
            <a:ext cx="120700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合成可行性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567160" y="4745736"/>
            <a:ext cx="932688" cy="347472"/>
          </a:xfrm>
          <a:prstGeom prst="roundRect">
            <a:avLst>
              <a:gd name="adj" fmla="val 11000"/>
            </a:avLst>
          </a:prstGeom>
          <a:solidFill>
            <a:srgbClr val="E7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1247120" y="4745736"/>
            <a:ext cx="393192" cy="338328"/>
          </a:xfrm>
          <a:prstGeom prst="roundRect">
            <a:avLst>
              <a:gd name="adj" fmla="val 12000"/>
            </a:avLst>
          </a:prstGeom>
          <a:ln>
            <a:noFill/>
          </a:ln>
          <a:gradFill>
            <a:gsLst>
              <a:gs pos="0">
                <a:srgbClr val="00A4FF"/>
              </a:gs>
              <a:gs pos="100000">
                <a:srgbClr val="035CE6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1"/>
          <p:cNvSpPr txBox="1"/>
          <p:nvPr/>
        </p:nvSpPr>
        <p:spPr>
          <a:xfrm>
            <a:off x="11247120" y="4736592"/>
            <a:ext cx="39319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1750040" y="4828032"/>
            <a:ext cx="603504" cy="54864"/>
          </a:xfrm>
          <a:prstGeom prst="roundRect">
            <a:avLst>
              <a:gd name="adj" fmla="val 35000"/>
            </a:avLst>
          </a:prstGeom>
          <a:solidFill>
            <a:srgbClr val="478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1750040" y="4946904"/>
            <a:ext cx="484632" cy="54864"/>
          </a:xfrm>
          <a:prstGeom prst="roundRect">
            <a:avLst>
              <a:gd name="adj" fmla="val 35000"/>
            </a:avLst>
          </a:prstGeom>
          <a:solidFill>
            <a:srgbClr val="78B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1567160" y="5166360"/>
            <a:ext cx="932688" cy="347472"/>
          </a:xfrm>
          <a:prstGeom prst="roundRect">
            <a:avLst>
              <a:gd name="adj" fmla="val 11000"/>
            </a:avLst>
          </a:prstGeom>
          <a:solidFill>
            <a:srgbClr val="E7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1247120" y="5166360"/>
            <a:ext cx="393192" cy="338328"/>
          </a:xfrm>
          <a:prstGeom prst="roundRect">
            <a:avLst>
              <a:gd name="adj" fmla="val 12000"/>
            </a:avLst>
          </a:prstGeom>
          <a:solidFill>
            <a:srgbClr val="93B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2"/>
          <p:cNvSpPr txBox="1"/>
          <p:nvPr/>
        </p:nvSpPr>
        <p:spPr>
          <a:xfrm>
            <a:off x="11247120" y="5157216"/>
            <a:ext cx="39319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1750040" y="5248656"/>
            <a:ext cx="603504" cy="54864"/>
          </a:xfrm>
          <a:prstGeom prst="roundRect">
            <a:avLst>
              <a:gd name="adj" fmla="val 35000"/>
            </a:avLst>
          </a:prstGeom>
          <a:solidFill>
            <a:srgbClr val="83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1750040" y="5367528"/>
            <a:ext cx="484632" cy="54864"/>
          </a:xfrm>
          <a:prstGeom prst="roundRect">
            <a:avLst>
              <a:gd name="adj" fmla="val 35000"/>
            </a:avLst>
          </a:prstGeom>
          <a:solidFill>
            <a:srgbClr val="78B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1567160" y="5586984"/>
            <a:ext cx="932688" cy="347472"/>
          </a:xfrm>
          <a:prstGeom prst="roundRect">
            <a:avLst>
              <a:gd name="adj" fmla="val 11000"/>
            </a:avLst>
          </a:prstGeom>
          <a:solidFill>
            <a:srgbClr val="E7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1247120" y="5586984"/>
            <a:ext cx="393192" cy="338328"/>
          </a:xfrm>
          <a:prstGeom prst="roundRect">
            <a:avLst>
              <a:gd name="adj" fmla="val 12000"/>
            </a:avLst>
          </a:prstGeom>
          <a:solidFill>
            <a:srgbClr val="93B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3"/>
          <p:cNvSpPr txBox="1"/>
          <p:nvPr/>
        </p:nvSpPr>
        <p:spPr>
          <a:xfrm>
            <a:off x="11247120" y="5577840"/>
            <a:ext cx="39319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3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1750040" y="5669280"/>
            <a:ext cx="603504" cy="54864"/>
          </a:xfrm>
          <a:prstGeom prst="roundRect">
            <a:avLst>
              <a:gd name="adj" fmla="val 35000"/>
            </a:avLst>
          </a:prstGeom>
          <a:solidFill>
            <a:srgbClr val="83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1750040" y="5788152"/>
            <a:ext cx="484632" cy="54864"/>
          </a:xfrm>
          <a:prstGeom prst="roundRect">
            <a:avLst>
              <a:gd name="adj" fmla="val 35000"/>
            </a:avLst>
          </a:prstGeom>
          <a:solidFill>
            <a:srgbClr val="78B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多维度加权评分 输出候选清单"/>
          <p:cNvSpPr txBox="1"/>
          <p:nvPr/>
        </p:nvSpPr>
        <p:spPr>
          <a:xfrm>
            <a:off x="10927080" y="6099048"/>
            <a:ext cx="1856231" cy="7223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多维度加权评分</a:t>
            </a:r>
          </a:p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输出候选清单</a:t>
            </a:r>
          </a:p>
        </p:txBody>
      </p:sp>
      <p:pic>
        <p:nvPicPr>
          <p:cNvPr id="105" name="EGFR_LLM_Agent机器人（参考图复刻，可替换）" descr="EGFR_LLM_Agent机器人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04520" y="4681728"/>
            <a:ext cx="1344168" cy="1271016"/>
          </a:xfrm>
          <a:prstGeom prst="rect">
            <a:avLst/>
          </a:prstGeom>
        </p:spPr>
      </p:pic>
      <p:sp>
        <p:nvSpPr>
          <p:cNvPr id="106" name="生成分析报告 给出优化建议"/>
          <p:cNvSpPr txBox="1"/>
          <p:nvPr/>
        </p:nvSpPr>
        <p:spPr>
          <a:xfrm>
            <a:off x="13085064" y="5961888"/>
            <a:ext cx="1773936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生成分析报告</a:t>
            </a:r>
          </a:p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给出优化建议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65760" y="6986016"/>
            <a:ext cx="8183879" cy="566928"/>
          </a:xfrm>
          <a:prstGeom prst="roundRect">
            <a:avLst>
              <a:gd name="adj" fmla="val 9000"/>
            </a:avLst>
          </a:prstGeom>
          <a:ln>
            <a:noFill/>
          </a:ln>
          <a:gradFill>
            <a:gsLst>
              <a:gs pos="0">
                <a:srgbClr val="DFF1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30936" y="7104888"/>
            <a:ext cx="118872" cy="347472"/>
          </a:xfrm>
          <a:prstGeom prst="roundRect">
            <a:avLst>
              <a:gd name="adj" fmla="val 17000"/>
            </a:avLst>
          </a:prstGeom>
          <a:solidFill>
            <a:srgbClr val="00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核心特色"/>
          <p:cNvSpPr txBox="1"/>
          <p:nvPr/>
        </p:nvSpPr>
        <p:spPr>
          <a:xfrm>
            <a:off x="1069848" y="7004304"/>
            <a:ext cx="722376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核心特色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74904" y="7516368"/>
            <a:ext cx="2871216" cy="8778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57784" y="7589520"/>
            <a:ext cx="704088" cy="704088"/>
          </a:xfrm>
          <a:prstGeom prst="ellipse">
            <a:avLst/>
          </a:prstGeom>
          <a:noFill/>
          <a:ln w="21590">
            <a:solidFill>
              <a:srgbClr val="00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证据驱动"/>
          <p:cNvSpPr txBox="1"/>
          <p:nvPr/>
        </p:nvSpPr>
        <p:spPr>
          <a:xfrm>
            <a:off x="1426464" y="7635240"/>
            <a:ext cx="17373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证据驱动</a:t>
            </a:r>
          </a:p>
        </p:txBody>
      </p:sp>
      <p:sp>
        <p:nvSpPr>
          <p:cNvPr id="113" name="多源信息融合决策"/>
          <p:cNvSpPr txBox="1"/>
          <p:nvPr/>
        </p:nvSpPr>
        <p:spPr>
          <a:xfrm>
            <a:off x="1408176" y="7973568"/>
            <a:ext cx="1773936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多源信息融合决策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13232" y="7763256"/>
            <a:ext cx="402336" cy="356616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795528" y="7836408"/>
            <a:ext cx="246887" cy="0"/>
          </a:xfrm>
          <a:prstGeom prst="line">
            <a:avLst/>
          </a:prstGeom>
          <a:ln w="1524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95528" y="7836408"/>
            <a:ext cx="0" cy="201167"/>
          </a:xfrm>
          <a:prstGeom prst="line">
            <a:avLst/>
          </a:prstGeom>
          <a:ln w="1524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42415" y="7836408"/>
            <a:ext cx="0" cy="201167"/>
          </a:xfrm>
          <a:prstGeom prst="line">
            <a:avLst/>
          </a:prstGeom>
          <a:ln w="1524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777240" y="7927848"/>
            <a:ext cx="54864" cy="54864"/>
          </a:xfrm>
          <a:prstGeom prst="ellipse">
            <a:avLst/>
          </a:prstGeom>
          <a:solidFill>
            <a:srgbClr val="FFFFFF"/>
          </a:solidFill>
          <a:ln w="8255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77824" y="7863840"/>
            <a:ext cx="54864" cy="54864"/>
          </a:xfrm>
          <a:prstGeom prst="ellipse">
            <a:avLst/>
          </a:prstGeom>
          <a:solidFill>
            <a:srgbClr val="FFFFFF"/>
          </a:solidFill>
          <a:ln w="8255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996696" y="7927848"/>
            <a:ext cx="54864" cy="54864"/>
          </a:xfrm>
          <a:prstGeom prst="ellipse">
            <a:avLst/>
          </a:prstGeom>
          <a:solidFill>
            <a:srgbClr val="FFFFFF"/>
          </a:solidFill>
          <a:ln w="8255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3346704" y="7516368"/>
            <a:ext cx="2560320" cy="8778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529584" y="7589520"/>
            <a:ext cx="704088" cy="704088"/>
          </a:xfrm>
          <a:prstGeom prst="ellipse">
            <a:avLst/>
          </a:prstGeom>
          <a:noFill/>
          <a:ln w="21590">
            <a:solidFill>
              <a:srgbClr val="00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JSON 审计"/>
          <p:cNvSpPr txBox="1"/>
          <p:nvPr/>
        </p:nvSpPr>
        <p:spPr>
          <a:xfrm>
            <a:off x="4398264" y="7635240"/>
            <a:ext cx="1426464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JSON 审计</a:t>
            </a:r>
          </a:p>
        </p:txBody>
      </p:sp>
      <p:sp>
        <p:nvSpPr>
          <p:cNvPr id="124" name="结果可追溯"/>
          <p:cNvSpPr txBox="1"/>
          <p:nvPr/>
        </p:nvSpPr>
        <p:spPr>
          <a:xfrm>
            <a:off x="4379976" y="7973568"/>
            <a:ext cx="1463040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结果可追溯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3721608" y="7735824"/>
            <a:ext cx="301752" cy="402336"/>
          </a:xfrm>
          <a:custGeom>
            <a:avLst/>
            <a:gdLst/>
            <a:ahLst/>
            <a:cxnLst/>
            <a:rect l="l" t="t" r="r" b="b"/>
            <a:pathLst>
              <a:path w="33" h="44">
                <a:moveTo>
                  <a:pt x="0" y="0"/>
                </a:moveTo>
                <a:lnTo>
                  <a:pt x="22" y="0"/>
                </a:lnTo>
                <a:lnTo>
                  <a:pt x="33" y="11"/>
                </a:lnTo>
                <a:lnTo>
                  <a:pt x="33" y="44"/>
                </a:lnTo>
                <a:lnTo>
                  <a:pt x="0" y="44"/>
                </a:lnTo>
                <a:close/>
              </a:path>
            </a:pathLst>
          </a:custGeom>
          <a:noFill/>
          <a:ln w="21590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3922776" y="7735824"/>
            <a:ext cx="0" cy="100584"/>
          </a:xfrm>
          <a:prstGeom prst="line">
            <a:avLst/>
          </a:prstGeom>
          <a:ln w="1778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22776" y="7836408"/>
            <a:ext cx="100584" cy="0"/>
          </a:xfrm>
          <a:prstGeom prst="line">
            <a:avLst/>
          </a:prstGeom>
          <a:ln w="1778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776472" y="7854696"/>
            <a:ext cx="91440" cy="0"/>
          </a:xfrm>
          <a:prstGeom prst="line">
            <a:avLst/>
          </a:prstGeom>
          <a:ln w="1524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3776472" y="7927848"/>
            <a:ext cx="219456" cy="0"/>
          </a:xfrm>
          <a:prstGeom prst="line">
            <a:avLst/>
          </a:prstGeom>
          <a:ln w="1524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776472" y="8001000"/>
            <a:ext cx="219456" cy="0"/>
          </a:xfrm>
          <a:prstGeom prst="line">
            <a:avLst/>
          </a:prstGeom>
          <a:ln w="1524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776472" y="8074152"/>
            <a:ext cx="219456" cy="0"/>
          </a:xfrm>
          <a:prstGeom prst="line">
            <a:avLst/>
          </a:prstGeom>
          <a:ln w="1524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6025896" y="7516368"/>
            <a:ext cx="2551176" cy="8778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208776" y="7589520"/>
            <a:ext cx="704088" cy="704088"/>
          </a:xfrm>
          <a:prstGeom prst="ellipse">
            <a:avLst/>
          </a:prstGeom>
          <a:noFill/>
          <a:ln w="21590">
            <a:solidFill>
              <a:srgbClr val="00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自动化测试"/>
          <p:cNvSpPr txBox="1"/>
          <p:nvPr/>
        </p:nvSpPr>
        <p:spPr>
          <a:xfrm>
            <a:off x="7077456" y="7635240"/>
            <a:ext cx="141732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自动化测试</a:t>
            </a:r>
          </a:p>
        </p:txBody>
      </p:sp>
      <p:sp>
        <p:nvSpPr>
          <p:cNvPr id="135" name="规避隐患可复现"/>
          <p:cNvSpPr txBox="1"/>
          <p:nvPr/>
        </p:nvSpPr>
        <p:spPr>
          <a:xfrm>
            <a:off x="7059168" y="7973568"/>
            <a:ext cx="1453896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规避隐患可复现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345936" y="7781544"/>
            <a:ext cx="393192" cy="338328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00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6345936" y="7854696"/>
            <a:ext cx="393192" cy="0"/>
          </a:xfrm>
          <a:prstGeom prst="line">
            <a:avLst/>
          </a:prstGeom>
          <a:ln w="1524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428232" y="7763256"/>
            <a:ext cx="0" cy="54864"/>
          </a:xfrm>
          <a:prstGeom prst="line">
            <a:avLst/>
          </a:prstGeom>
          <a:ln w="1905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665976" y="7763256"/>
            <a:ext cx="0" cy="54864"/>
          </a:xfrm>
          <a:prstGeom prst="line">
            <a:avLst/>
          </a:prstGeom>
          <a:ln w="1905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6437376" y="7955279"/>
            <a:ext cx="91440" cy="82296"/>
          </a:xfrm>
          <a:prstGeom prst="line">
            <a:avLst/>
          </a:prstGeom>
          <a:ln w="2540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6528816" y="7891272"/>
            <a:ext cx="118872" cy="146303"/>
          </a:xfrm>
          <a:prstGeom prst="line">
            <a:avLst/>
          </a:prstGeom>
          <a:ln w="25400">
            <a:solidFill>
              <a:srgbClr val="00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8677656" y="7516368"/>
            <a:ext cx="3383280" cy="8778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860536" y="7589520"/>
            <a:ext cx="704088" cy="704088"/>
          </a:xfrm>
          <a:prstGeom prst="ellipse">
            <a:avLst/>
          </a:prstGeom>
          <a:noFill/>
          <a:ln w="21590">
            <a:solidFill>
              <a:srgbClr val="00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Qwen2.5 + Function Calling"/>
          <p:cNvSpPr txBox="1"/>
          <p:nvPr/>
        </p:nvSpPr>
        <p:spPr>
          <a:xfrm>
            <a:off x="9665208" y="7635240"/>
            <a:ext cx="2313432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359C"/>
                </a:solidFill>
                <a:latin typeface="Arial"/>
              </a:defRPr>
            </a:pPr>
            <a:r>
              <a:rPr sz="1200">
                <a:latin typeface="Arial"/>
                <a:ea typeface="Noto Sans CJK SC"/>
              </a:rPr>
              <a:t>Qwen2.5 + Function Calling</a:t>
            </a:r>
          </a:p>
        </p:txBody>
      </p:sp>
      <p:sp>
        <p:nvSpPr>
          <p:cNvPr id="145" name="工具调用与自动化分析"/>
          <p:cNvSpPr txBox="1"/>
          <p:nvPr/>
        </p:nvSpPr>
        <p:spPr>
          <a:xfrm>
            <a:off x="9646920" y="7973568"/>
            <a:ext cx="235000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工具调用与自动化分析</a:t>
            </a:r>
          </a:p>
        </p:txBody>
      </p:sp>
      <p:sp>
        <p:nvSpPr>
          <p:cNvPr id="146" name="Freeform 145"/>
          <p:cNvSpPr/>
          <p:nvPr/>
        </p:nvSpPr>
        <p:spPr>
          <a:xfrm>
            <a:off x="8961120" y="7690104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54" h="54">
                <a:moveTo>
                  <a:pt x="47" y="21"/>
                </a:moveTo>
                <a:lnTo>
                  <a:pt x="54" y="22"/>
                </a:lnTo>
                <a:lnTo>
                  <a:pt x="54" y="32"/>
                </a:lnTo>
                <a:lnTo>
                  <a:pt x="47" y="33"/>
                </a:lnTo>
                <a:lnTo>
                  <a:pt x="46" y="36"/>
                </a:lnTo>
                <a:lnTo>
                  <a:pt x="49" y="42"/>
                </a:lnTo>
                <a:lnTo>
                  <a:pt x="42" y="49"/>
                </a:lnTo>
                <a:lnTo>
                  <a:pt x="36" y="46"/>
                </a:lnTo>
                <a:lnTo>
                  <a:pt x="33" y="47"/>
                </a:lnTo>
                <a:lnTo>
                  <a:pt x="32" y="54"/>
                </a:lnTo>
                <a:lnTo>
                  <a:pt x="22" y="54"/>
                </a:lnTo>
                <a:lnTo>
                  <a:pt x="21" y="47"/>
                </a:lnTo>
                <a:lnTo>
                  <a:pt x="18" y="46"/>
                </a:lnTo>
                <a:lnTo>
                  <a:pt x="12" y="49"/>
                </a:lnTo>
                <a:lnTo>
                  <a:pt x="5" y="42"/>
                </a:lnTo>
                <a:lnTo>
                  <a:pt x="8" y="36"/>
                </a:lnTo>
                <a:lnTo>
                  <a:pt x="7" y="33"/>
                </a:lnTo>
                <a:lnTo>
                  <a:pt x="0" y="32"/>
                </a:lnTo>
                <a:lnTo>
                  <a:pt x="0" y="22"/>
                </a:lnTo>
                <a:lnTo>
                  <a:pt x="7" y="21"/>
                </a:lnTo>
                <a:lnTo>
                  <a:pt x="8" y="18"/>
                </a:lnTo>
                <a:lnTo>
                  <a:pt x="5" y="12"/>
                </a:lnTo>
                <a:lnTo>
                  <a:pt x="12" y="5"/>
                </a:lnTo>
                <a:lnTo>
                  <a:pt x="18" y="8"/>
                </a:lnTo>
                <a:lnTo>
                  <a:pt x="21" y="7"/>
                </a:lnTo>
                <a:lnTo>
                  <a:pt x="22" y="0"/>
                </a:lnTo>
                <a:lnTo>
                  <a:pt x="32" y="0"/>
                </a:lnTo>
                <a:lnTo>
                  <a:pt x="33" y="7"/>
                </a:lnTo>
                <a:lnTo>
                  <a:pt x="36" y="8"/>
                </a:lnTo>
                <a:lnTo>
                  <a:pt x="42" y="5"/>
                </a:lnTo>
                <a:lnTo>
                  <a:pt x="49" y="12"/>
                </a:lnTo>
                <a:lnTo>
                  <a:pt x="46" y="18"/>
                </a:lnTo>
                <a:close/>
              </a:path>
            </a:pathLst>
          </a:custGeom>
          <a:solidFill>
            <a:srgbClr val="00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9125712" y="7854696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12161520" y="7516368"/>
            <a:ext cx="2779776" cy="8778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8255">
            <a:solidFill>
              <a:srgbClr val="B5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2344400" y="7589520"/>
            <a:ext cx="704088" cy="704088"/>
          </a:xfrm>
          <a:prstGeom prst="ellipse">
            <a:avLst/>
          </a:prstGeom>
          <a:noFill/>
          <a:ln w="21590">
            <a:solidFill>
              <a:srgbClr val="00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多维度开发性评估"/>
          <p:cNvSpPr txBox="1"/>
          <p:nvPr/>
        </p:nvSpPr>
        <p:spPr>
          <a:xfrm>
            <a:off x="13149072" y="7580375"/>
            <a:ext cx="1709928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70" b="1">
                <a:solidFill>
                  <a:srgbClr val="00359C"/>
                </a:solidFill>
                <a:latin typeface="Noto Sans CJK SC"/>
              </a:defRPr>
            </a:pPr>
            <a:r>
              <a:rPr>
                <a:ea typeface="Noto Sans CJK SC"/>
              </a:rPr>
              <a:t>多维度开发性评估</a:t>
            </a:r>
          </a:p>
        </p:txBody>
      </p:sp>
      <p:sp>
        <p:nvSpPr>
          <p:cNvPr id="151" name="活性-安全性-开发性 综合评价"/>
          <p:cNvSpPr txBox="1"/>
          <p:nvPr/>
        </p:nvSpPr>
        <p:spPr>
          <a:xfrm>
            <a:off x="13130784" y="7872983"/>
            <a:ext cx="1746504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活性-安全性-开发性</a:t>
            </a:r>
          </a:p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4B5271"/>
                </a:solidFill>
                <a:latin typeface="Noto Sans CJK SC"/>
              </a:defRPr>
            </a:pPr>
            <a:r>
              <a:rPr>
                <a:ea typeface="Noto Sans CJK SC"/>
              </a:rPr>
              <a:t>综合评价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2527280" y="7918704"/>
            <a:ext cx="73152" cy="173736"/>
          </a:xfrm>
          <a:prstGeom prst="rect">
            <a:avLst/>
          </a:prstGeom>
          <a:solidFill>
            <a:srgbClr val="00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2637008" y="7827264"/>
            <a:ext cx="73152" cy="265176"/>
          </a:xfrm>
          <a:prstGeom prst="rect">
            <a:avLst/>
          </a:prstGeom>
          <a:solidFill>
            <a:srgbClr val="00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2746736" y="7744968"/>
            <a:ext cx="73152" cy="347472"/>
          </a:xfrm>
          <a:prstGeom prst="rect">
            <a:avLst/>
          </a:prstGeom>
          <a:solidFill>
            <a:srgbClr val="00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EGFR AI辅助虚拟筛选与多维证据驱动LLM Agent决策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