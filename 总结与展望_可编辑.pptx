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88767" cy="86045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用户提供的总结与展望截图重建。标题、三栏项目收获/岗位匹配/未来规划、全部说明、灯泡/靶心/柱状图图标、分隔线及底部答谢语/Q&amp;A均为原生可编辑PowerPoint对象。底部校园与山景背景由图像工具按参考截图复刻，为可替换图片，并非原图像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88767" cy="8604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9/9"/>
          <p:cNvSpPr txBox="1"/>
          <p:nvPr/>
        </p:nvSpPr>
        <p:spPr>
          <a:xfrm>
            <a:off x="356616" y="201168"/>
            <a:ext cx="886968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09317D"/>
                </a:solidFill>
                <a:latin typeface="Noto Sans CJK SC"/>
              </a:defRPr>
            </a:pPr>
            <a:r>
              <a:rPr>
                <a:ea typeface="Noto Sans CJK SC"/>
              </a:rPr>
              <a:t>9/9</a:t>
            </a:r>
          </a:p>
        </p:txBody>
      </p:sp>
      <p:sp>
        <p:nvSpPr>
          <p:cNvPr id="4" name="总结与展望"/>
          <p:cNvSpPr txBox="1"/>
          <p:nvPr/>
        </p:nvSpPr>
        <p:spPr>
          <a:xfrm>
            <a:off x="1435608" y="310896"/>
            <a:ext cx="3758184" cy="7955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29" b="1">
                <a:solidFill>
                  <a:srgbClr val="09317D"/>
                </a:solidFill>
                <a:latin typeface="Noto Sans CJK SC"/>
              </a:defRPr>
            </a:pPr>
            <a:r>
              <a:rPr>
                <a:ea typeface="Noto Sans CJK SC"/>
              </a:rPr>
              <a:t>总结与展望</a:t>
            </a:r>
          </a:p>
        </p:txBody>
      </p:sp>
      <p:sp>
        <p:nvSpPr>
          <p:cNvPr id="5" name="BIO • AI • DRUG DISCOVERY"/>
          <p:cNvSpPr txBox="1"/>
          <p:nvPr/>
        </p:nvSpPr>
        <p:spPr>
          <a:xfrm>
            <a:off x="11311128" y="576072"/>
            <a:ext cx="3675887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F56AC"/>
                </a:solidFill>
                <a:latin typeface="Noto Sans CJK SC"/>
              </a:defRPr>
            </a:pPr>
            <a:r>
              <a:rPr spc="210">
                <a:ea typeface="Noto Sans CJK SC"/>
              </a:rPr>
              <a:t>BIO • AI • DRUG DISCOVERY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4904" y="1042415"/>
            <a:ext cx="14566392" cy="0"/>
          </a:xfrm>
          <a:prstGeom prst="line">
            <a:avLst/>
          </a:prstGeom>
          <a:ln w="21590">
            <a:solidFill>
              <a:srgbClr val="0C56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74904" y="1289304"/>
            <a:ext cx="4736592" cy="4873752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8255">
            <a:solidFill>
              <a:srgbClr val="BF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1298448"/>
            <a:ext cx="4718304" cy="4837176"/>
          </a:xfrm>
          <a:prstGeom prst="roundRect">
            <a:avLst>
              <a:gd name="adj" fmla="val 2700"/>
            </a:avLst>
          </a:prstGeom>
          <a:ln>
            <a:noFill/>
          </a:ln>
          <a:gradFill>
            <a:gsLst>
              <a:gs pos="0">
                <a:srgbClr val="F1FAFF"/>
              </a:gs>
              <a:gs pos="100000">
                <a:srgbClr val="FFFF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94960" y="1289304"/>
            <a:ext cx="4599432" cy="4873752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8255">
            <a:solidFill>
              <a:srgbClr val="BF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04104" y="1298448"/>
            <a:ext cx="4581144" cy="4837176"/>
          </a:xfrm>
          <a:prstGeom prst="roundRect">
            <a:avLst>
              <a:gd name="adj" fmla="val 2700"/>
            </a:avLst>
          </a:prstGeom>
          <a:ln>
            <a:noFill/>
          </a:ln>
          <a:gradFill>
            <a:gsLst>
              <a:gs pos="0">
                <a:srgbClr val="F1FAFF"/>
              </a:gs>
              <a:gs pos="100000">
                <a:srgbClr val="FFFF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68712" y="1289304"/>
            <a:ext cx="4672584" cy="4873752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8255">
            <a:solidFill>
              <a:srgbClr val="BFD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77856" y="1298448"/>
            <a:ext cx="4654296" cy="4837176"/>
          </a:xfrm>
          <a:prstGeom prst="roundRect">
            <a:avLst>
              <a:gd name="adj" fmla="val 2700"/>
            </a:avLst>
          </a:prstGeom>
          <a:ln>
            <a:noFill/>
          </a:ln>
          <a:gradFill>
            <a:gsLst>
              <a:gs pos="0">
                <a:srgbClr val="F1FAFF"/>
              </a:gs>
              <a:gs pos="100000">
                <a:srgbClr val="FFFF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1499616"/>
            <a:ext cx="850392" cy="850392"/>
          </a:xfrm>
          <a:prstGeom prst="ellipse">
            <a:avLst/>
          </a:prstGeom>
          <a:ln>
            <a:noFill/>
          </a:ln>
          <a:gradFill>
            <a:gsLst>
              <a:gs pos="0">
                <a:srgbClr val="0561A9"/>
              </a:gs>
              <a:gs pos="100000">
                <a:srgbClr val="117CC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1655064"/>
            <a:ext cx="347472" cy="393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996696" y="1920240"/>
            <a:ext cx="274320" cy="173736"/>
          </a:xfrm>
          <a:custGeom>
            <a:avLst/>
            <a:gdLst/>
            <a:ahLst/>
            <a:cxnLst/>
            <a:rect l="l" t="t" r="r" b="b"/>
            <a:pathLst>
              <a:path w="30" h="19">
                <a:moveTo>
                  <a:pt x="0" y="0"/>
                </a:moveTo>
                <a:lnTo>
                  <a:pt x="30" y="0"/>
                </a:lnTo>
                <a:lnTo>
                  <a:pt x="21" y="19"/>
                </a:lnTo>
                <a:lnTo>
                  <a:pt x="9" y="1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60704" y="2112264"/>
            <a:ext cx="146304" cy="274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9848" y="2157984"/>
            <a:ext cx="128016" cy="274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项目收获"/>
          <p:cNvSpPr txBox="1"/>
          <p:nvPr/>
        </p:nvSpPr>
        <p:spPr>
          <a:xfrm>
            <a:off x="1865376" y="1600200"/>
            <a:ext cx="27432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20" b="1">
                <a:solidFill>
                  <a:srgbClr val="09317D"/>
                </a:solidFill>
                <a:latin typeface="Noto Sans CJK SC"/>
              </a:defRPr>
            </a:pPr>
            <a:r>
              <a:rPr>
                <a:ea typeface="Noto Sans CJK SC"/>
              </a:rPr>
              <a:t>项目收获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28216" y="2258568"/>
            <a:ext cx="3145536" cy="0"/>
          </a:xfrm>
          <a:prstGeom prst="line">
            <a:avLst/>
          </a:prstGeom>
          <a:ln w="8890">
            <a:solidFill>
              <a:srgbClr val="8FC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650992" y="2267712"/>
            <a:ext cx="4114800" cy="0"/>
          </a:xfrm>
          <a:prstGeom prst="line">
            <a:avLst/>
          </a:prstGeom>
          <a:ln w="8890">
            <a:solidFill>
              <a:srgbClr val="8BAB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815584" y="1536192"/>
            <a:ext cx="859536" cy="8595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97880" y="1609344"/>
            <a:ext cx="685800" cy="685800"/>
          </a:xfrm>
          <a:prstGeom prst="ellipse">
            <a:avLst/>
          </a:prstGeom>
          <a:noFill/>
          <a:ln w="88900">
            <a:solidFill>
              <a:srgbClr val="093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62472" y="1773936"/>
            <a:ext cx="356616" cy="356616"/>
          </a:xfrm>
          <a:prstGeom prst="ellipse">
            <a:avLst/>
          </a:prstGeom>
          <a:noFill/>
          <a:ln w="76200">
            <a:solidFill>
              <a:srgbClr val="093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81344" y="1892807"/>
            <a:ext cx="118872" cy="118872"/>
          </a:xfrm>
          <a:prstGeom prst="ellipse">
            <a:avLst/>
          </a:prstGeom>
          <a:solidFill>
            <a:srgbClr val="093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 rot="18900000">
            <a:off x="6135624" y="1719072"/>
            <a:ext cx="530352" cy="164592"/>
          </a:xfrm>
          <a:prstGeom prst="rightArrow">
            <a:avLst/>
          </a:prstGeom>
          <a:solidFill>
            <a:srgbClr val="09317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岗位匹配"/>
          <p:cNvSpPr txBox="1"/>
          <p:nvPr/>
        </p:nvSpPr>
        <p:spPr>
          <a:xfrm>
            <a:off x="7223760" y="1600200"/>
            <a:ext cx="2569464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20" b="1">
                <a:solidFill>
                  <a:srgbClr val="09317D"/>
                </a:solidFill>
                <a:latin typeface="Noto Sans CJK SC"/>
              </a:defRPr>
            </a:pPr>
            <a:r>
              <a:rPr>
                <a:ea typeface="Noto Sans CJK SC"/>
              </a:rPr>
              <a:t>岗位匹配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71048" y="1920240"/>
            <a:ext cx="164592" cy="246888"/>
          </a:xfrm>
          <a:prstGeom prst="roundRect">
            <a:avLst>
              <a:gd name="adj" fmla="val 22000"/>
            </a:avLst>
          </a:prstGeom>
          <a:ln>
            <a:noFill/>
          </a:ln>
          <a:gradFill>
            <a:gsLst>
              <a:gs pos="0">
                <a:srgbClr val="0569A5"/>
              </a:gs>
              <a:gs pos="100000">
                <a:srgbClr val="0B8CB7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917936" y="1746504"/>
            <a:ext cx="164592" cy="420624"/>
          </a:xfrm>
          <a:prstGeom prst="roundRect">
            <a:avLst>
              <a:gd name="adj" fmla="val 22000"/>
            </a:avLst>
          </a:prstGeom>
          <a:ln>
            <a:noFill/>
          </a:ln>
          <a:gradFill>
            <a:gsLst>
              <a:gs pos="0">
                <a:srgbClr val="0877A5"/>
              </a:gs>
              <a:gs pos="100000">
                <a:srgbClr val="21A2AD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183112" y="1545336"/>
            <a:ext cx="164592" cy="621792"/>
          </a:xfrm>
          <a:prstGeom prst="roundRect">
            <a:avLst>
              <a:gd name="adj" fmla="val 22000"/>
            </a:avLst>
          </a:prstGeom>
          <a:ln>
            <a:noFill/>
          </a:ln>
          <a:gradFill>
            <a:gsLst>
              <a:gs pos="0">
                <a:srgbClr val="064390"/>
              </a:gs>
              <a:gs pos="100000">
                <a:srgbClr val="134DA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未来规划"/>
          <p:cNvSpPr txBox="1"/>
          <p:nvPr/>
        </p:nvSpPr>
        <p:spPr>
          <a:xfrm>
            <a:off x="12024360" y="1600200"/>
            <a:ext cx="2478024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20" b="1">
                <a:solidFill>
                  <a:srgbClr val="09317D"/>
                </a:solidFill>
                <a:latin typeface="Noto Sans CJK SC"/>
              </a:defRPr>
            </a:pPr>
            <a:r>
              <a:rPr>
                <a:ea typeface="Noto Sans CJK SC"/>
              </a:rPr>
              <a:t>未来规划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497312" y="2258568"/>
            <a:ext cx="4224528" cy="0"/>
          </a:xfrm>
          <a:prstGeom prst="line">
            <a:avLst/>
          </a:prstGeom>
          <a:ln w="8890">
            <a:solidFill>
              <a:srgbClr val="8FC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58368" y="2715768"/>
            <a:ext cx="155448" cy="155448"/>
          </a:xfrm>
          <a:prstGeom prst="rect">
            <a:avLst/>
          </a:prstGeom>
          <a:solidFill>
            <a:srgbClr val="093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掌握从数据处理、模型构建、 结构分析到实验验证的AI for Science完整流程"/>
          <p:cNvSpPr txBox="1"/>
          <p:nvPr/>
        </p:nvSpPr>
        <p:spPr>
          <a:xfrm>
            <a:off x="1097280" y="2578608"/>
            <a:ext cx="3840480" cy="1344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18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F4053"/>
                </a:solidFill>
                <a:latin typeface="Noto Sans CJK SC"/>
              </a:defRPr>
            </a:pPr>
            <a:r>
              <a:rPr>
                <a:ea typeface="Noto Sans CJK SC"/>
              </a:rPr>
              <a:t>掌握从数据处理、模型构建、</a:t>
            </a:r>
          </a:p>
          <a:p>
            <a:pPr algn="l">
              <a:lnSpc>
                <a:spcPts val="318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F4053"/>
                </a:solidFill>
                <a:latin typeface="Noto Sans CJK SC"/>
              </a:defRPr>
            </a:pPr>
            <a:r>
              <a:rPr>
                <a:ea typeface="Noto Sans CJK SC"/>
              </a:rPr>
              <a:t>结构分析到实验验证的AI for</a:t>
            </a:r>
          </a:p>
          <a:p>
            <a:pPr algn="l">
              <a:lnSpc>
                <a:spcPts val="318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F4053"/>
                </a:solidFill>
                <a:latin typeface="Noto Sans CJK SC"/>
              </a:defRPr>
            </a:pPr>
            <a:r>
              <a:rPr>
                <a:ea typeface="Noto Sans CJK SC"/>
              </a:rPr>
              <a:t>Science完整流程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123944"/>
            <a:ext cx="155448" cy="155448"/>
          </a:xfrm>
          <a:prstGeom prst="rect">
            <a:avLst/>
          </a:prstGeom>
          <a:solidFill>
            <a:srgbClr val="093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建立蛋白设计、虚拟筛选与 AI Agent工程实践经验"/>
          <p:cNvSpPr txBox="1"/>
          <p:nvPr/>
        </p:nvSpPr>
        <p:spPr>
          <a:xfrm>
            <a:off x="1097280" y="3986784"/>
            <a:ext cx="3840480" cy="1344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18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F4053"/>
                </a:solidFill>
                <a:latin typeface="Noto Sans CJK SC"/>
              </a:defRPr>
            </a:pPr>
            <a:r>
              <a:rPr>
                <a:ea typeface="Noto Sans CJK SC"/>
              </a:rPr>
              <a:t>建立蛋白设计、虚拟筛选与</a:t>
            </a:r>
          </a:p>
          <a:p>
            <a:pPr algn="l">
              <a:lnSpc>
                <a:spcPts val="318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F4053"/>
                </a:solidFill>
                <a:latin typeface="Noto Sans CJK SC"/>
              </a:defRPr>
            </a:pPr>
            <a:r>
              <a:rPr>
                <a:ea typeface="Noto Sans CJK SC"/>
              </a:rPr>
              <a:t>AI Agent工程实践经验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166360"/>
            <a:ext cx="155448" cy="155448"/>
          </a:xfrm>
          <a:prstGeom prst="rect">
            <a:avLst/>
          </a:prstGeom>
          <a:solidFill>
            <a:srgbClr val="093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具备跨学科问题分析与 科研项目落地能力"/>
          <p:cNvSpPr txBox="1"/>
          <p:nvPr/>
        </p:nvSpPr>
        <p:spPr>
          <a:xfrm>
            <a:off x="1097280" y="5029200"/>
            <a:ext cx="3840480" cy="1344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18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F4053"/>
                </a:solidFill>
                <a:latin typeface="Noto Sans CJK SC"/>
              </a:defRPr>
            </a:pPr>
            <a:r>
              <a:rPr>
                <a:ea typeface="Noto Sans CJK SC"/>
              </a:rPr>
              <a:t>具备跨学科问题分析与</a:t>
            </a:r>
          </a:p>
          <a:p>
            <a:pPr algn="l">
              <a:lnSpc>
                <a:spcPts val="318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F4053"/>
                </a:solidFill>
                <a:latin typeface="Noto Sans CJK SC"/>
              </a:defRPr>
            </a:pPr>
            <a:r>
              <a:rPr>
                <a:ea typeface="Noto Sans CJK SC"/>
              </a:rPr>
              <a:t>科研项目落地能力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96712" y="2715768"/>
            <a:ext cx="155448" cy="155448"/>
          </a:xfrm>
          <a:prstGeom prst="rect">
            <a:avLst/>
          </a:prstGeom>
          <a:solidFill>
            <a:srgbClr val="093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具备蛋白设计、药物发现与 生成式AI项目经验"/>
          <p:cNvSpPr txBox="1"/>
          <p:nvPr/>
        </p:nvSpPr>
        <p:spPr>
          <a:xfrm>
            <a:off x="6135624" y="2578608"/>
            <a:ext cx="3648456" cy="1344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18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F4053"/>
                </a:solidFill>
                <a:latin typeface="Noto Sans CJK SC"/>
              </a:defRPr>
            </a:pPr>
            <a:r>
              <a:rPr>
                <a:ea typeface="Noto Sans CJK SC"/>
              </a:rPr>
              <a:t>具备蛋白设计、药物发现与</a:t>
            </a:r>
          </a:p>
          <a:p>
            <a:pPr algn="l">
              <a:lnSpc>
                <a:spcPts val="318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F4053"/>
                </a:solidFill>
                <a:latin typeface="Noto Sans CJK SC"/>
              </a:defRPr>
            </a:pPr>
            <a:r>
              <a:rPr>
                <a:ea typeface="Noto Sans CJK SC"/>
              </a:rPr>
              <a:t>生成式AI项目经验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96712" y="3895344"/>
            <a:ext cx="155448" cy="155448"/>
          </a:xfrm>
          <a:prstGeom prst="rect">
            <a:avLst/>
          </a:prstGeom>
          <a:solidFill>
            <a:srgbClr val="093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熟悉机器学习、结构生物学 与深度学习模型应用"/>
          <p:cNvSpPr txBox="1"/>
          <p:nvPr/>
        </p:nvSpPr>
        <p:spPr>
          <a:xfrm>
            <a:off x="6135624" y="3758184"/>
            <a:ext cx="3648456" cy="1344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18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F4053"/>
                </a:solidFill>
                <a:latin typeface="Noto Sans CJK SC"/>
              </a:defRPr>
            </a:pPr>
            <a:r>
              <a:rPr>
                <a:ea typeface="Noto Sans CJK SC"/>
              </a:rPr>
              <a:t>熟悉机器学习、结构生物学</a:t>
            </a:r>
          </a:p>
          <a:p>
            <a:pPr algn="l">
              <a:lnSpc>
                <a:spcPts val="318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F4053"/>
                </a:solidFill>
                <a:latin typeface="Noto Sans CJK SC"/>
              </a:defRPr>
            </a:pPr>
            <a:r>
              <a:rPr>
                <a:ea typeface="Noto Sans CJK SC"/>
              </a:rPr>
              <a:t>与深度学习模型应用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96712" y="5020056"/>
            <a:ext cx="155448" cy="155448"/>
          </a:xfrm>
          <a:prstGeom prst="rect">
            <a:avLst/>
          </a:prstGeom>
          <a:solidFill>
            <a:srgbClr val="093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具备算法实现、工具封装与 AI系统原型开发能力"/>
          <p:cNvSpPr txBox="1"/>
          <p:nvPr/>
        </p:nvSpPr>
        <p:spPr>
          <a:xfrm>
            <a:off x="6135624" y="4882896"/>
            <a:ext cx="3648456" cy="1344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18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F4053"/>
                </a:solidFill>
                <a:latin typeface="Noto Sans CJK SC"/>
              </a:defRPr>
            </a:pPr>
            <a:r>
              <a:rPr>
                <a:ea typeface="Noto Sans CJK SC"/>
              </a:rPr>
              <a:t>具备算法实现、工具封装与</a:t>
            </a:r>
          </a:p>
          <a:p>
            <a:pPr algn="l">
              <a:lnSpc>
                <a:spcPts val="318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F4053"/>
                </a:solidFill>
                <a:latin typeface="Noto Sans CJK SC"/>
              </a:defRPr>
            </a:pPr>
            <a:r>
              <a:rPr>
                <a:ea typeface="Noto Sans CJK SC"/>
              </a:rPr>
              <a:t>AI系统原型开发能力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34472" y="2715768"/>
            <a:ext cx="155448" cy="155448"/>
          </a:xfrm>
          <a:prstGeom prst="rect">
            <a:avLst/>
          </a:prstGeom>
          <a:solidFill>
            <a:srgbClr val="093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深入AI驱动的蛋白设计与 药物发现方向"/>
          <p:cNvSpPr txBox="1"/>
          <p:nvPr/>
        </p:nvSpPr>
        <p:spPr>
          <a:xfrm>
            <a:off x="11073384" y="2578608"/>
            <a:ext cx="3685032" cy="1344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18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F4053"/>
                </a:solidFill>
                <a:latin typeface="Noto Sans CJK SC"/>
              </a:defRPr>
            </a:pPr>
            <a:r>
              <a:rPr>
                <a:ea typeface="Noto Sans CJK SC"/>
              </a:rPr>
              <a:t>深入AI驱动的蛋白设计与</a:t>
            </a:r>
          </a:p>
          <a:p>
            <a:pPr algn="l">
              <a:lnSpc>
                <a:spcPts val="318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F4053"/>
                </a:solidFill>
                <a:latin typeface="Noto Sans CJK SC"/>
              </a:defRPr>
            </a:pPr>
            <a:r>
              <a:rPr>
                <a:ea typeface="Noto Sans CJK SC"/>
              </a:rPr>
              <a:t>药物发现方向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34472" y="3849624"/>
            <a:ext cx="155448" cy="155448"/>
          </a:xfrm>
          <a:prstGeom prst="rect">
            <a:avLst/>
          </a:prstGeom>
          <a:solidFill>
            <a:srgbClr val="093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提升深度学习、生成模型 与算法工程能力"/>
          <p:cNvSpPr txBox="1"/>
          <p:nvPr/>
        </p:nvSpPr>
        <p:spPr>
          <a:xfrm>
            <a:off x="11073384" y="3712463"/>
            <a:ext cx="3685032" cy="1344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18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F4053"/>
                </a:solidFill>
                <a:latin typeface="Noto Sans CJK SC"/>
              </a:defRPr>
            </a:pPr>
            <a:r>
              <a:rPr>
                <a:ea typeface="Noto Sans CJK SC"/>
              </a:rPr>
              <a:t>提升深度学习、生成模型</a:t>
            </a:r>
          </a:p>
          <a:p>
            <a:pPr algn="l">
              <a:lnSpc>
                <a:spcPts val="318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F4053"/>
                </a:solidFill>
                <a:latin typeface="Noto Sans CJK SC"/>
              </a:defRPr>
            </a:pPr>
            <a:r>
              <a:rPr>
                <a:ea typeface="Noto Sans CJK SC"/>
              </a:rPr>
              <a:t>与算法工程能力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634472" y="4910328"/>
            <a:ext cx="155448" cy="155448"/>
          </a:xfrm>
          <a:prstGeom prst="rect">
            <a:avLst/>
          </a:prstGeom>
          <a:solidFill>
            <a:srgbClr val="093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希望参与具有挑战性的 生物医药AI研发项目， 持续创造实际价值"/>
          <p:cNvSpPr txBox="1"/>
          <p:nvPr/>
        </p:nvSpPr>
        <p:spPr>
          <a:xfrm>
            <a:off x="11073384" y="4773168"/>
            <a:ext cx="3685032" cy="1344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18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F4053"/>
                </a:solidFill>
                <a:latin typeface="Noto Sans CJK SC"/>
              </a:defRPr>
            </a:pPr>
            <a:r>
              <a:rPr>
                <a:ea typeface="Noto Sans CJK SC"/>
              </a:rPr>
              <a:t>希望参与具有挑战性的</a:t>
            </a:r>
          </a:p>
          <a:p>
            <a:pPr algn="l">
              <a:lnSpc>
                <a:spcPts val="318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F4053"/>
                </a:solidFill>
                <a:latin typeface="Noto Sans CJK SC"/>
              </a:defRPr>
            </a:pPr>
            <a:r>
              <a:rPr>
                <a:ea typeface="Noto Sans CJK SC"/>
              </a:rPr>
              <a:t>生物医药AI研发项目，</a:t>
            </a:r>
          </a:p>
          <a:p>
            <a:pPr algn="l">
              <a:lnSpc>
                <a:spcPts val="318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F4053"/>
                </a:solidFill>
                <a:latin typeface="Noto Sans CJK SC"/>
              </a:defRPr>
            </a:pPr>
            <a:r>
              <a:rPr>
                <a:ea typeface="Noto Sans CJK SC"/>
              </a:rPr>
              <a:t>持续创造实际价值</a:t>
            </a:r>
          </a:p>
        </p:txBody>
      </p:sp>
      <p:pic>
        <p:nvPicPr>
          <p:cNvPr id="50" name="校园与山景背景（参考图复刻，可替换）" descr="总结_校园山景背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45936"/>
            <a:ext cx="15288767" cy="2258568"/>
          </a:xfrm>
          <a:prstGeom prst="rect">
            <a:avLst/>
          </a:prstGeom>
        </p:spPr>
      </p:pic>
      <p:sp>
        <p:nvSpPr>
          <p:cNvPr id="51" name="感谢您的聆听"/>
          <p:cNvSpPr txBox="1"/>
          <p:nvPr/>
        </p:nvSpPr>
        <p:spPr>
          <a:xfrm>
            <a:off x="4315968" y="6547104"/>
            <a:ext cx="315468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79" b="0">
                <a:solidFill>
                  <a:srgbClr val="FFFFFF"/>
                </a:solidFill>
                <a:latin typeface="Noto Sans CJK SC"/>
              </a:defRPr>
            </a:pPr>
            <a:r>
              <a:rPr spc="400">
                <a:ea typeface="Noto Sans CJK SC"/>
              </a:rPr>
              <a:t>感谢您的聆听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653527" y="6611112"/>
            <a:ext cx="0" cy="374904"/>
          </a:xfrm>
          <a:prstGeom prst="line">
            <a:avLst/>
          </a:prstGeom>
          <a:ln w="19050">
            <a:solidFill>
              <a:srgbClr val="B7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欢迎提问交流"/>
          <p:cNvSpPr txBox="1"/>
          <p:nvPr/>
        </p:nvSpPr>
        <p:spPr>
          <a:xfrm>
            <a:off x="8065008" y="6547104"/>
            <a:ext cx="3273552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79" b="0">
                <a:solidFill>
                  <a:srgbClr val="FFFFFF"/>
                </a:solidFill>
                <a:latin typeface="Noto Sans CJK SC"/>
              </a:defRPr>
            </a:pPr>
            <a:r>
              <a:rPr spc="400">
                <a:ea typeface="Noto Sans CJK SC"/>
              </a:rPr>
              <a:t>欢迎提问交流</a:t>
            </a:r>
          </a:p>
        </p:txBody>
      </p:sp>
      <p:sp>
        <p:nvSpPr>
          <p:cNvPr id="54" name="Q &amp; A"/>
          <p:cNvSpPr txBox="1"/>
          <p:nvPr/>
        </p:nvSpPr>
        <p:spPr>
          <a:xfrm>
            <a:off x="6976872" y="7132320"/>
            <a:ext cx="1563624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FFFFFF"/>
                </a:solidFill>
                <a:latin typeface="Noto Sans CJK SC"/>
              </a:defRPr>
            </a:pPr>
            <a:r>
              <a:rPr spc="550">
                <a:ea typeface="Noto Sans CJK SC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总结与展望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