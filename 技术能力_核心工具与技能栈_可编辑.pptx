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技术能力截图重建。标题、四个技能面板、分隔线、全部工具名称与说明、ESM-2标签均为原生可编辑PowerPoint对象。其余品牌标志和结构图由图像工具按参考截图复刻，为各自独立的可替换图片，并非原截图像素或官方矢量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88767" cy="8604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8/9"/>
          <p:cNvSpPr txBox="1"/>
          <p:nvPr/>
        </p:nvSpPr>
        <p:spPr>
          <a:xfrm>
            <a:off x="301752" y="137160"/>
            <a:ext cx="841248" cy="585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8/9</a:t>
            </a:r>
          </a:p>
        </p:txBody>
      </p:sp>
      <p:sp>
        <p:nvSpPr>
          <p:cNvPr id="4" name="技术能力"/>
          <p:cNvSpPr txBox="1"/>
          <p:nvPr/>
        </p:nvSpPr>
        <p:spPr>
          <a:xfrm>
            <a:off x="1280160" y="219456"/>
            <a:ext cx="2194560" cy="740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7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技术能力</a:t>
            </a:r>
          </a:p>
        </p:txBody>
      </p:sp>
      <p:sp>
        <p:nvSpPr>
          <p:cNvPr id="5" name="—"/>
          <p:cNvSpPr txBox="1"/>
          <p:nvPr/>
        </p:nvSpPr>
        <p:spPr>
          <a:xfrm>
            <a:off x="3575304" y="347472"/>
            <a:ext cx="5029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—</a:t>
            </a:r>
          </a:p>
        </p:txBody>
      </p:sp>
      <p:sp>
        <p:nvSpPr>
          <p:cNvPr id="6" name="核心工具与技能栈"/>
          <p:cNvSpPr txBox="1"/>
          <p:nvPr/>
        </p:nvSpPr>
        <p:spPr>
          <a:xfrm>
            <a:off x="4187952" y="356616"/>
            <a:ext cx="42062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002875"/>
                </a:solidFill>
                <a:latin typeface="Noto Sans CJK SC"/>
              </a:defRPr>
            </a:pPr>
            <a:r>
              <a:rPr spc="50">
                <a:ea typeface="Noto Sans CJK SC"/>
              </a:rPr>
              <a:t>核心工具与技能栈</a:t>
            </a:r>
          </a:p>
        </p:txBody>
      </p:sp>
      <p:sp>
        <p:nvSpPr>
          <p:cNvPr id="7" name="BIO • AI • DRUG DISCOVERY"/>
          <p:cNvSpPr txBox="1"/>
          <p:nvPr/>
        </p:nvSpPr>
        <p:spPr>
          <a:xfrm>
            <a:off x="11567160" y="484632"/>
            <a:ext cx="3474720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6987D0"/>
                </a:solidFill>
                <a:latin typeface="Noto Sans CJK SC"/>
              </a:defRPr>
            </a:pPr>
            <a:r>
              <a:rPr spc="190">
                <a:ea typeface="Noto Sans CJK SC"/>
              </a:rPr>
              <a:t>BIO • AI • DRUG DISCOVERY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" y="987552"/>
            <a:ext cx="14694407" cy="0"/>
          </a:xfrm>
          <a:prstGeom prst="line">
            <a:avLst/>
          </a:prstGeom>
          <a:ln w="24130">
            <a:solidFill>
              <a:srgbClr val="09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1752" y="1207008"/>
            <a:ext cx="7242048" cy="3410712"/>
          </a:xfrm>
          <a:prstGeom prst="roundRect">
            <a:avLst>
              <a:gd name="adj" fmla="val 3300"/>
            </a:avLst>
          </a:prstGeom>
          <a:solidFill>
            <a:srgbClr val="FFFFFF"/>
          </a:solidFill>
          <a:ln w="8255">
            <a:solidFill>
              <a:srgbClr val="BB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271016"/>
            <a:ext cx="7077456" cy="566928"/>
          </a:xfrm>
          <a:prstGeom prst="roundRect">
            <a:avLst>
              <a:gd name="adj" fmla="val 6000"/>
            </a:avLst>
          </a:prstGeom>
          <a:ln>
            <a:noFill/>
          </a:ln>
          <a:gradFill>
            <a:gsLst>
              <a:gs pos="0">
                <a:srgbClr val="E1F1FF"/>
              </a:gs>
              <a:gs pos="100000">
                <a:srgbClr val="F8FC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62456"/>
            <a:ext cx="109728" cy="411480"/>
          </a:xfrm>
          <a:prstGeom prst="roundRect">
            <a:avLst>
              <a:gd name="adj" fmla="val 18000"/>
            </a:avLst>
          </a:prstGeom>
          <a:ln>
            <a:noFill/>
          </a:ln>
          <a:gradFill>
            <a:gsLst>
              <a:gs pos="0">
                <a:srgbClr val="058BED"/>
              </a:gs>
              <a:gs pos="100000">
                <a:srgbClr val="0253A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编程与机器学习"/>
          <p:cNvSpPr txBox="1"/>
          <p:nvPr/>
        </p:nvSpPr>
        <p:spPr>
          <a:xfrm>
            <a:off x="822960" y="1362456"/>
            <a:ext cx="6537960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5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编程与机器学习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1207008"/>
            <a:ext cx="7251192" cy="3410712"/>
          </a:xfrm>
          <a:prstGeom prst="roundRect">
            <a:avLst>
              <a:gd name="adj" fmla="val 3300"/>
            </a:avLst>
          </a:prstGeom>
          <a:solidFill>
            <a:srgbClr val="FFFFFF"/>
          </a:solidFill>
          <a:ln w="8255">
            <a:solidFill>
              <a:srgbClr val="BB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1271016"/>
            <a:ext cx="7086600" cy="566928"/>
          </a:xfrm>
          <a:prstGeom prst="roundRect">
            <a:avLst>
              <a:gd name="adj" fmla="val 6000"/>
            </a:avLst>
          </a:prstGeom>
          <a:ln>
            <a:noFill/>
          </a:ln>
          <a:gradFill>
            <a:gsLst>
              <a:gs pos="0">
                <a:srgbClr val="E1F1FF"/>
              </a:gs>
              <a:gs pos="100000">
                <a:srgbClr val="F8FC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36992" y="1362456"/>
            <a:ext cx="109728" cy="411480"/>
          </a:xfrm>
          <a:prstGeom prst="roundRect">
            <a:avLst>
              <a:gd name="adj" fmla="val 18000"/>
            </a:avLst>
          </a:prstGeom>
          <a:ln>
            <a:noFill/>
          </a:ln>
          <a:gradFill>
            <a:gsLst>
              <a:gs pos="0">
                <a:srgbClr val="058BED"/>
              </a:gs>
              <a:gs pos="100000">
                <a:srgbClr val="0253A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化学与分子建模"/>
          <p:cNvSpPr txBox="1"/>
          <p:nvPr/>
        </p:nvSpPr>
        <p:spPr>
          <a:xfrm>
            <a:off x="8257031" y="1362456"/>
            <a:ext cx="6547104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5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化学与分子建模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" y="4764024"/>
            <a:ext cx="8156448" cy="3557016"/>
          </a:xfrm>
          <a:prstGeom prst="roundRect">
            <a:avLst>
              <a:gd name="adj" fmla="val 3300"/>
            </a:avLst>
          </a:prstGeom>
          <a:solidFill>
            <a:srgbClr val="FFFFFF"/>
          </a:solidFill>
          <a:ln w="8255">
            <a:solidFill>
              <a:srgbClr val="BB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4828032"/>
            <a:ext cx="7991856" cy="566928"/>
          </a:xfrm>
          <a:prstGeom prst="roundRect">
            <a:avLst>
              <a:gd name="adj" fmla="val 6000"/>
            </a:avLst>
          </a:prstGeom>
          <a:ln>
            <a:noFill/>
          </a:ln>
          <a:gradFill>
            <a:gsLst>
              <a:gs pos="0">
                <a:srgbClr val="E1F1FF"/>
              </a:gs>
              <a:gs pos="100000">
                <a:srgbClr val="F8FC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4919472"/>
            <a:ext cx="109728" cy="411480"/>
          </a:xfrm>
          <a:prstGeom prst="roundRect">
            <a:avLst>
              <a:gd name="adj" fmla="val 18000"/>
            </a:avLst>
          </a:prstGeom>
          <a:ln>
            <a:noFill/>
          </a:ln>
          <a:gradFill>
            <a:gsLst>
              <a:gs pos="0">
                <a:srgbClr val="058BED"/>
              </a:gs>
              <a:gs pos="100000">
                <a:srgbClr val="0253A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蛋白设计与结构预测"/>
          <p:cNvSpPr txBox="1"/>
          <p:nvPr/>
        </p:nvSpPr>
        <p:spPr>
          <a:xfrm>
            <a:off x="822960" y="4919472"/>
            <a:ext cx="7452360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5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蛋白设计与结构预测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22792" y="4764024"/>
            <a:ext cx="6364224" cy="3557016"/>
          </a:xfrm>
          <a:prstGeom prst="roundRect">
            <a:avLst>
              <a:gd name="adj" fmla="val 3300"/>
            </a:avLst>
          </a:prstGeom>
          <a:solidFill>
            <a:srgbClr val="FFFFFF"/>
          </a:solidFill>
          <a:ln w="8255">
            <a:solidFill>
              <a:srgbClr val="BB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05088" y="4828032"/>
            <a:ext cx="6199632" cy="566928"/>
          </a:xfrm>
          <a:prstGeom prst="roundRect">
            <a:avLst>
              <a:gd name="adj" fmla="val 6000"/>
            </a:avLst>
          </a:prstGeom>
          <a:ln>
            <a:noFill/>
          </a:ln>
          <a:gradFill>
            <a:gsLst>
              <a:gs pos="0">
                <a:srgbClr val="E1F1FF"/>
              </a:gs>
              <a:gs pos="100000">
                <a:srgbClr val="F8FC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23960" y="4919472"/>
            <a:ext cx="109728" cy="411480"/>
          </a:xfrm>
          <a:prstGeom prst="roundRect">
            <a:avLst>
              <a:gd name="adj" fmla="val 18000"/>
            </a:avLst>
          </a:prstGeom>
          <a:ln>
            <a:noFill/>
          </a:ln>
          <a:gradFill>
            <a:gsLst>
              <a:gs pos="0">
                <a:srgbClr val="058BED"/>
              </a:gs>
              <a:gs pos="100000">
                <a:srgbClr val="0253A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大模型与工程工具"/>
          <p:cNvSpPr txBox="1"/>
          <p:nvPr/>
        </p:nvSpPr>
        <p:spPr>
          <a:xfrm>
            <a:off x="9144000" y="4919472"/>
            <a:ext cx="5660136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5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大模型与工程工具</a:t>
            </a:r>
          </a:p>
        </p:txBody>
      </p:sp>
      <p:pic>
        <p:nvPicPr>
          <p:cNvPr id="25" name="技能_Python标志（参考图复刻，可替换）" descr="技能_Python标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112264"/>
            <a:ext cx="1115568" cy="1106424"/>
          </a:xfrm>
          <a:prstGeom prst="rect">
            <a:avLst/>
          </a:prstGeom>
        </p:spPr>
      </p:pic>
      <p:pic>
        <p:nvPicPr>
          <p:cNvPr id="26" name="技能_PyTorch标志（参考图复刻，可替换）" descr="技能_PyTorch标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2121408"/>
            <a:ext cx="950976" cy="1088136"/>
          </a:xfrm>
          <a:prstGeom prst="rect">
            <a:avLst/>
          </a:prstGeom>
        </p:spPr>
      </p:pic>
      <p:pic>
        <p:nvPicPr>
          <p:cNvPr id="27" name="技能_scikit_learn标志（参考图复刻，可替换）" descr="技能_scikit_learn标志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2157984"/>
            <a:ext cx="1700784" cy="978408"/>
          </a:xfrm>
          <a:prstGeom prst="rect">
            <a:avLst/>
          </a:prstGeom>
        </p:spPr>
      </p:pic>
      <p:cxnSp>
        <p:nvCxnSpPr>
          <p:cNvPr id="28" name="Connector 27"/>
          <p:cNvCxnSpPr/>
          <p:nvPr/>
        </p:nvCxnSpPr>
        <p:spPr>
          <a:xfrm>
            <a:off x="2816352" y="2295144"/>
            <a:ext cx="0" cy="2039112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37760" y="2295144"/>
            <a:ext cx="0" cy="2039112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ython"/>
          <p:cNvSpPr txBox="1"/>
          <p:nvPr/>
        </p:nvSpPr>
        <p:spPr>
          <a:xfrm>
            <a:off x="594360" y="3355848"/>
            <a:ext cx="2084831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2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Python</a:t>
            </a:r>
          </a:p>
        </p:txBody>
      </p:sp>
      <p:sp>
        <p:nvSpPr>
          <p:cNvPr id="31" name="PyTorch"/>
          <p:cNvSpPr txBox="1"/>
          <p:nvPr/>
        </p:nvSpPr>
        <p:spPr>
          <a:xfrm>
            <a:off x="2935224" y="3355848"/>
            <a:ext cx="1975104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2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PyTorch</a:t>
            </a:r>
          </a:p>
        </p:txBody>
      </p:sp>
      <p:sp>
        <p:nvSpPr>
          <p:cNvPr id="32" name="scikit-learn"/>
          <p:cNvSpPr txBox="1"/>
          <p:nvPr/>
        </p:nvSpPr>
        <p:spPr>
          <a:xfrm>
            <a:off x="5193792" y="3355848"/>
            <a:ext cx="2185416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5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scikit-learn</a:t>
            </a:r>
          </a:p>
        </p:txBody>
      </p:sp>
      <p:sp>
        <p:nvSpPr>
          <p:cNvPr id="33" name="数据分析 / 建模 / 脚本开发"/>
          <p:cNvSpPr txBox="1"/>
          <p:nvPr/>
        </p:nvSpPr>
        <p:spPr>
          <a:xfrm>
            <a:off x="539496" y="3794760"/>
            <a:ext cx="2203704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数据分析 / 建模 /</a:t>
            </a:r>
          </a:p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脚本开发</a:t>
            </a:r>
          </a:p>
        </p:txBody>
      </p:sp>
      <p:sp>
        <p:nvSpPr>
          <p:cNvPr id="34" name="深度学习 / 预训练模型推理"/>
          <p:cNvSpPr txBox="1"/>
          <p:nvPr/>
        </p:nvSpPr>
        <p:spPr>
          <a:xfrm>
            <a:off x="2916936" y="3794760"/>
            <a:ext cx="2011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深度学习 /</a:t>
            </a:r>
          </a:p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预训练模型推理</a:t>
            </a:r>
          </a:p>
        </p:txBody>
      </p:sp>
      <p:sp>
        <p:nvSpPr>
          <p:cNvPr id="35" name="传统机器学习"/>
          <p:cNvSpPr txBox="1"/>
          <p:nvPr/>
        </p:nvSpPr>
        <p:spPr>
          <a:xfrm>
            <a:off x="5212080" y="3794760"/>
            <a:ext cx="2167128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传统机器学习</a:t>
            </a:r>
          </a:p>
        </p:txBody>
      </p:sp>
      <p:pic>
        <p:nvPicPr>
          <p:cNvPr id="36" name="技能_RDKit标志（参考图复刻，可替换）" descr="技能_RDKit标志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575" y="2093976"/>
            <a:ext cx="1152144" cy="1124712"/>
          </a:xfrm>
          <a:prstGeom prst="rect">
            <a:avLst/>
          </a:prstGeom>
        </p:spPr>
      </p:pic>
      <p:pic>
        <p:nvPicPr>
          <p:cNvPr id="37" name="技能_AutoDock_GNINA结构图（参考图复刻，可替换）" descr="技能_AutoDock_GNINA结构图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0928" y="2066543"/>
            <a:ext cx="1444752" cy="1216152"/>
          </a:xfrm>
          <a:prstGeom prst="rect">
            <a:avLst/>
          </a:prstGeom>
        </p:spPr>
      </p:pic>
      <p:pic>
        <p:nvPicPr>
          <p:cNvPr id="38" name="技能_OpenMM标志（参考图复刻，可替换）" descr="技能_OpenMM标志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76888" y="2093976"/>
            <a:ext cx="1124712" cy="1124712"/>
          </a:xfrm>
          <a:prstGeom prst="rect">
            <a:avLst/>
          </a:prstGeom>
        </p:spPr>
      </p:pic>
      <p:pic>
        <p:nvPicPr>
          <p:cNvPr id="39" name="技能_PyMOL标志（参考图复刻，可替换）" descr="技能_PyMOL标志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23392" y="2066543"/>
            <a:ext cx="1307592" cy="1197864"/>
          </a:xfrm>
          <a:prstGeom prst="rect">
            <a:avLst/>
          </a:prstGeom>
        </p:spPr>
      </p:pic>
      <p:cxnSp>
        <p:nvCxnSpPr>
          <p:cNvPr id="40" name="Connector 39"/>
          <p:cNvCxnSpPr/>
          <p:nvPr/>
        </p:nvCxnSpPr>
        <p:spPr>
          <a:xfrm>
            <a:off x="9464040" y="2203704"/>
            <a:ext cx="0" cy="2176272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384280" y="2203704"/>
            <a:ext cx="0" cy="2176272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3139928" y="2203704"/>
            <a:ext cx="0" cy="2176272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DKit"/>
          <p:cNvSpPr txBox="1"/>
          <p:nvPr/>
        </p:nvSpPr>
        <p:spPr>
          <a:xfrm>
            <a:off x="7900416" y="3337560"/>
            <a:ext cx="141732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RDKit</a:t>
            </a:r>
          </a:p>
        </p:txBody>
      </p:sp>
      <p:sp>
        <p:nvSpPr>
          <p:cNvPr id="44" name="AutoDock / GNINA"/>
          <p:cNvSpPr txBox="1"/>
          <p:nvPr/>
        </p:nvSpPr>
        <p:spPr>
          <a:xfrm>
            <a:off x="9537192" y="3364992"/>
            <a:ext cx="1801368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1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AutoDock / GNINA</a:t>
            </a:r>
          </a:p>
        </p:txBody>
      </p:sp>
      <p:sp>
        <p:nvSpPr>
          <p:cNvPr id="45" name="OpenMM"/>
          <p:cNvSpPr txBox="1"/>
          <p:nvPr/>
        </p:nvSpPr>
        <p:spPr>
          <a:xfrm>
            <a:off x="11466576" y="3355848"/>
            <a:ext cx="1572768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1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OpenMM</a:t>
            </a:r>
          </a:p>
        </p:txBody>
      </p:sp>
      <p:sp>
        <p:nvSpPr>
          <p:cNvPr id="46" name="PyMOL"/>
          <p:cNvSpPr txBox="1"/>
          <p:nvPr/>
        </p:nvSpPr>
        <p:spPr>
          <a:xfrm>
            <a:off x="13313664" y="3355848"/>
            <a:ext cx="1545336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1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PyMOL</a:t>
            </a:r>
          </a:p>
        </p:txBody>
      </p:sp>
      <p:sp>
        <p:nvSpPr>
          <p:cNvPr id="47" name="分子处理 / 特征工程"/>
          <p:cNvSpPr txBox="1"/>
          <p:nvPr/>
        </p:nvSpPr>
        <p:spPr>
          <a:xfrm>
            <a:off x="7872983" y="3785615"/>
            <a:ext cx="1481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分子处理 /</a:t>
            </a:r>
          </a:p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特征工程</a:t>
            </a:r>
          </a:p>
        </p:txBody>
      </p:sp>
      <p:sp>
        <p:nvSpPr>
          <p:cNvPr id="48" name="分子对接 / 结构证据"/>
          <p:cNvSpPr txBox="1"/>
          <p:nvPr/>
        </p:nvSpPr>
        <p:spPr>
          <a:xfrm>
            <a:off x="9592056" y="3785615"/>
            <a:ext cx="166420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分子对接 /</a:t>
            </a:r>
          </a:p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结构证据</a:t>
            </a:r>
          </a:p>
        </p:txBody>
      </p:sp>
      <p:sp>
        <p:nvSpPr>
          <p:cNvPr id="49" name="分子动力学"/>
          <p:cNvSpPr txBox="1"/>
          <p:nvPr/>
        </p:nvSpPr>
        <p:spPr>
          <a:xfrm>
            <a:off x="11448288" y="3794760"/>
            <a:ext cx="1618488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分子动力学</a:t>
            </a:r>
          </a:p>
        </p:txBody>
      </p:sp>
      <p:sp>
        <p:nvSpPr>
          <p:cNvPr id="50" name="结构可视化"/>
          <p:cNvSpPr txBox="1"/>
          <p:nvPr/>
        </p:nvSpPr>
        <p:spPr>
          <a:xfrm>
            <a:off x="13258800" y="3794760"/>
            <a:ext cx="165506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结构可视化</a:t>
            </a:r>
          </a:p>
        </p:txBody>
      </p:sp>
      <p:pic>
        <p:nvPicPr>
          <p:cNvPr id="51" name="技能_ProteinMPNN骨架（参考图复刻，可替换）" descr="技能_ProteinMPNN骨架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" y="5669280"/>
            <a:ext cx="1051560" cy="950976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2724912" y="5824728"/>
            <a:ext cx="1426464" cy="694944"/>
          </a:xfrm>
          <a:prstGeom prst="roundRect">
            <a:avLst>
              <a:gd name="adj" fmla="val 17000"/>
            </a:avLst>
          </a:prstGeom>
          <a:ln>
            <a:noFill/>
          </a:ln>
          <a:gradFill>
            <a:gsLst>
              <a:gs pos="0">
                <a:srgbClr val="CDE2FC"/>
              </a:gs>
              <a:gs pos="55000">
                <a:srgbClr val="D1B2F4"/>
              </a:gs>
              <a:gs pos="100000">
                <a:srgbClr val="DAD3C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SM-2"/>
          <p:cNvSpPr txBox="1"/>
          <p:nvPr/>
        </p:nvSpPr>
        <p:spPr>
          <a:xfrm>
            <a:off x="2743200" y="5925312"/>
            <a:ext cx="1389888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20" b="1">
                <a:solidFill>
                  <a:srgbClr val="6A15DE"/>
                </a:solidFill>
                <a:latin typeface="Noto Sans CJK SC"/>
              </a:defRPr>
            </a:pPr>
            <a:r>
              <a:rPr>
                <a:ea typeface="Noto Sans CJK SC"/>
              </a:rPr>
              <a:t>ESM-2</a:t>
            </a:r>
          </a:p>
        </p:txBody>
      </p:sp>
      <p:pic>
        <p:nvPicPr>
          <p:cNvPr id="54" name="技能_RFdiffusion骨架（参考图复刻，可替换）" descr="技能_RFdiffusion骨架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3752" y="5669280"/>
            <a:ext cx="1216152" cy="941832"/>
          </a:xfrm>
          <a:prstGeom prst="rect">
            <a:avLst/>
          </a:prstGeom>
        </p:spPr>
      </p:pic>
      <p:pic>
        <p:nvPicPr>
          <p:cNvPr id="55" name="技能_AlphaFold2标志（参考图复刻，可替换）" descr="技能_AlphaFold2标志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1736" y="5596128"/>
            <a:ext cx="996696" cy="978408"/>
          </a:xfrm>
          <a:prstGeom prst="rect">
            <a:avLst/>
          </a:prstGeom>
        </p:spPr>
      </p:pic>
      <p:cxnSp>
        <p:nvCxnSpPr>
          <p:cNvPr id="56" name="Connector 55"/>
          <p:cNvCxnSpPr/>
          <p:nvPr/>
        </p:nvCxnSpPr>
        <p:spPr>
          <a:xfrm>
            <a:off x="2377440" y="5769864"/>
            <a:ext cx="0" cy="1764792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453128" y="5705856"/>
            <a:ext cx="0" cy="1828800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574536" y="5724144"/>
            <a:ext cx="0" cy="1810512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roteinMPNN"/>
          <p:cNvSpPr txBox="1"/>
          <p:nvPr/>
        </p:nvSpPr>
        <p:spPr>
          <a:xfrm>
            <a:off x="448056" y="6720840"/>
            <a:ext cx="181051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ProteinMPNN</a:t>
            </a:r>
          </a:p>
        </p:txBody>
      </p:sp>
      <p:sp>
        <p:nvSpPr>
          <p:cNvPr id="60" name="ESM-2"/>
          <p:cNvSpPr txBox="1"/>
          <p:nvPr/>
        </p:nvSpPr>
        <p:spPr>
          <a:xfrm>
            <a:off x="2651760" y="6720840"/>
            <a:ext cx="1600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ESM-2</a:t>
            </a:r>
          </a:p>
        </p:txBody>
      </p:sp>
      <p:sp>
        <p:nvSpPr>
          <p:cNvPr id="61" name="RFdiffusion"/>
          <p:cNvSpPr txBox="1"/>
          <p:nvPr/>
        </p:nvSpPr>
        <p:spPr>
          <a:xfrm>
            <a:off x="4608576" y="6720840"/>
            <a:ext cx="179222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2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RFdiffusion</a:t>
            </a:r>
          </a:p>
        </p:txBody>
      </p:sp>
      <p:sp>
        <p:nvSpPr>
          <p:cNvPr id="62" name="AlphaFold2 / ColabFold"/>
          <p:cNvSpPr txBox="1"/>
          <p:nvPr/>
        </p:nvSpPr>
        <p:spPr>
          <a:xfrm>
            <a:off x="6665976" y="6638544"/>
            <a:ext cx="1700784" cy="740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939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AlphaFold2 /</a:t>
            </a:r>
          </a:p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939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ColabFold</a:t>
            </a:r>
          </a:p>
        </p:txBody>
      </p:sp>
      <p:sp>
        <p:nvSpPr>
          <p:cNvPr id="63" name="蛋白序列设计"/>
          <p:cNvSpPr txBox="1"/>
          <p:nvPr/>
        </p:nvSpPr>
        <p:spPr>
          <a:xfrm>
            <a:off x="502920" y="7178040"/>
            <a:ext cx="175564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蛋白序列设计</a:t>
            </a:r>
          </a:p>
        </p:txBody>
      </p:sp>
      <p:sp>
        <p:nvSpPr>
          <p:cNvPr id="64" name="蛋白语言模型"/>
          <p:cNvSpPr txBox="1"/>
          <p:nvPr/>
        </p:nvSpPr>
        <p:spPr>
          <a:xfrm>
            <a:off x="2587752" y="7178040"/>
            <a:ext cx="175564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蛋白语言模型</a:t>
            </a:r>
          </a:p>
        </p:txBody>
      </p:sp>
      <p:sp>
        <p:nvSpPr>
          <p:cNvPr id="65" name="生成式骨架设计"/>
          <p:cNvSpPr txBox="1"/>
          <p:nvPr/>
        </p:nvSpPr>
        <p:spPr>
          <a:xfrm>
            <a:off x="4526280" y="7178040"/>
            <a:ext cx="1956816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生成式骨架设计</a:t>
            </a:r>
          </a:p>
        </p:txBody>
      </p:sp>
      <p:sp>
        <p:nvSpPr>
          <p:cNvPr id="66" name="结构预测"/>
          <p:cNvSpPr txBox="1"/>
          <p:nvPr/>
        </p:nvSpPr>
        <p:spPr>
          <a:xfrm>
            <a:off x="6729984" y="7388352"/>
            <a:ext cx="1572768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结构预测</a:t>
            </a:r>
          </a:p>
        </p:txBody>
      </p:sp>
      <p:pic>
        <p:nvPicPr>
          <p:cNvPr id="67" name="技能_Ollama标志（参考图复刻，可替换）" descr="技能_Ollama标志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00032" y="5504688"/>
            <a:ext cx="612648" cy="768096"/>
          </a:xfrm>
          <a:prstGeom prst="rect">
            <a:avLst/>
          </a:prstGeom>
        </p:spPr>
      </p:pic>
      <p:pic>
        <p:nvPicPr>
          <p:cNvPr id="68" name="技能_Qwen标志（参考图复刻，可替换）" descr="技能_Qwen标志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34672" y="5522976"/>
            <a:ext cx="667512" cy="667512"/>
          </a:xfrm>
          <a:prstGeom prst="rect">
            <a:avLst/>
          </a:prstGeom>
        </p:spPr>
      </p:pic>
      <p:sp>
        <p:nvSpPr>
          <p:cNvPr id="69" name="Ollama"/>
          <p:cNvSpPr txBox="1"/>
          <p:nvPr/>
        </p:nvSpPr>
        <p:spPr>
          <a:xfrm>
            <a:off x="10277856" y="5559552"/>
            <a:ext cx="14538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Ollama</a:t>
            </a:r>
          </a:p>
        </p:txBody>
      </p:sp>
      <p:sp>
        <p:nvSpPr>
          <p:cNvPr id="70" name="本地大模型"/>
          <p:cNvSpPr txBox="1"/>
          <p:nvPr/>
        </p:nvSpPr>
        <p:spPr>
          <a:xfrm>
            <a:off x="10277856" y="6007608"/>
            <a:ext cx="1545336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1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本地大模型</a:t>
            </a:r>
          </a:p>
        </p:txBody>
      </p:sp>
      <p:sp>
        <p:nvSpPr>
          <p:cNvPr id="71" name="Qwen2.5"/>
          <p:cNvSpPr txBox="1"/>
          <p:nvPr/>
        </p:nvSpPr>
        <p:spPr>
          <a:xfrm>
            <a:off x="13222224" y="5559552"/>
            <a:ext cx="16459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Qwen2.5</a:t>
            </a:r>
          </a:p>
        </p:txBody>
      </p:sp>
      <p:sp>
        <p:nvSpPr>
          <p:cNvPr id="72" name="大模型系列"/>
          <p:cNvSpPr txBox="1"/>
          <p:nvPr/>
        </p:nvSpPr>
        <p:spPr>
          <a:xfrm>
            <a:off x="13222224" y="6007608"/>
            <a:ext cx="164592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1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大模型系列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786616" y="5614416"/>
            <a:ext cx="0" cy="704088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061704" y="6510528"/>
            <a:ext cx="5779008" cy="0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技能_Linux标志（参考图复刻，可替换）" descr="技能_Linux标志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9992" y="6675120"/>
            <a:ext cx="667512" cy="768096"/>
          </a:xfrm>
          <a:prstGeom prst="rect">
            <a:avLst/>
          </a:prstGeom>
        </p:spPr>
      </p:pic>
      <p:pic>
        <p:nvPicPr>
          <p:cNvPr id="76" name="技能_Git标志（参考图复刻，可替换）" descr="技能_Git标志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34472" y="6729984"/>
            <a:ext cx="722376" cy="731520"/>
          </a:xfrm>
          <a:prstGeom prst="rect">
            <a:avLst/>
          </a:prstGeom>
        </p:spPr>
      </p:pic>
      <p:pic>
        <p:nvPicPr>
          <p:cNvPr id="77" name="技能_Jupyter标志（参考图复刻，可替换）" descr="技能_Jupyter标志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179808" y="6693408"/>
            <a:ext cx="685800" cy="749808"/>
          </a:xfrm>
          <a:prstGeom prst="rect">
            <a:avLst/>
          </a:prstGeom>
        </p:spPr>
      </p:pic>
      <p:pic>
        <p:nvPicPr>
          <p:cNvPr id="78" name="技能_VSCode标志（参考图复刻，可替换）" descr="技能_VSCode标志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752576" y="6675120"/>
            <a:ext cx="786384" cy="777240"/>
          </a:xfrm>
          <a:prstGeom prst="rect">
            <a:avLst/>
          </a:prstGeom>
        </p:spPr>
      </p:pic>
      <p:cxnSp>
        <p:nvCxnSpPr>
          <p:cNvPr id="79" name="Connector 78"/>
          <p:cNvCxnSpPr/>
          <p:nvPr/>
        </p:nvCxnSpPr>
        <p:spPr>
          <a:xfrm>
            <a:off x="10259568" y="6812280"/>
            <a:ext cx="0" cy="1298447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777472" y="6812280"/>
            <a:ext cx="0" cy="1298447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3350240" y="6812280"/>
            <a:ext cx="0" cy="1298447"/>
          </a:xfrm>
          <a:prstGeom prst="line">
            <a:avLst/>
          </a:prstGeom>
          <a:ln w="10160">
            <a:solidFill>
              <a:srgbClr val="BAD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Linux"/>
          <p:cNvSpPr txBox="1"/>
          <p:nvPr/>
        </p:nvSpPr>
        <p:spPr>
          <a:xfrm>
            <a:off x="8842248" y="7470648"/>
            <a:ext cx="13075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7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Linux</a:t>
            </a:r>
          </a:p>
        </p:txBody>
      </p:sp>
      <p:sp>
        <p:nvSpPr>
          <p:cNvPr id="83" name="服务器环境"/>
          <p:cNvSpPr txBox="1"/>
          <p:nvPr/>
        </p:nvSpPr>
        <p:spPr>
          <a:xfrm>
            <a:off x="8842248" y="7845552"/>
            <a:ext cx="13075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6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服务器环境</a:t>
            </a:r>
          </a:p>
        </p:txBody>
      </p:sp>
      <p:sp>
        <p:nvSpPr>
          <p:cNvPr id="84" name="Git"/>
          <p:cNvSpPr txBox="1"/>
          <p:nvPr/>
        </p:nvSpPr>
        <p:spPr>
          <a:xfrm>
            <a:off x="10314432" y="7470648"/>
            <a:ext cx="1380744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7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Git</a:t>
            </a:r>
          </a:p>
        </p:txBody>
      </p:sp>
      <p:sp>
        <p:nvSpPr>
          <p:cNvPr id="85" name="版本管理"/>
          <p:cNvSpPr txBox="1"/>
          <p:nvPr/>
        </p:nvSpPr>
        <p:spPr>
          <a:xfrm>
            <a:off x="10314432" y="7845552"/>
            <a:ext cx="1380744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6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版本管理</a:t>
            </a:r>
          </a:p>
        </p:txBody>
      </p:sp>
      <p:sp>
        <p:nvSpPr>
          <p:cNvPr id="86" name="Jupyter"/>
          <p:cNvSpPr txBox="1"/>
          <p:nvPr/>
        </p:nvSpPr>
        <p:spPr>
          <a:xfrm>
            <a:off x="11859768" y="7470648"/>
            <a:ext cx="1408176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7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Jupyter</a:t>
            </a:r>
          </a:p>
        </p:txBody>
      </p:sp>
      <p:sp>
        <p:nvSpPr>
          <p:cNvPr id="87" name="数据分析"/>
          <p:cNvSpPr txBox="1"/>
          <p:nvPr/>
        </p:nvSpPr>
        <p:spPr>
          <a:xfrm>
            <a:off x="11859768" y="7845552"/>
            <a:ext cx="1408176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6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数据分析</a:t>
            </a:r>
          </a:p>
        </p:txBody>
      </p:sp>
      <p:sp>
        <p:nvSpPr>
          <p:cNvPr id="88" name="VS Code"/>
          <p:cNvSpPr txBox="1"/>
          <p:nvPr/>
        </p:nvSpPr>
        <p:spPr>
          <a:xfrm>
            <a:off x="13441680" y="7470648"/>
            <a:ext cx="1453896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70" b="1">
                <a:solidFill>
                  <a:srgbClr val="002875"/>
                </a:solidFill>
                <a:latin typeface="Noto Sans CJK SC"/>
              </a:defRPr>
            </a:pPr>
            <a:r>
              <a:rPr>
                <a:ea typeface="Noto Sans CJK SC"/>
              </a:rPr>
              <a:t>VS Code</a:t>
            </a:r>
          </a:p>
        </p:txBody>
      </p:sp>
      <p:sp>
        <p:nvSpPr>
          <p:cNvPr id="89" name="开发工具"/>
          <p:cNvSpPr txBox="1"/>
          <p:nvPr/>
        </p:nvSpPr>
        <p:spPr>
          <a:xfrm>
            <a:off x="13441680" y="7845552"/>
            <a:ext cx="1453896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60" b="0">
                <a:solidFill>
                  <a:srgbClr val="59657A"/>
                </a:solidFill>
                <a:latin typeface="Noto Sans CJK SC"/>
              </a:defRPr>
            </a:pPr>
            <a:r>
              <a:rPr>
                <a:ea typeface="Noto Sans CJK SC"/>
              </a:rPr>
              <a:t>开发工具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技术能力：核心工具与技能栈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