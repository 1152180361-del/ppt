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FF9EA8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Evolution + Structure
(最佳模型)</c:v>
                </c:pt>
                <c:pt idx="1">
                  <c:v>Evolution + ESM</c:v>
                </c:pt>
                <c:pt idx="2">
                  <c:v>Structure only</c:v>
                </c:pt>
                <c:pt idx="3">
                  <c:v>Evolution only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0.458</c:v>
                </c:pt>
                <c:pt idx="1">
                  <c:v>0.243</c:v>
                </c:pt>
                <c:pt idx="2">
                  <c:v>0.306</c:v>
                </c:pt>
                <c:pt idx="3">
                  <c:v>0.301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6AB8F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Evolution + Structure
(最佳模型)</c:v>
                </c:pt>
                <c:pt idx="1">
                  <c:v>Evolution + ESM</c:v>
                </c:pt>
                <c:pt idx="2">
                  <c:v>Structure only</c:v>
                </c:pt>
                <c:pt idx="3">
                  <c:v>Evolution only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0.681</c:v>
                </c:pt>
                <c:pt idx="1">
                  <c:v>0.597</c:v>
                </c:pt>
                <c:pt idx="2">
                  <c:v>0.663</c:v>
                </c:pt>
                <c:pt idx="3">
                  <c:v>0.631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 b="1">
                  <a:solidFill>
                    <a:srgbClr val="003BB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b"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0.2"/>
      </c:valAx>
    </c:plotArea>
    <c:legend>
      <c:legendPos val="t"/>
      <c:overlay val="0"/>
      <c:txPr>
        <a:bodyPr/>
        <a:lstStyle/>
        <a:p>
          <a:pPr>
            <a:defRPr sz="9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参考图重建。文字、形状、表格、流程、DBTL及模型性能图均为原生可编辑对象；模型性能图内嵌工作簿。数值按截图录入，未经科学核验。实验验证的小柱图原图没有数值刻度，仅按示意形状重建。图片使用 AI 按参考截图复刻后裁切。不是原图像素，不是可验证的三维蛋白结构或原始实验数据；尤其电泳图仅为示意复刻，正式科研使用请替换为原图。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chart" Target="../charts/chart1.xml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4/9"/>
          <p:cNvSpPr txBox="1"/>
          <p:nvPr/>
        </p:nvSpPr>
        <p:spPr>
          <a:xfrm>
            <a:off x="320040" y="109728"/>
            <a:ext cx="777240" cy="41148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4/9</a:t>
            </a:r>
          </a:p>
        </p:txBody>
      </p:sp>
      <p:sp>
        <p:nvSpPr>
          <p:cNvPr id="3" name="项目一： DADH AI辅助蛋白功能优化与半理性设计改造"/>
          <p:cNvSpPr txBox="1"/>
          <p:nvPr/>
        </p:nvSpPr>
        <p:spPr>
          <a:xfrm>
            <a:off x="1243584" y="68580"/>
            <a:ext cx="10972800" cy="5486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项目一： DADH AI辅助蛋白功能优化与半理性设计改造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" y="694944"/>
            <a:ext cx="12042648" cy="0"/>
          </a:xfrm>
          <a:prstGeom prst="line">
            <a:avLst/>
          </a:prstGeom>
          <a:ln w="12700">
            <a:solidFill>
              <a:srgbClr val="28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" y="859536"/>
            <a:ext cx="7315200" cy="429768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DDEE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37259"/>
            <a:ext cx="105156" cy="27432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08B4FF"/>
              </a:gs>
              <a:gs pos="100000">
                <a:srgbClr val="003BB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研究背景与目标"/>
          <p:cNvSpPr txBox="1"/>
          <p:nvPr/>
        </p:nvSpPr>
        <p:spPr>
          <a:xfrm>
            <a:off x="923544" y="900684"/>
            <a:ext cx="6675120" cy="35661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研究背景与目标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421892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DH（D-amino acid dehydrogenase）是一种具有手性氨基酸合成应用价值的酶。"/>
          <p:cNvSpPr txBox="1"/>
          <p:nvPr/>
        </p:nvSpPr>
        <p:spPr>
          <a:xfrm>
            <a:off x="713232" y="1353312"/>
            <a:ext cx="11347704" cy="33375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DADH（D-amino acid dehydrogenase）是一种具有手性氨基酸合成应用价值的酶。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1755648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结合进化信息、三维结构特征与机器学习，基于实验数据建立小样本突变活性预测模型，"/>
          <p:cNvSpPr txBox="1"/>
          <p:nvPr/>
        </p:nvSpPr>
        <p:spPr>
          <a:xfrm>
            <a:off x="713232" y="1687068"/>
            <a:ext cx="11347704" cy="33375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结合进化信息、三维结构特征与机器学习，基于实验数据建立小样本突变活性预测模型，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08940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提高突变筛选效率，提升DADH对目标底物（DON）的催化性能和底物特异性。"/>
          <p:cNvSpPr txBox="1"/>
          <p:nvPr/>
        </p:nvSpPr>
        <p:spPr>
          <a:xfrm>
            <a:off x="713232" y="2020824"/>
            <a:ext cx="11347704" cy="33375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提高突变筛选效率，提升DADH对目标底物（DON）的催化性能和底物特异性。</a:t>
            </a:r>
          </a:p>
        </p:txBody>
      </p:sp>
      <p:pic>
        <p:nvPicPr>
          <p:cNvPr id="14" name="DADH蛋白结构（参考图视觉复刻）" descr="asse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3272" y="91440"/>
            <a:ext cx="2359152" cy="2578608"/>
          </a:xfrm>
          <a:prstGeom prst="rect">
            <a:avLst/>
          </a:prstGeom>
        </p:spPr>
      </p:pic>
      <p:sp>
        <p:nvSpPr>
          <p:cNvPr id="15" name="DADH (PQQ, Ca²⁺, DON)"/>
          <p:cNvSpPr txBox="1"/>
          <p:nvPr/>
        </p:nvSpPr>
        <p:spPr>
          <a:xfrm>
            <a:off x="11667744" y="1874519"/>
            <a:ext cx="1783080" cy="53949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DADH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(PQQ, Ca²⁺, DON)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459736"/>
            <a:ext cx="8961120" cy="429768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DDEE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537460"/>
            <a:ext cx="105156" cy="27432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08B4FF"/>
              </a:gs>
              <a:gs pos="100000">
                <a:srgbClr val="003BB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技术流程"/>
          <p:cNvSpPr txBox="1"/>
          <p:nvPr/>
        </p:nvSpPr>
        <p:spPr>
          <a:xfrm>
            <a:off x="923544" y="2500884"/>
            <a:ext cx="8321040" cy="35661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技术流程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2834640"/>
            <a:ext cx="2816352" cy="3081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255">
            <a:solidFill>
              <a:srgbClr val="B2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" y="2834640"/>
            <a:ext cx="2816352" cy="438912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E6F3FF"/>
              </a:gs>
              <a:gs pos="100000">
                <a:srgbClr val="F4F9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" y="2889504"/>
            <a:ext cx="310896" cy="310896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04A8FF"/>
              </a:gs>
              <a:gs pos="100000">
                <a:srgbClr val="003BB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1"/>
          <p:cNvSpPr txBox="1"/>
          <p:nvPr/>
        </p:nvSpPr>
        <p:spPr>
          <a:xfrm>
            <a:off x="438912" y="2889504"/>
            <a:ext cx="310896" cy="31089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</a:t>
            </a:r>
          </a:p>
        </p:txBody>
      </p:sp>
      <p:sp>
        <p:nvSpPr>
          <p:cNvPr id="23" name="序列/结构分析与 半理性设计"/>
          <p:cNvSpPr txBox="1"/>
          <p:nvPr/>
        </p:nvSpPr>
        <p:spPr>
          <a:xfrm>
            <a:off x="923544" y="2898648"/>
            <a:ext cx="2176272" cy="41148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序列/结构分析与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半理性设计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73552" y="2834640"/>
            <a:ext cx="2587752" cy="3081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255">
            <a:solidFill>
              <a:srgbClr val="B2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73552" y="2834640"/>
            <a:ext cx="2587752" cy="438912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E6F3FF"/>
              </a:gs>
              <a:gs pos="100000">
                <a:srgbClr val="F4F9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92424" y="2889504"/>
            <a:ext cx="310896" cy="310896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04A8FF"/>
              </a:gs>
              <a:gs pos="100000">
                <a:srgbClr val="003BB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2"/>
          <p:cNvSpPr txBox="1"/>
          <p:nvPr/>
        </p:nvSpPr>
        <p:spPr>
          <a:xfrm>
            <a:off x="3392424" y="2889504"/>
            <a:ext cx="310896" cy="31089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</a:t>
            </a:r>
          </a:p>
        </p:txBody>
      </p:sp>
      <p:sp>
        <p:nvSpPr>
          <p:cNvPr id="28" name="实验数据构建"/>
          <p:cNvSpPr txBox="1"/>
          <p:nvPr/>
        </p:nvSpPr>
        <p:spPr>
          <a:xfrm>
            <a:off x="3877056" y="2898648"/>
            <a:ext cx="1947672" cy="41148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实验数据构建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98464" y="2834640"/>
            <a:ext cx="3310128" cy="3081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255">
            <a:solidFill>
              <a:srgbClr val="B2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98464" y="2834640"/>
            <a:ext cx="3310128" cy="438912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E6F3FF"/>
              </a:gs>
              <a:gs pos="100000">
                <a:srgbClr val="F4F9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17336" y="2889504"/>
            <a:ext cx="310896" cy="310896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04A8FF"/>
              </a:gs>
              <a:gs pos="100000">
                <a:srgbClr val="003BB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3"/>
          <p:cNvSpPr txBox="1"/>
          <p:nvPr/>
        </p:nvSpPr>
        <p:spPr>
          <a:xfrm>
            <a:off x="6117336" y="2889504"/>
            <a:ext cx="310896" cy="31089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3</a:t>
            </a:r>
          </a:p>
        </p:txBody>
      </p:sp>
      <p:sp>
        <p:nvSpPr>
          <p:cNvPr id="33" name="多源特征构建"/>
          <p:cNvSpPr txBox="1"/>
          <p:nvPr/>
        </p:nvSpPr>
        <p:spPr>
          <a:xfrm>
            <a:off x="6601968" y="2898648"/>
            <a:ext cx="2670048" cy="41148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多源特征构建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45752" y="2834640"/>
            <a:ext cx="2761488" cy="3081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255">
            <a:solidFill>
              <a:srgbClr val="B2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45752" y="2834640"/>
            <a:ext cx="2761488" cy="438912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E6F3FF"/>
              </a:gs>
              <a:gs pos="100000">
                <a:srgbClr val="F4F9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64624" y="2889504"/>
            <a:ext cx="310896" cy="310896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04A8FF"/>
              </a:gs>
              <a:gs pos="100000">
                <a:srgbClr val="003BB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4"/>
          <p:cNvSpPr txBox="1"/>
          <p:nvPr/>
        </p:nvSpPr>
        <p:spPr>
          <a:xfrm>
            <a:off x="9564624" y="2889504"/>
            <a:ext cx="310896" cy="31089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4</a:t>
            </a:r>
          </a:p>
        </p:txBody>
      </p:sp>
      <p:sp>
        <p:nvSpPr>
          <p:cNvPr id="38" name="模型比较与交叉验证"/>
          <p:cNvSpPr txBox="1"/>
          <p:nvPr/>
        </p:nvSpPr>
        <p:spPr>
          <a:xfrm>
            <a:off x="10049256" y="2898648"/>
            <a:ext cx="2121408" cy="41148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模型比较与交叉验证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353544" y="2834640"/>
            <a:ext cx="2615184" cy="3081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255">
            <a:solidFill>
              <a:srgbClr val="B2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2353544" y="2834640"/>
            <a:ext cx="2615184" cy="438912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E6F3FF"/>
              </a:gs>
              <a:gs pos="100000">
                <a:srgbClr val="F4F9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2472416" y="2889504"/>
            <a:ext cx="310896" cy="310896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04A8FF"/>
              </a:gs>
              <a:gs pos="100000">
                <a:srgbClr val="003BB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5"/>
          <p:cNvSpPr txBox="1"/>
          <p:nvPr/>
        </p:nvSpPr>
        <p:spPr>
          <a:xfrm>
            <a:off x="12472416" y="2889504"/>
            <a:ext cx="310896" cy="31089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5</a:t>
            </a:r>
          </a:p>
        </p:txBody>
      </p:sp>
      <p:sp>
        <p:nvSpPr>
          <p:cNvPr id="43" name="候选排序与实验验证"/>
          <p:cNvSpPr txBox="1"/>
          <p:nvPr/>
        </p:nvSpPr>
        <p:spPr>
          <a:xfrm>
            <a:off x="12957048" y="2898648"/>
            <a:ext cx="1975104" cy="41148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候选排序与实验验证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3054096" y="4306824"/>
            <a:ext cx="265176" cy="429768"/>
          </a:xfrm>
          <a:prstGeom prst="rightArrow">
            <a:avLst/>
          </a:prstGeom>
          <a:ln>
            <a:noFill/>
          </a:ln>
          <a:gradFill>
            <a:gsLst>
              <a:gs pos="0">
                <a:srgbClr val="E6F3FF"/>
              </a:gs>
              <a:gs pos="100000">
                <a:srgbClr val="1497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5779008" y="4306824"/>
            <a:ext cx="265176" cy="429768"/>
          </a:xfrm>
          <a:prstGeom prst="rightArrow">
            <a:avLst/>
          </a:prstGeom>
          <a:ln>
            <a:noFill/>
          </a:ln>
          <a:gradFill>
            <a:gsLst>
              <a:gs pos="0">
                <a:srgbClr val="E6F3FF"/>
              </a:gs>
              <a:gs pos="100000">
                <a:srgbClr val="1497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9226296" y="4306824"/>
            <a:ext cx="265176" cy="429768"/>
          </a:xfrm>
          <a:prstGeom prst="rightArrow">
            <a:avLst/>
          </a:prstGeom>
          <a:ln>
            <a:noFill/>
          </a:ln>
          <a:gradFill>
            <a:gsLst>
              <a:gs pos="0">
                <a:srgbClr val="E6F3FF"/>
              </a:gs>
              <a:gs pos="100000">
                <a:srgbClr val="1497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12134088" y="4306824"/>
            <a:ext cx="265176" cy="429768"/>
          </a:xfrm>
          <a:prstGeom prst="rightArrow">
            <a:avLst/>
          </a:prstGeom>
          <a:ln>
            <a:noFill/>
          </a:ln>
          <a:gradFill>
            <a:gsLst>
              <a:gs pos="0">
                <a:srgbClr val="E6F3FF"/>
              </a:gs>
              <a:gs pos="100000">
                <a:srgbClr val="1497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DADH三维结构（参考图视觉复刻）" descr="asset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621024"/>
            <a:ext cx="1051560" cy="1289304"/>
          </a:xfrm>
          <a:prstGeom prst="rect">
            <a:avLst/>
          </a:prstGeom>
        </p:spPr>
      </p:pic>
      <p:pic>
        <p:nvPicPr>
          <p:cNvPr id="49" name="DON结合口袋（参考图视觉复刻）" descr="asset_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639312"/>
            <a:ext cx="1280160" cy="1271016"/>
          </a:xfrm>
          <a:prstGeom prst="rect">
            <a:avLst/>
          </a:prstGeom>
        </p:spPr>
      </p:pic>
      <p:cxnSp>
        <p:nvCxnSpPr>
          <p:cNvPr id="50" name="Connector 49"/>
          <p:cNvCxnSpPr/>
          <p:nvPr/>
        </p:nvCxnSpPr>
        <p:spPr>
          <a:xfrm flipV="1">
            <a:off x="1170432" y="3657600"/>
            <a:ext cx="475488" cy="310896"/>
          </a:xfrm>
          <a:prstGeom prst="line">
            <a:avLst/>
          </a:prstGeom>
          <a:ln w="10160">
            <a:solidFill>
              <a:srgbClr val="71B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70432" y="4480560"/>
            <a:ext cx="475488" cy="411480"/>
          </a:xfrm>
          <a:prstGeom prst="line">
            <a:avLst/>
          </a:prstGeom>
          <a:ln w="10160">
            <a:solidFill>
              <a:srgbClr val="71B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66928" y="5079492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ADH 三维结构分析"/>
          <p:cNvSpPr txBox="1"/>
          <p:nvPr/>
        </p:nvSpPr>
        <p:spPr>
          <a:xfrm>
            <a:off x="694944" y="5010912"/>
            <a:ext cx="2359152" cy="23317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DADH 三维结构分析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31266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ON 对接与关键位点识别"/>
          <p:cNvSpPr txBox="1"/>
          <p:nvPr/>
        </p:nvSpPr>
        <p:spPr>
          <a:xfrm>
            <a:off x="694944" y="5244084"/>
            <a:ext cx="2359152" cy="23317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DON 对接与关键位点识别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5545836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SA同源序列分析"/>
          <p:cNvSpPr txBox="1"/>
          <p:nvPr/>
        </p:nvSpPr>
        <p:spPr>
          <a:xfrm>
            <a:off x="694944" y="5477256"/>
            <a:ext cx="2359152" cy="23317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MSA同源序列分析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779008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设计48个候选突变位点"/>
          <p:cNvSpPr txBox="1"/>
          <p:nvPr/>
        </p:nvSpPr>
        <p:spPr>
          <a:xfrm>
            <a:off x="694944" y="5710428"/>
            <a:ext cx="2359152" cy="23317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设计48个候选突变位点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29000" y="3465576"/>
            <a:ext cx="1243584" cy="804672"/>
          </a:xfrm>
          <a:prstGeom prst="roundRect">
            <a:avLst>
              <a:gd name="adj" fmla="val 12000"/>
            </a:avLst>
          </a:prstGeom>
          <a:solidFill>
            <a:srgbClr val="ED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48个 实验突变体"/>
          <p:cNvSpPr txBox="1"/>
          <p:nvPr/>
        </p:nvSpPr>
        <p:spPr>
          <a:xfrm>
            <a:off x="3474720" y="3488436"/>
            <a:ext cx="1152144" cy="75895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48个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实验突变体</a:t>
            </a:r>
          </a:p>
        </p:txBody>
      </p:sp>
      <p:pic>
        <p:nvPicPr>
          <p:cNvPr id="62" name="培养皿（参考图视觉复刻）" descr="asset_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465576"/>
            <a:ext cx="877824" cy="832104"/>
          </a:xfrm>
          <a:prstGeom prst="rect">
            <a:avLst/>
          </a:prstGeom>
        </p:spPr>
      </p:pic>
      <p:sp>
        <p:nvSpPr>
          <p:cNvPr id="63" name="Down Arrow 62"/>
          <p:cNvSpPr/>
          <p:nvPr/>
        </p:nvSpPr>
        <p:spPr>
          <a:xfrm>
            <a:off x="3877056" y="4279392"/>
            <a:ext cx="329184" cy="283464"/>
          </a:xfrm>
          <a:prstGeom prst="downArrow">
            <a:avLst/>
          </a:prstGeom>
          <a:ln>
            <a:noFill/>
          </a:ln>
          <a:gradFill>
            <a:gsLst>
              <a:gs pos="0">
                <a:srgbClr val="E6F3FF"/>
              </a:gs>
              <a:gs pos="100000">
                <a:srgbClr val="1497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429000" y="4590288"/>
            <a:ext cx="1243584" cy="1152144"/>
          </a:xfrm>
          <a:prstGeom prst="roundRect">
            <a:avLst>
              <a:gd name="adj" fmla="val 12000"/>
            </a:avLst>
          </a:prstGeom>
          <a:solidFill>
            <a:srgbClr val="F4FAFF"/>
          </a:solidFill>
          <a:ln w="8255">
            <a:solidFill>
              <a:srgbClr val="73B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57016" y="478688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定点突变"/>
          <p:cNvSpPr txBox="1"/>
          <p:nvPr/>
        </p:nvSpPr>
        <p:spPr>
          <a:xfrm>
            <a:off x="3685032" y="4718304"/>
            <a:ext cx="905255" cy="246888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定点突变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57016" y="5033772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表达纯化"/>
          <p:cNvSpPr txBox="1"/>
          <p:nvPr/>
        </p:nvSpPr>
        <p:spPr>
          <a:xfrm>
            <a:off x="3685032" y="4965192"/>
            <a:ext cx="905255" cy="246888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表达纯化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57016" y="5280660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酶活性测定"/>
          <p:cNvSpPr txBox="1"/>
          <p:nvPr/>
        </p:nvSpPr>
        <p:spPr>
          <a:xfrm>
            <a:off x="3685032" y="5212080"/>
            <a:ext cx="905255" cy="246888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酶活性测定</a:t>
            </a:r>
          </a:p>
        </p:txBody>
      </p:sp>
      <p:sp>
        <p:nvSpPr>
          <p:cNvPr id="71" name="(S10a/1a)"/>
          <p:cNvSpPr txBox="1"/>
          <p:nvPr/>
        </p:nvSpPr>
        <p:spPr>
          <a:xfrm>
            <a:off x="3694176" y="5458968"/>
            <a:ext cx="941832" cy="21945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(S10a/1a)</a:t>
            </a:r>
          </a:p>
        </p:txBody>
      </p:sp>
      <p:pic>
        <p:nvPicPr>
          <p:cNvPr id="72" name="蛋白电泳（参考图视觉复刻）" descr="asset_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443984"/>
            <a:ext cx="886968" cy="1289304"/>
          </a:xfrm>
          <a:prstGeom prst="rect">
            <a:avLst/>
          </a:prstGeom>
        </p:spPr>
      </p:pic>
      <p:sp>
        <p:nvSpPr>
          <p:cNvPr id="73" name="示意复刻"/>
          <p:cNvSpPr txBox="1"/>
          <p:nvPr/>
        </p:nvSpPr>
        <p:spPr>
          <a:xfrm>
            <a:off x="4828032" y="5623560"/>
            <a:ext cx="886968" cy="109728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560" b="0">
                <a:solidFill>
                  <a:srgbClr val="718096"/>
                </a:solidFill>
                <a:latin typeface="Noto Sans CJK SC"/>
              </a:defRPr>
            </a:pPr>
            <a:r>
              <a:rPr>
                <a:ea typeface="Noto Sans CJK SC"/>
              </a:rPr>
              <a:t>示意复刻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26480" y="3310128"/>
            <a:ext cx="1115568" cy="813816"/>
          </a:xfrm>
          <a:prstGeom prst="roundRect">
            <a:avLst>
              <a:gd name="adj" fmla="val 12000"/>
            </a:avLst>
          </a:prstGeom>
          <a:solidFill>
            <a:srgbClr val="DDF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进化特征 (MSA)"/>
          <p:cNvSpPr txBox="1"/>
          <p:nvPr/>
        </p:nvSpPr>
        <p:spPr>
          <a:xfrm>
            <a:off x="6172200" y="3332988"/>
            <a:ext cx="1024127" cy="76809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进化特征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(MSA)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242048" y="3310128"/>
            <a:ext cx="1965960" cy="813816"/>
          </a:xfrm>
          <a:prstGeom prst="roundRect">
            <a:avLst>
              <a:gd name="adj" fmla="val 12000"/>
            </a:avLst>
          </a:prstGeom>
          <a:solidFill>
            <a:srgbClr val="F8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Q"/>
          <p:cNvSpPr txBox="1"/>
          <p:nvPr/>
        </p:nvSpPr>
        <p:spPr>
          <a:xfrm>
            <a:off x="7406640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78" name="O"/>
          <p:cNvSpPr txBox="1"/>
          <p:nvPr/>
        </p:nvSpPr>
        <p:spPr>
          <a:xfrm>
            <a:off x="7406640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O</a:t>
            </a:r>
          </a:p>
        </p:txBody>
      </p:sp>
      <p:sp>
        <p:nvSpPr>
          <p:cNvPr id="79" name="G"/>
          <p:cNvSpPr txBox="1"/>
          <p:nvPr/>
        </p:nvSpPr>
        <p:spPr>
          <a:xfrm>
            <a:off x="7406640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G</a:t>
            </a:r>
          </a:p>
        </p:txBody>
      </p:sp>
      <p:sp>
        <p:nvSpPr>
          <p:cNvPr id="80" name="S"/>
          <p:cNvSpPr txBox="1"/>
          <p:nvPr/>
        </p:nvSpPr>
        <p:spPr>
          <a:xfrm>
            <a:off x="7406640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S</a:t>
            </a:r>
          </a:p>
        </p:txBody>
      </p:sp>
      <p:sp>
        <p:nvSpPr>
          <p:cNvPr id="81" name="C"/>
          <p:cNvSpPr txBox="1"/>
          <p:nvPr/>
        </p:nvSpPr>
        <p:spPr>
          <a:xfrm>
            <a:off x="7406640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C</a:t>
            </a:r>
          </a:p>
        </p:txBody>
      </p:sp>
      <p:sp>
        <p:nvSpPr>
          <p:cNvPr id="82" name="G"/>
          <p:cNvSpPr txBox="1"/>
          <p:nvPr/>
        </p:nvSpPr>
        <p:spPr>
          <a:xfrm>
            <a:off x="7548371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G</a:t>
            </a:r>
          </a:p>
        </p:txBody>
      </p:sp>
      <p:sp>
        <p:nvSpPr>
          <p:cNvPr id="83" name="S"/>
          <p:cNvSpPr txBox="1"/>
          <p:nvPr/>
        </p:nvSpPr>
        <p:spPr>
          <a:xfrm>
            <a:off x="7548371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S</a:t>
            </a:r>
          </a:p>
        </p:txBody>
      </p:sp>
      <p:sp>
        <p:nvSpPr>
          <p:cNvPr id="84" name="C"/>
          <p:cNvSpPr txBox="1"/>
          <p:nvPr/>
        </p:nvSpPr>
        <p:spPr>
          <a:xfrm>
            <a:off x="7548371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C</a:t>
            </a:r>
          </a:p>
        </p:txBody>
      </p:sp>
      <p:sp>
        <p:nvSpPr>
          <p:cNvPr id="85" name="A"/>
          <p:cNvSpPr txBox="1"/>
          <p:nvPr/>
        </p:nvSpPr>
        <p:spPr>
          <a:xfrm>
            <a:off x="7548371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A</a:t>
            </a:r>
          </a:p>
        </p:txBody>
      </p:sp>
      <p:sp>
        <p:nvSpPr>
          <p:cNvPr id="86" name="R"/>
          <p:cNvSpPr txBox="1"/>
          <p:nvPr/>
        </p:nvSpPr>
        <p:spPr>
          <a:xfrm>
            <a:off x="7548371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R</a:t>
            </a:r>
          </a:p>
        </p:txBody>
      </p:sp>
      <p:sp>
        <p:nvSpPr>
          <p:cNvPr id="87" name="C"/>
          <p:cNvSpPr txBox="1"/>
          <p:nvPr/>
        </p:nvSpPr>
        <p:spPr>
          <a:xfrm>
            <a:off x="7690104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C</a:t>
            </a:r>
          </a:p>
        </p:txBody>
      </p:sp>
      <p:sp>
        <p:nvSpPr>
          <p:cNvPr id="88" name="A"/>
          <p:cNvSpPr txBox="1"/>
          <p:nvPr/>
        </p:nvSpPr>
        <p:spPr>
          <a:xfrm>
            <a:off x="7690104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A</a:t>
            </a:r>
          </a:p>
        </p:txBody>
      </p:sp>
      <p:sp>
        <p:nvSpPr>
          <p:cNvPr id="89" name="R"/>
          <p:cNvSpPr txBox="1"/>
          <p:nvPr/>
        </p:nvSpPr>
        <p:spPr>
          <a:xfrm>
            <a:off x="7690104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R</a:t>
            </a:r>
          </a:p>
        </p:txBody>
      </p:sp>
      <p:sp>
        <p:nvSpPr>
          <p:cNvPr id="90" name="D"/>
          <p:cNvSpPr txBox="1"/>
          <p:nvPr/>
        </p:nvSpPr>
        <p:spPr>
          <a:xfrm>
            <a:off x="7690104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D</a:t>
            </a:r>
          </a:p>
        </p:txBody>
      </p:sp>
      <p:sp>
        <p:nvSpPr>
          <p:cNvPr id="91" name="E"/>
          <p:cNvSpPr txBox="1"/>
          <p:nvPr/>
        </p:nvSpPr>
        <p:spPr>
          <a:xfrm>
            <a:off x="7690104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E</a:t>
            </a:r>
          </a:p>
        </p:txBody>
      </p:sp>
      <p:sp>
        <p:nvSpPr>
          <p:cNvPr id="92" name="R"/>
          <p:cNvSpPr txBox="1"/>
          <p:nvPr/>
        </p:nvSpPr>
        <p:spPr>
          <a:xfrm>
            <a:off x="7831836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R</a:t>
            </a:r>
          </a:p>
        </p:txBody>
      </p:sp>
      <p:sp>
        <p:nvSpPr>
          <p:cNvPr id="93" name="D"/>
          <p:cNvSpPr txBox="1"/>
          <p:nvPr/>
        </p:nvSpPr>
        <p:spPr>
          <a:xfrm>
            <a:off x="7831836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D</a:t>
            </a:r>
          </a:p>
        </p:txBody>
      </p:sp>
      <p:sp>
        <p:nvSpPr>
          <p:cNvPr id="94" name="E"/>
          <p:cNvSpPr txBox="1"/>
          <p:nvPr/>
        </p:nvSpPr>
        <p:spPr>
          <a:xfrm>
            <a:off x="7831836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E</a:t>
            </a:r>
          </a:p>
        </p:txBody>
      </p:sp>
      <p:sp>
        <p:nvSpPr>
          <p:cNvPr id="95" name="N"/>
          <p:cNvSpPr txBox="1"/>
          <p:nvPr/>
        </p:nvSpPr>
        <p:spPr>
          <a:xfrm>
            <a:off x="7831836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N</a:t>
            </a:r>
          </a:p>
        </p:txBody>
      </p:sp>
      <p:sp>
        <p:nvSpPr>
          <p:cNvPr id="96" name="Q"/>
          <p:cNvSpPr txBox="1"/>
          <p:nvPr/>
        </p:nvSpPr>
        <p:spPr>
          <a:xfrm>
            <a:off x="7831836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97" name="E"/>
          <p:cNvSpPr txBox="1"/>
          <p:nvPr/>
        </p:nvSpPr>
        <p:spPr>
          <a:xfrm>
            <a:off x="7973567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E</a:t>
            </a:r>
          </a:p>
        </p:txBody>
      </p:sp>
      <p:sp>
        <p:nvSpPr>
          <p:cNvPr id="98" name="N"/>
          <p:cNvSpPr txBox="1"/>
          <p:nvPr/>
        </p:nvSpPr>
        <p:spPr>
          <a:xfrm>
            <a:off x="7973567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N</a:t>
            </a:r>
          </a:p>
        </p:txBody>
      </p:sp>
      <p:sp>
        <p:nvSpPr>
          <p:cNvPr id="99" name="Q"/>
          <p:cNvSpPr txBox="1"/>
          <p:nvPr/>
        </p:nvSpPr>
        <p:spPr>
          <a:xfrm>
            <a:off x="7973567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100" name="R"/>
          <p:cNvSpPr txBox="1"/>
          <p:nvPr/>
        </p:nvSpPr>
        <p:spPr>
          <a:xfrm>
            <a:off x="7973567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R</a:t>
            </a:r>
          </a:p>
        </p:txBody>
      </p:sp>
      <p:sp>
        <p:nvSpPr>
          <p:cNvPr id="101" name="Q"/>
          <p:cNvSpPr txBox="1"/>
          <p:nvPr/>
        </p:nvSpPr>
        <p:spPr>
          <a:xfrm>
            <a:off x="7973567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102" name="Q"/>
          <p:cNvSpPr txBox="1"/>
          <p:nvPr/>
        </p:nvSpPr>
        <p:spPr>
          <a:xfrm>
            <a:off x="8115300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103" name="R"/>
          <p:cNvSpPr txBox="1"/>
          <p:nvPr/>
        </p:nvSpPr>
        <p:spPr>
          <a:xfrm>
            <a:off x="8115300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R</a:t>
            </a:r>
          </a:p>
        </p:txBody>
      </p:sp>
      <p:sp>
        <p:nvSpPr>
          <p:cNvPr id="104" name="Q"/>
          <p:cNvSpPr txBox="1"/>
          <p:nvPr/>
        </p:nvSpPr>
        <p:spPr>
          <a:xfrm>
            <a:off x="8115300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105" name="O"/>
          <p:cNvSpPr txBox="1"/>
          <p:nvPr/>
        </p:nvSpPr>
        <p:spPr>
          <a:xfrm>
            <a:off x="8115300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O</a:t>
            </a:r>
          </a:p>
        </p:txBody>
      </p:sp>
      <p:sp>
        <p:nvSpPr>
          <p:cNvPr id="106" name="G"/>
          <p:cNvSpPr txBox="1"/>
          <p:nvPr/>
        </p:nvSpPr>
        <p:spPr>
          <a:xfrm>
            <a:off x="8115300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G</a:t>
            </a:r>
          </a:p>
        </p:txBody>
      </p:sp>
      <p:sp>
        <p:nvSpPr>
          <p:cNvPr id="107" name="Q"/>
          <p:cNvSpPr txBox="1"/>
          <p:nvPr/>
        </p:nvSpPr>
        <p:spPr>
          <a:xfrm>
            <a:off x="8257031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108" name="O"/>
          <p:cNvSpPr txBox="1"/>
          <p:nvPr/>
        </p:nvSpPr>
        <p:spPr>
          <a:xfrm>
            <a:off x="8257031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O</a:t>
            </a:r>
          </a:p>
        </p:txBody>
      </p:sp>
      <p:sp>
        <p:nvSpPr>
          <p:cNvPr id="109" name="G"/>
          <p:cNvSpPr txBox="1"/>
          <p:nvPr/>
        </p:nvSpPr>
        <p:spPr>
          <a:xfrm>
            <a:off x="8257031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G</a:t>
            </a:r>
          </a:p>
        </p:txBody>
      </p:sp>
      <p:sp>
        <p:nvSpPr>
          <p:cNvPr id="110" name="S"/>
          <p:cNvSpPr txBox="1"/>
          <p:nvPr/>
        </p:nvSpPr>
        <p:spPr>
          <a:xfrm>
            <a:off x="8257031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S</a:t>
            </a:r>
          </a:p>
        </p:txBody>
      </p:sp>
      <p:sp>
        <p:nvSpPr>
          <p:cNvPr id="111" name="C"/>
          <p:cNvSpPr txBox="1"/>
          <p:nvPr/>
        </p:nvSpPr>
        <p:spPr>
          <a:xfrm>
            <a:off x="8257031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C</a:t>
            </a:r>
          </a:p>
        </p:txBody>
      </p:sp>
      <p:sp>
        <p:nvSpPr>
          <p:cNvPr id="112" name="G"/>
          <p:cNvSpPr txBox="1"/>
          <p:nvPr/>
        </p:nvSpPr>
        <p:spPr>
          <a:xfrm>
            <a:off x="8398763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G</a:t>
            </a:r>
          </a:p>
        </p:txBody>
      </p:sp>
      <p:sp>
        <p:nvSpPr>
          <p:cNvPr id="113" name="S"/>
          <p:cNvSpPr txBox="1"/>
          <p:nvPr/>
        </p:nvSpPr>
        <p:spPr>
          <a:xfrm>
            <a:off x="8398763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S</a:t>
            </a:r>
          </a:p>
        </p:txBody>
      </p:sp>
      <p:sp>
        <p:nvSpPr>
          <p:cNvPr id="114" name="C"/>
          <p:cNvSpPr txBox="1"/>
          <p:nvPr/>
        </p:nvSpPr>
        <p:spPr>
          <a:xfrm>
            <a:off x="8398763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C</a:t>
            </a:r>
          </a:p>
        </p:txBody>
      </p:sp>
      <p:sp>
        <p:nvSpPr>
          <p:cNvPr id="115" name="A"/>
          <p:cNvSpPr txBox="1"/>
          <p:nvPr/>
        </p:nvSpPr>
        <p:spPr>
          <a:xfrm>
            <a:off x="8398763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A</a:t>
            </a:r>
          </a:p>
        </p:txBody>
      </p:sp>
      <p:sp>
        <p:nvSpPr>
          <p:cNvPr id="116" name="R"/>
          <p:cNvSpPr txBox="1"/>
          <p:nvPr/>
        </p:nvSpPr>
        <p:spPr>
          <a:xfrm>
            <a:off x="8398763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R</a:t>
            </a:r>
          </a:p>
        </p:txBody>
      </p:sp>
      <p:sp>
        <p:nvSpPr>
          <p:cNvPr id="117" name="C"/>
          <p:cNvSpPr txBox="1"/>
          <p:nvPr/>
        </p:nvSpPr>
        <p:spPr>
          <a:xfrm>
            <a:off x="8540496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C</a:t>
            </a:r>
          </a:p>
        </p:txBody>
      </p:sp>
      <p:sp>
        <p:nvSpPr>
          <p:cNvPr id="118" name="A"/>
          <p:cNvSpPr txBox="1"/>
          <p:nvPr/>
        </p:nvSpPr>
        <p:spPr>
          <a:xfrm>
            <a:off x="8540496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A</a:t>
            </a:r>
          </a:p>
        </p:txBody>
      </p:sp>
      <p:sp>
        <p:nvSpPr>
          <p:cNvPr id="119" name="R"/>
          <p:cNvSpPr txBox="1"/>
          <p:nvPr/>
        </p:nvSpPr>
        <p:spPr>
          <a:xfrm>
            <a:off x="8540496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R</a:t>
            </a:r>
          </a:p>
        </p:txBody>
      </p:sp>
      <p:sp>
        <p:nvSpPr>
          <p:cNvPr id="120" name="D"/>
          <p:cNvSpPr txBox="1"/>
          <p:nvPr/>
        </p:nvSpPr>
        <p:spPr>
          <a:xfrm>
            <a:off x="8540496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D</a:t>
            </a:r>
          </a:p>
        </p:txBody>
      </p:sp>
      <p:sp>
        <p:nvSpPr>
          <p:cNvPr id="121" name="E"/>
          <p:cNvSpPr txBox="1"/>
          <p:nvPr/>
        </p:nvSpPr>
        <p:spPr>
          <a:xfrm>
            <a:off x="8540496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E</a:t>
            </a:r>
          </a:p>
        </p:txBody>
      </p:sp>
      <p:sp>
        <p:nvSpPr>
          <p:cNvPr id="122" name="R"/>
          <p:cNvSpPr txBox="1"/>
          <p:nvPr/>
        </p:nvSpPr>
        <p:spPr>
          <a:xfrm>
            <a:off x="8682228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R</a:t>
            </a:r>
          </a:p>
        </p:txBody>
      </p:sp>
      <p:sp>
        <p:nvSpPr>
          <p:cNvPr id="123" name="D"/>
          <p:cNvSpPr txBox="1"/>
          <p:nvPr/>
        </p:nvSpPr>
        <p:spPr>
          <a:xfrm>
            <a:off x="8682228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D</a:t>
            </a:r>
          </a:p>
        </p:txBody>
      </p:sp>
      <p:sp>
        <p:nvSpPr>
          <p:cNvPr id="124" name="E"/>
          <p:cNvSpPr txBox="1"/>
          <p:nvPr/>
        </p:nvSpPr>
        <p:spPr>
          <a:xfrm>
            <a:off x="8682228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E</a:t>
            </a:r>
          </a:p>
        </p:txBody>
      </p:sp>
      <p:sp>
        <p:nvSpPr>
          <p:cNvPr id="125" name="N"/>
          <p:cNvSpPr txBox="1"/>
          <p:nvPr/>
        </p:nvSpPr>
        <p:spPr>
          <a:xfrm>
            <a:off x="8682228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N</a:t>
            </a:r>
          </a:p>
        </p:txBody>
      </p:sp>
      <p:sp>
        <p:nvSpPr>
          <p:cNvPr id="126" name="Q"/>
          <p:cNvSpPr txBox="1"/>
          <p:nvPr/>
        </p:nvSpPr>
        <p:spPr>
          <a:xfrm>
            <a:off x="8682228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127" name="E"/>
          <p:cNvSpPr txBox="1"/>
          <p:nvPr/>
        </p:nvSpPr>
        <p:spPr>
          <a:xfrm>
            <a:off x="8823960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E</a:t>
            </a:r>
          </a:p>
        </p:txBody>
      </p:sp>
      <p:sp>
        <p:nvSpPr>
          <p:cNvPr id="128" name="N"/>
          <p:cNvSpPr txBox="1"/>
          <p:nvPr/>
        </p:nvSpPr>
        <p:spPr>
          <a:xfrm>
            <a:off x="8823960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N</a:t>
            </a:r>
          </a:p>
        </p:txBody>
      </p:sp>
      <p:sp>
        <p:nvSpPr>
          <p:cNvPr id="129" name="Q"/>
          <p:cNvSpPr txBox="1"/>
          <p:nvPr/>
        </p:nvSpPr>
        <p:spPr>
          <a:xfrm>
            <a:off x="8823960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130" name="R"/>
          <p:cNvSpPr txBox="1"/>
          <p:nvPr/>
        </p:nvSpPr>
        <p:spPr>
          <a:xfrm>
            <a:off x="8823960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R</a:t>
            </a:r>
          </a:p>
        </p:txBody>
      </p:sp>
      <p:sp>
        <p:nvSpPr>
          <p:cNvPr id="131" name="Q"/>
          <p:cNvSpPr txBox="1"/>
          <p:nvPr/>
        </p:nvSpPr>
        <p:spPr>
          <a:xfrm>
            <a:off x="8823960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132" name="Q"/>
          <p:cNvSpPr txBox="1"/>
          <p:nvPr/>
        </p:nvSpPr>
        <p:spPr>
          <a:xfrm>
            <a:off x="8965692" y="332841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133" name="R"/>
          <p:cNvSpPr txBox="1"/>
          <p:nvPr/>
        </p:nvSpPr>
        <p:spPr>
          <a:xfrm>
            <a:off x="8965692" y="339699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2AA51"/>
                </a:solidFill>
                <a:latin typeface="Noto Sans CJK SC"/>
              </a:defRPr>
            </a:pPr>
            <a:r>
              <a:rPr>
                <a:ea typeface="Noto Sans CJK SC"/>
              </a:rPr>
              <a:t>R</a:t>
            </a:r>
          </a:p>
        </p:txBody>
      </p:sp>
      <p:sp>
        <p:nvSpPr>
          <p:cNvPr id="134" name="Q"/>
          <p:cNvSpPr txBox="1"/>
          <p:nvPr/>
        </p:nvSpPr>
        <p:spPr>
          <a:xfrm>
            <a:off x="8965692" y="346557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444CC"/>
                </a:solidFill>
                <a:latin typeface="Noto Sans CJK SC"/>
              </a:defRPr>
            </a:pPr>
            <a:r>
              <a:rPr>
                <a:ea typeface="Noto Sans CJK SC"/>
              </a:rPr>
              <a:t>Q</a:t>
            </a:r>
          </a:p>
        </p:txBody>
      </p:sp>
      <p:sp>
        <p:nvSpPr>
          <p:cNvPr id="135" name="O"/>
          <p:cNvSpPr txBox="1"/>
          <p:nvPr/>
        </p:nvSpPr>
        <p:spPr>
          <a:xfrm>
            <a:off x="8965692" y="353415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A2323"/>
                </a:solidFill>
                <a:latin typeface="Noto Sans CJK SC"/>
              </a:defRPr>
            </a:pPr>
            <a:r>
              <a:rPr>
                <a:ea typeface="Noto Sans CJK SC"/>
              </a:rPr>
              <a:t>O</a:t>
            </a:r>
          </a:p>
        </p:txBody>
      </p:sp>
      <p:sp>
        <p:nvSpPr>
          <p:cNvPr id="136" name="G"/>
          <p:cNvSpPr txBox="1"/>
          <p:nvPr/>
        </p:nvSpPr>
        <p:spPr>
          <a:xfrm>
            <a:off x="8965692" y="3602736"/>
            <a:ext cx="137160" cy="9144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E98500"/>
                </a:solidFill>
                <a:latin typeface="Noto Sans CJK SC"/>
              </a:defRPr>
            </a:pPr>
            <a:r>
              <a:rPr>
                <a:ea typeface="Noto Sans CJK SC"/>
              </a:rPr>
              <a:t>G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333488" y="3817620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同源序列比对"/>
          <p:cNvSpPr txBox="1"/>
          <p:nvPr/>
        </p:nvSpPr>
        <p:spPr>
          <a:xfrm>
            <a:off x="7461504" y="3749039"/>
            <a:ext cx="1682495" cy="18288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同源序列比对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333488" y="4000500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保守性 / 氨基酸偏好"/>
          <p:cNvSpPr txBox="1"/>
          <p:nvPr/>
        </p:nvSpPr>
        <p:spPr>
          <a:xfrm>
            <a:off x="7461504" y="3931920"/>
            <a:ext cx="1682495" cy="18288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保守性 / 氨基酸偏好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126480" y="4224528"/>
            <a:ext cx="1115568" cy="722376"/>
          </a:xfrm>
          <a:prstGeom prst="roundRect">
            <a:avLst>
              <a:gd name="adj" fmla="val 120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结构特征"/>
          <p:cNvSpPr txBox="1"/>
          <p:nvPr/>
        </p:nvSpPr>
        <p:spPr>
          <a:xfrm>
            <a:off x="6172200" y="4247388"/>
            <a:ext cx="1024127" cy="67665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结构特征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242048" y="4224528"/>
            <a:ext cx="1965960" cy="722376"/>
          </a:xfrm>
          <a:prstGeom prst="roundRect">
            <a:avLst>
              <a:gd name="adj" fmla="val 12000"/>
            </a:avLst>
          </a:prstGeom>
          <a:solidFill>
            <a:srgbClr val="F4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口袋结构（参考图视觉复刻）" descr="asset_1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0336" y="4325112"/>
            <a:ext cx="566928" cy="521207"/>
          </a:xfrm>
          <a:prstGeom prst="rect">
            <a:avLst/>
          </a:prstGeom>
        </p:spPr>
      </p:pic>
      <p:sp>
        <p:nvSpPr>
          <p:cNvPr id="145" name="Rectangle 144"/>
          <p:cNvSpPr/>
          <p:nvPr/>
        </p:nvSpPr>
        <p:spPr>
          <a:xfrm>
            <a:off x="7891272" y="4384548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距 PQQ / DON 距离"/>
          <p:cNvSpPr txBox="1"/>
          <p:nvPr/>
        </p:nvSpPr>
        <p:spPr>
          <a:xfrm>
            <a:off x="8019288" y="4315968"/>
            <a:ext cx="1179576" cy="18745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距 PQQ / DON 距离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891272" y="4572000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SASA、邻居残基"/>
          <p:cNvSpPr txBox="1"/>
          <p:nvPr/>
        </p:nvSpPr>
        <p:spPr>
          <a:xfrm>
            <a:off x="8019288" y="4503420"/>
            <a:ext cx="1179576" cy="18745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SASA、邻居残基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891272" y="4759452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能量等结构微环境特征"/>
          <p:cNvSpPr txBox="1"/>
          <p:nvPr/>
        </p:nvSpPr>
        <p:spPr>
          <a:xfrm>
            <a:off x="8019288" y="4690872"/>
            <a:ext cx="1179576" cy="18745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能量等结构微环境特征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126480" y="5038344"/>
            <a:ext cx="1115568" cy="740664"/>
          </a:xfrm>
          <a:prstGeom prst="roundRect">
            <a:avLst>
              <a:gd name="adj" fmla="val 12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SM-2 特征"/>
          <p:cNvSpPr txBox="1"/>
          <p:nvPr/>
        </p:nvSpPr>
        <p:spPr>
          <a:xfrm>
            <a:off x="6172200" y="5061204"/>
            <a:ext cx="1024127" cy="694944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ED161D"/>
                </a:solidFill>
                <a:latin typeface="Noto Sans CJK SC"/>
              </a:defRPr>
            </a:pPr>
            <a:r>
              <a:rPr>
                <a:ea typeface="Noto Sans CJK SC"/>
              </a:rPr>
              <a:t>ESM-2 特征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242048" y="5038344"/>
            <a:ext cx="1965960" cy="740664"/>
          </a:xfrm>
          <a:prstGeom prst="roundRect">
            <a:avLst>
              <a:gd name="adj" fmla="val 12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SM-2"/>
          <p:cNvSpPr txBox="1"/>
          <p:nvPr/>
        </p:nvSpPr>
        <p:spPr>
          <a:xfrm>
            <a:off x="7287768" y="5093208"/>
            <a:ext cx="548640" cy="155448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ESM-2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296912" y="5303520"/>
            <a:ext cx="63093" cy="73152"/>
          </a:xfrm>
          <a:prstGeom prst="rect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296912" y="5381244"/>
            <a:ext cx="63093" cy="73152"/>
          </a:xfrm>
          <a:prstGeom prst="rect">
            <a:avLst/>
          </a:prstGeom>
          <a:solidFill>
            <a:srgbClr val="748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296912" y="5458968"/>
            <a:ext cx="63093" cy="73152"/>
          </a:xfrm>
          <a:prstGeom prst="rect">
            <a:avLst/>
          </a:prstGeom>
          <a:solidFill>
            <a:srgbClr val="225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296912" y="5536692"/>
            <a:ext cx="63093" cy="73152"/>
          </a:xfrm>
          <a:prstGeom prst="rect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296912" y="5614416"/>
            <a:ext cx="63093" cy="73152"/>
          </a:xfrm>
          <a:prstGeom prst="rect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361834" y="5303520"/>
            <a:ext cx="63093" cy="73152"/>
          </a:xfrm>
          <a:prstGeom prst="rect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361834" y="5381244"/>
            <a:ext cx="63093" cy="73152"/>
          </a:xfrm>
          <a:prstGeom prst="rect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361834" y="5458968"/>
            <a:ext cx="63093" cy="73152"/>
          </a:xfrm>
          <a:prstGeom prst="rect">
            <a:avLst/>
          </a:prstGeom>
          <a:solidFill>
            <a:srgbClr val="748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361834" y="5536692"/>
            <a:ext cx="63093" cy="73152"/>
          </a:xfrm>
          <a:prstGeom prst="rect">
            <a:avLst/>
          </a:prstGeom>
          <a:solidFill>
            <a:srgbClr val="225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361834" y="5614416"/>
            <a:ext cx="63093" cy="73152"/>
          </a:xfrm>
          <a:prstGeom prst="rect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426756" y="5303520"/>
            <a:ext cx="63093" cy="73152"/>
          </a:xfrm>
          <a:prstGeom prst="rect">
            <a:avLst/>
          </a:prstGeom>
          <a:solidFill>
            <a:srgbClr val="225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426756" y="5381244"/>
            <a:ext cx="63093" cy="73152"/>
          </a:xfrm>
          <a:prstGeom prst="rect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426756" y="5458968"/>
            <a:ext cx="63093" cy="73152"/>
          </a:xfrm>
          <a:prstGeom prst="rect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426756" y="5536692"/>
            <a:ext cx="63093" cy="73152"/>
          </a:xfrm>
          <a:prstGeom prst="rect">
            <a:avLst/>
          </a:prstGeom>
          <a:solidFill>
            <a:srgbClr val="748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26756" y="5614416"/>
            <a:ext cx="63093" cy="73152"/>
          </a:xfrm>
          <a:prstGeom prst="rect">
            <a:avLst/>
          </a:prstGeom>
          <a:solidFill>
            <a:srgbClr val="225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91679" y="5303520"/>
            <a:ext cx="63093" cy="73152"/>
          </a:xfrm>
          <a:prstGeom prst="rect">
            <a:avLst/>
          </a:prstGeom>
          <a:solidFill>
            <a:srgbClr val="748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91679" y="5381244"/>
            <a:ext cx="63093" cy="73152"/>
          </a:xfrm>
          <a:prstGeom prst="rect">
            <a:avLst/>
          </a:prstGeom>
          <a:solidFill>
            <a:srgbClr val="225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91679" y="5458968"/>
            <a:ext cx="63093" cy="73152"/>
          </a:xfrm>
          <a:prstGeom prst="rect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491679" y="5536692"/>
            <a:ext cx="63093" cy="73152"/>
          </a:xfrm>
          <a:prstGeom prst="rect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91679" y="5614416"/>
            <a:ext cx="63093" cy="73152"/>
          </a:xfrm>
          <a:prstGeom prst="rect">
            <a:avLst/>
          </a:prstGeom>
          <a:solidFill>
            <a:srgbClr val="748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56601" y="5303520"/>
            <a:ext cx="63093" cy="73152"/>
          </a:xfrm>
          <a:prstGeom prst="rect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56601" y="5381244"/>
            <a:ext cx="63093" cy="73152"/>
          </a:xfrm>
          <a:prstGeom prst="rect">
            <a:avLst/>
          </a:prstGeom>
          <a:solidFill>
            <a:srgbClr val="748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556601" y="5458968"/>
            <a:ext cx="63093" cy="73152"/>
          </a:xfrm>
          <a:prstGeom prst="rect">
            <a:avLst/>
          </a:prstGeom>
          <a:solidFill>
            <a:srgbClr val="225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556601" y="5536692"/>
            <a:ext cx="63093" cy="73152"/>
          </a:xfrm>
          <a:prstGeom prst="rect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556601" y="5614416"/>
            <a:ext cx="63093" cy="73152"/>
          </a:xfrm>
          <a:prstGeom prst="rect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621524" y="5303520"/>
            <a:ext cx="63093" cy="73152"/>
          </a:xfrm>
          <a:prstGeom prst="rect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621524" y="5381244"/>
            <a:ext cx="63093" cy="73152"/>
          </a:xfrm>
          <a:prstGeom prst="rect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621524" y="5458968"/>
            <a:ext cx="63093" cy="73152"/>
          </a:xfrm>
          <a:prstGeom prst="rect">
            <a:avLst/>
          </a:prstGeom>
          <a:solidFill>
            <a:srgbClr val="748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621524" y="5536692"/>
            <a:ext cx="63093" cy="73152"/>
          </a:xfrm>
          <a:prstGeom prst="rect">
            <a:avLst/>
          </a:prstGeom>
          <a:solidFill>
            <a:srgbClr val="225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621524" y="5614416"/>
            <a:ext cx="63093" cy="73152"/>
          </a:xfrm>
          <a:prstGeom prst="rect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686446" y="5303520"/>
            <a:ext cx="63093" cy="73152"/>
          </a:xfrm>
          <a:prstGeom prst="rect">
            <a:avLst/>
          </a:prstGeom>
          <a:solidFill>
            <a:srgbClr val="225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686446" y="5381244"/>
            <a:ext cx="63093" cy="73152"/>
          </a:xfrm>
          <a:prstGeom prst="rect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686446" y="5458968"/>
            <a:ext cx="63093" cy="73152"/>
          </a:xfrm>
          <a:prstGeom prst="rect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686446" y="5536692"/>
            <a:ext cx="63093" cy="73152"/>
          </a:xfrm>
          <a:prstGeom prst="rect">
            <a:avLst/>
          </a:prstGeom>
          <a:solidFill>
            <a:srgbClr val="748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686446" y="5614416"/>
            <a:ext cx="63093" cy="73152"/>
          </a:xfrm>
          <a:prstGeom prst="rect">
            <a:avLst/>
          </a:prstGeom>
          <a:solidFill>
            <a:srgbClr val="225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751368" y="5303520"/>
            <a:ext cx="63093" cy="73152"/>
          </a:xfrm>
          <a:prstGeom prst="rect">
            <a:avLst/>
          </a:prstGeom>
          <a:solidFill>
            <a:srgbClr val="748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751368" y="5381244"/>
            <a:ext cx="63093" cy="73152"/>
          </a:xfrm>
          <a:prstGeom prst="rect">
            <a:avLst/>
          </a:prstGeom>
          <a:solidFill>
            <a:srgbClr val="225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751368" y="5458968"/>
            <a:ext cx="63093" cy="73152"/>
          </a:xfrm>
          <a:prstGeom prst="rect">
            <a:avLst/>
          </a:prstGeom>
          <a:solidFill>
            <a:srgbClr val="BE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751368" y="5536692"/>
            <a:ext cx="63093" cy="73152"/>
          </a:xfrm>
          <a:prstGeom prst="rect">
            <a:avLst/>
          </a:prstGeom>
          <a:solidFill>
            <a:srgbClr val="CC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751368" y="5614416"/>
            <a:ext cx="63093" cy="73152"/>
          </a:xfrm>
          <a:prstGeom prst="rect">
            <a:avLst/>
          </a:prstGeom>
          <a:solidFill>
            <a:srgbClr val="748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891272" y="5298948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SM-2 embedding"/>
          <p:cNvSpPr txBox="1"/>
          <p:nvPr/>
        </p:nvSpPr>
        <p:spPr>
          <a:xfrm>
            <a:off x="8019288" y="5230368"/>
            <a:ext cx="1143000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ESM-2 embedding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891272" y="5527548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或 其他预训练表示"/>
          <p:cNvSpPr txBox="1"/>
          <p:nvPr/>
        </p:nvSpPr>
        <p:spPr>
          <a:xfrm>
            <a:off x="8019288" y="5458968"/>
            <a:ext cx="1143000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或 其他预训练表示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573768" y="3282696"/>
            <a:ext cx="2514600" cy="1344168"/>
          </a:xfrm>
          <a:prstGeom prst="roundRect">
            <a:avLst>
              <a:gd name="adj" fmla="val 12000"/>
            </a:avLst>
          </a:prstGeom>
          <a:solidFill>
            <a:srgbClr val="F1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9573768" y="3282696"/>
            <a:ext cx="2514600" cy="356616"/>
          </a:xfrm>
          <a:prstGeom prst="roundRect">
            <a:avLst>
              <a:gd name="adj" fmla="val 12000"/>
            </a:avLst>
          </a:prstGeom>
          <a:solidFill>
            <a:srgbClr val="E2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多种机器学习模型比较"/>
          <p:cNvSpPr txBox="1"/>
          <p:nvPr/>
        </p:nvSpPr>
        <p:spPr>
          <a:xfrm>
            <a:off x="9619488" y="3305556"/>
            <a:ext cx="2423160" cy="31089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多种机器学习模型比较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738360" y="3790188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Linear Regression / Ridge"/>
          <p:cNvSpPr txBox="1"/>
          <p:nvPr/>
        </p:nvSpPr>
        <p:spPr>
          <a:xfrm>
            <a:off x="9866376" y="3721608"/>
            <a:ext cx="2157984" cy="21031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Linear Regression / Ridge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9738360" y="4000500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Support Vector Regression (SVR)"/>
          <p:cNvSpPr txBox="1"/>
          <p:nvPr/>
        </p:nvSpPr>
        <p:spPr>
          <a:xfrm>
            <a:off x="9866376" y="3931920"/>
            <a:ext cx="2157984" cy="21031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Support Vector Regression (SVR)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9738360" y="4210812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andom Forest (RF)"/>
          <p:cNvSpPr txBox="1"/>
          <p:nvPr/>
        </p:nvSpPr>
        <p:spPr>
          <a:xfrm>
            <a:off x="9866376" y="4142232"/>
            <a:ext cx="2157984" cy="21031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Random Forest (RF)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738360" y="442112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Gradient Boosting (GBDT) 等"/>
          <p:cNvSpPr txBox="1"/>
          <p:nvPr/>
        </p:nvSpPr>
        <p:spPr>
          <a:xfrm>
            <a:off x="9866376" y="4352544"/>
            <a:ext cx="2157984" cy="21031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Gradient Boosting (GBDT) 等</a:t>
            </a:r>
          </a:p>
        </p:txBody>
      </p:sp>
      <p:sp>
        <p:nvSpPr>
          <p:cNvPr id="210" name="Down Arrow 209"/>
          <p:cNvSpPr/>
          <p:nvPr/>
        </p:nvSpPr>
        <p:spPr>
          <a:xfrm>
            <a:off x="10588752" y="4617720"/>
            <a:ext cx="438912" cy="246888"/>
          </a:xfrm>
          <a:prstGeom prst="downArrow">
            <a:avLst/>
          </a:prstGeom>
          <a:ln>
            <a:noFill/>
          </a:ln>
          <a:gradFill>
            <a:gsLst>
              <a:gs pos="0">
                <a:srgbClr val="E6F3FF"/>
              </a:gs>
              <a:gs pos="100000">
                <a:srgbClr val="B3DC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9573768" y="4892040"/>
            <a:ext cx="2514600" cy="886968"/>
          </a:xfrm>
          <a:prstGeom prst="roundRect">
            <a:avLst>
              <a:gd name="adj" fmla="val 12000"/>
            </a:avLst>
          </a:prstGeom>
          <a:solidFill>
            <a:srgbClr val="F1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9573768" y="4892040"/>
            <a:ext cx="2514600" cy="347472"/>
          </a:xfrm>
          <a:prstGeom prst="roundRect">
            <a:avLst>
              <a:gd name="adj" fmla="val 12000"/>
            </a:avLst>
          </a:prstGeom>
          <a:solidFill>
            <a:srgbClr val="E2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5折交叉验证"/>
          <p:cNvSpPr txBox="1"/>
          <p:nvPr/>
        </p:nvSpPr>
        <p:spPr>
          <a:xfrm>
            <a:off x="9619488" y="4914900"/>
            <a:ext cx="2423160" cy="30175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5折交叉验证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9738360" y="538124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评估不同特征组合的泛化能力"/>
          <p:cNvSpPr txBox="1"/>
          <p:nvPr/>
        </p:nvSpPr>
        <p:spPr>
          <a:xfrm>
            <a:off x="9866376" y="5312664"/>
            <a:ext cx="2157984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评估不同特征组合的泛化能力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9738360" y="560984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选择最优模型用于候选排序"/>
          <p:cNvSpPr txBox="1"/>
          <p:nvPr/>
        </p:nvSpPr>
        <p:spPr>
          <a:xfrm>
            <a:off x="9866376" y="5541264"/>
            <a:ext cx="2157984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4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选择最优模型用于候选排序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2481560" y="3282696"/>
            <a:ext cx="2423160" cy="1344168"/>
          </a:xfrm>
          <a:prstGeom prst="roundRect">
            <a:avLst>
              <a:gd name="adj" fmla="val 12000"/>
            </a:avLst>
          </a:prstGeom>
          <a:solidFill>
            <a:srgbClr val="F2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12481560" y="3282696"/>
            <a:ext cx="2423160" cy="347472"/>
          </a:xfrm>
          <a:prstGeom prst="roundRect">
            <a:avLst>
              <a:gd name="adj" fmla="val 12000"/>
            </a:avLst>
          </a:prstGeom>
          <a:solidFill>
            <a:srgbClr val="E1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模型预测与候选优先级排序"/>
          <p:cNvSpPr txBox="1"/>
          <p:nvPr/>
        </p:nvSpPr>
        <p:spPr>
          <a:xfrm>
            <a:off x="12527280" y="3305556"/>
            <a:ext cx="2331720" cy="30175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模型预测与候选优先级排序</a:t>
            </a:r>
          </a:p>
        </p:txBody>
      </p:sp>
      <p:graphicFrame>
        <p:nvGraphicFramePr>
          <p:cNvPr id="221" name="Table 220"/>
          <p:cNvGraphicFramePr>
            <a:graphicFrameLocks noGrp="1"/>
          </p:cNvGraphicFramePr>
          <p:nvPr/>
        </p:nvGraphicFramePr>
        <p:xfrm>
          <a:off x="12527280" y="3666744"/>
          <a:ext cx="1261872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"/>
                <a:gridCol w="630936"/>
              </a:tblGrid>
              <a:tr h="173736"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003BBF"/>
                          </a:solidFill>
                          <a:latin typeface="Noto Sans CJK SC"/>
                        </a:defRPr>
                      </a:pPr>
                      <a:r>
                        <a:t>突变体</a:t>
                      </a:r>
                    </a:p>
                  </a:txBody>
                  <a:tcPr marL="13716" marR="13716" marT="0" marB="0">
                    <a:solidFill>
                      <a:srgbClr val="DB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003BBF"/>
                          </a:solidFill>
                          <a:latin typeface="Noto Sans CJK SC"/>
                        </a:defRPr>
                      </a:pPr>
                      <a:r>
                        <a:t>预测得分</a:t>
                      </a:r>
                    </a:p>
                  </a:txBody>
                  <a:tcPr marL="13716" marR="13716" marT="0" marB="0">
                    <a:solidFill>
                      <a:srgbClr val="DBEE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101B4D"/>
                          </a:solidFill>
                          <a:latin typeface="Noto Sans CJK SC"/>
                        </a:defRPr>
                      </a:pPr>
                      <a:r>
                        <a:t>D30T</a:t>
                      </a:r>
                    </a:p>
                  </a:txBody>
                  <a:tcPr marL="13716" marR="13716" marT="0" marB="0"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101B4D"/>
                          </a:solidFill>
                          <a:latin typeface="Noto Sans CJK SC"/>
                        </a:defRPr>
                      </a:pPr>
                      <a:r>
                        <a:t>0.82</a:t>
                      </a:r>
                    </a:p>
                  </a:txBody>
                  <a:tcPr marL="13716" marR="13716" marT="0" marB="0">
                    <a:solidFill>
                      <a:srgbClr val="EFF8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101B4D"/>
                          </a:solidFill>
                          <a:latin typeface="Noto Sans CJK SC"/>
                        </a:defRPr>
                      </a:pPr>
                      <a:r>
                        <a:t>A57G</a:t>
                      </a:r>
                    </a:p>
                  </a:txBody>
                  <a:tcPr marL="13716" marR="13716" marT="0" marB="0"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101B4D"/>
                          </a:solidFill>
                          <a:latin typeface="Noto Sans CJK SC"/>
                        </a:defRPr>
                      </a:pPr>
                      <a:r>
                        <a:t>0.78</a:t>
                      </a:r>
                    </a:p>
                  </a:txBody>
                  <a:tcPr marL="13716" marR="13716" marT="0" marB="0">
                    <a:solidFill>
                      <a:srgbClr val="EFF8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101B4D"/>
                          </a:solidFill>
                          <a:latin typeface="Noto Sans CJK SC"/>
                        </a:defRPr>
                      </a:pPr>
                      <a:r>
                        <a:t>E355Q</a:t>
                      </a:r>
                    </a:p>
                  </a:txBody>
                  <a:tcPr marL="13716" marR="13716" marT="0" marB="0"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101B4D"/>
                          </a:solidFill>
                          <a:latin typeface="Noto Sans CJK SC"/>
                        </a:defRPr>
                      </a:pPr>
                      <a:r>
                        <a:t>0.73</a:t>
                      </a:r>
                    </a:p>
                  </a:txBody>
                  <a:tcPr marL="13716" marR="13716" marT="0" marB="0">
                    <a:solidFill>
                      <a:srgbClr val="EFF8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101B4D"/>
                          </a:solidFill>
                          <a:latin typeface="Noto Sans CJK SC"/>
                        </a:defRPr>
                      </a:pPr>
                      <a:r>
                        <a:t>…</a:t>
                      </a:r>
                    </a:p>
                  </a:txBody>
                  <a:tcPr marL="13716" marR="13716" marT="0" marB="0"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101B4D"/>
                          </a:solidFill>
                          <a:latin typeface="Noto Sans CJK SC"/>
                        </a:defRPr>
                      </a:pPr>
                      <a:r>
                        <a:t>…</a:t>
                      </a:r>
                    </a:p>
                  </a:txBody>
                  <a:tcPr marL="13716" marR="13716" marT="0" marB="0">
                    <a:solidFill>
                      <a:srgbClr val="EFF8FF"/>
                    </a:solidFill>
                  </a:tcPr>
                </a:tc>
              </a:tr>
            </a:tbl>
          </a:graphicData>
        </a:graphic>
      </p:graphicFrame>
      <p:sp>
        <p:nvSpPr>
          <p:cNvPr id="222" name="Rectangle 221"/>
          <p:cNvSpPr/>
          <p:nvPr/>
        </p:nvSpPr>
        <p:spPr>
          <a:xfrm>
            <a:off x="13898880" y="378104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模型预测排序"/>
          <p:cNvSpPr txBox="1"/>
          <p:nvPr/>
        </p:nvSpPr>
        <p:spPr>
          <a:xfrm>
            <a:off x="14026896" y="3712463"/>
            <a:ext cx="841248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1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模型预测排序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3898880" y="400964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结合结构合理性"/>
          <p:cNvSpPr txBox="1"/>
          <p:nvPr/>
        </p:nvSpPr>
        <p:spPr>
          <a:xfrm>
            <a:off x="14026896" y="3941063"/>
            <a:ext cx="841248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1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结合结构合理性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3898880" y="423824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筛选候选突变"/>
          <p:cNvSpPr txBox="1"/>
          <p:nvPr/>
        </p:nvSpPr>
        <p:spPr>
          <a:xfrm>
            <a:off x="14026896" y="4169663"/>
            <a:ext cx="841248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1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筛选候选突变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3898880" y="446684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进入实验验证"/>
          <p:cNvSpPr txBox="1"/>
          <p:nvPr/>
        </p:nvSpPr>
        <p:spPr>
          <a:xfrm>
            <a:off x="14026896" y="4398264"/>
            <a:ext cx="841248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1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进入实验验证</a:t>
            </a:r>
          </a:p>
        </p:txBody>
      </p:sp>
      <p:sp>
        <p:nvSpPr>
          <p:cNvPr id="230" name="Down Arrow 229"/>
          <p:cNvSpPr/>
          <p:nvPr/>
        </p:nvSpPr>
        <p:spPr>
          <a:xfrm>
            <a:off x="13514832" y="4617720"/>
            <a:ext cx="438912" cy="246888"/>
          </a:xfrm>
          <a:prstGeom prst="downArrow">
            <a:avLst/>
          </a:prstGeom>
          <a:ln>
            <a:noFill/>
          </a:ln>
          <a:gradFill>
            <a:gsLst>
              <a:gs pos="0">
                <a:srgbClr val="E6F3FF"/>
              </a:gs>
              <a:gs pos="100000">
                <a:srgbClr val="B3DCFF"/>
              </a:gs>
            </a:gsLst>
            <a:lin ang="0" scaled="1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12481560" y="4892040"/>
            <a:ext cx="1298448" cy="886968"/>
          </a:xfrm>
          <a:prstGeom prst="roundRect">
            <a:avLst>
              <a:gd name="adj" fmla="val 12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ounded Rectangle 231"/>
          <p:cNvSpPr/>
          <p:nvPr/>
        </p:nvSpPr>
        <p:spPr>
          <a:xfrm>
            <a:off x="12481560" y="4892040"/>
            <a:ext cx="1298448" cy="347472"/>
          </a:xfrm>
          <a:prstGeom prst="roundRect">
            <a:avLst>
              <a:gd name="adj" fmla="val 12000"/>
            </a:avLst>
          </a:prstGeom>
          <a:solidFill>
            <a:srgbClr val="FF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实验验证"/>
          <p:cNvSpPr txBox="1"/>
          <p:nvPr/>
        </p:nvSpPr>
        <p:spPr>
          <a:xfrm>
            <a:off x="12527280" y="4914900"/>
            <a:ext cx="1207007" cy="30175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D161D"/>
                </a:solidFill>
                <a:latin typeface="Noto Sans CJK SC"/>
              </a:defRPr>
            </a:pPr>
            <a:r>
              <a:rPr>
                <a:ea typeface="Noto Sans CJK SC"/>
              </a:rPr>
              <a:t>实验验证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2618720" y="538124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酶活性测定"/>
          <p:cNvSpPr txBox="1"/>
          <p:nvPr/>
        </p:nvSpPr>
        <p:spPr>
          <a:xfrm>
            <a:off x="12746736" y="5312664"/>
            <a:ext cx="978407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酶活性测定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2618720" y="5609844"/>
            <a:ext cx="50292" cy="50292"/>
          </a:xfrm>
          <a:prstGeom prst="rect">
            <a:avLst/>
          </a:prstGeom>
          <a:solidFill>
            <a:srgbClr val="00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动力学分析"/>
          <p:cNvSpPr txBox="1"/>
          <p:nvPr/>
        </p:nvSpPr>
        <p:spPr>
          <a:xfrm>
            <a:off x="12746736" y="5541264"/>
            <a:ext cx="978407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动力学分析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14026896" y="5742432"/>
            <a:ext cx="822959" cy="0"/>
          </a:xfrm>
          <a:prstGeom prst="line">
            <a:avLst/>
          </a:prstGeom>
          <a:ln w="7620">
            <a:solidFill>
              <a:srgbClr val="101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4026896" y="4937760"/>
            <a:ext cx="0" cy="804672"/>
          </a:xfrm>
          <a:prstGeom prst="line">
            <a:avLst/>
          </a:prstGeom>
          <a:ln w="7620">
            <a:solidFill>
              <a:srgbClr val="101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Rectangle 239"/>
          <p:cNvSpPr/>
          <p:nvPr/>
        </p:nvSpPr>
        <p:spPr>
          <a:xfrm>
            <a:off x="14154912" y="5367528"/>
            <a:ext cx="155448" cy="374904"/>
          </a:xfrm>
          <a:prstGeom prst="rect">
            <a:avLst/>
          </a:prstGeom>
          <a:solidFill>
            <a:srgbClr val="90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Connector 240"/>
          <p:cNvCxnSpPr/>
          <p:nvPr/>
        </p:nvCxnSpPr>
        <p:spPr>
          <a:xfrm>
            <a:off x="14232636" y="5266944"/>
            <a:ext cx="0" cy="132588"/>
          </a:xfrm>
          <a:prstGeom prst="line">
            <a:avLst/>
          </a:prstGeom>
          <a:ln w="10160">
            <a:solidFill>
              <a:srgbClr val="907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4205204" y="5266944"/>
            <a:ext cx="54864" cy="0"/>
          </a:xfrm>
          <a:prstGeom prst="line">
            <a:avLst/>
          </a:prstGeom>
          <a:ln w="10160">
            <a:solidFill>
              <a:srgbClr val="907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Rectangle 242"/>
          <p:cNvSpPr/>
          <p:nvPr/>
        </p:nvSpPr>
        <p:spPr>
          <a:xfrm>
            <a:off x="14401800" y="5257800"/>
            <a:ext cx="155448" cy="484632"/>
          </a:xfrm>
          <a:prstGeom prst="rect">
            <a:avLst/>
          </a:prstGeom>
          <a:solidFill>
            <a:srgbClr val="30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14479524" y="5157216"/>
            <a:ext cx="0" cy="132588"/>
          </a:xfrm>
          <a:prstGeom prst="line">
            <a:avLst/>
          </a:prstGeom>
          <a:ln w="10160">
            <a:solidFill>
              <a:srgbClr val="30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4452092" y="5157216"/>
            <a:ext cx="54864" cy="0"/>
          </a:xfrm>
          <a:prstGeom prst="line">
            <a:avLst/>
          </a:prstGeom>
          <a:ln w="10160">
            <a:solidFill>
              <a:srgbClr val="30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Rectangle 245"/>
          <p:cNvSpPr/>
          <p:nvPr/>
        </p:nvSpPr>
        <p:spPr>
          <a:xfrm>
            <a:off x="14648688" y="5084064"/>
            <a:ext cx="155448" cy="658368"/>
          </a:xfrm>
          <a:prstGeom prst="rect">
            <a:avLst/>
          </a:prstGeom>
          <a:solidFill>
            <a:srgbClr val="FF8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7" name="Connector 246"/>
          <p:cNvCxnSpPr/>
          <p:nvPr/>
        </p:nvCxnSpPr>
        <p:spPr>
          <a:xfrm>
            <a:off x="14726412" y="4983480"/>
            <a:ext cx="0" cy="132588"/>
          </a:xfrm>
          <a:prstGeom prst="line">
            <a:avLst/>
          </a:prstGeom>
          <a:ln w="10160">
            <a:solidFill>
              <a:srgbClr val="FF8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4698980" y="4983480"/>
            <a:ext cx="54863" cy="0"/>
          </a:xfrm>
          <a:prstGeom prst="line">
            <a:avLst/>
          </a:prstGeom>
          <a:ln w="10160">
            <a:solidFill>
              <a:srgbClr val="FF8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Rounded Rectangle 248"/>
          <p:cNvSpPr/>
          <p:nvPr/>
        </p:nvSpPr>
        <p:spPr>
          <a:xfrm>
            <a:off x="320040" y="6035040"/>
            <a:ext cx="2816352" cy="429768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DDEE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ounded Rectangle 249"/>
          <p:cNvSpPr/>
          <p:nvPr/>
        </p:nvSpPr>
        <p:spPr>
          <a:xfrm>
            <a:off x="548640" y="6112764"/>
            <a:ext cx="105156" cy="274320"/>
          </a:xfrm>
          <a:prstGeom prst="roundRect">
            <a:avLst>
              <a:gd name="adj" fmla="val 12000"/>
            </a:avLst>
          </a:prstGeom>
          <a:ln>
            <a:noFill/>
          </a:ln>
          <a:effectLst/>
          <a:gradFill>
            <a:gsLst>
              <a:gs pos="0">
                <a:srgbClr val="08B4FF"/>
              </a:gs>
              <a:gs pos="100000">
                <a:srgbClr val="003BB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关键结果"/>
          <p:cNvSpPr txBox="1"/>
          <p:nvPr/>
        </p:nvSpPr>
        <p:spPr>
          <a:xfrm>
            <a:off x="923544" y="6076188"/>
            <a:ext cx="2176272" cy="35661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关键结果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320040" y="6428232"/>
            <a:ext cx="2816352" cy="2002536"/>
          </a:xfrm>
          <a:prstGeom prst="roundRect">
            <a:avLst>
              <a:gd name="adj" fmla="val 12000"/>
            </a:avLst>
          </a:prstGeom>
          <a:solidFill>
            <a:srgbClr val="F4FAFF"/>
          </a:solidFill>
          <a:ln w="8255">
            <a:solidFill>
              <a:srgbClr val="B2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48个"/>
          <p:cNvSpPr txBox="1"/>
          <p:nvPr/>
        </p:nvSpPr>
        <p:spPr>
          <a:xfrm>
            <a:off x="594360" y="6583680"/>
            <a:ext cx="2286000" cy="58521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48个</a:t>
            </a:r>
          </a:p>
        </p:txBody>
      </p:sp>
      <p:sp>
        <p:nvSpPr>
          <p:cNvPr id="254" name="实验突变体数据集"/>
          <p:cNvSpPr txBox="1"/>
          <p:nvPr/>
        </p:nvSpPr>
        <p:spPr>
          <a:xfrm>
            <a:off x="530352" y="7351775"/>
            <a:ext cx="2395728" cy="35661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实验突变体数据集</a:t>
            </a:r>
          </a:p>
        </p:txBody>
      </p:sp>
      <p:sp>
        <p:nvSpPr>
          <p:cNvPr id="255" name="用于小样本机器学习建模 和候选突变排序"/>
          <p:cNvSpPr txBox="1"/>
          <p:nvPr/>
        </p:nvSpPr>
        <p:spPr>
          <a:xfrm>
            <a:off x="502920" y="7790688"/>
            <a:ext cx="2450592" cy="512064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用于小样本机器学习建模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和候选突变排序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3282696" y="6035040"/>
            <a:ext cx="4069080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255">
            <a:solidFill>
              <a:srgbClr val="B2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ounded Rectangle 256"/>
          <p:cNvSpPr/>
          <p:nvPr/>
        </p:nvSpPr>
        <p:spPr>
          <a:xfrm>
            <a:off x="3282696" y="6035040"/>
            <a:ext cx="4069080" cy="393192"/>
          </a:xfrm>
          <a:prstGeom prst="roundRect">
            <a:avLst>
              <a:gd name="adj" fmla="val 12000"/>
            </a:avLst>
          </a:prstGeom>
          <a:solidFill>
            <a:srgbClr val="EF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不同特征组合的模型性能比较"/>
          <p:cNvSpPr txBox="1"/>
          <p:nvPr/>
        </p:nvSpPr>
        <p:spPr>
          <a:xfrm>
            <a:off x="3328415" y="6057900"/>
            <a:ext cx="3977640" cy="34747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不同特征组合的模型性能比较</a:t>
            </a:r>
          </a:p>
        </p:txBody>
      </p:sp>
      <p:graphicFrame>
        <p:nvGraphicFramePr>
          <p:cNvPr id="259" name="Chart 258"/>
          <p:cNvGraphicFramePr>
            <a:graphicFrameLocks noGrp="1"/>
          </p:cNvGraphicFramePr>
          <p:nvPr/>
        </p:nvGraphicFramePr>
        <p:xfrm>
          <a:off x="3401568" y="6473952"/>
          <a:ext cx="3794760" cy="192024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60" name="Rounded Rectangle 259"/>
          <p:cNvSpPr/>
          <p:nvPr/>
        </p:nvSpPr>
        <p:spPr>
          <a:xfrm>
            <a:off x="7507224" y="6035040"/>
            <a:ext cx="3264408" cy="2395728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 w="8255">
            <a:solidFill>
              <a:srgbClr val="FFD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ounded Rectangle 260"/>
          <p:cNvSpPr/>
          <p:nvPr/>
        </p:nvSpPr>
        <p:spPr>
          <a:xfrm>
            <a:off x="7507224" y="6035040"/>
            <a:ext cx="3264408" cy="393192"/>
          </a:xfrm>
          <a:prstGeom prst="roundRect">
            <a:avLst>
              <a:gd name="adj" fmla="val 12000"/>
            </a:avLst>
          </a:prstGeom>
          <a:solidFill>
            <a:srgbClr val="FF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代表性优势突变实验验证"/>
          <p:cNvSpPr txBox="1"/>
          <p:nvPr/>
        </p:nvSpPr>
        <p:spPr>
          <a:xfrm>
            <a:off x="7552944" y="6057900"/>
            <a:ext cx="3172968" cy="34747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代表性优势突变实验验证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7507224" y="6428232"/>
            <a:ext cx="3264408" cy="2002536"/>
          </a:xfrm>
          <a:prstGeom prst="roundRect">
            <a:avLst>
              <a:gd name="adj" fmla="val 12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ounded Rectangle 263"/>
          <p:cNvSpPr/>
          <p:nvPr/>
        </p:nvSpPr>
        <p:spPr>
          <a:xfrm>
            <a:off x="7644383" y="6720840"/>
            <a:ext cx="969264" cy="1362456"/>
          </a:xfrm>
          <a:prstGeom prst="roundRect">
            <a:avLst>
              <a:gd name="adj" fmla="val 12000"/>
            </a:avLst>
          </a:prstGeom>
          <a:solidFill>
            <a:srgbClr val="FF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ounded Rectangle 264"/>
          <p:cNvSpPr/>
          <p:nvPr/>
        </p:nvSpPr>
        <p:spPr>
          <a:xfrm>
            <a:off x="7644383" y="6720840"/>
            <a:ext cx="969264" cy="274320"/>
          </a:xfrm>
          <a:prstGeom prst="roundRect">
            <a:avLst>
              <a:gd name="adj" fmla="val 12000"/>
            </a:avLst>
          </a:prstGeom>
          <a:solidFill>
            <a:srgbClr val="FF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D30T"/>
          <p:cNvSpPr txBox="1"/>
          <p:nvPr/>
        </p:nvSpPr>
        <p:spPr>
          <a:xfrm>
            <a:off x="7690104" y="6743700"/>
            <a:ext cx="877824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D30T</a:t>
            </a:r>
          </a:p>
        </p:txBody>
      </p:sp>
      <p:pic>
        <p:nvPicPr>
          <p:cNvPr id="267" name="D30T结构（参考图视觉复刻）" descr="asset_26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5823" y="7031736"/>
            <a:ext cx="786384" cy="758952"/>
          </a:xfrm>
          <a:prstGeom prst="rect">
            <a:avLst/>
          </a:prstGeom>
        </p:spPr>
      </p:pic>
      <p:sp>
        <p:nvSpPr>
          <p:cNvPr id="268" name="1.8 倍"/>
          <p:cNvSpPr txBox="1"/>
          <p:nvPr/>
        </p:nvSpPr>
        <p:spPr>
          <a:xfrm>
            <a:off x="7644383" y="7808975"/>
            <a:ext cx="969264" cy="283464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D161D"/>
                </a:solidFill>
                <a:latin typeface="Noto Sans CJK SC"/>
              </a:defRPr>
            </a:pPr>
            <a:r>
              <a:rPr>
                <a:ea typeface="Noto Sans CJK SC"/>
              </a:rPr>
              <a:t>1.8 倍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8668512" y="6720840"/>
            <a:ext cx="969264" cy="1362456"/>
          </a:xfrm>
          <a:prstGeom prst="roundRect">
            <a:avLst>
              <a:gd name="adj" fmla="val 12000"/>
            </a:avLst>
          </a:prstGeom>
          <a:solidFill>
            <a:srgbClr val="FF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ounded Rectangle 269"/>
          <p:cNvSpPr/>
          <p:nvPr/>
        </p:nvSpPr>
        <p:spPr>
          <a:xfrm>
            <a:off x="8668512" y="6720840"/>
            <a:ext cx="969264" cy="274320"/>
          </a:xfrm>
          <a:prstGeom prst="roundRect">
            <a:avLst>
              <a:gd name="adj" fmla="val 12000"/>
            </a:avLst>
          </a:prstGeom>
          <a:solidFill>
            <a:srgbClr val="FF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A57G"/>
          <p:cNvSpPr txBox="1"/>
          <p:nvPr/>
        </p:nvSpPr>
        <p:spPr>
          <a:xfrm>
            <a:off x="8714232" y="6743700"/>
            <a:ext cx="877824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A57G</a:t>
            </a:r>
          </a:p>
        </p:txBody>
      </p:sp>
      <p:pic>
        <p:nvPicPr>
          <p:cNvPr id="272" name="A57G结构（参考图视觉复刻）" descr="asset_27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9952" y="7031736"/>
            <a:ext cx="786384" cy="758952"/>
          </a:xfrm>
          <a:prstGeom prst="rect">
            <a:avLst/>
          </a:prstGeom>
        </p:spPr>
      </p:pic>
      <p:sp>
        <p:nvSpPr>
          <p:cNvPr id="273" name="2.0 倍"/>
          <p:cNvSpPr txBox="1"/>
          <p:nvPr/>
        </p:nvSpPr>
        <p:spPr>
          <a:xfrm>
            <a:off x="8668512" y="7808975"/>
            <a:ext cx="969264" cy="283464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D161D"/>
                </a:solidFill>
                <a:latin typeface="Noto Sans CJK SC"/>
              </a:defRPr>
            </a:pPr>
            <a:r>
              <a:rPr>
                <a:ea typeface="Noto Sans CJK SC"/>
              </a:rPr>
              <a:t>2.0 倍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9692640" y="6720840"/>
            <a:ext cx="969264" cy="1362456"/>
          </a:xfrm>
          <a:prstGeom prst="roundRect">
            <a:avLst>
              <a:gd name="adj" fmla="val 12000"/>
            </a:avLst>
          </a:prstGeom>
          <a:solidFill>
            <a:srgbClr val="FF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>
            <a:off x="9692640" y="6720840"/>
            <a:ext cx="969264" cy="274320"/>
          </a:xfrm>
          <a:prstGeom prst="roundRect">
            <a:avLst>
              <a:gd name="adj" fmla="val 12000"/>
            </a:avLst>
          </a:prstGeom>
          <a:solidFill>
            <a:srgbClr val="FF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355Q"/>
          <p:cNvSpPr txBox="1"/>
          <p:nvPr/>
        </p:nvSpPr>
        <p:spPr>
          <a:xfrm>
            <a:off x="9738360" y="6743700"/>
            <a:ext cx="877824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E355Q</a:t>
            </a:r>
          </a:p>
        </p:txBody>
      </p:sp>
      <p:pic>
        <p:nvPicPr>
          <p:cNvPr id="277" name="E355Q结构（参考图视觉复刻）" descr="asset_27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4080" y="7031736"/>
            <a:ext cx="786384" cy="758952"/>
          </a:xfrm>
          <a:prstGeom prst="rect">
            <a:avLst/>
          </a:prstGeom>
        </p:spPr>
      </p:pic>
      <p:sp>
        <p:nvSpPr>
          <p:cNvPr id="278" name="2.2 倍"/>
          <p:cNvSpPr txBox="1"/>
          <p:nvPr/>
        </p:nvSpPr>
        <p:spPr>
          <a:xfrm>
            <a:off x="9692640" y="7808975"/>
            <a:ext cx="969264" cy="283464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D161D"/>
                </a:solidFill>
                <a:latin typeface="Noto Sans CJK SC"/>
              </a:defRPr>
            </a:pPr>
            <a:r>
              <a:rPr>
                <a:ea typeface="Noto Sans CJK SC"/>
              </a:rPr>
              <a:t>2.2 倍</a:t>
            </a:r>
          </a:p>
        </p:txBody>
      </p:sp>
      <p:sp>
        <p:nvSpPr>
          <p:cNvPr id="279" name="催化活性相对野生型提升"/>
          <p:cNvSpPr txBox="1"/>
          <p:nvPr/>
        </p:nvSpPr>
        <p:spPr>
          <a:xfrm>
            <a:off x="7726679" y="8147304"/>
            <a:ext cx="2834640" cy="228600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催化活性相对野生型提升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10917936" y="6035040"/>
            <a:ext cx="4050791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255">
            <a:solidFill>
              <a:srgbClr val="B2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ounded Rectangle 280"/>
          <p:cNvSpPr/>
          <p:nvPr/>
        </p:nvSpPr>
        <p:spPr>
          <a:xfrm>
            <a:off x="10917936" y="6035040"/>
            <a:ext cx="4050791" cy="393192"/>
          </a:xfrm>
          <a:prstGeom prst="roundRect">
            <a:avLst>
              <a:gd name="adj" fmla="val 12000"/>
            </a:avLst>
          </a:prstGeom>
          <a:solidFill>
            <a:srgbClr val="EF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DBTL思想驱动的AI辅助蛋白工程流程"/>
          <p:cNvSpPr txBox="1"/>
          <p:nvPr/>
        </p:nvSpPr>
        <p:spPr>
          <a:xfrm>
            <a:off x="10963656" y="6057900"/>
            <a:ext cx="3959352" cy="347472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DBTL思想驱动的AI辅助蛋白工程流程</a:t>
            </a:r>
          </a:p>
        </p:txBody>
      </p:sp>
      <p:sp>
        <p:nvSpPr>
          <p:cNvPr id="283" name="Circular Arrow 282"/>
          <p:cNvSpPr/>
          <p:nvPr/>
        </p:nvSpPr>
        <p:spPr>
          <a:xfrm>
            <a:off x="12152376" y="6547104"/>
            <a:ext cx="1682496" cy="1682496"/>
          </a:xfrm>
          <a:prstGeom prst="circularArrow">
            <a:avLst>
              <a:gd name="adj1" fmla="val 8500"/>
              <a:gd name="adj2" fmla="val 8500"/>
              <a:gd name="adj3" fmla="val 4500000"/>
              <a:gd name="adj4" fmla="val 12500000"/>
              <a:gd name="adj5" fmla="val 15000"/>
            </a:avLst>
          </a:prstGeom>
          <a:solidFill>
            <a:srgbClr val="B5D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Circular Arrow 283"/>
          <p:cNvSpPr/>
          <p:nvPr/>
        </p:nvSpPr>
        <p:spPr>
          <a:xfrm rot="5400000">
            <a:off x="12152376" y="6547104"/>
            <a:ext cx="1682496" cy="1682496"/>
          </a:xfrm>
          <a:prstGeom prst="circularArrow">
            <a:avLst>
              <a:gd name="adj1" fmla="val 8500"/>
              <a:gd name="adj2" fmla="val 8500"/>
              <a:gd name="adj3" fmla="val 4500000"/>
              <a:gd name="adj4" fmla="val 12500000"/>
              <a:gd name="adj5" fmla="val 15000"/>
            </a:avLst>
          </a:prstGeom>
          <a:solidFill>
            <a:srgbClr val="B7E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Circular Arrow 284"/>
          <p:cNvSpPr/>
          <p:nvPr/>
        </p:nvSpPr>
        <p:spPr>
          <a:xfrm rot="10800000">
            <a:off x="12152376" y="6547104"/>
            <a:ext cx="1682496" cy="1682496"/>
          </a:xfrm>
          <a:prstGeom prst="circularArrow">
            <a:avLst>
              <a:gd name="adj1" fmla="val 8500"/>
              <a:gd name="adj2" fmla="val 8500"/>
              <a:gd name="adj3" fmla="val 4500000"/>
              <a:gd name="adj4" fmla="val 12500000"/>
              <a:gd name="adj5" fmla="val 15000"/>
            </a:avLst>
          </a:prstGeom>
          <a:solidFill>
            <a:srgbClr val="FFD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Circular Arrow 285"/>
          <p:cNvSpPr/>
          <p:nvPr/>
        </p:nvSpPr>
        <p:spPr>
          <a:xfrm rot="16200000">
            <a:off x="12152376" y="6547104"/>
            <a:ext cx="1682496" cy="1682496"/>
          </a:xfrm>
          <a:prstGeom prst="circularArrow">
            <a:avLst>
              <a:gd name="adj1" fmla="val 8500"/>
              <a:gd name="adj2" fmla="val 8500"/>
              <a:gd name="adj3" fmla="val 4500000"/>
              <a:gd name="adj4" fmla="val 12500000"/>
              <a:gd name="adj5" fmla="val 15000"/>
            </a:avLst>
          </a:prstGeom>
          <a:solidFill>
            <a:srgbClr val="D4B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DBTL 循环"/>
          <p:cNvSpPr txBox="1"/>
          <p:nvPr/>
        </p:nvSpPr>
        <p:spPr>
          <a:xfrm>
            <a:off x="12508992" y="7141464"/>
            <a:ext cx="969264" cy="512064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DBTL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循环</a:t>
            </a:r>
          </a:p>
        </p:txBody>
      </p:sp>
      <p:sp>
        <p:nvSpPr>
          <p:cNvPr id="288" name="Oval 287"/>
          <p:cNvSpPr/>
          <p:nvPr/>
        </p:nvSpPr>
        <p:spPr>
          <a:xfrm>
            <a:off x="12682728" y="6446520"/>
            <a:ext cx="612648" cy="612648"/>
          </a:xfrm>
          <a:prstGeom prst="ellipse">
            <a:avLst/>
          </a:prstGeom>
          <a:solidFill>
            <a:srgbClr val="42A5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Design (设计)"/>
          <p:cNvSpPr txBox="1"/>
          <p:nvPr/>
        </p:nvSpPr>
        <p:spPr>
          <a:xfrm>
            <a:off x="12701015" y="6601968"/>
            <a:ext cx="576072" cy="338328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(设计)</a:t>
            </a:r>
          </a:p>
        </p:txBody>
      </p:sp>
      <p:sp>
        <p:nvSpPr>
          <p:cNvPr id="290" name="Oval 289"/>
          <p:cNvSpPr/>
          <p:nvPr/>
        </p:nvSpPr>
        <p:spPr>
          <a:xfrm>
            <a:off x="13414248" y="7123176"/>
            <a:ext cx="612648" cy="612648"/>
          </a:xfrm>
          <a:prstGeom prst="ellipse">
            <a:avLst/>
          </a:prstGeom>
          <a:solidFill>
            <a:srgbClr val="81D98A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Build (构建)"/>
          <p:cNvSpPr txBox="1"/>
          <p:nvPr/>
        </p:nvSpPr>
        <p:spPr>
          <a:xfrm>
            <a:off x="13432536" y="7278624"/>
            <a:ext cx="576072" cy="338328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3BBF"/>
                </a:solidFill>
                <a:latin typeface="Noto Sans CJK SC"/>
              </a:defRPr>
            </a:pPr>
            <a:r>
              <a:rPr>
                <a:ea typeface="Noto Sans CJK SC"/>
              </a:rPr>
              <a:t>(构建)</a:t>
            </a:r>
          </a:p>
        </p:txBody>
      </p:sp>
      <p:sp>
        <p:nvSpPr>
          <p:cNvPr id="292" name="Oval 291"/>
          <p:cNvSpPr/>
          <p:nvPr/>
        </p:nvSpPr>
        <p:spPr>
          <a:xfrm>
            <a:off x="12682728" y="7827264"/>
            <a:ext cx="612648" cy="612648"/>
          </a:xfrm>
          <a:prstGeom prst="ellipse">
            <a:avLst/>
          </a:prstGeom>
          <a:solidFill>
            <a:srgbClr val="FFCC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st (测试)"/>
          <p:cNvSpPr txBox="1"/>
          <p:nvPr/>
        </p:nvSpPr>
        <p:spPr>
          <a:xfrm>
            <a:off x="12701015" y="7982712"/>
            <a:ext cx="576072" cy="338328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ED161D"/>
                </a:solidFill>
                <a:latin typeface="Noto Sans CJK SC"/>
              </a:defRPr>
            </a:pPr>
            <a:r>
              <a:rPr>
                <a:ea typeface="Noto Sans CJK SC"/>
              </a:rPr>
              <a:t>Test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ED161D"/>
                </a:solidFill>
                <a:latin typeface="Noto Sans CJK SC"/>
              </a:defRPr>
            </a:pPr>
            <a:r>
              <a:rPr>
                <a:ea typeface="Noto Sans CJK SC"/>
              </a:rPr>
              <a:t>(测试)</a:t>
            </a:r>
          </a:p>
        </p:txBody>
      </p:sp>
      <p:sp>
        <p:nvSpPr>
          <p:cNvPr id="294" name="Oval 293"/>
          <p:cNvSpPr/>
          <p:nvPr/>
        </p:nvSpPr>
        <p:spPr>
          <a:xfrm>
            <a:off x="11951208" y="7123176"/>
            <a:ext cx="612648" cy="612648"/>
          </a:xfrm>
          <a:prstGeom prst="ellipse">
            <a:avLst/>
          </a:prstGeom>
          <a:solidFill>
            <a:srgbClr val="FF8794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Learn (学习)"/>
          <p:cNvSpPr txBox="1"/>
          <p:nvPr/>
        </p:nvSpPr>
        <p:spPr>
          <a:xfrm>
            <a:off x="11969496" y="7278624"/>
            <a:ext cx="576072" cy="338328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Learn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(学习)</a:t>
            </a:r>
          </a:p>
        </p:txBody>
      </p:sp>
      <p:sp>
        <p:nvSpPr>
          <p:cNvPr id="296" name="结构分析 半理性设计 产生候选突变位点"/>
          <p:cNvSpPr txBox="1"/>
          <p:nvPr/>
        </p:nvSpPr>
        <p:spPr>
          <a:xfrm>
            <a:off x="13661136" y="6437376"/>
            <a:ext cx="1243584" cy="58521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结构分析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半理性设计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产生候选突变位点</a:t>
            </a:r>
          </a:p>
        </p:txBody>
      </p:sp>
      <p:sp>
        <p:nvSpPr>
          <p:cNvPr id="297" name="定点突变 表达纯化"/>
          <p:cNvSpPr txBox="1"/>
          <p:nvPr/>
        </p:nvSpPr>
        <p:spPr>
          <a:xfrm>
            <a:off x="14154912" y="7251192"/>
            <a:ext cx="731520" cy="44805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1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定点突变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1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表达纯化</a:t>
            </a:r>
          </a:p>
        </p:txBody>
      </p:sp>
      <p:sp>
        <p:nvSpPr>
          <p:cNvPr id="298" name="酶活性测定 动力学分析"/>
          <p:cNvSpPr txBox="1"/>
          <p:nvPr/>
        </p:nvSpPr>
        <p:spPr>
          <a:xfrm>
            <a:off x="13542264" y="7973568"/>
            <a:ext cx="1261872" cy="402336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1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酶活性测定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1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动力学分析</a:t>
            </a:r>
          </a:p>
        </p:txBody>
      </p:sp>
      <p:sp>
        <p:nvSpPr>
          <p:cNvPr id="299" name="机器学习 学习突变规律 候选优先级排序"/>
          <p:cNvSpPr txBox="1"/>
          <p:nvPr/>
        </p:nvSpPr>
        <p:spPr>
          <a:xfrm>
            <a:off x="11082528" y="7607808"/>
            <a:ext cx="1161288" cy="603504"/>
          </a:xfrm>
          <a:prstGeom prst="rect">
            <a:avLst/>
          </a:prstGeom>
          <a:noFill/>
        </p:spPr>
        <p:txBody>
          <a:bodyPr wrap="square" lIns="22860" rIns="22860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机器学习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学习突变规律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01B4D"/>
                </a:solidFill>
                <a:latin typeface="Noto Sans CJK SC"/>
              </a:defRPr>
            </a:pPr>
            <a:r>
              <a:rPr>
                <a:ea typeface="Noto Sans CJK SC"/>
              </a:rPr>
              <a:t>候选优先级排序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