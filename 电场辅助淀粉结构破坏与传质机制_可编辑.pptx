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646920" cy="136337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用户给出的竖版示意图重建。A/B/C标题、公式、图表坐标及图例、柱形/误差线/显著性字母、离子、迁移箭头、电极、淀粉颗粒、分子链及说明均为原生可编辑PowerPoint对象。MEF装置由图像工具按参考图复刻，为唯一的可替换图片，并非原图像素。淀粉裂纹及分子链为参考外观的原生矢量示意。柱形高度和误差线按截图视觉位置描摹；参考图没有精确柱值标签，因此未创建或声称恢复原始数值数据集。4.8 V、50 Hz及图中各物种/公式按参考图录入，未做外部科学核验。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646920" cy="13633704"/>
          </a:xfrm>
          <a:prstGeom prst="rect">
            <a:avLst/>
          </a:prstGeom>
          <a:solidFill>
            <a:srgbClr val="EE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" y="237744"/>
            <a:ext cx="932688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 cap="rnd">
            <a:solidFill>
              <a:srgbClr val="1A61A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329184"/>
            <a:ext cx="539496" cy="539496"/>
          </a:xfrm>
          <a:prstGeom prst="ellipse">
            <a:avLst/>
          </a:prstGeom>
          <a:ln w="12700" cap="rnd">
            <a:solidFill>
              <a:srgbClr val="7EAEE0"/>
            </a:solidFill>
            <a:round/>
          </a:ln>
          <a:gradFill>
            <a:gsLst>
              <a:gs pos="0">
                <a:srgbClr val="347EBD"/>
              </a:gs>
              <a:gs pos="100000">
                <a:srgbClr val="003B8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"/>
          <p:cNvSpPr txBox="1"/>
          <p:nvPr/>
        </p:nvSpPr>
        <p:spPr>
          <a:xfrm>
            <a:off x="283464" y="393192"/>
            <a:ext cx="521207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FFFFF"/>
                </a:solidFill>
                <a:latin typeface="Times New Roman"/>
              </a:defRPr>
            </a:pPr>
            <a:r>
              <a:t>A</a:t>
            </a:r>
          </a:p>
        </p:txBody>
      </p:sp>
      <p:sp>
        <p:nvSpPr>
          <p:cNvPr id="6" name="Electric current (Thermal effect)"/>
          <p:cNvSpPr txBox="1"/>
          <p:nvPr/>
        </p:nvSpPr>
        <p:spPr>
          <a:xfrm>
            <a:off x="941832" y="393192"/>
            <a:ext cx="75895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40" b="1">
                <a:solidFill>
                  <a:srgbClr val="064996"/>
                </a:solidFill>
                <a:latin typeface="Times New Roman"/>
              </a:defRPr>
            </a:pPr>
            <a:r>
              <a:t>Electric current (Thermal effect)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" y="4818888"/>
            <a:ext cx="9326880" cy="3154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 cap="rnd">
            <a:solidFill>
              <a:srgbClr val="1A61A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320" y="4910328"/>
            <a:ext cx="539496" cy="539496"/>
          </a:xfrm>
          <a:prstGeom prst="ellipse">
            <a:avLst/>
          </a:prstGeom>
          <a:ln w="12700" cap="rnd">
            <a:solidFill>
              <a:srgbClr val="7EAEE0"/>
            </a:solidFill>
            <a:round/>
          </a:ln>
          <a:gradFill>
            <a:gsLst>
              <a:gs pos="0">
                <a:srgbClr val="347EBD"/>
              </a:gs>
              <a:gs pos="100000">
                <a:srgbClr val="003B8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"/>
          <p:cNvSpPr txBox="1"/>
          <p:nvPr/>
        </p:nvSpPr>
        <p:spPr>
          <a:xfrm>
            <a:off x="283464" y="4974336"/>
            <a:ext cx="521207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FFFFF"/>
                </a:solidFill>
                <a:latin typeface="Times New Roman"/>
              </a:defRPr>
            </a:pPr>
            <a:r>
              <a:t>B</a:t>
            </a:r>
          </a:p>
        </p:txBody>
      </p:sp>
      <p:sp>
        <p:nvSpPr>
          <p:cNvPr id="10" name="Starch structure disruption"/>
          <p:cNvSpPr txBox="1"/>
          <p:nvPr/>
        </p:nvSpPr>
        <p:spPr>
          <a:xfrm>
            <a:off x="941832" y="4974336"/>
            <a:ext cx="75895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64996"/>
                </a:solidFill>
                <a:latin typeface="Times New Roman"/>
              </a:defRPr>
            </a:pPr>
            <a:r>
              <a:t>Starch structure disruption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" y="8467344"/>
            <a:ext cx="9326880" cy="42428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 cap="rnd">
            <a:solidFill>
              <a:srgbClr val="1A61AD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4320" y="8558784"/>
            <a:ext cx="539496" cy="539496"/>
          </a:xfrm>
          <a:prstGeom prst="ellipse">
            <a:avLst/>
          </a:prstGeom>
          <a:ln w="12700" cap="rnd">
            <a:solidFill>
              <a:srgbClr val="7EAEE0"/>
            </a:solidFill>
            <a:round/>
          </a:ln>
          <a:gradFill>
            <a:gsLst>
              <a:gs pos="0">
                <a:srgbClr val="347EBD"/>
              </a:gs>
              <a:gs pos="100000">
                <a:srgbClr val="003B8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"/>
          <p:cNvSpPr txBox="1"/>
          <p:nvPr/>
        </p:nvSpPr>
        <p:spPr>
          <a:xfrm>
            <a:off x="283464" y="8622792"/>
            <a:ext cx="521207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FFFFF"/>
                </a:solidFill>
                <a:latin typeface="Times New Roman"/>
              </a:defRPr>
            </a:pPr>
            <a:r>
              <a:t>C</a:t>
            </a:r>
          </a:p>
        </p:txBody>
      </p:sp>
      <p:sp>
        <p:nvSpPr>
          <p:cNvPr id="14" name="Electric field-assisted mass transfer"/>
          <p:cNvSpPr txBox="1"/>
          <p:nvPr/>
        </p:nvSpPr>
        <p:spPr>
          <a:xfrm>
            <a:off x="941832" y="8622792"/>
            <a:ext cx="75895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64996"/>
                </a:solidFill>
                <a:latin typeface="Times New Roman"/>
              </a:defRPr>
            </a:pPr>
            <a:r>
              <a:t>Electric field-assisted mass transfer</a:t>
            </a:r>
          </a:p>
        </p:txBody>
      </p:sp>
      <p:pic>
        <p:nvPicPr>
          <p:cNvPr id="15" name="MEF装置（参考图复刻，可替换）" descr="MEF_装置复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1115568"/>
            <a:ext cx="1810512" cy="2432304"/>
          </a:xfrm>
          <a:prstGeom prst="rect">
            <a:avLst/>
          </a:prstGeom>
        </p:spPr>
      </p:pic>
      <p:sp>
        <p:nvSpPr>
          <p:cNvPr id="16" name="MEF"/>
          <p:cNvSpPr txBox="1"/>
          <p:nvPr/>
        </p:nvSpPr>
        <p:spPr>
          <a:xfrm>
            <a:off x="877824" y="2724912"/>
            <a:ext cx="576072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101010"/>
                </a:solidFill>
                <a:latin typeface="Times New Roman"/>
              </a:defRPr>
            </a:pPr>
            <a:r>
              <a:t>MEF</a:t>
            </a:r>
          </a:p>
        </p:txBody>
      </p:sp>
      <p:sp>
        <p:nvSpPr>
          <p:cNvPr id="17" name="4.8 V 50 Hz"/>
          <p:cNvSpPr txBox="1"/>
          <p:nvPr/>
        </p:nvSpPr>
        <p:spPr>
          <a:xfrm>
            <a:off x="832104" y="2971800"/>
            <a:ext cx="722376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FFFF"/>
                </a:solidFill>
                <a:latin typeface="Times New Roman"/>
              </a:defRPr>
            </a:pPr>
            <a:r>
              <a:t>4.8 V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50" b="1">
                <a:solidFill>
                  <a:srgbClr val="FFFFFF"/>
                </a:solidFill>
                <a:latin typeface="Times New Roman"/>
              </a:defRPr>
            </a:pPr>
            <a:r>
              <a:t>50 Hz</a:t>
            </a:r>
          </a:p>
        </p:txBody>
      </p:sp>
      <p:sp>
        <p:nvSpPr>
          <p:cNvPr id="18" name="I"/>
          <p:cNvSpPr txBox="1"/>
          <p:nvPr/>
        </p:nvSpPr>
        <p:spPr>
          <a:xfrm>
            <a:off x="393192" y="2962656"/>
            <a:ext cx="19202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I</a:t>
            </a:r>
          </a:p>
        </p:txBody>
      </p:sp>
      <p:sp>
        <p:nvSpPr>
          <p:cNvPr id="19" name="0"/>
          <p:cNvSpPr txBox="1"/>
          <p:nvPr/>
        </p:nvSpPr>
        <p:spPr>
          <a:xfrm>
            <a:off x="393192" y="3154680"/>
            <a:ext cx="192024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0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1545336" y="1152144"/>
            <a:ext cx="923544" cy="466344"/>
          </a:xfrm>
          <a:prstGeom prst="line">
            <a:avLst/>
          </a:prstGeom>
          <a:ln w="8890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545336" y="1892807"/>
            <a:ext cx="1024128" cy="630937"/>
          </a:xfrm>
          <a:prstGeom prst="line">
            <a:avLst/>
          </a:prstGeom>
          <a:ln w="8890">
            <a:solidFill>
              <a:srgbClr val="3333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2020824" y="896112"/>
            <a:ext cx="3118104" cy="1764792"/>
          </a:xfrm>
          <a:prstGeom prst="ellipse">
            <a:avLst/>
          </a:prstGeom>
          <a:ln w="13970" cap="rnd">
            <a:solidFill>
              <a:srgbClr val="002D65"/>
            </a:solidFill>
            <a:round/>
          </a:ln>
          <a:gradFill>
            <a:gsLst>
              <a:gs pos="0">
                <a:srgbClr val="FFFFFF"/>
              </a:gs>
              <a:gs pos="100000">
                <a:srgbClr val="DDF4F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523744" y="1234440"/>
            <a:ext cx="594360" cy="594360"/>
          </a:xfrm>
          <a:prstGeom prst="ellipse">
            <a:avLst/>
          </a:prstGeom>
          <a:ln w="8890" cap="rnd">
            <a:solidFill>
              <a:srgbClr val="3F8420"/>
            </a:solidFill>
            <a:round/>
          </a:ln>
          <a:gradFill>
            <a:gsLst>
              <a:gs pos="0">
                <a:srgbClr val="A4D65C"/>
              </a:gs>
              <a:gs pos="100000">
                <a:srgbClr val="38831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[OAc]⁻"/>
          <p:cNvSpPr txBox="1"/>
          <p:nvPr/>
        </p:nvSpPr>
        <p:spPr>
          <a:xfrm>
            <a:off x="2523744" y="1353312"/>
            <a:ext cx="594360" cy="4041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60" b="1">
                <a:solidFill>
                  <a:srgbClr val="FFFFFF"/>
                </a:solidFill>
                <a:latin typeface="Times New Roman"/>
              </a:defRPr>
            </a:pPr>
            <a:r>
              <a:t>[OAc]⁻</a:t>
            </a:r>
          </a:p>
        </p:txBody>
      </p:sp>
      <p:sp>
        <p:nvSpPr>
          <p:cNvPr id="25" name="Oval 24"/>
          <p:cNvSpPr/>
          <p:nvPr/>
        </p:nvSpPr>
        <p:spPr>
          <a:xfrm>
            <a:off x="2615184" y="1938528"/>
            <a:ext cx="502920" cy="502920"/>
          </a:xfrm>
          <a:prstGeom prst="ellipse">
            <a:avLst/>
          </a:prstGeom>
          <a:ln w="8890" cap="rnd">
            <a:solidFill>
              <a:srgbClr val="3F8420"/>
            </a:solidFill>
            <a:round/>
          </a:ln>
          <a:gradFill>
            <a:gsLst>
              <a:gs pos="0">
                <a:srgbClr val="A4D65C"/>
              </a:gs>
              <a:gs pos="100000">
                <a:srgbClr val="38831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l⁻"/>
          <p:cNvSpPr txBox="1"/>
          <p:nvPr/>
        </p:nvSpPr>
        <p:spPr>
          <a:xfrm>
            <a:off x="2615184" y="2039112"/>
            <a:ext cx="502920" cy="3419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50" b="1">
                <a:solidFill>
                  <a:srgbClr val="FFFFFF"/>
                </a:solidFill>
                <a:latin typeface="Times New Roman"/>
              </a:defRPr>
            </a:pPr>
            <a:r>
              <a:t>Cl⁻</a:t>
            </a:r>
          </a:p>
        </p:txBody>
      </p:sp>
      <p:sp>
        <p:nvSpPr>
          <p:cNvPr id="27" name="Left Arrow 26"/>
          <p:cNvSpPr/>
          <p:nvPr/>
        </p:nvSpPr>
        <p:spPr>
          <a:xfrm>
            <a:off x="2148840" y="1508760"/>
            <a:ext cx="356616" cy="137160"/>
          </a:xfrm>
          <a:prstGeom prst="leftArrow">
            <a:avLst/>
          </a:prstGeom>
          <a:solidFill>
            <a:srgbClr val="5AA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eft Arrow 27"/>
          <p:cNvSpPr/>
          <p:nvPr/>
        </p:nvSpPr>
        <p:spPr>
          <a:xfrm>
            <a:off x="2295144" y="2121408"/>
            <a:ext cx="292608" cy="137160"/>
          </a:xfrm>
          <a:prstGeom prst="leftArrow">
            <a:avLst/>
          </a:prstGeom>
          <a:solidFill>
            <a:srgbClr val="5AA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264408" y="1060704"/>
            <a:ext cx="777240" cy="374904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3328416" y="1106424"/>
            <a:ext cx="649223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[Bmim]⁺"/>
          <p:cNvSpPr txBox="1"/>
          <p:nvPr/>
        </p:nvSpPr>
        <p:spPr>
          <a:xfrm>
            <a:off x="3273552" y="1109441"/>
            <a:ext cx="758952" cy="2999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40" b="1">
                <a:solidFill>
                  <a:srgbClr val="FFFFFF"/>
                </a:solidFill>
                <a:latin typeface="Times New Roman"/>
              </a:defRPr>
            </a:pPr>
            <a:r>
              <a:t>[Bmim]⁺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39896" y="1517904"/>
            <a:ext cx="804672" cy="411480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3803904" y="1563624"/>
            <a:ext cx="676656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[Amim]⁺"/>
          <p:cNvSpPr txBox="1"/>
          <p:nvPr/>
        </p:nvSpPr>
        <p:spPr>
          <a:xfrm>
            <a:off x="3749039" y="1571396"/>
            <a:ext cx="786384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40" b="1">
                <a:solidFill>
                  <a:srgbClr val="FFFFFF"/>
                </a:solidFill>
                <a:latin typeface="Times New Roman"/>
              </a:defRPr>
            </a:pPr>
            <a:r>
              <a:t>[Amim]⁺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55848" y="2029968"/>
            <a:ext cx="822960" cy="411480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3419856" y="2075688"/>
            <a:ext cx="694944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[Emim]⁺"/>
          <p:cNvSpPr txBox="1"/>
          <p:nvPr/>
        </p:nvSpPr>
        <p:spPr>
          <a:xfrm>
            <a:off x="3364992" y="2083460"/>
            <a:ext cx="804672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40" b="1">
                <a:solidFill>
                  <a:srgbClr val="FFFFFF"/>
                </a:solidFill>
                <a:latin typeface="Times New Roman"/>
              </a:defRPr>
            </a:pPr>
            <a:r>
              <a:t>[Emim]⁺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4078224" y="1170432"/>
            <a:ext cx="384048" cy="155448"/>
          </a:xfrm>
          <a:prstGeom prst="rightArrow">
            <a:avLst/>
          </a:prstGeom>
          <a:solidFill>
            <a:srgbClr val="F87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ight Arrow 38"/>
          <p:cNvSpPr/>
          <p:nvPr/>
        </p:nvSpPr>
        <p:spPr>
          <a:xfrm>
            <a:off x="4572000" y="1645920"/>
            <a:ext cx="402336" cy="164592"/>
          </a:xfrm>
          <a:prstGeom prst="rightArrow">
            <a:avLst/>
          </a:prstGeom>
          <a:solidFill>
            <a:srgbClr val="F87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ight Arrow 39"/>
          <p:cNvSpPr/>
          <p:nvPr/>
        </p:nvSpPr>
        <p:spPr>
          <a:xfrm>
            <a:off x="4197096" y="2167128"/>
            <a:ext cx="402336" cy="164592"/>
          </a:xfrm>
          <a:prstGeom prst="rightArrow">
            <a:avLst/>
          </a:prstGeom>
          <a:solidFill>
            <a:srgbClr val="F87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935224" y="2761488"/>
            <a:ext cx="2039112" cy="566928"/>
          </a:xfrm>
          <a:prstGeom prst="roundRect">
            <a:avLst>
              <a:gd name="adj" fmla="val 16000"/>
            </a:avLst>
          </a:prstGeom>
          <a:ln w="13970" cap="rnd">
            <a:solidFill>
              <a:srgbClr val="0647AA"/>
            </a:solidFill>
            <a:round/>
          </a:ln>
          <a:gradFill>
            <a:gsLst>
              <a:gs pos="0">
                <a:srgbClr val="F7FCFF"/>
              </a:gs>
              <a:gs pos="100000">
                <a:srgbClr val="D7EB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Q = E² × σ"/>
          <p:cNvSpPr txBox="1"/>
          <p:nvPr/>
        </p:nvSpPr>
        <p:spPr>
          <a:xfrm>
            <a:off x="3172968" y="2843784"/>
            <a:ext cx="1591056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540" b="1">
                <a:solidFill>
                  <a:srgbClr val="002D65"/>
                </a:solidFill>
                <a:latin typeface="Times New Roman"/>
              </a:defRPr>
            </a:pPr>
            <a:r>
              <a:t>Q = E² × σ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057400" y="3465576"/>
            <a:ext cx="3191256" cy="6126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 cap="rnd">
            <a:solidFill>
              <a:srgbClr val="4D80CA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ight Arrow 43"/>
          <p:cNvSpPr/>
          <p:nvPr/>
        </p:nvSpPr>
        <p:spPr>
          <a:xfrm>
            <a:off x="2185416" y="3575304"/>
            <a:ext cx="493776" cy="155448"/>
          </a:xfrm>
          <a:prstGeom prst="rightArrow">
            <a:avLst/>
          </a:prstGeom>
          <a:solidFill>
            <a:srgbClr val="F87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ight Arrow 44"/>
          <p:cNvSpPr/>
          <p:nvPr/>
        </p:nvSpPr>
        <p:spPr>
          <a:xfrm>
            <a:off x="2185416" y="3822191"/>
            <a:ext cx="493776" cy="146304"/>
          </a:xfrm>
          <a:prstGeom prst="rightArrow">
            <a:avLst/>
          </a:prstGeom>
          <a:solidFill>
            <a:srgbClr val="5AA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ation migration (to − electrode)"/>
          <p:cNvSpPr txBox="1"/>
          <p:nvPr/>
        </p:nvSpPr>
        <p:spPr>
          <a:xfrm>
            <a:off x="2770632" y="3520440"/>
            <a:ext cx="2441448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30" b="0">
                <a:solidFill>
                  <a:srgbClr val="101010"/>
                </a:solidFill>
                <a:latin typeface="Times New Roman"/>
              </a:defRPr>
            </a:pPr>
            <a:r>
              <a:t>Cation migration (to − electrode)</a:t>
            </a:r>
          </a:p>
        </p:txBody>
      </p:sp>
      <p:sp>
        <p:nvSpPr>
          <p:cNvPr id="47" name="Anion migration (to + electrode)"/>
          <p:cNvSpPr txBox="1"/>
          <p:nvPr/>
        </p:nvSpPr>
        <p:spPr>
          <a:xfrm>
            <a:off x="2770632" y="3767328"/>
            <a:ext cx="2441448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30" b="0">
                <a:solidFill>
                  <a:srgbClr val="101010"/>
                </a:solidFill>
                <a:latin typeface="Times New Roman"/>
              </a:defRPr>
            </a:pPr>
            <a:r>
              <a:t>Anion migration (to + electrode)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980176" y="804672"/>
            <a:ext cx="3328416" cy="0"/>
          </a:xfrm>
          <a:prstGeom prst="line">
            <a:avLst/>
          </a:prstGeom>
          <a:ln w="1079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308592" y="804672"/>
            <a:ext cx="0" cy="2377440"/>
          </a:xfrm>
          <a:prstGeom prst="line">
            <a:avLst/>
          </a:prstGeom>
          <a:ln w="1079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980176" y="3182112"/>
            <a:ext cx="3328416" cy="0"/>
          </a:xfrm>
          <a:prstGeom prst="line">
            <a:avLst/>
          </a:prstGeom>
          <a:ln w="1079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980176" y="804672"/>
            <a:ext cx="0" cy="2377440"/>
          </a:xfrm>
          <a:prstGeom prst="line">
            <a:avLst/>
          </a:prstGeom>
          <a:ln w="1079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934456" y="3182112"/>
            <a:ext cx="45720" cy="0"/>
          </a:xfrm>
          <a:prstGeom prst="line">
            <a:avLst/>
          </a:prstGeom>
          <a:ln w="889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0"/>
          <p:cNvSpPr txBox="1"/>
          <p:nvPr/>
        </p:nvSpPr>
        <p:spPr>
          <a:xfrm>
            <a:off x="5559552" y="3090672"/>
            <a:ext cx="329184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30" b="0">
                <a:solidFill>
                  <a:srgbClr val="101010"/>
                </a:solidFill>
                <a:latin typeface="Times New Roman"/>
              </a:defRPr>
            </a:pPr>
            <a:r>
              <a:t>0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934456" y="2854234"/>
            <a:ext cx="45720" cy="0"/>
          </a:xfrm>
          <a:prstGeom prst="line">
            <a:avLst/>
          </a:prstGeom>
          <a:ln w="889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50"/>
          <p:cNvSpPr txBox="1"/>
          <p:nvPr/>
        </p:nvSpPr>
        <p:spPr>
          <a:xfrm>
            <a:off x="5559552" y="2762794"/>
            <a:ext cx="329184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30" b="0">
                <a:solidFill>
                  <a:srgbClr val="101010"/>
                </a:solidFill>
                <a:latin typeface="Times New Roman"/>
              </a:defRPr>
            </a:pPr>
            <a:r>
              <a:t>50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934456" y="2526356"/>
            <a:ext cx="45720" cy="0"/>
          </a:xfrm>
          <a:prstGeom prst="line">
            <a:avLst/>
          </a:prstGeom>
          <a:ln w="889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100"/>
          <p:cNvSpPr txBox="1"/>
          <p:nvPr/>
        </p:nvSpPr>
        <p:spPr>
          <a:xfrm>
            <a:off x="5559552" y="2434916"/>
            <a:ext cx="329184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30" b="0">
                <a:solidFill>
                  <a:srgbClr val="101010"/>
                </a:solidFill>
                <a:latin typeface="Times New Roman"/>
              </a:defRPr>
            </a:pPr>
            <a:r>
              <a:t>100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934456" y="2198478"/>
            <a:ext cx="45720" cy="0"/>
          </a:xfrm>
          <a:prstGeom prst="line">
            <a:avLst/>
          </a:prstGeom>
          <a:ln w="889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150"/>
          <p:cNvSpPr txBox="1"/>
          <p:nvPr/>
        </p:nvSpPr>
        <p:spPr>
          <a:xfrm>
            <a:off x="5559552" y="2107038"/>
            <a:ext cx="329184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30" b="0">
                <a:solidFill>
                  <a:srgbClr val="101010"/>
                </a:solidFill>
                <a:latin typeface="Times New Roman"/>
              </a:defRPr>
            </a:pPr>
            <a:r>
              <a:t>150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934456" y="1870601"/>
            <a:ext cx="45720" cy="0"/>
          </a:xfrm>
          <a:prstGeom prst="line">
            <a:avLst/>
          </a:prstGeom>
          <a:ln w="889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200"/>
          <p:cNvSpPr txBox="1"/>
          <p:nvPr/>
        </p:nvSpPr>
        <p:spPr>
          <a:xfrm>
            <a:off x="5559552" y="1779161"/>
            <a:ext cx="329184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30" b="0">
                <a:solidFill>
                  <a:srgbClr val="101010"/>
                </a:solidFill>
                <a:latin typeface="Times New Roman"/>
              </a:defRPr>
            </a:pPr>
            <a:r>
              <a:t>200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934456" y="1542723"/>
            <a:ext cx="45720" cy="0"/>
          </a:xfrm>
          <a:prstGeom prst="line">
            <a:avLst/>
          </a:prstGeom>
          <a:ln w="889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250"/>
          <p:cNvSpPr txBox="1"/>
          <p:nvPr/>
        </p:nvSpPr>
        <p:spPr>
          <a:xfrm>
            <a:off x="5559552" y="1451283"/>
            <a:ext cx="329184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30" b="0">
                <a:solidFill>
                  <a:srgbClr val="101010"/>
                </a:solidFill>
                <a:latin typeface="Times New Roman"/>
              </a:defRPr>
            </a:pPr>
            <a:r>
              <a:t>250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934456" y="1214845"/>
            <a:ext cx="45720" cy="0"/>
          </a:xfrm>
          <a:prstGeom prst="line">
            <a:avLst/>
          </a:prstGeom>
          <a:ln w="889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300"/>
          <p:cNvSpPr txBox="1"/>
          <p:nvPr/>
        </p:nvSpPr>
        <p:spPr>
          <a:xfrm>
            <a:off x="5559552" y="1123405"/>
            <a:ext cx="329184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30" b="0">
                <a:solidFill>
                  <a:srgbClr val="101010"/>
                </a:solidFill>
                <a:latin typeface="Times New Roman"/>
              </a:defRPr>
            </a:pPr>
            <a:r>
              <a:t>300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934456" y="886967"/>
            <a:ext cx="45720" cy="0"/>
          </a:xfrm>
          <a:prstGeom prst="line">
            <a:avLst/>
          </a:prstGeom>
          <a:ln w="8890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350"/>
          <p:cNvSpPr txBox="1"/>
          <p:nvPr/>
        </p:nvSpPr>
        <p:spPr>
          <a:xfrm>
            <a:off x="5559552" y="795527"/>
            <a:ext cx="329184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30" b="0">
                <a:solidFill>
                  <a:srgbClr val="101010"/>
                </a:solidFill>
                <a:latin typeface="Times New Roman"/>
              </a:defRPr>
            </a:pPr>
            <a:r>
              <a:t>350</a:t>
            </a:r>
          </a:p>
        </p:txBody>
      </p:sp>
      <p:sp>
        <p:nvSpPr>
          <p:cNvPr id="68" name="Electrical conductivity (mS/cm)"/>
          <p:cNvSpPr txBox="1"/>
          <p:nvPr/>
        </p:nvSpPr>
        <p:spPr>
          <a:xfrm rot="16200000">
            <a:off x="4050791" y="1874519"/>
            <a:ext cx="276148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30" b="0">
                <a:solidFill>
                  <a:srgbClr val="101010"/>
                </a:solidFill>
                <a:latin typeface="Times New Roman"/>
              </a:defRPr>
            </a:pPr>
            <a:r>
              <a:t>Electrical conductivity (mS/cm)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08776" y="905256"/>
            <a:ext cx="201168" cy="201168"/>
          </a:xfrm>
          <a:prstGeom prst="rect">
            <a:avLst/>
          </a:prstGeom>
          <a:solidFill>
            <a:srgbClr val="0988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Water bath heating"/>
          <p:cNvSpPr txBox="1"/>
          <p:nvPr/>
        </p:nvSpPr>
        <p:spPr>
          <a:xfrm>
            <a:off x="6510528" y="877824"/>
            <a:ext cx="2651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101010"/>
                </a:solidFill>
                <a:latin typeface="Times New Roman"/>
              </a:defRPr>
            </a:pPr>
            <a:r>
              <a:t>Water bath heating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08776" y="1161288"/>
            <a:ext cx="201168" cy="201168"/>
          </a:xfrm>
          <a:prstGeom prst="rect">
            <a:avLst/>
          </a:prstGeom>
          <a:solidFill>
            <a:srgbClr val="EC0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MEF"/>
          <p:cNvSpPr txBox="1"/>
          <p:nvPr/>
        </p:nvSpPr>
        <p:spPr>
          <a:xfrm>
            <a:off x="6510528" y="1133856"/>
            <a:ext cx="1179576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101010"/>
                </a:solidFill>
                <a:latin typeface="Times New Roman"/>
              </a:defRPr>
            </a:pPr>
            <a:r>
              <a:t>MEF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26480" y="2935224"/>
            <a:ext cx="228600" cy="246888"/>
          </a:xfrm>
          <a:prstGeom prst="rect">
            <a:avLst/>
          </a:prstGeom>
          <a:solidFill>
            <a:srgbClr val="07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6240780" y="2898648"/>
            <a:ext cx="0" cy="73152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6204204" y="2898648"/>
            <a:ext cx="73152" cy="0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204204" y="2971800"/>
            <a:ext cx="73152" cy="0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h"/>
          <p:cNvSpPr txBox="1"/>
          <p:nvPr/>
        </p:nvSpPr>
        <p:spPr>
          <a:xfrm>
            <a:off x="6149340" y="2688336"/>
            <a:ext cx="1828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1010"/>
                </a:solidFill>
                <a:latin typeface="Times New Roman"/>
              </a:defRPr>
            </a:pPr>
            <a:r>
              <a:t>h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91656" y="2734056"/>
            <a:ext cx="256032" cy="448056"/>
          </a:xfrm>
          <a:prstGeom prst="rect">
            <a:avLst/>
          </a:prstGeom>
          <a:solidFill>
            <a:srgbClr val="EF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6519672" y="2697480"/>
            <a:ext cx="0" cy="73152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6483096" y="2697480"/>
            <a:ext cx="73152" cy="0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6483096" y="2770632"/>
            <a:ext cx="73152" cy="0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g"/>
          <p:cNvSpPr txBox="1"/>
          <p:nvPr/>
        </p:nvSpPr>
        <p:spPr>
          <a:xfrm>
            <a:off x="6428232" y="2487168"/>
            <a:ext cx="1828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1010"/>
                </a:solidFill>
                <a:latin typeface="Times New Roman"/>
              </a:defRPr>
            </a:pPr>
            <a:r>
              <a:t>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958584" y="2478024"/>
            <a:ext cx="228600" cy="704088"/>
          </a:xfrm>
          <a:prstGeom prst="rect">
            <a:avLst/>
          </a:prstGeom>
          <a:solidFill>
            <a:srgbClr val="07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7072884" y="2441448"/>
            <a:ext cx="0" cy="73152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036308" y="2441448"/>
            <a:ext cx="73152" cy="0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7036308" y="2514600"/>
            <a:ext cx="73152" cy="0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e"/>
          <p:cNvSpPr txBox="1"/>
          <p:nvPr/>
        </p:nvSpPr>
        <p:spPr>
          <a:xfrm>
            <a:off x="6981444" y="2231136"/>
            <a:ext cx="1828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1010"/>
                </a:solidFill>
                <a:latin typeface="Times New Roman"/>
              </a:defRPr>
            </a:pPr>
            <a:r>
              <a:t>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223760" y="2231136"/>
            <a:ext cx="256032" cy="950976"/>
          </a:xfrm>
          <a:prstGeom prst="rect">
            <a:avLst/>
          </a:prstGeom>
          <a:solidFill>
            <a:srgbClr val="EF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7351775" y="2194560"/>
            <a:ext cx="0" cy="73152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7315200" y="2194560"/>
            <a:ext cx="73152" cy="0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7315200" y="2267712"/>
            <a:ext cx="73152" cy="0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c"/>
          <p:cNvSpPr txBox="1"/>
          <p:nvPr/>
        </p:nvSpPr>
        <p:spPr>
          <a:xfrm>
            <a:off x="7260336" y="1984248"/>
            <a:ext cx="1828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1010"/>
                </a:solidFill>
                <a:latin typeface="Times New Roman"/>
              </a:defRPr>
            </a:pPr>
            <a:r>
              <a:t>c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790688" y="2578608"/>
            <a:ext cx="228600" cy="603504"/>
          </a:xfrm>
          <a:prstGeom prst="rect">
            <a:avLst/>
          </a:prstGeom>
          <a:solidFill>
            <a:srgbClr val="07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7904988" y="2542032"/>
            <a:ext cx="0" cy="73152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7868412" y="2542032"/>
            <a:ext cx="73152" cy="0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7868412" y="2615184"/>
            <a:ext cx="73152" cy="0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f"/>
          <p:cNvSpPr txBox="1"/>
          <p:nvPr/>
        </p:nvSpPr>
        <p:spPr>
          <a:xfrm>
            <a:off x="7813548" y="2331720"/>
            <a:ext cx="1828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1010"/>
                </a:solidFill>
                <a:latin typeface="Times New Roman"/>
              </a:defRPr>
            </a:pPr>
            <a:r>
              <a:t>f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055864" y="1783080"/>
            <a:ext cx="256032" cy="1399032"/>
          </a:xfrm>
          <a:prstGeom prst="rect">
            <a:avLst/>
          </a:prstGeom>
          <a:solidFill>
            <a:srgbClr val="EF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>
            <a:off x="8183879" y="1746504"/>
            <a:ext cx="0" cy="73152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8147304" y="1746504"/>
            <a:ext cx="73152" cy="0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8147304" y="1819656"/>
            <a:ext cx="73152" cy="0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b"/>
          <p:cNvSpPr txBox="1"/>
          <p:nvPr/>
        </p:nvSpPr>
        <p:spPr>
          <a:xfrm>
            <a:off x="8092440" y="1536192"/>
            <a:ext cx="1828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1010"/>
                </a:solidFill>
                <a:latin typeface="Times New Roman"/>
              </a:defRPr>
            </a:pPr>
            <a:r>
              <a:t>b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622792" y="2423160"/>
            <a:ext cx="228600" cy="758952"/>
          </a:xfrm>
          <a:prstGeom prst="rect">
            <a:avLst/>
          </a:prstGeom>
          <a:solidFill>
            <a:srgbClr val="07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8737092" y="2386584"/>
            <a:ext cx="0" cy="73152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700516" y="2386584"/>
            <a:ext cx="73152" cy="0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8700516" y="2459736"/>
            <a:ext cx="73152" cy="0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d"/>
          <p:cNvSpPr txBox="1"/>
          <p:nvPr/>
        </p:nvSpPr>
        <p:spPr>
          <a:xfrm>
            <a:off x="8645652" y="2176272"/>
            <a:ext cx="1828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1010"/>
                </a:solidFill>
                <a:latin typeface="Times New Roman"/>
              </a:defRPr>
            </a:pPr>
            <a:r>
              <a:t>d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887968" y="1060704"/>
            <a:ext cx="256032" cy="2121408"/>
          </a:xfrm>
          <a:prstGeom prst="rect">
            <a:avLst/>
          </a:prstGeom>
          <a:solidFill>
            <a:srgbClr val="EF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9015984" y="1024128"/>
            <a:ext cx="0" cy="73152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8979408" y="1024128"/>
            <a:ext cx="73152" cy="0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8979408" y="1097280"/>
            <a:ext cx="73152" cy="0"/>
          </a:xfrm>
          <a:prstGeom prst="line">
            <a:avLst/>
          </a:prstGeom>
          <a:ln w="9525">
            <a:solidFill>
              <a:srgbClr val="1010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a"/>
          <p:cNvSpPr txBox="1"/>
          <p:nvPr/>
        </p:nvSpPr>
        <p:spPr>
          <a:xfrm>
            <a:off x="8924544" y="813816"/>
            <a:ext cx="1828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01010"/>
                </a:solidFill>
                <a:latin typeface="Times New Roman"/>
              </a:defRPr>
            </a:pPr>
            <a:r>
              <a:t>a</a:t>
            </a:r>
          </a:p>
        </p:txBody>
      </p:sp>
      <p:sp>
        <p:nvSpPr>
          <p:cNvPr id="113" name="[Bmim]Cl"/>
          <p:cNvSpPr txBox="1"/>
          <p:nvPr/>
        </p:nvSpPr>
        <p:spPr>
          <a:xfrm>
            <a:off x="5934456" y="3282696"/>
            <a:ext cx="905256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101010"/>
                </a:solidFill>
                <a:latin typeface="Times New Roman"/>
              </a:defRPr>
            </a:pPr>
            <a:r>
              <a:t>[Bmim]Cl</a:t>
            </a:r>
          </a:p>
        </p:txBody>
      </p:sp>
      <p:sp>
        <p:nvSpPr>
          <p:cNvPr id="114" name="[Bmim]OAc"/>
          <p:cNvSpPr txBox="1"/>
          <p:nvPr/>
        </p:nvSpPr>
        <p:spPr>
          <a:xfrm>
            <a:off x="6757416" y="3282696"/>
            <a:ext cx="905256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101010"/>
                </a:solidFill>
                <a:latin typeface="Times New Roman"/>
              </a:defRPr>
            </a:pPr>
            <a:r>
              <a:t>[Bmim]OAc</a:t>
            </a:r>
          </a:p>
        </p:txBody>
      </p:sp>
      <p:sp>
        <p:nvSpPr>
          <p:cNvPr id="115" name="[Amim]Cl"/>
          <p:cNvSpPr txBox="1"/>
          <p:nvPr/>
        </p:nvSpPr>
        <p:spPr>
          <a:xfrm>
            <a:off x="7626096" y="3282696"/>
            <a:ext cx="905256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101010"/>
                </a:solidFill>
                <a:latin typeface="Times New Roman"/>
              </a:defRPr>
            </a:pPr>
            <a:r>
              <a:t>[Amim]Cl</a:t>
            </a:r>
          </a:p>
        </p:txBody>
      </p:sp>
      <p:sp>
        <p:nvSpPr>
          <p:cNvPr id="116" name="[Emim]Cl"/>
          <p:cNvSpPr txBox="1"/>
          <p:nvPr/>
        </p:nvSpPr>
        <p:spPr>
          <a:xfrm>
            <a:off x="8485632" y="3282696"/>
            <a:ext cx="905256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101010"/>
                </a:solidFill>
                <a:latin typeface="Times New Roman"/>
              </a:defRPr>
            </a:pPr>
            <a:r>
              <a:t>[Emim]Cl</a:t>
            </a:r>
          </a:p>
        </p:txBody>
      </p:sp>
      <p:sp>
        <p:nvSpPr>
          <p:cNvPr id="117" name="Up Arrow 116"/>
          <p:cNvSpPr/>
          <p:nvPr/>
        </p:nvSpPr>
        <p:spPr>
          <a:xfrm>
            <a:off x="4507992" y="4261104"/>
            <a:ext cx="557784" cy="457200"/>
          </a:xfrm>
          <a:prstGeom prst="upArrow">
            <a:avLst/>
          </a:prstGeom>
          <a:ln>
            <a:noFill/>
          </a:ln>
          <a:gradFill>
            <a:gsLst>
              <a:gs pos="0">
                <a:srgbClr val="E9E9E9"/>
              </a:gs>
              <a:gs pos="100000">
                <a:srgbClr val="737373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Electrical conductivity"/>
          <p:cNvSpPr txBox="1"/>
          <p:nvPr/>
        </p:nvSpPr>
        <p:spPr>
          <a:xfrm>
            <a:off x="5120640" y="4361688"/>
            <a:ext cx="2606040" cy="374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10" b="1">
                <a:solidFill>
                  <a:srgbClr val="101010"/>
                </a:solidFill>
                <a:latin typeface="Times New Roman"/>
              </a:defRPr>
            </a:pPr>
            <a:r>
              <a:t>Electrical conductivity</a:t>
            </a:r>
          </a:p>
        </p:txBody>
      </p:sp>
      <p:sp>
        <p:nvSpPr>
          <p:cNvPr id="119" name="Up Arrow 118"/>
          <p:cNvSpPr/>
          <p:nvPr/>
        </p:nvSpPr>
        <p:spPr>
          <a:xfrm>
            <a:off x="7580375" y="4279392"/>
            <a:ext cx="192024" cy="429768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374904" y="5660136"/>
            <a:ext cx="283464" cy="2057400"/>
          </a:xfrm>
          <a:prstGeom prst="roundRect">
            <a:avLst>
              <a:gd name="adj" fmla="val 14000"/>
            </a:avLst>
          </a:prstGeom>
          <a:ln w="12700" cap="rnd">
            <a:solidFill>
              <a:srgbClr val="101010"/>
            </a:solidFill>
            <a:round/>
          </a:ln>
          <a:gradFill>
            <a:gsLst>
              <a:gs pos="0">
                <a:srgbClr val="ECECEC"/>
              </a:gs>
              <a:gs pos="100000">
                <a:srgbClr val="C5C5C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+"/>
          <p:cNvSpPr txBox="1"/>
          <p:nvPr/>
        </p:nvSpPr>
        <p:spPr>
          <a:xfrm>
            <a:off x="374904" y="5948172"/>
            <a:ext cx="28346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122" name="+"/>
          <p:cNvSpPr txBox="1"/>
          <p:nvPr/>
        </p:nvSpPr>
        <p:spPr>
          <a:xfrm>
            <a:off x="374904" y="6380226"/>
            <a:ext cx="28346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123" name="+"/>
          <p:cNvSpPr txBox="1"/>
          <p:nvPr/>
        </p:nvSpPr>
        <p:spPr>
          <a:xfrm>
            <a:off x="374904" y="6812280"/>
            <a:ext cx="28346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124" name="+"/>
          <p:cNvSpPr txBox="1"/>
          <p:nvPr/>
        </p:nvSpPr>
        <p:spPr>
          <a:xfrm>
            <a:off x="374904" y="7244334"/>
            <a:ext cx="28346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3456432" y="5660136"/>
            <a:ext cx="283464" cy="2057400"/>
          </a:xfrm>
          <a:prstGeom prst="roundRect">
            <a:avLst>
              <a:gd name="adj" fmla="val 14000"/>
            </a:avLst>
          </a:prstGeom>
          <a:ln w="12700" cap="rnd">
            <a:solidFill>
              <a:srgbClr val="101010"/>
            </a:solidFill>
            <a:round/>
          </a:ln>
          <a:gradFill>
            <a:gsLst>
              <a:gs pos="0">
                <a:srgbClr val="ECECEC"/>
              </a:gs>
              <a:gs pos="100000">
                <a:srgbClr val="C5C5C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−"/>
          <p:cNvSpPr txBox="1"/>
          <p:nvPr/>
        </p:nvSpPr>
        <p:spPr>
          <a:xfrm>
            <a:off x="3456432" y="5948172"/>
            <a:ext cx="28346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127" name="−"/>
          <p:cNvSpPr txBox="1"/>
          <p:nvPr/>
        </p:nvSpPr>
        <p:spPr>
          <a:xfrm>
            <a:off x="3456432" y="6380226"/>
            <a:ext cx="28346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128" name="−"/>
          <p:cNvSpPr txBox="1"/>
          <p:nvPr/>
        </p:nvSpPr>
        <p:spPr>
          <a:xfrm>
            <a:off x="3456432" y="6812280"/>
            <a:ext cx="28346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129" name="−"/>
          <p:cNvSpPr txBox="1"/>
          <p:nvPr/>
        </p:nvSpPr>
        <p:spPr>
          <a:xfrm>
            <a:off x="3456432" y="7244334"/>
            <a:ext cx="28346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130" name="Oval 129"/>
          <p:cNvSpPr/>
          <p:nvPr/>
        </p:nvSpPr>
        <p:spPr>
          <a:xfrm>
            <a:off x="1188720" y="5779008"/>
            <a:ext cx="329184" cy="329184"/>
          </a:xfrm>
          <a:prstGeom prst="ellipse">
            <a:avLst/>
          </a:prstGeom>
          <a:ln w="8890" cap="rnd">
            <a:solidFill>
              <a:srgbClr val="3F8420"/>
            </a:solidFill>
            <a:round/>
          </a:ln>
          <a:gradFill>
            <a:gsLst>
              <a:gs pos="0">
                <a:srgbClr val="A4D65C"/>
              </a:gs>
              <a:gs pos="100000">
                <a:srgbClr val="38831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−"/>
          <p:cNvSpPr txBox="1"/>
          <p:nvPr/>
        </p:nvSpPr>
        <p:spPr>
          <a:xfrm>
            <a:off x="1188720" y="5844844"/>
            <a:ext cx="329184" cy="2238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132" name="Oval 131"/>
          <p:cNvSpPr/>
          <p:nvPr/>
        </p:nvSpPr>
        <p:spPr>
          <a:xfrm>
            <a:off x="740664" y="6263640"/>
            <a:ext cx="329184" cy="329184"/>
          </a:xfrm>
          <a:prstGeom prst="ellipse">
            <a:avLst/>
          </a:prstGeom>
          <a:ln w="8890" cap="rnd">
            <a:solidFill>
              <a:srgbClr val="3F8420"/>
            </a:solidFill>
            <a:round/>
          </a:ln>
          <a:gradFill>
            <a:gsLst>
              <a:gs pos="0">
                <a:srgbClr val="A4D65C"/>
              </a:gs>
              <a:gs pos="100000">
                <a:srgbClr val="38831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−"/>
          <p:cNvSpPr txBox="1"/>
          <p:nvPr/>
        </p:nvSpPr>
        <p:spPr>
          <a:xfrm>
            <a:off x="740664" y="6329476"/>
            <a:ext cx="329184" cy="2238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134" name="Oval 133"/>
          <p:cNvSpPr/>
          <p:nvPr/>
        </p:nvSpPr>
        <p:spPr>
          <a:xfrm>
            <a:off x="941832" y="7031736"/>
            <a:ext cx="338328" cy="338328"/>
          </a:xfrm>
          <a:prstGeom prst="ellipse">
            <a:avLst/>
          </a:prstGeom>
          <a:ln w="8890" cap="rnd">
            <a:solidFill>
              <a:srgbClr val="3F8420"/>
            </a:solidFill>
            <a:round/>
          </a:ln>
          <a:gradFill>
            <a:gsLst>
              <a:gs pos="0">
                <a:srgbClr val="A4D65C"/>
              </a:gs>
              <a:gs pos="100000">
                <a:srgbClr val="38831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−"/>
          <p:cNvSpPr txBox="1"/>
          <p:nvPr/>
        </p:nvSpPr>
        <p:spPr>
          <a:xfrm>
            <a:off x="941832" y="7099401"/>
            <a:ext cx="338328" cy="2300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2331720" y="5660136"/>
            <a:ext cx="384048" cy="374904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7" name="Connector 136"/>
          <p:cNvCxnSpPr/>
          <p:nvPr/>
        </p:nvCxnSpPr>
        <p:spPr>
          <a:xfrm>
            <a:off x="2395728" y="5705856"/>
            <a:ext cx="256032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+"/>
          <p:cNvSpPr txBox="1"/>
          <p:nvPr/>
        </p:nvSpPr>
        <p:spPr>
          <a:xfrm>
            <a:off x="2340864" y="5708873"/>
            <a:ext cx="365760" cy="2999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3063240" y="6025896"/>
            <a:ext cx="356616" cy="365760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>
            <a:off x="3127248" y="6071616"/>
            <a:ext cx="228600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+"/>
          <p:cNvSpPr txBox="1"/>
          <p:nvPr/>
        </p:nvSpPr>
        <p:spPr>
          <a:xfrm>
            <a:off x="3072384" y="6073444"/>
            <a:ext cx="33832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2670048" y="6647688"/>
            <a:ext cx="356616" cy="356616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3" name="Connector 142"/>
          <p:cNvCxnSpPr/>
          <p:nvPr/>
        </p:nvCxnSpPr>
        <p:spPr>
          <a:xfrm>
            <a:off x="2734056" y="6693408"/>
            <a:ext cx="228600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+"/>
          <p:cNvSpPr txBox="1"/>
          <p:nvPr/>
        </p:nvSpPr>
        <p:spPr>
          <a:xfrm>
            <a:off x="2679192" y="6694048"/>
            <a:ext cx="338328" cy="2852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926080" y="7223760"/>
            <a:ext cx="384048" cy="374904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6" name="Connector 145"/>
          <p:cNvCxnSpPr/>
          <p:nvPr/>
        </p:nvCxnSpPr>
        <p:spPr>
          <a:xfrm>
            <a:off x="2990088" y="7269480"/>
            <a:ext cx="256032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+"/>
          <p:cNvSpPr txBox="1"/>
          <p:nvPr/>
        </p:nvSpPr>
        <p:spPr>
          <a:xfrm>
            <a:off x="2935224" y="7272497"/>
            <a:ext cx="365760" cy="2999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+</a:t>
            </a:r>
          </a:p>
        </p:txBody>
      </p:sp>
      <p:cxnSp>
        <p:nvCxnSpPr>
          <p:cNvPr id="148" name="Connector 147"/>
          <p:cNvCxnSpPr/>
          <p:nvPr/>
        </p:nvCxnSpPr>
        <p:spPr>
          <a:xfrm flipH="1">
            <a:off x="713232" y="5980176"/>
            <a:ext cx="420624" cy="0"/>
          </a:xfrm>
          <a:prstGeom prst="line">
            <a:avLst/>
          </a:prstGeom>
          <a:ln w="15240">
            <a:solidFill>
              <a:srgbClr val="5AAC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Freeform 148"/>
          <p:cNvSpPr/>
          <p:nvPr/>
        </p:nvSpPr>
        <p:spPr>
          <a:xfrm>
            <a:off x="713232" y="5934456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10"/>
                </a:lnTo>
                <a:lnTo>
                  <a:pt x="10" y="0"/>
                </a:lnTo>
                <a:close/>
              </a:path>
            </a:pathLst>
          </a:custGeom>
          <a:solidFill>
            <a:srgbClr val="5AA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0" name="Connector 149"/>
          <p:cNvCxnSpPr/>
          <p:nvPr/>
        </p:nvCxnSpPr>
        <p:spPr>
          <a:xfrm flipH="1">
            <a:off x="1106424" y="6492240"/>
            <a:ext cx="256032" cy="0"/>
          </a:xfrm>
          <a:prstGeom prst="line">
            <a:avLst/>
          </a:prstGeom>
          <a:ln w="15240">
            <a:solidFill>
              <a:srgbClr val="5AAC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Freeform 150"/>
          <p:cNvSpPr/>
          <p:nvPr/>
        </p:nvSpPr>
        <p:spPr>
          <a:xfrm>
            <a:off x="1106424" y="644652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10"/>
                </a:lnTo>
                <a:lnTo>
                  <a:pt x="10" y="0"/>
                </a:lnTo>
                <a:close/>
              </a:path>
            </a:pathLst>
          </a:custGeom>
          <a:solidFill>
            <a:srgbClr val="5AA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2" name="Connector 151"/>
          <p:cNvCxnSpPr/>
          <p:nvPr/>
        </p:nvCxnSpPr>
        <p:spPr>
          <a:xfrm flipH="1">
            <a:off x="1307592" y="7287768"/>
            <a:ext cx="246888" cy="0"/>
          </a:xfrm>
          <a:prstGeom prst="line">
            <a:avLst/>
          </a:prstGeom>
          <a:ln w="15240">
            <a:solidFill>
              <a:srgbClr val="5AAC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Freeform 152"/>
          <p:cNvSpPr/>
          <p:nvPr/>
        </p:nvSpPr>
        <p:spPr>
          <a:xfrm>
            <a:off x="1307592" y="724204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10"/>
                </a:lnTo>
                <a:lnTo>
                  <a:pt x="10" y="0"/>
                </a:lnTo>
                <a:close/>
              </a:path>
            </a:pathLst>
          </a:custGeom>
          <a:solidFill>
            <a:srgbClr val="5AA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4" name="Connector 153"/>
          <p:cNvCxnSpPr/>
          <p:nvPr/>
        </p:nvCxnSpPr>
        <p:spPr>
          <a:xfrm flipH="1">
            <a:off x="722376" y="7543800"/>
            <a:ext cx="896112" cy="0"/>
          </a:xfrm>
          <a:prstGeom prst="line">
            <a:avLst/>
          </a:prstGeom>
          <a:ln w="15240">
            <a:solidFill>
              <a:srgbClr val="5AAC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Freeform 154"/>
          <p:cNvSpPr/>
          <p:nvPr/>
        </p:nvSpPr>
        <p:spPr>
          <a:xfrm>
            <a:off x="722376" y="749808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10"/>
                </a:lnTo>
                <a:lnTo>
                  <a:pt x="10" y="0"/>
                </a:lnTo>
                <a:close/>
              </a:path>
            </a:pathLst>
          </a:custGeom>
          <a:solidFill>
            <a:srgbClr val="5AA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6" name="Connector 155"/>
          <p:cNvCxnSpPr/>
          <p:nvPr/>
        </p:nvCxnSpPr>
        <p:spPr>
          <a:xfrm>
            <a:off x="2743200" y="5852160"/>
            <a:ext cx="640080" cy="0"/>
          </a:xfrm>
          <a:prstGeom prst="line">
            <a:avLst/>
          </a:prstGeom>
          <a:ln w="15240">
            <a:solidFill>
              <a:srgbClr val="F8750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Freeform 156"/>
          <p:cNvSpPr/>
          <p:nvPr/>
        </p:nvSpPr>
        <p:spPr>
          <a:xfrm>
            <a:off x="3291840" y="5806440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F87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8" name="Connector 157"/>
          <p:cNvCxnSpPr/>
          <p:nvPr/>
        </p:nvCxnSpPr>
        <p:spPr>
          <a:xfrm>
            <a:off x="2551176" y="6236208"/>
            <a:ext cx="457200" cy="0"/>
          </a:xfrm>
          <a:prstGeom prst="line">
            <a:avLst/>
          </a:prstGeom>
          <a:ln w="15240">
            <a:solidFill>
              <a:srgbClr val="F8750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Freeform 158"/>
          <p:cNvSpPr/>
          <p:nvPr/>
        </p:nvSpPr>
        <p:spPr>
          <a:xfrm>
            <a:off x="2916936" y="619048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F87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0" name="Connector 159"/>
          <p:cNvCxnSpPr/>
          <p:nvPr/>
        </p:nvCxnSpPr>
        <p:spPr>
          <a:xfrm>
            <a:off x="2587752" y="7068312"/>
            <a:ext cx="804672" cy="0"/>
          </a:xfrm>
          <a:prstGeom prst="line">
            <a:avLst/>
          </a:prstGeom>
          <a:ln w="15240">
            <a:solidFill>
              <a:srgbClr val="F8750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Freeform 160"/>
          <p:cNvSpPr/>
          <p:nvPr/>
        </p:nvSpPr>
        <p:spPr>
          <a:xfrm>
            <a:off x="3300984" y="7022592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F87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2" name="Connector 161"/>
          <p:cNvCxnSpPr/>
          <p:nvPr/>
        </p:nvCxnSpPr>
        <p:spPr>
          <a:xfrm>
            <a:off x="2532888" y="7434072"/>
            <a:ext cx="320040" cy="0"/>
          </a:xfrm>
          <a:prstGeom prst="line">
            <a:avLst/>
          </a:prstGeom>
          <a:ln w="15240">
            <a:solidFill>
              <a:srgbClr val="F8750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Freeform 162"/>
          <p:cNvSpPr/>
          <p:nvPr/>
        </p:nvSpPr>
        <p:spPr>
          <a:xfrm>
            <a:off x="2761488" y="7388352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F87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76" name="Starch granule — editable vector group"/>
          <p:cNvGrpSpPr/>
          <p:nvPr/>
        </p:nvGrpSpPr>
        <p:grpSpPr>
          <a:xfrm>
            <a:off x="1380744" y="6135624"/>
            <a:ext cx="1216152" cy="1225296"/>
            <a:chOff x="1380744" y="6135624"/>
            <a:chExt cx="1216152" cy="1225296"/>
          </a:xfrm>
        </p:grpSpPr>
        <p:sp>
          <p:nvSpPr>
            <p:cNvPr id="164" name="Editable starch granule"/>
            <p:cNvSpPr/>
            <p:nvPr/>
          </p:nvSpPr>
          <p:spPr>
            <a:xfrm>
              <a:off x="1380744" y="6135624"/>
              <a:ext cx="1216152" cy="1225296"/>
            </a:xfrm>
            <a:prstGeom prst="ellipse">
              <a:avLst/>
            </a:prstGeom>
            <a:ln w="15201" cap="rnd">
              <a:solidFill>
                <a:srgbClr val="002D65"/>
              </a:solidFill>
              <a:round/>
            </a:ln>
            <a:gradFill>
              <a:gsLst>
                <a:gs pos="0">
                  <a:srgbClr val="F7FCFF"/>
                </a:gs>
                <a:gs pos="100000">
                  <a:srgbClr val="A9D6F8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Freeform 164"/>
            <p:cNvSpPr/>
            <p:nvPr/>
          </p:nvSpPr>
          <p:spPr>
            <a:xfrm>
              <a:off x="1591056" y="6272784"/>
              <a:ext cx="338328" cy="411480"/>
            </a:xfrm>
            <a:custGeom>
              <a:avLst/>
              <a:gdLst/>
              <a:ahLst/>
              <a:cxnLst/>
              <a:rect l="l" t="t" r="r" b="b"/>
              <a:pathLst>
                <a:path w="37" h="45">
                  <a:moveTo>
                    <a:pt x="37" y="45"/>
                  </a:moveTo>
                  <a:lnTo>
                    <a:pt x="36" y="44"/>
                  </a:lnTo>
                  <a:lnTo>
                    <a:pt x="35" y="43"/>
                  </a:lnTo>
                  <a:lnTo>
                    <a:pt x="34" y="41"/>
                  </a:lnTo>
                  <a:lnTo>
                    <a:pt x="32" y="40"/>
                  </a:lnTo>
                  <a:lnTo>
                    <a:pt x="31" y="38"/>
                  </a:lnTo>
                  <a:lnTo>
                    <a:pt x="29" y="36"/>
                  </a:lnTo>
                  <a:lnTo>
                    <a:pt x="28" y="35"/>
                  </a:lnTo>
                  <a:lnTo>
                    <a:pt x="26" y="33"/>
                  </a:lnTo>
                  <a:lnTo>
                    <a:pt x="25" y="32"/>
                  </a:lnTo>
                  <a:lnTo>
                    <a:pt x="24" y="31"/>
                  </a:lnTo>
                  <a:lnTo>
                    <a:pt x="23" y="31"/>
                  </a:lnTo>
                  <a:lnTo>
                    <a:pt x="22" y="30"/>
                  </a:lnTo>
                  <a:lnTo>
                    <a:pt x="21" y="30"/>
                  </a:lnTo>
                  <a:lnTo>
                    <a:pt x="20" y="30"/>
                  </a:lnTo>
                  <a:lnTo>
                    <a:pt x="19" y="30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7" y="28"/>
                  </a:lnTo>
                  <a:lnTo>
                    <a:pt x="16" y="26"/>
                  </a:lnTo>
                  <a:lnTo>
                    <a:pt x="16" y="25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4" y="18"/>
                  </a:lnTo>
                  <a:lnTo>
                    <a:pt x="14" y="16"/>
                  </a:lnTo>
                  <a:lnTo>
                    <a:pt x="13" y="14"/>
                  </a:lnTo>
                  <a:lnTo>
                    <a:pt x="12" y="12"/>
                  </a:lnTo>
                  <a:lnTo>
                    <a:pt x="12" y="10"/>
                  </a:lnTo>
                  <a:lnTo>
                    <a:pt x="10" y="9"/>
                  </a:lnTo>
                  <a:lnTo>
                    <a:pt x="9" y="7"/>
                  </a:lnTo>
                  <a:lnTo>
                    <a:pt x="8" y="6"/>
                  </a:lnTo>
                  <a:lnTo>
                    <a:pt x="6" y="5"/>
                  </a:lnTo>
                  <a:lnTo>
                    <a:pt x="4" y="3"/>
                  </a:lnTo>
                  <a:lnTo>
                    <a:pt x="3" y="2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11823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Freeform 165"/>
            <p:cNvSpPr/>
            <p:nvPr/>
          </p:nvSpPr>
          <p:spPr>
            <a:xfrm>
              <a:off x="1938528" y="6208776"/>
              <a:ext cx="146304" cy="457200"/>
            </a:xfrm>
            <a:custGeom>
              <a:avLst/>
              <a:gdLst/>
              <a:ahLst/>
              <a:cxnLst/>
              <a:rect l="l" t="t" r="r" b="b"/>
              <a:pathLst>
                <a:path w="16" h="50">
                  <a:moveTo>
                    <a:pt x="0" y="50"/>
                  </a:moveTo>
                  <a:lnTo>
                    <a:pt x="1" y="49"/>
                  </a:lnTo>
                  <a:lnTo>
                    <a:pt x="2" y="48"/>
                  </a:lnTo>
                  <a:lnTo>
                    <a:pt x="3" y="46"/>
                  </a:lnTo>
                  <a:lnTo>
                    <a:pt x="4" y="45"/>
                  </a:lnTo>
                  <a:lnTo>
                    <a:pt x="5" y="43"/>
                  </a:lnTo>
                  <a:lnTo>
                    <a:pt x="6" y="41"/>
                  </a:lnTo>
                  <a:lnTo>
                    <a:pt x="7" y="40"/>
                  </a:lnTo>
                  <a:lnTo>
                    <a:pt x="9" y="38"/>
                  </a:lnTo>
                  <a:lnTo>
                    <a:pt x="9" y="36"/>
                  </a:lnTo>
                  <a:lnTo>
                    <a:pt x="10" y="34"/>
                  </a:lnTo>
                  <a:lnTo>
                    <a:pt x="11" y="33"/>
                  </a:lnTo>
                  <a:lnTo>
                    <a:pt x="12" y="31"/>
                  </a:lnTo>
                  <a:lnTo>
                    <a:pt x="13" y="29"/>
                  </a:lnTo>
                  <a:lnTo>
                    <a:pt x="14" y="27"/>
                  </a:lnTo>
                  <a:lnTo>
                    <a:pt x="15" y="25"/>
                  </a:lnTo>
                  <a:lnTo>
                    <a:pt x="15" y="23"/>
                  </a:lnTo>
                  <a:lnTo>
                    <a:pt x="16" y="21"/>
                  </a:lnTo>
                  <a:lnTo>
                    <a:pt x="16" y="19"/>
                  </a:lnTo>
                  <a:lnTo>
                    <a:pt x="16" y="17"/>
                  </a:lnTo>
                  <a:lnTo>
                    <a:pt x="16" y="14"/>
                  </a:lnTo>
                  <a:lnTo>
                    <a:pt x="16" y="12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5" y="1"/>
                  </a:lnTo>
                  <a:lnTo>
                    <a:pt x="15" y="0"/>
                  </a:lnTo>
                </a:path>
              </a:pathLst>
            </a:custGeom>
            <a:noFill/>
            <a:ln w="11823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Freeform 166"/>
            <p:cNvSpPr/>
            <p:nvPr/>
          </p:nvSpPr>
          <p:spPr>
            <a:xfrm>
              <a:off x="1938528" y="6464808"/>
              <a:ext cx="585216" cy="256032"/>
            </a:xfrm>
            <a:custGeom>
              <a:avLst/>
              <a:gdLst/>
              <a:ahLst/>
              <a:cxnLst/>
              <a:rect l="l" t="t" r="r" b="b"/>
              <a:pathLst>
                <a:path w="64" h="28">
                  <a:moveTo>
                    <a:pt x="0" y="28"/>
                  </a:moveTo>
                  <a:lnTo>
                    <a:pt x="2" y="28"/>
                  </a:lnTo>
                  <a:lnTo>
                    <a:pt x="4" y="27"/>
                  </a:lnTo>
                  <a:lnTo>
                    <a:pt x="6" y="26"/>
                  </a:lnTo>
                  <a:lnTo>
                    <a:pt x="9" y="24"/>
                  </a:lnTo>
                  <a:lnTo>
                    <a:pt x="12" y="23"/>
                  </a:lnTo>
                  <a:lnTo>
                    <a:pt x="15" y="22"/>
                  </a:lnTo>
                  <a:lnTo>
                    <a:pt x="18" y="21"/>
                  </a:lnTo>
                  <a:lnTo>
                    <a:pt x="20" y="20"/>
                  </a:lnTo>
                  <a:lnTo>
                    <a:pt x="23" y="19"/>
                  </a:lnTo>
                  <a:lnTo>
                    <a:pt x="25" y="19"/>
                  </a:lnTo>
                  <a:lnTo>
                    <a:pt x="27" y="19"/>
                  </a:lnTo>
                  <a:lnTo>
                    <a:pt x="29" y="19"/>
                  </a:lnTo>
                  <a:lnTo>
                    <a:pt x="31" y="19"/>
                  </a:lnTo>
                  <a:lnTo>
                    <a:pt x="33" y="19"/>
                  </a:lnTo>
                  <a:lnTo>
                    <a:pt x="35" y="19"/>
                  </a:lnTo>
                  <a:lnTo>
                    <a:pt x="36" y="19"/>
                  </a:lnTo>
                  <a:lnTo>
                    <a:pt x="38" y="19"/>
                  </a:lnTo>
                  <a:lnTo>
                    <a:pt x="40" y="19"/>
                  </a:lnTo>
                  <a:lnTo>
                    <a:pt x="42" y="18"/>
                  </a:lnTo>
                  <a:lnTo>
                    <a:pt x="44" y="17"/>
                  </a:lnTo>
                  <a:lnTo>
                    <a:pt x="46" y="16"/>
                  </a:lnTo>
                  <a:lnTo>
                    <a:pt x="48" y="15"/>
                  </a:lnTo>
                  <a:lnTo>
                    <a:pt x="50" y="13"/>
                  </a:lnTo>
                  <a:lnTo>
                    <a:pt x="51" y="12"/>
                  </a:lnTo>
                  <a:lnTo>
                    <a:pt x="53" y="11"/>
                  </a:lnTo>
                  <a:lnTo>
                    <a:pt x="55" y="9"/>
                  </a:lnTo>
                  <a:lnTo>
                    <a:pt x="56" y="8"/>
                  </a:lnTo>
                  <a:lnTo>
                    <a:pt x="57" y="7"/>
                  </a:lnTo>
                  <a:lnTo>
                    <a:pt x="59" y="6"/>
                  </a:lnTo>
                  <a:lnTo>
                    <a:pt x="60" y="5"/>
                  </a:lnTo>
                  <a:lnTo>
                    <a:pt x="61" y="4"/>
                  </a:lnTo>
                  <a:lnTo>
                    <a:pt x="61" y="3"/>
                  </a:lnTo>
                  <a:lnTo>
                    <a:pt x="62" y="2"/>
                  </a:lnTo>
                  <a:lnTo>
                    <a:pt x="63" y="1"/>
                  </a:lnTo>
                  <a:lnTo>
                    <a:pt x="64" y="1"/>
                  </a:lnTo>
                  <a:lnTo>
                    <a:pt x="64" y="0"/>
                  </a:lnTo>
                </a:path>
              </a:pathLst>
            </a:custGeom>
            <a:noFill/>
            <a:ln w="11823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Freeform 167"/>
            <p:cNvSpPr/>
            <p:nvPr/>
          </p:nvSpPr>
          <p:spPr>
            <a:xfrm>
              <a:off x="1965960" y="6757416"/>
              <a:ext cx="594360" cy="256032"/>
            </a:xfrm>
            <a:custGeom>
              <a:avLst/>
              <a:gdLst/>
              <a:ahLst/>
              <a:cxnLst/>
              <a:rect l="l" t="t" r="r" b="b"/>
              <a:pathLst>
                <a:path w="65" h="28">
                  <a:moveTo>
                    <a:pt x="0" y="0"/>
                  </a:moveTo>
                  <a:lnTo>
                    <a:pt x="1" y="1"/>
                  </a:lnTo>
                  <a:lnTo>
                    <a:pt x="3" y="3"/>
                  </a:lnTo>
                  <a:lnTo>
                    <a:pt x="4" y="4"/>
                  </a:lnTo>
                  <a:lnTo>
                    <a:pt x="6" y="6"/>
                  </a:lnTo>
                  <a:lnTo>
                    <a:pt x="9" y="8"/>
                  </a:lnTo>
                  <a:lnTo>
                    <a:pt x="11" y="9"/>
                  </a:lnTo>
                  <a:lnTo>
                    <a:pt x="13" y="11"/>
                  </a:lnTo>
                  <a:lnTo>
                    <a:pt x="15" y="13"/>
                  </a:lnTo>
                  <a:lnTo>
                    <a:pt x="17" y="14"/>
                  </a:lnTo>
                  <a:lnTo>
                    <a:pt x="19" y="15"/>
                  </a:lnTo>
                  <a:lnTo>
                    <a:pt x="20" y="16"/>
                  </a:lnTo>
                  <a:lnTo>
                    <a:pt x="22" y="16"/>
                  </a:lnTo>
                  <a:lnTo>
                    <a:pt x="23" y="17"/>
                  </a:lnTo>
                  <a:lnTo>
                    <a:pt x="25" y="18"/>
                  </a:lnTo>
                  <a:lnTo>
                    <a:pt x="26" y="18"/>
                  </a:lnTo>
                  <a:lnTo>
                    <a:pt x="28" y="19"/>
                  </a:lnTo>
                  <a:lnTo>
                    <a:pt x="30" y="19"/>
                  </a:lnTo>
                  <a:lnTo>
                    <a:pt x="32" y="19"/>
                  </a:lnTo>
                  <a:lnTo>
                    <a:pt x="34" y="19"/>
                  </a:lnTo>
                  <a:lnTo>
                    <a:pt x="36" y="19"/>
                  </a:lnTo>
                  <a:lnTo>
                    <a:pt x="39" y="19"/>
                  </a:lnTo>
                  <a:lnTo>
                    <a:pt x="41" y="18"/>
                  </a:lnTo>
                  <a:lnTo>
                    <a:pt x="44" y="18"/>
                  </a:lnTo>
                  <a:lnTo>
                    <a:pt x="46" y="18"/>
                  </a:lnTo>
                  <a:lnTo>
                    <a:pt x="49" y="17"/>
                  </a:lnTo>
                  <a:lnTo>
                    <a:pt x="51" y="17"/>
                  </a:lnTo>
                  <a:lnTo>
                    <a:pt x="53" y="18"/>
                  </a:lnTo>
                  <a:lnTo>
                    <a:pt x="55" y="18"/>
                  </a:lnTo>
                  <a:lnTo>
                    <a:pt x="57" y="20"/>
                  </a:lnTo>
                  <a:lnTo>
                    <a:pt x="58" y="21"/>
                  </a:lnTo>
                  <a:lnTo>
                    <a:pt x="60" y="22"/>
                  </a:lnTo>
                  <a:lnTo>
                    <a:pt x="61" y="24"/>
                  </a:lnTo>
                  <a:lnTo>
                    <a:pt x="62" y="25"/>
                  </a:lnTo>
                  <a:lnTo>
                    <a:pt x="63" y="27"/>
                  </a:lnTo>
                  <a:lnTo>
                    <a:pt x="64" y="28"/>
                  </a:lnTo>
                  <a:lnTo>
                    <a:pt x="65" y="28"/>
                  </a:lnTo>
                </a:path>
              </a:pathLst>
            </a:custGeom>
            <a:noFill/>
            <a:ln w="11823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Freeform 168"/>
            <p:cNvSpPr/>
            <p:nvPr/>
          </p:nvSpPr>
          <p:spPr>
            <a:xfrm>
              <a:off x="1783080" y="6812280"/>
              <a:ext cx="155448" cy="484632"/>
            </a:xfrm>
            <a:custGeom>
              <a:avLst/>
              <a:gdLst/>
              <a:ahLst/>
              <a:cxnLst/>
              <a:rect l="l" t="t" r="r" b="b"/>
              <a:pathLst>
                <a:path w="17" h="53">
                  <a:moveTo>
                    <a:pt x="17" y="0"/>
                  </a:moveTo>
                  <a:lnTo>
                    <a:pt x="16" y="1"/>
                  </a:lnTo>
                  <a:lnTo>
                    <a:pt x="15" y="3"/>
                  </a:lnTo>
                  <a:lnTo>
                    <a:pt x="14" y="5"/>
                  </a:lnTo>
                  <a:lnTo>
                    <a:pt x="12" y="8"/>
                  </a:lnTo>
                  <a:lnTo>
                    <a:pt x="11" y="11"/>
                  </a:lnTo>
                  <a:lnTo>
                    <a:pt x="9" y="14"/>
                  </a:lnTo>
                  <a:lnTo>
                    <a:pt x="8" y="16"/>
                  </a:lnTo>
                  <a:lnTo>
                    <a:pt x="7" y="19"/>
                  </a:lnTo>
                  <a:lnTo>
                    <a:pt x="7" y="21"/>
                  </a:lnTo>
                  <a:lnTo>
                    <a:pt x="6" y="23"/>
                  </a:lnTo>
                  <a:lnTo>
                    <a:pt x="6" y="25"/>
                  </a:lnTo>
                  <a:lnTo>
                    <a:pt x="7" y="27"/>
                  </a:lnTo>
                  <a:lnTo>
                    <a:pt x="7" y="29"/>
                  </a:lnTo>
                  <a:lnTo>
                    <a:pt x="8" y="30"/>
                  </a:lnTo>
                  <a:lnTo>
                    <a:pt x="9" y="32"/>
                  </a:lnTo>
                  <a:lnTo>
                    <a:pt x="9" y="34"/>
                  </a:lnTo>
                  <a:lnTo>
                    <a:pt x="9" y="35"/>
                  </a:lnTo>
                  <a:lnTo>
                    <a:pt x="9" y="37"/>
                  </a:lnTo>
                  <a:lnTo>
                    <a:pt x="9" y="39"/>
                  </a:lnTo>
                  <a:lnTo>
                    <a:pt x="8" y="41"/>
                  </a:lnTo>
                  <a:lnTo>
                    <a:pt x="7" y="43"/>
                  </a:lnTo>
                  <a:lnTo>
                    <a:pt x="5" y="45"/>
                  </a:lnTo>
                  <a:lnTo>
                    <a:pt x="4" y="47"/>
                  </a:lnTo>
                  <a:lnTo>
                    <a:pt x="3" y="49"/>
                  </a:lnTo>
                  <a:lnTo>
                    <a:pt x="2" y="51"/>
                  </a:lnTo>
                  <a:lnTo>
                    <a:pt x="1" y="52"/>
                  </a:lnTo>
                  <a:lnTo>
                    <a:pt x="0" y="53"/>
                  </a:lnTo>
                </a:path>
              </a:pathLst>
            </a:custGeom>
            <a:noFill/>
            <a:ln w="11823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Freeform 169"/>
            <p:cNvSpPr/>
            <p:nvPr/>
          </p:nvSpPr>
          <p:spPr>
            <a:xfrm>
              <a:off x="1444752" y="6757416"/>
              <a:ext cx="457200" cy="182880"/>
            </a:xfrm>
            <a:custGeom>
              <a:avLst/>
              <a:gdLst/>
              <a:ahLst/>
              <a:cxnLst/>
              <a:rect l="l" t="t" r="r" b="b"/>
              <a:pathLst>
                <a:path w="50" h="20">
                  <a:moveTo>
                    <a:pt x="50" y="0"/>
                  </a:moveTo>
                  <a:lnTo>
                    <a:pt x="49" y="1"/>
                  </a:lnTo>
                  <a:lnTo>
                    <a:pt x="47" y="1"/>
                  </a:lnTo>
                  <a:lnTo>
                    <a:pt x="46" y="2"/>
                  </a:lnTo>
                  <a:lnTo>
                    <a:pt x="44" y="3"/>
                  </a:lnTo>
                  <a:lnTo>
                    <a:pt x="41" y="3"/>
                  </a:lnTo>
                  <a:lnTo>
                    <a:pt x="39" y="4"/>
                  </a:lnTo>
                  <a:lnTo>
                    <a:pt x="37" y="5"/>
                  </a:lnTo>
                  <a:lnTo>
                    <a:pt x="35" y="6"/>
                  </a:lnTo>
                  <a:lnTo>
                    <a:pt x="33" y="7"/>
                  </a:lnTo>
                  <a:lnTo>
                    <a:pt x="31" y="8"/>
                  </a:lnTo>
                  <a:lnTo>
                    <a:pt x="30" y="10"/>
                  </a:lnTo>
                  <a:lnTo>
                    <a:pt x="28" y="11"/>
                  </a:lnTo>
                  <a:lnTo>
                    <a:pt x="26" y="13"/>
                  </a:lnTo>
                  <a:lnTo>
                    <a:pt x="25" y="14"/>
                  </a:lnTo>
                  <a:lnTo>
                    <a:pt x="23" y="16"/>
                  </a:lnTo>
                  <a:lnTo>
                    <a:pt x="22" y="17"/>
                  </a:lnTo>
                  <a:lnTo>
                    <a:pt x="20" y="18"/>
                  </a:lnTo>
                  <a:lnTo>
                    <a:pt x="18" y="19"/>
                  </a:lnTo>
                  <a:lnTo>
                    <a:pt x="16" y="20"/>
                  </a:lnTo>
                  <a:lnTo>
                    <a:pt x="14" y="20"/>
                  </a:lnTo>
                  <a:lnTo>
                    <a:pt x="12" y="20"/>
                  </a:lnTo>
                  <a:lnTo>
                    <a:pt x="9" y="19"/>
                  </a:lnTo>
                  <a:lnTo>
                    <a:pt x="7" y="19"/>
                  </a:lnTo>
                  <a:lnTo>
                    <a:pt x="5" y="19"/>
                  </a:lnTo>
                  <a:lnTo>
                    <a:pt x="3" y="18"/>
                  </a:lnTo>
                  <a:lnTo>
                    <a:pt x="1" y="18"/>
                  </a:lnTo>
                  <a:lnTo>
                    <a:pt x="0" y="18"/>
                  </a:lnTo>
                </a:path>
              </a:pathLst>
            </a:custGeom>
            <a:noFill/>
            <a:ln w="11823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Freeform 170"/>
            <p:cNvSpPr/>
            <p:nvPr/>
          </p:nvSpPr>
          <p:spPr>
            <a:xfrm>
              <a:off x="1554480" y="6922008"/>
              <a:ext cx="91440" cy="265176"/>
            </a:xfrm>
            <a:custGeom>
              <a:avLst/>
              <a:gdLst/>
              <a:ahLst/>
              <a:cxnLst/>
              <a:rect l="l" t="t" r="r" b="b"/>
              <a:pathLst>
                <a:path w="10" h="29">
                  <a:moveTo>
                    <a:pt x="9" y="0"/>
                  </a:moveTo>
                  <a:lnTo>
                    <a:pt x="9" y="1"/>
                  </a:lnTo>
                  <a:lnTo>
                    <a:pt x="9" y="3"/>
                  </a:lnTo>
                  <a:lnTo>
                    <a:pt x="9" y="5"/>
                  </a:lnTo>
                  <a:lnTo>
                    <a:pt x="9" y="7"/>
                  </a:lnTo>
                  <a:lnTo>
                    <a:pt x="10" y="10"/>
                  </a:lnTo>
                  <a:lnTo>
                    <a:pt x="10" y="12"/>
                  </a:lnTo>
                  <a:lnTo>
                    <a:pt x="10" y="15"/>
                  </a:lnTo>
                  <a:lnTo>
                    <a:pt x="9" y="17"/>
                  </a:lnTo>
                  <a:lnTo>
                    <a:pt x="9" y="19"/>
                  </a:lnTo>
                  <a:lnTo>
                    <a:pt x="8" y="20"/>
                  </a:lnTo>
                  <a:lnTo>
                    <a:pt x="7" y="22"/>
                  </a:lnTo>
                  <a:lnTo>
                    <a:pt x="6" y="23"/>
                  </a:lnTo>
                  <a:lnTo>
                    <a:pt x="5" y="24"/>
                  </a:lnTo>
                  <a:lnTo>
                    <a:pt x="4" y="26"/>
                  </a:lnTo>
                  <a:lnTo>
                    <a:pt x="2" y="27"/>
                  </a:lnTo>
                  <a:lnTo>
                    <a:pt x="1" y="28"/>
                  </a:lnTo>
                  <a:lnTo>
                    <a:pt x="0" y="29"/>
                  </a:lnTo>
                  <a:lnTo>
                    <a:pt x="0" y="29"/>
                  </a:lnTo>
                </a:path>
              </a:pathLst>
            </a:custGeom>
            <a:noFill/>
            <a:ln w="11823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Freeform 171"/>
            <p:cNvSpPr/>
            <p:nvPr/>
          </p:nvSpPr>
          <p:spPr>
            <a:xfrm>
              <a:off x="2167128" y="6327648"/>
              <a:ext cx="128016" cy="310896"/>
            </a:xfrm>
            <a:custGeom>
              <a:avLst/>
              <a:gdLst/>
              <a:ahLst/>
              <a:cxnLst/>
              <a:rect l="l" t="t" r="r" b="b"/>
              <a:pathLst>
                <a:path w="14" h="34">
                  <a:moveTo>
                    <a:pt x="0" y="34"/>
                  </a:moveTo>
                  <a:lnTo>
                    <a:pt x="0" y="33"/>
                  </a:lnTo>
                  <a:lnTo>
                    <a:pt x="0" y="31"/>
                  </a:lnTo>
                  <a:lnTo>
                    <a:pt x="0" y="29"/>
                  </a:lnTo>
                  <a:lnTo>
                    <a:pt x="0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1" y="21"/>
                  </a:lnTo>
                  <a:lnTo>
                    <a:pt x="1" y="18"/>
                  </a:lnTo>
                  <a:lnTo>
                    <a:pt x="2" y="17"/>
                  </a:lnTo>
                  <a:lnTo>
                    <a:pt x="3" y="15"/>
                  </a:lnTo>
                  <a:lnTo>
                    <a:pt x="4" y="13"/>
                  </a:lnTo>
                  <a:lnTo>
                    <a:pt x="5" y="10"/>
                  </a:lnTo>
                  <a:lnTo>
                    <a:pt x="7" y="8"/>
                  </a:lnTo>
                  <a:lnTo>
                    <a:pt x="9" y="6"/>
                  </a:lnTo>
                  <a:lnTo>
                    <a:pt x="10" y="5"/>
                  </a:lnTo>
                  <a:lnTo>
                    <a:pt x="12" y="3"/>
                  </a:lnTo>
                  <a:lnTo>
                    <a:pt x="13" y="2"/>
                  </a:lnTo>
                  <a:lnTo>
                    <a:pt x="14" y="0"/>
                  </a:lnTo>
                </a:path>
              </a:pathLst>
            </a:custGeom>
            <a:noFill/>
            <a:ln w="11823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Freeform 172"/>
            <p:cNvSpPr/>
            <p:nvPr/>
          </p:nvSpPr>
          <p:spPr>
            <a:xfrm>
              <a:off x="2221992" y="6931152"/>
              <a:ext cx="82296" cy="320040"/>
            </a:xfrm>
            <a:custGeom>
              <a:avLst/>
              <a:gdLst/>
              <a:ahLst/>
              <a:cxnLst/>
              <a:rect l="l" t="t" r="r" b="b"/>
              <a:pathLst>
                <a:path w="9" h="35">
                  <a:moveTo>
                    <a:pt x="4" y="0"/>
                  </a:moveTo>
                  <a:lnTo>
                    <a:pt x="3" y="1"/>
                  </a:lnTo>
                  <a:lnTo>
                    <a:pt x="3" y="3"/>
                  </a:lnTo>
                  <a:lnTo>
                    <a:pt x="2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1" y="22"/>
                  </a:lnTo>
                  <a:lnTo>
                    <a:pt x="2" y="24"/>
                  </a:lnTo>
                  <a:lnTo>
                    <a:pt x="4" y="26"/>
                  </a:lnTo>
                  <a:lnTo>
                    <a:pt x="5" y="28"/>
                  </a:lnTo>
                  <a:lnTo>
                    <a:pt x="6" y="30"/>
                  </a:lnTo>
                  <a:lnTo>
                    <a:pt x="7" y="32"/>
                  </a:lnTo>
                  <a:lnTo>
                    <a:pt x="8" y="34"/>
                  </a:lnTo>
                  <a:lnTo>
                    <a:pt x="9" y="35"/>
                  </a:lnTo>
                </a:path>
              </a:pathLst>
            </a:custGeom>
            <a:noFill/>
            <a:ln w="11823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Freeform 173"/>
            <p:cNvSpPr/>
            <p:nvPr/>
          </p:nvSpPr>
          <p:spPr>
            <a:xfrm>
              <a:off x="1463040" y="6464808"/>
              <a:ext cx="283464" cy="91440"/>
            </a:xfrm>
            <a:custGeom>
              <a:avLst/>
              <a:gdLst/>
              <a:ahLst/>
              <a:cxnLst/>
              <a:rect l="l" t="t" r="r" b="b"/>
              <a:pathLst>
                <a:path w="31" h="10">
                  <a:moveTo>
                    <a:pt x="31" y="7"/>
                  </a:moveTo>
                  <a:lnTo>
                    <a:pt x="30" y="7"/>
                  </a:lnTo>
                  <a:lnTo>
                    <a:pt x="29" y="8"/>
                  </a:lnTo>
                  <a:lnTo>
                    <a:pt x="27" y="8"/>
                  </a:lnTo>
                  <a:lnTo>
                    <a:pt x="25" y="9"/>
                  </a:lnTo>
                  <a:lnTo>
                    <a:pt x="24" y="9"/>
                  </a:lnTo>
                  <a:lnTo>
                    <a:pt x="22" y="9"/>
                  </a:lnTo>
                  <a:lnTo>
                    <a:pt x="20" y="10"/>
                  </a:lnTo>
                  <a:lnTo>
                    <a:pt x="18" y="10"/>
                  </a:lnTo>
                  <a:lnTo>
                    <a:pt x="16" y="10"/>
                  </a:lnTo>
                  <a:lnTo>
                    <a:pt x="14" y="9"/>
                  </a:lnTo>
                  <a:lnTo>
                    <a:pt x="13" y="8"/>
                  </a:lnTo>
                  <a:lnTo>
                    <a:pt x="10" y="7"/>
                  </a:lnTo>
                  <a:lnTo>
                    <a:pt x="8" y="6"/>
                  </a:lnTo>
                  <a:lnTo>
                    <a:pt x="6" y="4"/>
                  </a:lnTo>
                  <a:lnTo>
                    <a:pt x="4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noFill/>
            <a:ln w="11823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Oval 174"/>
            <p:cNvSpPr/>
            <p:nvPr/>
          </p:nvSpPr>
          <p:spPr>
            <a:xfrm>
              <a:off x="1380744" y="6135624"/>
              <a:ext cx="1216152" cy="1225296"/>
            </a:xfrm>
            <a:prstGeom prst="ellipse">
              <a:avLst/>
            </a:prstGeom>
            <a:noFill/>
            <a:ln w="15201" cap="rnd">
              <a:solidFill>
                <a:srgbClr val="002D65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7" name="Right Arrow 176"/>
          <p:cNvSpPr/>
          <p:nvPr/>
        </p:nvSpPr>
        <p:spPr>
          <a:xfrm>
            <a:off x="3877056" y="6291072"/>
            <a:ext cx="1444752" cy="384048"/>
          </a:xfrm>
          <a:prstGeom prst="rightArrow">
            <a:avLst/>
          </a:prstGeom>
          <a:ln>
            <a:noFill/>
          </a:ln>
          <a:gradFill>
            <a:gsLst>
              <a:gs pos="0">
                <a:srgbClr val="F8FBFF"/>
              </a:gs>
              <a:gs pos="100000">
                <a:srgbClr val="397FC4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Electric field"/>
          <p:cNvSpPr txBox="1"/>
          <p:nvPr/>
        </p:nvSpPr>
        <p:spPr>
          <a:xfrm>
            <a:off x="3931920" y="6044184"/>
            <a:ext cx="1362456" cy="265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10" b="1">
                <a:solidFill>
                  <a:srgbClr val="101010"/>
                </a:solidFill>
                <a:latin typeface="Times New Roman"/>
              </a:defRPr>
            </a:pPr>
            <a:r>
              <a:t>Electric field</a:t>
            </a:r>
          </a:p>
        </p:txBody>
      </p:sp>
      <p:sp>
        <p:nvSpPr>
          <p:cNvPr id="179" name="Disrupt starch structure"/>
          <p:cNvSpPr txBox="1"/>
          <p:nvPr/>
        </p:nvSpPr>
        <p:spPr>
          <a:xfrm>
            <a:off x="3913632" y="6675120"/>
            <a:ext cx="1399032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01010"/>
                </a:solidFill>
                <a:latin typeface="Times New Roman"/>
              </a:defRPr>
            </a:pPr>
            <a:r>
              <a:t>Disrupt starch</a:t>
            </a:r>
          </a:p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01010"/>
                </a:solidFill>
                <a:latin typeface="Times New Roman"/>
              </a:defRPr>
            </a:pPr>
            <a:r>
              <a:t>structure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5431536" y="5468112"/>
            <a:ext cx="1755648" cy="1755648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0160" cap="rnd">
            <a:solidFill>
              <a:srgbClr val="5087CA"/>
            </a:solidFill>
            <a:prstDash val="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7534656" y="5468112"/>
            <a:ext cx="1755648" cy="1755648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0160" cap="rnd">
            <a:solidFill>
              <a:srgbClr val="5087CA"/>
            </a:solidFill>
            <a:prstDash val="dash"/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2" name="Connector 181"/>
          <p:cNvCxnSpPr/>
          <p:nvPr/>
        </p:nvCxnSpPr>
        <p:spPr>
          <a:xfrm>
            <a:off x="5980176" y="5897880"/>
            <a:ext cx="0" cy="265176"/>
          </a:xfrm>
          <a:prstGeom prst="line">
            <a:avLst/>
          </a:prstGeom>
          <a:ln w="13970">
            <a:solidFill>
              <a:srgbClr val="E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6428232" y="5879592"/>
            <a:ext cx="0" cy="265176"/>
          </a:xfrm>
          <a:prstGeom prst="line">
            <a:avLst/>
          </a:prstGeom>
          <a:ln w="13970">
            <a:solidFill>
              <a:srgbClr val="E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5980176" y="6300216"/>
            <a:ext cx="0" cy="228600"/>
          </a:xfrm>
          <a:prstGeom prst="line">
            <a:avLst/>
          </a:prstGeom>
          <a:ln w="13970">
            <a:solidFill>
              <a:srgbClr val="E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6894576" y="6227064"/>
            <a:ext cx="0" cy="246888"/>
          </a:xfrm>
          <a:prstGeom prst="line">
            <a:avLst/>
          </a:prstGeom>
          <a:ln w="13970">
            <a:solidFill>
              <a:srgbClr val="E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6035040" y="6702552"/>
            <a:ext cx="0" cy="201168"/>
          </a:xfrm>
          <a:prstGeom prst="line">
            <a:avLst/>
          </a:prstGeom>
          <a:ln w="13970">
            <a:solidFill>
              <a:srgbClr val="E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6592824" y="6693408"/>
            <a:ext cx="0" cy="210312"/>
          </a:xfrm>
          <a:prstGeom prst="line">
            <a:avLst/>
          </a:prstGeom>
          <a:ln w="13970">
            <a:solidFill>
              <a:srgbClr val="E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Freeform 187"/>
          <p:cNvSpPr/>
          <p:nvPr/>
        </p:nvSpPr>
        <p:spPr>
          <a:xfrm>
            <a:off x="5577840" y="5788152"/>
            <a:ext cx="1481328" cy="91440"/>
          </a:xfrm>
          <a:custGeom>
            <a:avLst/>
            <a:gdLst/>
            <a:ahLst/>
            <a:cxnLst/>
            <a:rect l="l" t="t" r="r" b="b"/>
            <a:pathLst>
              <a:path w="162" h="10">
                <a:moveTo>
                  <a:pt x="0" y="5"/>
                </a:moveTo>
                <a:lnTo>
                  <a:pt x="1" y="5"/>
                </a:lnTo>
                <a:lnTo>
                  <a:pt x="1" y="4"/>
                </a:lnTo>
                <a:lnTo>
                  <a:pt x="2" y="4"/>
                </a:lnTo>
                <a:lnTo>
                  <a:pt x="3" y="3"/>
                </a:lnTo>
                <a:lnTo>
                  <a:pt x="4" y="3"/>
                </a:lnTo>
                <a:lnTo>
                  <a:pt x="5" y="2"/>
                </a:lnTo>
                <a:lnTo>
                  <a:pt x="6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1" y="1"/>
                </a:lnTo>
                <a:lnTo>
                  <a:pt x="12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6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20" y="1"/>
                </a:lnTo>
                <a:lnTo>
                  <a:pt x="21" y="1"/>
                </a:lnTo>
                <a:lnTo>
                  <a:pt x="22" y="1"/>
                </a:lnTo>
                <a:lnTo>
                  <a:pt x="22" y="2"/>
                </a:lnTo>
                <a:lnTo>
                  <a:pt x="23" y="2"/>
                </a:lnTo>
                <a:lnTo>
                  <a:pt x="24" y="2"/>
                </a:lnTo>
                <a:lnTo>
                  <a:pt x="25" y="3"/>
                </a:lnTo>
                <a:lnTo>
                  <a:pt x="26" y="3"/>
                </a:lnTo>
                <a:lnTo>
                  <a:pt x="27" y="3"/>
                </a:lnTo>
                <a:lnTo>
                  <a:pt x="28" y="4"/>
                </a:lnTo>
                <a:lnTo>
                  <a:pt x="29" y="4"/>
                </a:lnTo>
                <a:lnTo>
                  <a:pt x="30" y="5"/>
                </a:lnTo>
                <a:lnTo>
                  <a:pt x="31" y="5"/>
                </a:lnTo>
                <a:lnTo>
                  <a:pt x="31" y="6"/>
                </a:lnTo>
                <a:lnTo>
                  <a:pt x="32" y="6"/>
                </a:lnTo>
                <a:lnTo>
                  <a:pt x="33" y="7"/>
                </a:lnTo>
                <a:lnTo>
                  <a:pt x="34" y="7"/>
                </a:lnTo>
                <a:lnTo>
                  <a:pt x="35" y="8"/>
                </a:lnTo>
                <a:lnTo>
                  <a:pt x="36" y="8"/>
                </a:lnTo>
                <a:lnTo>
                  <a:pt x="37" y="8"/>
                </a:lnTo>
                <a:lnTo>
                  <a:pt x="38" y="9"/>
                </a:lnTo>
                <a:lnTo>
                  <a:pt x="39" y="9"/>
                </a:lnTo>
                <a:lnTo>
                  <a:pt x="40" y="9"/>
                </a:lnTo>
                <a:lnTo>
                  <a:pt x="40" y="9"/>
                </a:lnTo>
                <a:lnTo>
                  <a:pt x="41" y="10"/>
                </a:lnTo>
                <a:lnTo>
                  <a:pt x="42" y="10"/>
                </a:lnTo>
                <a:lnTo>
                  <a:pt x="43" y="10"/>
                </a:lnTo>
                <a:lnTo>
                  <a:pt x="44" y="10"/>
                </a:lnTo>
                <a:lnTo>
                  <a:pt x="45" y="10"/>
                </a:lnTo>
                <a:lnTo>
                  <a:pt x="46" y="10"/>
                </a:lnTo>
                <a:lnTo>
                  <a:pt x="47" y="10"/>
                </a:lnTo>
                <a:lnTo>
                  <a:pt x="48" y="10"/>
                </a:lnTo>
                <a:lnTo>
                  <a:pt x="49" y="10"/>
                </a:lnTo>
                <a:lnTo>
                  <a:pt x="50" y="9"/>
                </a:lnTo>
                <a:lnTo>
                  <a:pt x="50" y="9"/>
                </a:lnTo>
                <a:lnTo>
                  <a:pt x="51" y="9"/>
                </a:lnTo>
                <a:lnTo>
                  <a:pt x="52" y="9"/>
                </a:lnTo>
                <a:lnTo>
                  <a:pt x="53" y="8"/>
                </a:lnTo>
                <a:lnTo>
                  <a:pt x="54" y="8"/>
                </a:lnTo>
                <a:lnTo>
                  <a:pt x="55" y="7"/>
                </a:lnTo>
                <a:lnTo>
                  <a:pt x="56" y="7"/>
                </a:lnTo>
                <a:lnTo>
                  <a:pt x="57" y="7"/>
                </a:lnTo>
                <a:lnTo>
                  <a:pt x="58" y="6"/>
                </a:lnTo>
                <a:lnTo>
                  <a:pt x="58" y="6"/>
                </a:lnTo>
                <a:lnTo>
                  <a:pt x="59" y="5"/>
                </a:lnTo>
                <a:lnTo>
                  <a:pt x="60" y="5"/>
                </a:lnTo>
                <a:lnTo>
                  <a:pt x="61" y="4"/>
                </a:lnTo>
                <a:lnTo>
                  <a:pt x="62" y="4"/>
                </a:lnTo>
                <a:lnTo>
                  <a:pt x="63" y="3"/>
                </a:lnTo>
                <a:lnTo>
                  <a:pt x="64" y="3"/>
                </a:lnTo>
                <a:lnTo>
                  <a:pt x="65" y="3"/>
                </a:lnTo>
                <a:lnTo>
                  <a:pt x="66" y="2"/>
                </a:lnTo>
                <a:lnTo>
                  <a:pt x="67" y="2"/>
                </a:lnTo>
                <a:lnTo>
                  <a:pt x="68" y="1"/>
                </a:lnTo>
                <a:lnTo>
                  <a:pt x="68" y="1"/>
                </a:lnTo>
                <a:lnTo>
                  <a:pt x="69" y="1"/>
                </a:lnTo>
                <a:lnTo>
                  <a:pt x="70" y="1"/>
                </a:lnTo>
                <a:lnTo>
                  <a:pt x="71" y="0"/>
                </a:lnTo>
                <a:lnTo>
                  <a:pt x="72" y="0"/>
                </a:lnTo>
                <a:lnTo>
                  <a:pt x="73" y="0"/>
                </a:lnTo>
                <a:lnTo>
                  <a:pt x="74" y="0"/>
                </a:lnTo>
                <a:lnTo>
                  <a:pt x="75" y="0"/>
                </a:lnTo>
                <a:lnTo>
                  <a:pt x="76" y="0"/>
                </a:lnTo>
                <a:lnTo>
                  <a:pt x="76" y="0"/>
                </a:lnTo>
                <a:lnTo>
                  <a:pt x="77" y="0"/>
                </a:lnTo>
                <a:lnTo>
                  <a:pt x="78" y="0"/>
                </a:lnTo>
                <a:lnTo>
                  <a:pt x="79" y="1"/>
                </a:lnTo>
                <a:lnTo>
                  <a:pt x="80" y="1"/>
                </a:lnTo>
                <a:lnTo>
                  <a:pt x="81" y="1"/>
                </a:lnTo>
                <a:lnTo>
                  <a:pt x="82" y="1"/>
                </a:lnTo>
                <a:lnTo>
                  <a:pt x="83" y="2"/>
                </a:lnTo>
                <a:lnTo>
                  <a:pt x="84" y="2"/>
                </a:lnTo>
                <a:lnTo>
                  <a:pt x="85" y="2"/>
                </a:lnTo>
                <a:lnTo>
                  <a:pt x="86" y="3"/>
                </a:lnTo>
                <a:lnTo>
                  <a:pt x="86" y="3"/>
                </a:lnTo>
                <a:lnTo>
                  <a:pt x="87" y="4"/>
                </a:lnTo>
                <a:lnTo>
                  <a:pt x="88" y="4"/>
                </a:lnTo>
                <a:lnTo>
                  <a:pt x="89" y="5"/>
                </a:lnTo>
                <a:lnTo>
                  <a:pt x="90" y="5"/>
                </a:lnTo>
                <a:lnTo>
                  <a:pt x="91" y="6"/>
                </a:lnTo>
                <a:lnTo>
                  <a:pt x="92" y="6"/>
                </a:lnTo>
                <a:lnTo>
                  <a:pt x="93" y="6"/>
                </a:lnTo>
                <a:lnTo>
                  <a:pt x="94" y="7"/>
                </a:lnTo>
                <a:lnTo>
                  <a:pt x="94" y="7"/>
                </a:lnTo>
                <a:lnTo>
                  <a:pt x="95" y="8"/>
                </a:lnTo>
                <a:lnTo>
                  <a:pt x="96" y="8"/>
                </a:lnTo>
                <a:lnTo>
                  <a:pt x="97" y="8"/>
                </a:lnTo>
                <a:lnTo>
                  <a:pt x="98" y="9"/>
                </a:lnTo>
                <a:lnTo>
                  <a:pt x="99" y="9"/>
                </a:lnTo>
                <a:lnTo>
                  <a:pt x="100" y="9"/>
                </a:lnTo>
                <a:lnTo>
                  <a:pt x="101" y="10"/>
                </a:lnTo>
                <a:lnTo>
                  <a:pt x="102" y="10"/>
                </a:lnTo>
                <a:lnTo>
                  <a:pt x="103" y="10"/>
                </a:lnTo>
                <a:lnTo>
                  <a:pt x="104" y="10"/>
                </a:lnTo>
                <a:lnTo>
                  <a:pt x="104" y="10"/>
                </a:lnTo>
                <a:lnTo>
                  <a:pt x="105" y="10"/>
                </a:lnTo>
                <a:lnTo>
                  <a:pt x="106" y="10"/>
                </a:lnTo>
                <a:lnTo>
                  <a:pt x="107" y="10"/>
                </a:lnTo>
                <a:lnTo>
                  <a:pt x="108" y="10"/>
                </a:lnTo>
                <a:lnTo>
                  <a:pt x="109" y="9"/>
                </a:lnTo>
                <a:lnTo>
                  <a:pt x="110" y="9"/>
                </a:lnTo>
                <a:lnTo>
                  <a:pt x="111" y="9"/>
                </a:lnTo>
                <a:lnTo>
                  <a:pt x="112" y="9"/>
                </a:lnTo>
                <a:lnTo>
                  <a:pt x="112" y="8"/>
                </a:lnTo>
                <a:lnTo>
                  <a:pt x="113" y="8"/>
                </a:lnTo>
                <a:lnTo>
                  <a:pt x="114" y="8"/>
                </a:lnTo>
                <a:lnTo>
                  <a:pt x="115" y="7"/>
                </a:lnTo>
                <a:lnTo>
                  <a:pt x="116" y="7"/>
                </a:lnTo>
                <a:lnTo>
                  <a:pt x="117" y="6"/>
                </a:lnTo>
                <a:lnTo>
                  <a:pt x="118" y="6"/>
                </a:lnTo>
                <a:lnTo>
                  <a:pt x="119" y="5"/>
                </a:lnTo>
                <a:lnTo>
                  <a:pt x="120" y="5"/>
                </a:lnTo>
                <a:lnTo>
                  <a:pt x="121" y="5"/>
                </a:lnTo>
                <a:lnTo>
                  <a:pt x="122" y="4"/>
                </a:lnTo>
                <a:lnTo>
                  <a:pt x="122" y="4"/>
                </a:lnTo>
                <a:lnTo>
                  <a:pt x="123" y="3"/>
                </a:lnTo>
                <a:lnTo>
                  <a:pt x="124" y="3"/>
                </a:lnTo>
                <a:lnTo>
                  <a:pt x="125" y="2"/>
                </a:lnTo>
                <a:lnTo>
                  <a:pt x="126" y="2"/>
                </a:lnTo>
                <a:lnTo>
                  <a:pt x="127" y="2"/>
                </a:lnTo>
                <a:lnTo>
                  <a:pt x="128" y="1"/>
                </a:lnTo>
                <a:lnTo>
                  <a:pt x="129" y="1"/>
                </a:lnTo>
                <a:lnTo>
                  <a:pt x="130" y="1"/>
                </a:lnTo>
                <a:lnTo>
                  <a:pt x="130" y="1"/>
                </a:lnTo>
                <a:lnTo>
                  <a:pt x="131" y="0"/>
                </a:lnTo>
                <a:lnTo>
                  <a:pt x="132" y="0"/>
                </a:lnTo>
                <a:lnTo>
                  <a:pt x="133" y="0"/>
                </a:lnTo>
                <a:lnTo>
                  <a:pt x="134" y="0"/>
                </a:lnTo>
                <a:lnTo>
                  <a:pt x="135" y="0"/>
                </a:lnTo>
                <a:lnTo>
                  <a:pt x="136" y="0"/>
                </a:lnTo>
                <a:lnTo>
                  <a:pt x="137" y="0"/>
                </a:lnTo>
                <a:lnTo>
                  <a:pt x="138" y="0"/>
                </a:lnTo>
                <a:lnTo>
                  <a:pt x="139" y="0"/>
                </a:lnTo>
                <a:lnTo>
                  <a:pt x="140" y="1"/>
                </a:lnTo>
                <a:lnTo>
                  <a:pt x="140" y="1"/>
                </a:lnTo>
                <a:lnTo>
                  <a:pt x="141" y="1"/>
                </a:lnTo>
                <a:lnTo>
                  <a:pt x="142" y="2"/>
                </a:lnTo>
                <a:lnTo>
                  <a:pt x="143" y="2"/>
                </a:lnTo>
                <a:lnTo>
                  <a:pt x="144" y="2"/>
                </a:lnTo>
                <a:lnTo>
                  <a:pt x="145" y="3"/>
                </a:lnTo>
                <a:lnTo>
                  <a:pt x="146" y="3"/>
                </a:lnTo>
                <a:lnTo>
                  <a:pt x="147" y="3"/>
                </a:lnTo>
                <a:lnTo>
                  <a:pt x="148" y="4"/>
                </a:lnTo>
                <a:lnTo>
                  <a:pt x="148" y="4"/>
                </a:lnTo>
                <a:lnTo>
                  <a:pt x="149" y="5"/>
                </a:lnTo>
                <a:lnTo>
                  <a:pt x="150" y="5"/>
                </a:lnTo>
                <a:lnTo>
                  <a:pt x="151" y="6"/>
                </a:lnTo>
                <a:lnTo>
                  <a:pt x="152" y="6"/>
                </a:lnTo>
                <a:lnTo>
                  <a:pt x="153" y="7"/>
                </a:lnTo>
                <a:lnTo>
                  <a:pt x="154" y="7"/>
                </a:lnTo>
                <a:lnTo>
                  <a:pt x="155" y="8"/>
                </a:lnTo>
                <a:lnTo>
                  <a:pt x="156" y="8"/>
                </a:lnTo>
                <a:lnTo>
                  <a:pt x="157" y="8"/>
                </a:lnTo>
                <a:lnTo>
                  <a:pt x="158" y="9"/>
                </a:lnTo>
                <a:lnTo>
                  <a:pt x="159" y="9"/>
                </a:lnTo>
                <a:lnTo>
                  <a:pt x="160" y="9"/>
                </a:lnTo>
                <a:lnTo>
                  <a:pt x="161" y="9"/>
                </a:lnTo>
                <a:lnTo>
                  <a:pt x="161" y="10"/>
                </a:lnTo>
                <a:lnTo>
                  <a:pt x="162" y="10"/>
                </a:lnTo>
              </a:path>
            </a:pathLst>
          </a:custGeom>
          <a:noFill/>
          <a:ln w="27940">
            <a:solidFill>
              <a:srgbClr val="2A6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5577840" y="6172200"/>
            <a:ext cx="1481328" cy="91440"/>
          </a:xfrm>
          <a:custGeom>
            <a:avLst/>
            <a:gdLst/>
            <a:ahLst/>
            <a:cxnLst/>
            <a:rect l="l" t="t" r="r" b="b"/>
            <a:pathLst>
              <a:path w="162" h="10">
                <a:moveTo>
                  <a:pt x="0" y="4"/>
                </a:moveTo>
                <a:lnTo>
                  <a:pt x="1" y="3"/>
                </a:lnTo>
                <a:lnTo>
                  <a:pt x="1" y="3"/>
                </a:lnTo>
                <a:lnTo>
                  <a:pt x="2" y="3"/>
                </a:lnTo>
                <a:lnTo>
                  <a:pt x="3" y="2"/>
                </a:lnTo>
                <a:lnTo>
                  <a:pt x="4" y="2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8" y="0"/>
                </a:lnTo>
                <a:lnTo>
                  <a:pt x="9" y="0"/>
                </a:lnTo>
                <a:lnTo>
                  <a:pt x="10" y="0"/>
                </a:lnTo>
                <a:lnTo>
                  <a:pt x="11" y="0"/>
                </a:lnTo>
                <a:lnTo>
                  <a:pt x="12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6" y="0"/>
                </a:lnTo>
                <a:lnTo>
                  <a:pt x="17" y="1"/>
                </a:lnTo>
                <a:lnTo>
                  <a:pt x="18" y="1"/>
                </a:lnTo>
                <a:lnTo>
                  <a:pt x="19" y="1"/>
                </a:lnTo>
                <a:lnTo>
                  <a:pt x="20" y="2"/>
                </a:lnTo>
                <a:lnTo>
                  <a:pt x="21" y="2"/>
                </a:lnTo>
                <a:lnTo>
                  <a:pt x="22" y="2"/>
                </a:lnTo>
                <a:lnTo>
                  <a:pt x="22" y="3"/>
                </a:lnTo>
                <a:lnTo>
                  <a:pt x="23" y="3"/>
                </a:lnTo>
                <a:lnTo>
                  <a:pt x="24" y="4"/>
                </a:lnTo>
                <a:lnTo>
                  <a:pt x="25" y="4"/>
                </a:lnTo>
                <a:lnTo>
                  <a:pt x="26" y="4"/>
                </a:lnTo>
                <a:lnTo>
                  <a:pt x="27" y="5"/>
                </a:lnTo>
                <a:lnTo>
                  <a:pt x="28" y="5"/>
                </a:lnTo>
                <a:lnTo>
                  <a:pt x="29" y="6"/>
                </a:lnTo>
                <a:lnTo>
                  <a:pt x="30" y="6"/>
                </a:lnTo>
                <a:lnTo>
                  <a:pt x="31" y="7"/>
                </a:lnTo>
                <a:lnTo>
                  <a:pt x="31" y="7"/>
                </a:lnTo>
                <a:lnTo>
                  <a:pt x="32" y="8"/>
                </a:lnTo>
                <a:lnTo>
                  <a:pt x="33" y="8"/>
                </a:lnTo>
                <a:lnTo>
                  <a:pt x="34" y="8"/>
                </a:lnTo>
                <a:lnTo>
                  <a:pt x="35" y="9"/>
                </a:lnTo>
                <a:lnTo>
                  <a:pt x="36" y="9"/>
                </a:lnTo>
                <a:lnTo>
                  <a:pt x="37" y="9"/>
                </a:lnTo>
                <a:lnTo>
                  <a:pt x="38" y="9"/>
                </a:lnTo>
                <a:lnTo>
                  <a:pt x="39" y="10"/>
                </a:lnTo>
                <a:lnTo>
                  <a:pt x="40" y="10"/>
                </a:lnTo>
                <a:lnTo>
                  <a:pt x="40" y="10"/>
                </a:lnTo>
                <a:lnTo>
                  <a:pt x="41" y="10"/>
                </a:lnTo>
                <a:lnTo>
                  <a:pt x="42" y="10"/>
                </a:lnTo>
                <a:lnTo>
                  <a:pt x="43" y="10"/>
                </a:lnTo>
                <a:lnTo>
                  <a:pt x="44" y="10"/>
                </a:lnTo>
                <a:lnTo>
                  <a:pt x="45" y="10"/>
                </a:lnTo>
                <a:lnTo>
                  <a:pt x="46" y="10"/>
                </a:lnTo>
                <a:lnTo>
                  <a:pt x="47" y="9"/>
                </a:lnTo>
                <a:lnTo>
                  <a:pt x="48" y="9"/>
                </a:lnTo>
                <a:lnTo>
                  <a:pt x="49" y="9"/>
                </a:lnTo>
                <a:lnTo>
                  <a:pt x="50" y="9"/>
                </a:lnTo>
                <a:lnTo>
                  <a:pt x="50" y="8"/>
                </a:lnTo>
                <a:lnTo>
                  <a:pt x="51" y="8"/>
                </a:lnTo>
                <a:lnTo>
                  <a:pt x="52" y="7"/>
                </a:lnTo>
                <a:lnTo>
                  <a:pt x="53" y="7"/>
                </a:lnTo>
                <a:lnTo>
                  <a:pt x="54" y="7"/>
                </a:lnTo>
                <a:lnTo>
                  <a:pt x="55" y="6"/>
                </a:lnTo>
                <a:lnTo>
                  <a:pt x="56" y="6"/>
                </a:lnTo>
                <a:lnTo>
                  <a:pt x="57" y="5"/>
                </a:lnTo>
                <a:lnTo>
                  <a:pt x="58" y="5"/>
                </a:lnTo>
                <a:lnTo>
                  <a:pt x="58" y="4"/>
                </a:lnTo>
                <a:lnTo>
                  <a:pt x="59" y="4"/>
                </a:lnTo>
                <a:lnTo>
                  <a:pt x="60" y="3"/>
                </a:lnTo>
                <a:lnTo>
                  <a:pt x="61" y="3"/>
                </a:lnTo>
                <a:lnTo>
                  <a:pt x="62" y="2"/>
                </a:lnTo>
                <a:lnTo>
                  <a:pt x="63" y="2"/>
                </a:lnTo>
                <a:lnTo>
                  <a:pt x="64" y="2"/>
                </a:lnTo>
                <a:lnTo>
                  <a:pt x="65" y="1"/>
                </a:lnTo>
                <a:lnTo>
                  <a:pt x="66" y="1"/>
                </a:lnTo>
                <a:lnTo>
                  <a:pt x="67" y="1"/>
                </a:lnTo>
                <a:lnTo>
                  <a:pt x="68" y="1"/>
                </a:lnTo>
                <a:lnTo>
                  <a:pt x="68" y="0"/>
                </a:lnTo>
                <a:lnTo>
                  <a:pt x="69" y="0"/>
                </a:lnTo>
                <a:lnTo>
                  <a:pt x="70" y="0"/>
                </a:lnTo>
                <a:lnTo>
                  <a:pt x="71" y="0"/>
                </a:lnTo>
                <a:lnTo>
                  <a:pt x="72" y="0"/>
                </a:lnTo>
                <a:lnTo>
                  <a:pt x="73" y="0"/>
                </a:lnTo>
                <a:lnTo>
                  <a:pt x="74" y="0"/>
                </a:lnTo>
                <a:lnTo>
                  <a:pt x="75" y="0"/>
                </a:lnTo>
                <a:lnTo>
                  <a:pt x="76" y="0"/>
                </a:lnTo>
                <a:lnTo>
                  <a:pt x="76" y="1"/>
                </a:lnTo>
                <a:lnTo>
                  <a:pt x="77" y="1"/>
                </a:lnTo>
                <a:lnTo>
                  <a:pt x="78" y="1"/>
                </a:lnTo>
                <a:lnTo>
                  <a:pt x="79" y="1"/>
                </a:lnTo>
                <a:lnTo>
                  <a:pt x="80" y="2"/>
                </a:lnTo>
                <a:lnTo>
                  <a:pt x="81" y="2"/>
                </a:lnTo>
                <a:lnTo>
                  <a:pt x="82" y="2"/>
                </a:lnTo>
                <a:lnTo>
                  <a:pt x="83" y="3"/>
                </a:lnTo>
                <a:lnTo>
                  <a:pt x="84" y="3"/>
                </a:lnTo>
                <a:lnTo>
                  <a:pt x="85" y="4"/>
                </a:lnTo>
                <a:lnTo>
                  <a:pt x="86" y="4"/>
                </a:lnTo>
                <a:lnTo>
                  <a:pt x="86" y="5"/>
                </a:lnTo>
                <a:lnTo>
                  <a:pt x="87" y="5"/>
                </a:lnTo>
                <a:lnTo>
                  <a:pt x="88" y="6"/>
                </a:lnTo>
                <a:lnTo>
                  <a:pt x="89" y="6"/>
                </a:lnTo>
                <a:lnTo>
                  <a:pt x="90" y="7"/>
                </a:lnTo>
                <a:lnTo>
                  <a:pt x="91" y="7"/>
                </a:lnTo>
                <a:lnTo>
                  <a:pt x="92" y="7"/>
                </a:lnTo>
                <a:lnTo>
                  <a:pt x="93" y="8"/>
                </a:lnTo>
                <a:lnTo>
                  <a:pt x="94" y="8"/>
                </a:lnTo>
                <a:lnTo>
                  <a:pt x="94" y="9"/>
                </a:lnTo>
                <a:lnTo>
                  <a:pt x="95" y="9"/>
                </a:lnTo>
                <a:lnTo>
                  <a:pt x="96" y="9"/>
                </a:lnTo>
                <a:lnTo>
                  <a:pt x="97" y="9"/>
                </a:lnTo>
                <a:lnTo>
                  <a:pt x="98" y="10"/>
                </a:lnTo>
                <a:lnTo>
                  <a:pt x="99" y="10"/>
                </a:lnTo>
                <a:lnTo>
                  <a:pt x="100" y="10"/>
                </a:lnTo>
                <a:lnTo>
                  <a:pt x="101" y="10"/>
                </a:lnTo>
                <a:lnTo>
                  <a:pt x="102" y="10"/>
                </a:lnTo>
                <a:lnTo>
                  <a:pt x="103" y="10"/>
                </a:lnTo>
                <a:lnTo>
                  <a:pt x="104" y="10"/>
                </a:lnTo>
                <a:lnTo>
                  <a:pt x="104" y="10"/>
                </a:lnTo>
                <a:lnTo>
                  <a:pt x="105" y="10"/>
                </a:lnTo>
                <a:lnTo>
                  <a:pt x="106" y="10"/>
                </a:lnTo>
                <a:lnTo>
                  <a:pt x="107" y="9"/>
                </a:lnTo>
                <a:lnTo>
                  <a:pt x="108" y="9"/>
                </a:lnTo>
                <a:lnTo>
                  <a:pt x="109" y="9"/>
                </a:lnTo>
                <a:lnTo>
                  <a:pt x="110" y="8"/>
                </a:lnTo>
                <a:lnTo>
                  <a:pt x="111" y="8"/>
                </a:lnTo>
                <a:lnTo>
                  <a:pt x="112" y="8"/>
                </a:lnTo>
                <a:lnTo>
                  <a:pt x="112" y="7"/>
                </a:lnTo>
                <a:lnTo>
                  <a:pt x="113" y="7"/>
                </a:lnTo>
                <a:lnTo>
                  <a:pt x="114" y="6"/>
                </a:lnTo>
                <a:lnTo>
                  <a:pt x="115" y="6"/>
                </a:lnTo>
                <a:lnTo>
                  <a:pt x="116" y="5"/>
                </a:lnTo>
                <a:lnTo>
                  <a:pt x="117" y="5"/>
                </a:lnTo>
                <a:lnTo>
                  <a:pt x="118" y="4"/>
                </a:lnTo>
                <a:lnTo>
                  <a:pt x="119" y="4"/>
                </a:lnTo>
                <a:lnTo>
                  <a:pt x="120" y="4"/>
                </a:lnTo>
                <a:lnTo>
                  <a:pt x="121" y="3"/>
                </a:lnTo>
                <a:lnTo>
                  <a:pt x="122" y="3"/>
                </a:lnTo>
                <a:lnTo>
                  <a:pt x="122" y="2"/>
                </a:lnTo>
                <a:lnTo>
                  <a:pt x="123" y="2"/>
                </a:lnTo>
                <a:lnTo>
                  <a:pt x="124" y="2"/>
                </a:lnTo>
                <a:lnTo>
                  <a:pt x="125" y="1"/>
                </a:lnTo>
                <a:lnTo>
                  <a:pt x="126" y="1"/>
                </a:lnTo>
                <a:lnTo>
                  <a:pt x="127" y="1"/>
                </a:lnTo>
                <a:lnTo>
                  <a:pt x="128" y="0"/>
                </a:lnTo>
                <a:lnTo>
                  <a:pt x="129" y="0"/>
                </a:lnTo>
                <a:lnTo>
                  <a:pt x="130" y="0"/>
                </a:lnTo>
                <a:lnTo>
                  <a:pt x="130" y="0"/>
                </a:lnTo>
                <a:lnTo>
                  <a:pt x="131" y="0"/>
                </a:lnTo>
                <a:lnTo>
                  <a:pt x="132" y="0"/>
                </a:lnTo>
                <a:lnTo>
                  <a:pt x="133" y="0"/>
                </a:lnTo>
                <a:lnTo>
                  <a:pt x="134" y="0"/>
                </a:lnTo>
                <a:lnTo>
                  <a:pt x="135" y="0"/>
                </a:lnTo>
                <a:lnTo>
                  <a:pt x="136" y="0"/>
                </a:lnTo>
                <a:lnTo>
                  <a:pt x="137" y="1"/>
                </a:lnTo>
                <a:lnTo>
                  <a:pt x="138" y="1"/>
                </a:lnTo>
                <a:lnTo>
                  <a:pt x="139" y="1"/>
                </a:lnTo>
                <a:lnTo>
                  <a:pt x="140" y="2"/>
                </a:lnTo>
                <a:lnTo>
                  <a:pt x="140" y="2"/>
                </a:lnTo>
                <a:lnTo>
                  <a:pt x="141" y="2"/>
                </a:lnTo>
                <a:lnTo>
                  <a:pt x="142" y="3"/>
                </a:lnTo>
                <a:lnTo>
                  <a:pt x="143" y="3"/>
                </a:lnTo>
                <a:lnTo>
                  <a:pt x="144" y="4"/>
                </a:lnTo>
                <a:lnTo>
                  <a:pt x="145" y="4"/>
                </a:lnTo>
                <a:lnTo>
                  <a:pt x="146" y="4"/>
                </a:lnTo>
                <a:lnTo>
                  <a:pt x="147" y="5"/>
                </a:lnTo>
                <a:lnTo>
                  <a:pt x="148" y="5"/>
                </a:lnTo>
                <a:lnTo>
                  <a:pt x="148" y="6"/>
                </a:lnTo>
                <a:lnTo>
                  <a:pt x="149" y="6"/>
                </a:lnTo>
                <a:lnTo>
                  <a:pt x="150" y="7"/>
                </a:lnTo>
                <a:lnTo>
                  <a:pt x="151" y="7"/>
                </a:lnTo>
                <a:lnTo>
                  <a:pt x="152" y="8"/>
                </a:lnTo>
                <a:lnTo>
                  <a:pt x="153" y="8"/>
                </a:lnTo>
                <a:lnTo>
                  <a:pt x="154" y="8"/>
                </a:lnTo>
                <a:lnTo>
                  <a:pt x="155" y="9"/>
                </a:lnTo>
                <a:lnTo>
                  <a:pt x="156" y="9"/>
                </a:lnTo>
                <a:lnTo>
                  <a:pt x="157" y="9"/>
                </a:lnTo>
                <a:lnTo>
                  <a:pt x="158" y="9"/>
                </a:lnTo>
                <a:lnTo>
                  <a:pt x="159" y="10"/>
                </a:lnTo>
                <a:lnTo>
                  <a:pt x="160" y="10"/>
                </a:lnTo>
                <a:lnTo>
                  <a:pt x="161" y="10"/>
                </a:lnTo>
                <a:lnTo>
                  <a:pt x="161" y="10"/>
                </a:lnTo>
                <a:lnTo>
                  <a:pt x="162" y="10"/>
                </a:lnTo>
              </a:path>
            </a:pathLst>
          </a:custGeom>
          <a:noFill/>
          <a:ln w="27940">
            <a:solidFill>
              <a:srgbClr val="2A6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5577840" y="6547104"/>
            <a:ext cx="1481328" cy="91440"/>
          </a:xfrm>
          <a:custGeom>
            <a:avLst/>
            <a:gdLst/>
            <a:ahLst/>
            <a:cxnLst/>
            <a:rect l="l" t="t" r="r" b="b"/>
            <a:pathLst>
              <a:path w="162" h="10">
                <a:moveTo>
                  <a:pt x="0" y="2"/>
                </a:moveTo>
                <a:lnTo>
                  <a:pt x="1" y="2"/>
                </a:lnTo>
                <a:lnTo>
                  <a:pt x="1" y="2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6" y="0"/>
                </a:lnTo>
                <a:lnTo>
                  <a:pt x="7" y="0"/>
                </a:lnTo>
                <a:lnTo>
                  <a:pt x="8" y="0"/>
                </a:lnTo>
                <a:lnTo>
                  <a:pt x="9" y="0"/>
                </a:lnTo>
                <a:lnTo>
                  <a:pt x="10" y="0"/>
                </a:lnTo>
                <a:lnTo>
                  <a:pt x="11" y="0"/>
                </a:lnTo>
                <a:lnTo>
                  <a:pt x="12" y="0"/>
                </a:lnTo>
                <a:lnTo>
                  <a:pt x="13" y="0"/>
                </a:lnTo>
                <a:lnTo>
                  <a:pt x="14" y="1"/>
                </a:lnTo>
                <a:lnTo>
                  <a:pt x="14" y="1"/>
                </a:lnTo>
                <a:lnTo>
                  <a:pt x="15" y="1"/>
                </a:lnTo>
                <a:lnTo>
                  <a:pt x="16" y="1"/>
                </a:lnTo>
                <a:lnTo>
                  <a:pt x="17" y="2"/>
                </a:lnTo>
                <a:lnTo>
                  <a:pt x="18" y="2"/>
                </a:lnTo>
                <a:lnTo>
                  <a:pt x="19" y="2"/>
                </a:lnTo>
                <a:lnTo>
                  <a:pt x="20" y="3"/>
                </a:lnTo>
                <a:lnTo>
                  <a:pt x="21" y="3"/>
                </a:lnTo>
                <a:lnTo>
                  <a:pt x="22" y="4"/>
                </a:lnTo>
                <a:lnTo>
                  <a:pt x="22" y="4"/>
                </a:lnTo>
                <a:lnTo>
                  <a:pt x="23" y="5"/>
                </a:lnTo>
                <a:lnTo>
                  <a:pt x="24" y="5"/>
                </a:lnTo>
                <a:lnTo>
                  <a:pt x="25" y="5"/>
                </a:lnTo>
                <a:lnTo>
                  <a:pt x="26" y="6"/>
                </a:lnTo>
                <a:lnTo>
                  <a:pt x="27" y="6"/>
                </a:lnTo>
                <a:lnTo>
                  <a:pt x="28" y="7"/>
                </a:lnTo>
                <a:lnTo>
                  <a:pt x="29" y="7"/>
                </a:lnTo>
                <a:lnTo>
                  <a:pt x="30" y="8"/>
                </a:lnTo>
                <a:lnTo>
                  <a:pt x="31" y="8"/>
                </a:lnTo>
                <a:lnTo>
                  <a:pt x="31" y="8"/>
                </a:lnTo>
                <a:lnTo>
                  <a:pt x="32" y="9"/>
                </a:lnTo>
                <a:lnTo>
                  <a:pt x="33" y="9"/>
                </a:lnTo>
                <a:lnTo>
                  <a:pt x="34" y="9"/>
                </a:lnTo>
                <a:lnTo>
                  <a:pt x="35" y="9"/>
                </a:lnTo>
                <a:lnTo>
                  <a:pt x="36" y="10"/>
                </a:lnTo>
                <a:lnTo>
                  <a:pt x="37" y="10"/>
                </a:lnTo>
                <a:lnTo>
                  <a:pt x="38" y="10"/>
                </a:lnTo>
                <a:lnTo>
                  <a:pt x="39" y="10"/>
                </a:lnTo>
                <a:lnTo>
                  <a:pt x="40" y="10"/>
                </a:lnTo>
                <a:lnTo>
                  <a:pt x="40" y="10"/>
                </a:lnTo>
                <a:lnTo>
                  <a:pt x="41" y="10"/>
                </a:lnTo>
                <a:lnTo>
                  <a:pt x="42" y="10"/>
                </a:lnTo>
                <a:lnTo>
                  <a:pt x="43" y="10"/>
                </a:lnTo>
                <a:lnTo>
                  <a:pt x="44" y="9"/>
                </a:lnTo>
                <a:lnTo>
                  <a:pt x="45" y="9"/>
                </a:lnTo>
                <a:lnTo>
                  <a:pt x="46" y="9"/>
                </a:lnTo>
                <a:lnTo>
                  <a:pt x="47" y="8"/>
                </a:lnTo>
                <a:lnTo>
                  <a:pt x="48" y="8"/>
                </a:lnTo>
                <a:lnTo>
                  <a:pt x="49" y="8"/>
                </a:lnTo>
                <a:lnTo>
                  <a:pt x="50" y="7"/>
                </a:lnTo>
                <a:lnTo>
                  <a:pt x="50" y="7"/>
                </a:lnTo>
                <a:lnTo>
                  <a:pt x="51" y="7"/>
                </a:lnTo>
                <a:lnTo>
                  <a:pt x="52" y="6"/>
                </a:lnTo>
                <a:lnTo>
                  <a:pt x="53" y="6"/>
                </a:lnTo>
                <a:lnTo>
                  <a:pt x="54" y="5"/>
                </a:lnTo>
                <a:lnTo>
                  <a:pt x="55" y="5"/>
                </a:lnTo>
                <a:lnTo>
                  <a:pt x="56" y="4"/>
                </a:lnTo>
                <a:lnTo>
                  <a:pt x="57" y="4"/>
                </a:lnTo>
                <a:lnTo>
                  <a:pt x="58" y="3"/>
                </a:lnTo>
                <a:lnTo>
                  <a:pt x="58" y="3"/>
                </a:lnTo>
                <a:lnTo>
                  <a:pt x="59" y="2"/>
                </a:lnTo>
                <a:lnTo>
                  <a:pt x="60" y="2"/>
                </a:lnTo>
                <a:lnTo>
                  <a:pt x="61" y="2"/>
                </a:lnTo>
                <a:lnTo>
                  <a:pt x="62" y="1"/>
                </a:lnTo>
                <a:lnTo>
                  <a:pt x="63" y="1"/>
                </a:lnTo>
                <a:lnTo>
                  <a:pt x="64" y="1"/>
                </a:lnTo>
                <a:lnTo>
                  <a:pt x="65" y="1"/>
                </a:lnTo>
                <a:lnTo>
                  <a:pt x="66" y="0"/>
                </a:lnTo>
                <a:lnTo>
                  <a:pt x="67" y="0"/>
                </a:lnTo>
                <a:lnTo>
                  <a:pt x="68" y="0"/>
                </a:lnTo>
                <a:lnTo>
                  <a:pt x="68" y="0"/>
                </a:lnTo>
                <a:lnTo>
                  <a:pt x="69" y="0"/>
                </a:lnTo>
                <a:lnTo>
                  <a:pt x="70" y="0"/>
                </a:lnTo>
                <a:lnTo>
                  <a:pt x="71" y="0"/>
                </a:lnTo>
                <a:lnTo>
                  <a:pt x="72" y="0"/>
                </a:lnTo>
                <a:lnTo>
                  <a:pt x="73" y="0"/>
                </a:lnTo>
                <a:lnTo>
                  <a:pt x="74" y="1"/>
                </a:lnTo>
                <a:lnTo>
                  <a:pt x="75" y="1"/>
                </a:lnTo>
                <a:lnTo>
                  <a:pt x="76" y="1"/>
                </a:lnTo>
                <a:lnTo>
                  <a:pt x="76" y="1"/>
                </a:lnTo>
                <a:lnTo>
                  <a:pt x="77" y="2"/>
                </a:lnTo>
                <a:lnTo>
                  <a:pt x="78" y="2"/>
                </a:lnTo>
                <a:lnTo>
                  <a:pt x="79" y="3"/>
                </a:lnTo>
                <a:lnTo>
                  <a:pt x="80" y="3"/>
                </a:lnTo>
                <a:lnTo>
                  <a:pt x="81" y="3"/>
                </a:lnTo>
                <a:lnTo>
                  <a:pt x="82" y="4"/>
                </a:lnTo>
                <a:lnTo>
                  <a:pt x="83" y="4"/>
                </a:lnTo>
                <a:lnTo>
                  <a:pt x="84" y="5"/>
                </a:lnTo>
                <a:lnTo>
                  <a:pt x="85" y="5"/>
                </a:lnTo>
                <a:lnTo>
                  <a:pt x="86" y="6"/>
                </a:lnTo>
                <a:lnTo>
                  <a:pt x="86" y="6"/>
                </a:lnTo>
                <a:lnTo>
                  <a:pt x="87" y="7"/>
                </a:lnTo>
                <a:lnTo>
                  <a:pt x="88" y="7"/>
                </a:lnTo>
                <a:lnTo>
                  <a:pt x="89" y="8"/>
                </a:lnTo>
                <a:lnTo>
                  <a:pt x="90" y="8"/>
                </a:lnTo>
                <a:lnTo>
                  <a:pt x="91" y="8"/>
                </a:lnTo>
                <a:lnTo>
                  <a:pt x="92" y="9"/>
                </a:lnTo>
                <a:lnTo>
                  <a:pt x="93" y="9"/>
                </a:lnTo>
                <a:lnTo>
                  <a:pt x="94" y="9"/>
                </a:lnTo>
                <a:lnTo>
                  <a:pt x="94" y="9"/>
                </a:lnTo>
                <a:lnTo>
                  <a:pt x="95" y="10"/>
                </a:lnTo>
                <a:lnTo>
                  <a:pt x="96" y="10"/>
                </a:lnTo>
                <a:lnTo>
                  <a:pt x="97" y="10"/>
                </a:lnTo>
                <a:lnTo>
                  <a:pt x="98" y="10"/>
                </a:lnTo>
                <a:lnTo>
                  <a:pt x="99" y="10"/>
                </a:lnTo>
                <a:lnTo>
                  <a:pt x="100" y="10"/>
                </a:lnTo>
                <a:lnTo>
                  <a:pt x="101" y="10"/>
                </a:lnTo>
                <a:lnTo>
                  <a:pt x="102" y="10"/>
                </a:lnTo>
                <a:lnTo>
                  <a:pt x="103" y="10"/>
                </a:lnTo>
                <a:lnTo>
                  <a:pt x="104" y="9"/>
                </a:lnTo>
                <a:lnTo>
                  <a:pt x="104" y="9"/>
                </a:lnTo>
                <a:lnTo>
                  <a:pt x="105" y="9"/>
                </a:lnTo>
                <a:lnTo>
                  <a:pt x="106" y="9"/>
                </a:lnTo>
                <a:lnTo>
                  <a:pt x="107" y="8"/>
                </a:lnTo>
                <a:lnTo>
                  <a:pt x="108" y="8"/>
                </a:lnTo>
                <a:lnTo>
                  <a:pt x="109" y="8"/>
                </a:lnTo>
                <a:lnTo>
                  <a:pt x="110" y="7"/>
                </a:lnTo>
                <a:lnTo>
                  <a:pt x="111" y="7"/>
                </a:lnTo>
                <a:lnTo>
                  <a:pt x="112" y="6"/>
                </a:lnTo>
                <a:lnTo>
                  <a:pt x="112" y="6"/>
                </a:lnTo>
                <a:lnTo>
                  <a:pt x="113" y="5"/>
                </a:lnTo>
                <a:lnTo>
                  <a:pt x="114" y="5"/>
                </a:lnTo>
                <a:lnTo>
                  <a:pt x="115" y="4"/>
                </a:lnTo>
                <a:lnTo>
                  <a:pt x="116" y="4"/>
                </a:lnTo>
                <a:lnTo>
                  <a:pt x="117" y="3"/>
                </a:lnTo>
                <a:lnTo>
                  <a:pt x="118" y="3"/>
                </a:lnTo>
                <a:lnTo>
                  <a:pt x="119" y="3"/>
                </a:lnTo>
                <a:lnTo>
                  <a:pt x="120" y="2"/>
                </a:lnTo>
                <a:lnTo>
                  <a:pt x="121" y="2"/>
                </a:lnTo>
                <a:lnTo>
                  <a:pt x="122" y="1"/>
                </a:lnTo>
                <a:lnTo>
                  <a:pt x="122" y="1"/>
                </a:lnTo>
                <a:lnTo>
                  <a:pt x="123" y="1"/>
                </a:lnTo>
                <a:lnTo>
                  <a:pt x="124" y="1"/>
                </a:lnTo>
                <a:lnTo>
                  <a:pt x="125" y="0"/>
                </a:lnTo>
                <a:lnTo>
                  <a:pt x="126" y="0"/>
                </a:lnTo>
                <a:lnTo>
                  <a:pt x="127" y="0"/>
                </a:lnTo>
                <a:lnTo>
                  <a:pt x="128" y="0"/>
                </a:lnTo>
                <a:lnTo>
                  <a:pt x="129" y="0"/>
                </a:lnTo>
                <a:lnTo>
                  <a:pt x="130" y="0"/>
                </a:lnTo>
                <a:lnTo>
                  <a:pt x="130" y="0"/>
                </a:lnTo>
                <a:lnTo>
                  <a:pt x="131" y="0"/>
                </a:lnTo>
                <a:lnTo>
                  <a:pt x="132" y="0"/>
                </a:lnTo>
                <a:lnTo>
                  <a:pt x="133" y="1"/>
                </a:lnTo>
                <a:lnTo>
                  <a:pt x="134" y="1"/>
                </a:lnTo>
                <a:lnTo>
                  <a:pt x="135" y="1"/>
                </a:lnTo>
                <a:lnTo>
                  <a:pt x="136" y="1"/>
                </a:lnTo>
                <a:lnTo>
                  <a:pt x="137" y="2"/>
                </a:lnTo>
                <a:lnTo>
                  <a:pt x="138" y="2"/>
                </a:lnTo>
                <a:lnTo>
                  <a:pt x="139" y="2"/>
                </a:lnTo>
                <a:lnTo>
                  <a:pt x="140" y="3"/>
                </a:lnTo>
                <a:lnTo>
                  <a:pt x="140" y="3"/>
                </a:lnTo>
                <a:lnTo>
                  <a:pt x="141" y="4"/>
                </a:lnTo>
                <a:lnTo>
                  <a:pt x="142" y="4"/>
                </a:lnTo>
                <a:lnTo>
                  <a:pt x="143" y="5"/>
                </a:lnTo>
                <a:lnTo>
                  <a:pt x="144" y="5"/>
                </a:lnTo>
                <a:lnTo>
                  <a:pt x="145" y="6"/>
                </a:lnTo>
                <a:lnTo>
                  <a:pt x="146" y="6"/>
                </a:lnTo>
                <a:lnTo>
                  <a:pt x="147" y="6"/>
                </a:lnTo>
                <a:lnTo>
                  <a:pt x="148" y="7"/>
                </a:lnTo>
                <a:lnTo>
                  <a:pt x="148" y="7"/>
                </a:lnTo>
                <a:lnTo>
                  <a:pt x="149" y="8"/>
                </a:lnTo>
                <a:lnTo>
                  <a:pt x="150" y="8"/>
                </a:lnTo>
                <a:lnTo>
                  <a:pt x="151" y="8"/>
                </a:lnTo>
                <a:lnTo>
                  <a:pt x="152" y="9"/>
                </a:lnTo>
                <a:lnTo>
                  <a:pt x="153" y="9"/>
                </a:lnTo>
                <a:lnTo>
                  <a:pt x="154" y="9"/>
                </a:lnTo>
                <a:lnTo>
                  <a:pt x="155" y="9"/>
                </a:lnTo>
                <a:lnTo>
                  <a:pt x="156" y="10"/>
                </a:lnTo>
                <a:lnTo>
                  <a:pt x="157" y="10"/>
                </a:lnTo>
                <a:lnTo>
                  <a:pt x="158" y="10"/>
                </a:lnTo>
                <a:lnTo>
                  <a:pt x="159" y="10"/>
                </a:lnTo>
                <a:lnTo>
                  <a:pt x="160" y="10"/>
                </a:lnTo>
                <a:lnTo>
                  <a:pt x="161" y="10"/>
                </a:lnTo>
                <a:lnTo>
                  <a:pt x="161" y="10"/>
                </a:lnTo>
                <a:lnTo>
                  <a:pt x="162" y="10"/>
                </a:lnTo>
              </a:path>
            </a:pathLst>
          </a:custGeom>
          <a:noFill/>
          <a:ln w="27940">
            <a:solidFill>
              <a:srgbClr val="2A6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5577840" y="6922008"/>
            <a:ext cx="1481328" cy="91440"/>
          </a:xfrm>
          <a:custGeom>
            <a:avLst/>
            <a:gdLst/>
            <a:ahLst/>
            <a:cxnLst/>
            <a:rect l="l" t="t" r="r" b="b"/>
            <a:pathLst>
              <a:path w="162" h="10">
                <a:moveTo>
                  <a:pt x="0" y="5"/>
                </a:moveTo>
                <a:lnTo>
                  <a:pt x="1" y="4"/>
                </a:lnTo>
                <a:lnTo>
                  <a:pt x="1" y="4"/>
                </a:lnTo>
                <a:lnTo>
                  <a:pt x="2" y="3"/>
                </a:lnTo>
                <a:lnTo>
                  <a:pt x="3" y="3"/>
                </a:lnTo>
                <a:lnTo>
                  <a:pt x="4" y="3"/>
                </a:lnTo>
                <a:lnTo>
                  <a:pt x="5" y="2"/>
                </a:lnTo>
                <a:lnTo>
                  <a:pt x="6" y="2"/>
                </a:lnTo>
                <a:lnTo>
                  <a:pt x="7" y="1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3" y="0"/>
                </a:lnTo>
                <a:lnTo>
                  <a:pt x="14" y="0"/>
                </a:lnTo>
                <a:lnTo>
                  <a:pt x="14" y="0"/>
                </a:lnTo>
                <a:lnTo>
                  <a:pt x="15" y="0"/>
                </a:lnTo>
                <a:lnTo>
                  <a:pt x="16" y="0"/>
                </a:lnTo>
                <a:lnTo>
                  <a:pt x="17" y="0"/>
                </a:lnTo>
                <a:lnTo>
                  <a:pt x="18" y="0"/>
                </a:lnTo>
                <a:lnTo>
                  <a:pt x="19" y="1"/>
                </a:lnTo>
                <a:lnTo>
                  <a:pt x="20" y="1"/>
                </a:lnTo>
                <a:lnTo>
                  <a:pt x="21" y="1"/>
                </a:lnTo>
                <a:lnTo>
                  <a:pt x="22" y="2"/>
                </a:lnTo>
                <a:lnTo>
                  <a:pt x="22" y="2"/>
                </a:lnTo>
                <a:lnTo>
                  <a:pt x="23" y="2"/>
                </a:lnTo>
                <a:lnTo>
                  <a:pt x="24" y="3"/>
                </a:lnTo>
                <a:lnTo>
                  <a:pt x="25" y="3"/>
                </a:lnTo>
                <a:lnTo>
                  <a:pt x="26" y="3"/>
                </a:lnTo>
                <a:lnTo>
                  <a:pt x="27" y="4"/>
                </a:lnTo>
                <a:lnTo>
                  <a:pt x="28" y="4"/>
                </a:lnTo>
                <a:lnTo>
                  <a:pt x="29" y="5"/>
                </a:lnTo>
                <a:lnTo>
                  <a:pt x="30" y="5"/>
                </a:lnTo>
                <a:lnTo>
                  <a:pt x="31" y="6"/>
                </a:lnTo>
                <a:lnTo>
                  <a:pt x="31" y="6"/>
                </a:lnTo>
                <a:lnTo>
                  <a:pt x="32" y="7"/>
                </a:lnTo>
                <a:lnTo>
                  <a:pt x="33" y="7"/>
                </a:lnTo>
                <a:lnTo>
                  <a:pt x="34" y="8"/>
                </a:lnTo>
                <a:lnTo>
                  <a:pt x="35" y="8"/>
                </a:lnTo>
                <a:lnTo>
                  <a:pt x="36" y="8"/>
                </a:lnTo>
                <a:lnTo>
                  <a:pt x="37" y="9"/>
                </a:lnTo>
                <a:lnTo>
                  <a:pt x="38" y="9"/>
                </a:lnTo>
                <a:lnTo>
                  <a:pt x="39" y="9"/>
                </a:lnTo>
                <a:lnTo>
                  <a:pt x="40" y="9"/>
                </a:lnTo>
                <a:lnTo>
                  <a:pt x="40" y="10"/>
                </a:lnTo>
                <a:lnTo>
                  <a:pt x="41" y="10"/>
                </a:lnTo>
                <a:lnTo>
                  <a:pt x="42" y="10"/>
                </a:lnTo>
                <a:lnTo>
                  <a:pt x="43" y="10"/>
                </a:lnTo>
                <a:lnTo>
                  <a:pt x="44" y="10"/>
                </a:lnTo>
                <a:lnTo>
                  <a:pt x="45" y="10"/>
                </a:lnTo>
                <a:lnTo>
                  <a:pt x="46" y="10"/>
                </a:lnTo>
                <a:lnTo>
                  <a:pt x="47" y="10"/>
                </a:lnTo>
                <a:lnTo>
                  <a:pt x="48" y="10"/>
                </a:lnTo>
                <a:lnTo>
                  <a:pt x="49" y="9"/>
                </a:lnTo>
                <a:lnTo>
                  <a:pt x="50" y="9"/>
                </a:lnTo>
                <a:lnTo>
                  <a:pt x="50" y="9"/>
                </a:lnTo>
                <a:lnTo>
                  <a:pt x="51" y="9"/>
                </a:lnTo>
                <a:lnTo>
                  <a:pt x="52" y="8"/>
                </a:lnTo>
                <a:lnTo>
                  <a:pt x="53" y="8"/>
                </a:lnTo>
                <a:lnTo>
                  <a:pt x="54" y="7"/>
                </a:lnTo>
                <a:lnTo>
                  <a:pt x="55" y="7"/>
                </a:lnTo>
                <a:lnTo>
                  <a:pt x="56" y="7"/>
                </a:lnTo>
                <a:lnTo>
                  <a:pt x="57" y="6"/>
                </a:lnTo>
                <a:lnTo>
                  <a:pt x="58" y="6"/>
                </a:lnTo>
                <a:lnTo>
                  <a:pt x="58" y="5"/>
                </a:lnTo>
                <a:lnTo>
                  <a:pt x="59" y="5"/>
                </a:lnTo>
                <a:lnTo>
                  <a:pt x="60" y="4"/>
                </a:lnTo>
                <a:lnTo>
                  <a:pt x="61" y="4"/>
                </a:lnTo>
                <a:lnTo>
                  <a:pt x="62" y="3"/>
                </a:lnTo>
                <a:lnTo>
                  <a:pt x="63" y="3"/>
                </a:lnTo>
                <a:lnTo>
                  <a:pt x="64" y="2"/>
                </a:lnTo>
                <a:lnTo>
                  <a:pt x="65" y="2"/>
                </a:lnTo>
                <a:lnTo>
                  <a:pt x="66" y="2"/>
                </a:lnTo>
                <a:lnTo>
                  <a:pt x="67" y="1"/>
                </a:lnTo>
                <a:lnTo>
                  <a:pt x="68" y="1"/>
                </a:lnTo>
                <a:lnTo>
                  <a:pt x="68" y="1"/>
                </a:lnTo>
                <a:lnTo>
                  <a:pt x="69" y="1"/>
                </a:lnTo>
                <a:lnTo>
                  <a:pt x="70" y="0"/>
                </a:lnTo>
                <a:lnTo>
                  <a:pt x="71" y="0"/>
                </a:lnTo>
                <a:lnTo>
                  <a:pt x="72" y="0"/>
                </a:lnTo>
                <a:lnTo>
                  <a:pt x="73" y="0"/>
                </a:lnTo>
                <a:lnTo>
                  <a:pt x="74" y="0"/>
                </a:lnTo>
                <a:lnTo>
                  <a:pt x="75" y="0"/>
                </a:lnTo>
                <a:lnTo>
                  <a:pt x="76" y="0"/>
                </a:lnTo>
                <a:lnTo>
                  <a:pt x="76" y="0"/>
                </a:lnTo>
                <a:lnTo>
                  <a:pt x="77" y="0"/>
                </a:lnTo>
                <a:lnTo>
                  <a:pt x="78" y="1"/>
                </a:lnTo>
                <a:lnTo>
                  <a:pt x="79" y="1"/>
                </a:lnTo>
                <a:lnTo>
                  <a:pt x="80" y="1"/>
                </a:lnTo>
                <a:lnTo>
                  <a:pt x="81" y="1"/>
                </a:lnTo>
                <a:lnTo>
                  <a:pt x="82" y="2"/>
                </a:lnTo>
                <a:lnTo>
                  <a:pt x="83" y="2"/>
                </a:lnTo>
                <a:lnTo>
                  <a:pt x="84" y="2"/>
                </a:lnTo>
                <a:lnTo>
                  <a:pt x="85" y="3"/>
                </a:lnTo>
                <a:lnTo>
                  <a:pt x="86" y="3"/>
                </a:lnTo>
                <a:lnTo>
                  <a:pt x="86" y="4"/>
                </a:lnTo>
                <a:lnTo>
                  <a:pt x="87" y="4"/>
                </a:lnTo>
                <a:lnTo>
                  <a:pt x="88" y="5"/>
                </a:lnTo>
                <a:lnTo>
                  <a:pt x="89" y="5"/>
                </a:lnTo>
                <a:lnTo>
                  <a:pt x="90" y="6"/>
                </a:lnTo>
                <a:lnTo>
                  <a:pt x="91" y="6"/>
                </a:lnTo>
                <a:lnTo>
                  <a:pt x="92" y="6"/>
                </a:lnTo>
                <a:lnTo>
                  <a:pt x="93" y="7"/>
                </a:lnTo>
                <a:lnTo>
                  <a:pt x="94" y="7"/>
                </a:lnTo>
                <a:lnTo>
                  <a:pt x="94" y="8"/>
                </a:lnTo>
                <a:lnTo>
                  <a:pt x="95" y="8"/>
                </a:lnTo>
                <a:lnTo>
                  <a:pt x="96" y="9"/>
                </a:lnTo>
                <a:lnTo>
                  <a:pt x="97" y="9"/>
                </a:lnTo>
                <a:lnTo>
                  <a:pt x="98" y="9"/>
                </a:lnTo>
                <a:lnTo>
                  <a:pt x="99" y="9"/>
                </a:lnTo>
                <a:lnTo>
                  <a:pt x="100" y="10"/>
                </a:lnTo>
                <a:lnTo>
                  <a:pt x="101" y="10"/>
                </a:lnTo>
                <a:lnTo>
                  <a:pt x="102" y="10"/>
                </a:lnTo>
                <a:lnTo>
                  <a:pt x="103" y="10"/>
                </a:lnTo>
                <a:lnTo>
                  <a:pt x="104" y="10"/>
                </a:lnTo>
                <a:lnTo>
                  <a:pt x="104" y="10"/>
                </a:lnTo>
                <a:lnTo>
                  <a:pt x="105" y="10"/>
                </a:lnTo>
                <a:lnTo>
                  <a:pt x="106" y="10"/>
                </a:lnTo>
                <a:lnTo>
                  <a:pt x="107" y="10"/>
                </a:lnTo>
                <a:lnTo>
                  <a:pt x="108" y="10"/>
                </a:lnTo>
                <a:lnTo>
                  <a:pt x="109" y="9"/>
                </a:lnTo>
                <a:lnTo>
                  <a:pt x="110" y="9"/>
                </a:lnTo>
                <a:lnTo>
                  <a:pt x="111" y="9"/>
                </a:lnTo>
                <a:lnTo>
                  <a:pt x="112" y="8"/>
                </a:lnTo>
                <a:lnTo>
                  <a:pt x="112" y="8"/>
                </a:lnTo>
                <a:lnTo>
                  <a:pt x="113" y="8"/>
                </a:lnTo>
                <a:lnTo>
                  <a:pt x="114" y="7"/>
                </a:lnTo>
                <a:lnTo>
                  <a:pt x="115" y="7"/>
                </a:lnTo>
                <a:lnTo>
                  <a:pt x="116" y="6"/>
                </a:lnTo>
                <a:lnTo>
                  <a:pt x="117" y="6"/>
                </a:lnTo>
                <a:lnTo>
                  <a:pt x="118" y="5"/>
                </a:lnTo>
                <a:lnTo>
                  <a:pt x="119" y="5"/>
                </a:lnTo>
                <a:lnTo>
                  <a:pt x="120" y="4"/>
                </a:lnTo>
                <a:lnTo>
                  <a:pt x="121" y="4"/>
                </a:lnTo>
                <a:lnTo>
                  <a:pt x="122" y="4"/>
                </a:lnTo>
                <a:lnTo>
                  <a:pt x="122" y="3"/>
                </a:lnTo>
                <a:lnTo>
                  <a:pt x="123" y="3"/>
                </a:lnTo>
                <a:lnTo>
                  <a:pt x="124" y="2"/>
                </a:lnTo>
                <a:lnTo>
                  <a:pt x="125" y="2"/>
                </a:lnTo>
                <a:lnTo>
                  <a:pt x="126" y="2"/>
                </a:lnTo>
                <a:lnTo>
                  <a:pt x="127" y="1"/>
                </a:lnTo>
                <a:lnTo>
                  <a:pt x="128" y="1"/>
                </a:lnTo>
                <a:lnTo>
                  <a:pt x="129" y="1"/>
                </a:lnTo>
                <a:lnTo>
                  <a:pt x="130" y="0"/>
                </a:lnTo>
                <a:lnTo>
                  <a:pt x="130" y="0"/>
                </a:lnTo>
                <a:lnTo>
                  <a:pt x="131" y="0"/>
                </a:lnTo>
                <a:lnTo>
                  <a:pt x="132" y="0"/>
                </a:lnTo>
                <a:lnTo>
                  <a:pt x="133" y="0"/>
                </a:lnTo>
                <a:lnTo>
                  <a:pt x="134" y="0"/>
                </a:lnTo>
                <a:lnTo>
                  <a:pt x="135" y="0"/>
                </a:lnTo>
                <a:lnTo>
                  <a:pt x="136" y="0"/>
                </a:lnTo>
                <a:lnTo>
                  <a:pt x="137" y="0"/>
                </a:lnTo>
                <a:lnTo>
                  <a:pt x="138" y="0"/>
                </a:lnTo>
                <a:lnTo>
                  <a:pt x="139" y="1"/>
                </a:lnTo>
                <a:lnTo>
                  <a:pt x="140" y="1"/>
                </a:lnTo>
                <a:lnTo>
                  <a:pt x="140" y="1"/>
                </a:lnTo>
                <a:lnTo>
                  <a:pt x="141" y="2"/>
                </a:lnTo>
                <a:lnTo>
                  <a:pt x="142" y="2"/>
                </a:lnTo>
                <a:lnTo>
                  <a:pt x="143" y="2"/>
                </a:lnTo>
                <a:lnTo>
                  <a:pt x="144" y="3"/>
                </a:lnTo>
                <a:lnTo>
                  <a:pt x="145" y="3"/>
                </a:lnTo>
                <a:lnTo>
                  <a:pt x="146" y="3"/>
                </a:lnTo>
                <a:lnTo>
                  <a:pt x="147" y="4"/>
                </a:lnTo>
                <a:lnTo>
                  <a:pt x="148" y="4"/>
                </a:lnTo>
                <a:lnTo>
                  <a:pt x="148" y="5"/>
                </a:lnTo>
                <a:lnTo>
                  <a:pt x="149" y="5"/>
                </a:lnTo>
                <a:lnTo>
                  <a:pt x="150" y="6"/>
                </a:lnTo>
                <a:lnTo>
                  <a:pt x="151" y="6"/>
                </a:lnTo>
                <a:lnTo>
                  <a:pt x="152" y="7"/>
                </a:lnTo>
                <a:lnTo>
                  <a:pt x="153" y="7"/>
                </a:lnTo>
                <a:lnTo>
                  <a:pt x="154" y="8"/>
                </a:lnTo>
                <a:lnTo>
                  <a:pt x="155" y="8"/>
                </a:lnTo>
                <a:lnTo>
                  <a:pt x="156" y="8"/>
                </a:lnTo>
                <a:lnTo>
                  <a:pt x="157" y="9"/>
                </a:lnTo>
                <a:lnTo>
                  <a:pt x="158" y="9"/>
                </a:lnTo>
                <a:lnTo>
                  <a:pt x="159" y="9"/>
                </a:lnTo>
                <a:lnTo>
                  <a:pt x="160" y="9"/>
                </a:lnTo>
                <a:lnTo>
                  <a:pt x="161" y="10"/>
                </a:lnTo>
                <a:lnTo>
                  <a:pt x="161" y="10"/>
                </a:lnTo>
                <a:lnTo>
                  <a:pt x="162" y="10"/>
                </a:lnTo>
              </a:path>
            </a:pathLst>
          </a:custGeom>
          <a:noFill/>
          <a:ln w="27940">
            <a:solidFill>
              <a:srgbClr val="2A69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→"/>
          <p:cNvSpPr txBox="1"/>
          <p:nvPr/>
        </p:nvSpPr>
        <p:spPr>
          <a:xfrm>
            <a:off x="7260336" y="6217920"/>
            <a:ext cx="219456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01010"/>
                </a:solidFill>
                <a:latin typeface="Times New Roman"/>
              </a:defRPr>
            </a:pPr>
            <a:r>
              <a:t>→</a:t>
            </a:r>
          </a:p>
        </p:txBody>
      </p:sp>
      <p:sp>
        <p:nvSpPr>
          <p:cNvPr id="193" name="Freeform 192"/>
          <p:cNvSpPr/>
          <p:nvPr/>
        </p:nvSpPr>
        <p:spPr>
          <a:xfrm>
            <a:off x="7626096" y="5751576"/>
            <a:ext cx="658368" cy="228600"/>
          </a:xfrm>
          <a:custGeom>
            <a:avLst/>
            <a:gdLst/>
            <a:ahLst/>
            <a:cxnLst/>
            <a:rect l="l" t="t" r="r" b="b"/>
            <a:pathLst>
              <a:path w="72" h="25">
                <a:moveTo>
                  <a:pt x="0" y="20"/>
                </a:moveTo>
                <a:lnTo>
                  <a:pt x="1" y="20"/>
                </a:lnTo>
                <a:lnTo>
                  <a:pt x="3" y="21"/>
                </a:lnTo>
                <a:lnTo>
                  <a:pt x="5" y="22"/>
                </a:lnTo>
                <a:lnTo>
                  <a:pt x="8" y="23"/>
                </a:lnTo>
                <a:lnTo>
                  <a:pt x="10" y="24"/>
                </a:lnTo>
                <a:lnTo>
                  <a:pt x="13" y="24"/>
                </a:lnTo>
                <a:lnTo>
                  <a:pt x="16" y="25"/>
                </a:lnTo>
                <a:lnTo>
                  <a:pt x="18" y="24"/>
                </a:lnTo>
                <a:lnTo>
                  <a:pt x="21" y="24"/>
                </a:lnTo>
                <a:lnTo>
                  <a:pt x="24" y="23"/>
                </a:lnTo>
                <a:lnTo>
                  <a:pt x="26" y="21"/>
                </a:lnTo>
                <a:lnTo>
                  <a:pt x="29" y="19"/>
                </a:lnTo>
                <a:lnTo>
                  <a:pt x="31" y="17"/>
                </a:lnTo>
                <a:lnTo>
                  <a:pt x="34" y="14"/>
                </a:lnTo>
                <a:lnTo>
                  <a:pt x="37" y="12"/>
                </a:lnTo>
                <a:lnTo>
                  <a:pt x="39" y="10"/>
                </a:lnTo>
                <a:lnTo>
                  <a:pt x="42" y="8"/>
                </a:lnTo>
                <a:lnTo>
                  <a:pt x="45" y="6"/>
                </a:lnTo>
                <a:lnTo>
                  <a:pt x="48" y="5"/>
                </a:lnTo>
                <a:lnTo>
                  <a:pt x="51" y="4"/>
                </a:lnTo>
                <a:lnTo>
                  <a:pt x="55" y="3"/>
                </a:lnTo>
                <a:lnTo>
                  <a:pt x="58" y="2"/>
                </a:lnTo>
                <a:lnTo>
                  <a:pt x="62" y="2"/>
                </a:lnTo>
                <a:lnTo>
                  <a:pt x="65" y="1"/>
                </a:lnTo>
                <a:lnTo>
                  <a:pt x="68" y="1"/>
                </a:lnTo>
                <a:lnTo>
                  <a:pt x="70" y="0"/>
                </a:lnTo>
                <a:lnTo>
                  <a:pt x="72" y="0"/>
                </a:lnTo>
              </a:path>
            </a:pathLst>
          </a:custGeom>
          <a:noFill/>
          <a:ln w="27940">
            <a:solidFill>
              <a:srgbClr val="28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8421624" y="5769864"/>
            <a:ext cx="676656" cy="265176"/>
          </a:xfrm>
          <a:custGeom>
            <a:avLst/>
            <a:gdLst/>
            <a:ahLst/>
            <a:cxnLst/>
            <a:rect l="l" t="t" r="r" b="b"/>
            <a:pathLst>
              <a:path w="74" h="29">
                <a:moveTo>
                  <a:pt x="0" y="29"/>
                </a:moveTo>
                <a:lnTo>
                  <a:pt x="1" y="28"/>
                </a:lnTo>
                <a:lnTo>
                  <a:pt x="3" y="27"/>
                </a:lnTo>
                <a:lnTo>
                  <a:pt x="5" y="26"/>
                </a:lnTo>
                <a:lnTo>
                  <a:pt x="8" y="25"/>
                </a:lnTo>
                <a:lnTo>
                  <a:pt x="10" y="23"/>
                </a:lnTo>
                <a:lnTo>
                  <a:pt x="13" y="22"/>
                </a:lnTo>
                <a:lnTo>
                  <a:pt x="16" y="21"/>
                </a:lnTo>
                <a:lnTo>
                  <a:pt x="19" y="20"/>
                </a:lnTo>
                <a:lnTo>
                  <a:pt x="22" y="19"/>
                </a:lnTo>
                <a:lnTo>
                  <a:pt x="25" y="19"/>
                </a:lnTo>
                <a:lnTo>
                  <a:pt x="28" y="19"/>
                </a:lnTo>
                <a:lnTo>
                  <a:pt x="32" y="20"/>
                </a:lnTo>
                <a:lnTo>
                  <a:pt x="35" y="20"/>
                </a:lnTo>
                <a:lnTo>
                  <a:pt x="39" y="21"/>
                </a:lnTo>
                <a:lnTo>
                  <a:pt x="42" y="22"/>
                </a:lnTo>
                <a:lnTo>
                  <a:pt x="46" y="22"/>
                </a:lnTo>
                <a:lnTo>
                  <a:pt x="49" y="22"/>
                </a:lnTo>
                <a:lnTo>
                  <a:pt x="52" y="21"/>
                </a:lnTo>
                <a:lnTo>
                  <a:pt x="55" y="20"/>
                </a:lnTo>
                <a:lnTo>
                  <a:pt x="58" y="17"/>
                </a:lnTo>
                <a:lnTo>
                  <a:pt x="61" y="15"/>
                </a:lnTo>
                <a:lnTo>
                  <a:pt x="64" y="12"/>
                </a:lnTo>
                <a:lnTo>
                  <a:pt x="66" y="9"/>
                </a:lnTo>
                <a:lnTo>
                  <a:pt x="69" y="6"/>
                </a:lnTo>
                <a:lnTo>
                  <a:pt x="71" y="4"/>
                </a:lnTo>
                <a:lnTo>
                  <a:pt x="73" y="2"/>
                </a:lnTo>
                <a:lnTo>
                  <a:pt x="74" y="0"/>
                </a:lnTo>
              </a:path>
            </a:pathLst>
          </a:custGeom>
          <a:noFill/>
          <a:ln w="27940">
            <a:solidFill>
              <a:srgbClr val="28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7891272" y="6199632"/>
            <a:ext cx="438912" cy="118872"/>
          </a:xfrm>
          <a:custGeom>
            <a:avLst/>
            <a:gdLst/>
            <a:ahLst/>
            <a:cxnLst/>
            <a:rect l="l" t="t" r="r" b="b"/>
            <a:pathLst>
              <a:path w="48" h="13">
                <a:moveTo>
                  <a:pt x="0" y="11"/>
                </a:moveTo>
                <a:lnTo>
                  <a:pt x="1" y="10"/>
                </a:lnTo>
                <a:lnTo>
                  <a:pt x="3" y="9"/>
                </a:lnTo>
                <a:lnTo>
                  <a:pt x="6" y="7"/>
                </a:lnTo>
                <a:lnTo>
                  <a:pt x="8" y="6"/>
                </a:lnTo>
                <a:lnTo>
                  <a:pt x="11" y="4"/>
                </a:lnTo>
                <a:lnTo>
                  <a:pt x="14" y="2"/>
                </a:lnTo>
                <a:lnTo>
                  <a:pt x="16" y="1"/>
                </a:lnTo>
                <a:lnTo>
                  <a:pt x="19" y="0"/>
                </a:lnTo>
                <a:lnTo>
                  <a:pt x="22" y="0"/>
                </a:lnTo>
                <a:lnTo>
                  <a:pt x="25" y="0"/>
                </a:lnTo>
                <a:lnTo>
                  <a:pt x="28" y="2"/>
                </a:lnTo>
                <a:lnTo>
                  <a:pt x="31" y="3"/>
                </a:lnTo>
                <a:lnTo>
                  <a:pt x="35" y="5"/>
                </a:lnTo>
                <a:lnTo>
                  <a:pt x="38" y="7"/>
                </a:lnTo>
                <a:lnTo>
                  <a:pt x="41" y="9"/>
                </a:lnTo>
                <a:lnTo>
                  <a:pt x="44" y="11"/>
                </a:lnTo>
                <a:lnTo>
                  <a:pt x="46" y="12"/>
                </a:lnTo>
                <a:lnTo>
                  <a:pt x="48" y="13"/>
                </a:lnTo>
              </a:path>
            </a:pathLst>
          </a:custGeom>
          <a:noFill/>
          <a:ln w="27940">
            <a:solidFill>
              <a:srgbClr val="28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7662672" y="6675120"/>
            <a:ext cx="420624" cy="100584"/>
          </a:xfrm>
          <a:custGeom>
            <a:avLst/>
            <a:gdLst/>
            <a:ahLst/>
            <a:cxnLst/>
            <a:rect l="l" t="t" r="r" b="b"/>
            <a:pathLst>
              <a:path w="46" h="11">
                <a:moveTo>
                  <a:pt x="0" y="0"/>
                </a:moveTo>
                <a:lnTo>
                  <a:pt x="1" y="1"/>
                </a:lnTo>
                <a:lnTo>
                  <a:pt x="3" y="2"/>
                </a:lnTo>
                <a:lnTo>
                  <a:pt x="5" y="3"/>
                </a:lnTo>
                <a:lnTo>
                  <a:pt x="7" y="5"/>
                </a:lnTo>
                <a:lnTo>
                  <a:pt x="10" y="6"/>
                </a:lnTo>
                <a:lnTo>
                  <a:pt x="12" y="8"/>
                </a:lnTo>
                <a:lnTo>
                  <a:pt x="15" y="9"/>
                </a:lnTo>
                <a:lnTo>
                  <a:pt x="17" y="10"/>
                </a:lnTo>
                <a:lnTo>
                  <a:pt x="20" y="11"/>
                </a:lnTo>
                <a:lnTo>
                  <a:pt x="23" y="11"/>
                </a:lnTo>
                <a:lnTo>
                  <a:pt x="26" y="11"/>
                </a:lnTo>
                <a:lnTo>
                  <a:pt x="29" y="11"/>
                </a:lnTo>
                <a:lnTo>
                  <a:pt x="33" y="11"/>
                </a:lnTo>
                <a:lnTo>
                  <a:pt x="36" y="10"/>
                </a:lnTo>
                <a:lnTo>
                  <a:pt x="39" y="10"/>
                </a:lnTo>
                <a:lnTo>
                  <a:pt x="42" y="10"/>
                </a:lnTo>
                <a:lnTo>
                  <a:pt x="44" y="9"/>
                </a:lnTo>
                <a:lnTo>
                  <a:pt x="46" y="9"/>
                </a:lnTo>
              </a:path>
            </a:pathLst>
          </a:custGeom>
          <a:noFill/>
          <a:ln w="27940">
            <a:solidFill>
              <a:srgbClr val="28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8631936" y="6327648"/>
            <a:ext cx="539496" cy="274320"/>
          </a:xfrm>
          <a:custGeom>
            <a:avLst/>
            <a:gdLst/>
            <a:ahLst/>
            <a:cxnLst/>
            <a:rect l="l" t="t" r="r" b="b"/>
            <a:pathLst>
              <a:path w="59" h="30">
                <a:moveTo>
                  <a:pt x="0" y="5"/>
                </a:moveTo>
                <a:lnTo>
                  <a:pt x="2" y="5"/>
                </a:lnTo>
                <a:lnTo>
                  <a:pt x="5" y="4"/>
                </a:lnTo>
                <a:lnTo>
                  <a:pt x="8" y="3"/>
                </a:lnTo>
                <a:lnTo>
                  <a:pt x="11" y="2"/>
                </a:lnTo>
                <a:lnTo>
                  <a:pt x="15" y="1"/>
                </a:lnTo>
                <a:lnTo>
                  <a:pt x="19" y="0"/>
                </a:lnTo>
                <a:lnTo>
                  <a:pt x="23" y="0"/>
                </a:lnTo>
                <a:lnTo>
                  <a:pt x="27" y="0"/>
                </a:lnTo>
                <a:lnTo>
                  <a:pt x="30" y="1"/>
                </a:lnTo>
                <a:lnTo>
                  <a:pt x="33" y="3"/>
                </a:lnTo>
                <a:lnTo>
                  <a:pt x="37" y="6"/>
                </a:lnTo>
                <a:lnTo>
                  <a:pt x="41" y="9"/>
                </a:lnTo>
                <a:lnTo>
                  <a:pt x="45" y="13"/>
                </a:lnTo>
                <a:lnTo>
                  <a:pt x="48" y="17"/>
                </a:lnTo>
                <a:lnTo>
                  <a:pt x="52" y="21"/>
                </a:lnTo>
                <a:lnTo>
                  <a:pt x="55" y="25"/>
                </a:lnTo>
                <a:lnTo>
                  <a:pt x="57" y="28"/>
                </a:lnTo>
                <a:lnTo>
                  <a:pt x="59" y="30"/>
                </a:lnTo>
              </a:path>
            </a:pathLst>
          </a:custGeom>
          <a:noFill/>
          <a:ln w="27940">
            <a:solidFill>
              <a:srgbClr val="28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8284464" y="6620256"/>
            <a:ext cx="630936" cy="228600"/>
          </a:xfrm>
          <a:custGeom>
            <a:avLst/>
            <a:gdLst/>
            <a:ahLst/>
            <a:cxnLst/>
            <a:rect l="l" t="t" r="r" b="b"/>
            <a:pathLst>
              <a:path w="69" h="25">
                <a:moveTo>
                  <a:pt x="0" y="1"/>
                </a:moveTo>
                <a:lnTo>
                  <a:pt x="1" y="1"/>
                </a:lnTo>
                <a:lnTo>
                  <a:pt x="3" y="1"/>
                </a:lnTo>
                <a:lnTo>
                  <a:pt x="6" y="0"/>
                </a:lnTo>
                <a:lnTo>
                  <a:pt x="8" y="0"/>
                </a:lnTo>
                <a:lnTo>
                  <a:pt x="11" y="0"/>
                </a:lnTo>
                <a:lnTo>
                  <a:pt x="14" y="0"/>
                </a:lnTo>
                <a:lnTo>
                  <a:pt x="16" y="0"/>
                </a:lnTo>
                <a:lnTo>
                  <a:pt x="19" y="1"/>
                </a:lnTo>
                <a:lnTo>
                  <a:pt x="22" y="2"/>
                </a:lnTo>
                <a:lnTo>
                  <a:pt x="25" y="4"/>
                </a:lnTo>
                <a:lnTo>
                  <a:pt x="27" y="6"/>
                </a:lnTo>
                <a:lnTo>
                  <a:pt x="30" y="9"/>
                </a:lnTo>
                <a:lnTo>
                  <a:pt x="33" y="12"/>
                </a:lnTo>
                <a:lnTo>
                  <a:pt x="36" y="15"/>
                </a:lnTo>
                <a:lnTo>
                  <a:pt x="39" y="18"/>
                </a:lnTo>
                <a:lnTo>
                  <a:pt x="42" y="20"/>
                </a:lnTo>
                <a:lnTo>
                  <a:pt x="44" y="23"/>
                </a:lnTo>
                <a:lnTo>
                  <a:pt x="47" y="24"/>
                </a:lnTo>
                <a:lnTo>
                  <a:pt x="50" y="25"/>
                </a:lnTo>
                <a:lnTo>
                  <a:pt x="53" y="25"/>
                </a:lnTo>
                <a:lnTo>
                  <a:pt x="55" y="24"/>
                </a:lnTo>
                <a:lnTo>
                  <a:pt x="58" y="24"/>
                </a:lnTo>
                <a:lnTo>
                  <a:pt x="61" y="23"/>
                </a:lnTo>
                <a:lnTo>
                  <a:pt x="63" y="22"/>
                </a:lnTo>
                <a:lnTo>
                  <a:pt x="66" y="21"/>
                </a:lnTo>
                <a:lnTo>
                  <a:pt x="68" y="20"/>
                </a:lnTo>
                <a:lnTo>
                  <a:pt x="69" y="20"/>
                </a:lnTo>
              </a:path>
            </a:pathLst>
          </a:custGeom>
          <a:noFill/>
          <a:ln w="27940">
            <a:solidFill>
              <a:srgbClr val="28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>
            <a:off x="8028431" y="5925312"/>
            <a:ext cx="0" cy="219456"/>
          </a:xfrm>
          <a:prstGeom prst="line">
            <a:avLst/>
          </a:prstGeom>
          <a:ln w="12700">
            <a:solidFill>
              <a:srgbClr val="EC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833104" y="6007608"/>
            <a:ext cx="0" cy="228600"/>
          </a:xfrm>
          <a:prstGeom prst="line">
            <a:avLst/>
          </a:prstGeom>
          <a:ln w="12700">
            <a:solidFill>
              <a:srgbClr val="EC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083296" y="6775704"/>
            <a:ext cx="137160" cy="210312"/>
          </a:xfrm>
          <a:prstGeom prst="line">
            <a:avLst/>
          </a:prstGeom>
          <a:ln w="12700">
            <a:solidFill>
              <a:srgbClr val="EC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Ordered structure"/>
          <p:cNvSpPr txBox="1"/>
          <p:nvPr/>
        </p:nvSpPr>
        <p:spPr>
          <a:xfrm>
            <a:off x="5449824" y="7287768"/>
            <a:ext cx="1755648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10" b="1">
                <a:solidFill>
                  <a:srgbClr val="101010"/>
                </a:solidFill>
                <a:latin typeface="Times New Roman"/>
              </a:defRPr>
            </a:pPr>
            <a:r>
              <a:t>Ordered structure</a:t>
            </a:r>
          </a:p>
        </p:txBody>
      </p:sp>
      <p:sp>
        <p:nvSpPr>
          <p:cNvPr id="203" name="(intact starch)"/>
          <p:cNvSpPr txBox="1"/>
          <p:nvPr/>
        </p:nvSpPr>
        <p:spPr>
          <a:xfrm>
            <a:off x="5449824" y="7534656"/>
            <a:ext cx="175564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01010"/>
                </a:solidFill>
                <a:latin typeface="Times New Roman"/>
              </a:defRPr>
            </a:pPr>
            <a:r>
              <a:t>(intact starch)</a:t>
            </a:r>
          </a:p>
        </p:txBody>
      </p:sp>
      <p:sp>
        <p:nvSpPr>
          <p:cNvPr id="204" name="Disordered structure"/>
          <p:cNvSpPr txBox="1"/>
          <p:nvPr/>
        </p:nvSpPr>
        <p:spPr>
          <a:xfrm>
            <a:off x="7525512" y="7287768"/>
            <a:ext cx="1792224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101010"/>
                </a:solidFill>
                <a:latin typeface="Times New Roman"/>
              </a:defRPr>
            </a:pPr>
            <a:r>
              <a:t>Disordered structure</a:t>
            </a:r>
          </a:p>
        </p:txBody>
      </p:sp>
      <p:sp>
        <p:nvSpPr>
          <p:cNvPr id="205" name="(disrupted starch)"/>
          <p:cNvSpPr txBox="1"/>
          <p:nvPr/>
        </p:nvSpPr>
        <p:spPr>
          <a:xfrm>
            <a:off x="7525512" y="7534656"/>
            <a:ext cx="1792224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01010"/>
                </a:solidFill>
                <a:latin typeface="Times New Roman"/>
              </a:defRPr>
            </a:pPr>
            <a:r>
              <a:t>(disrupted starch)</a:t>
            </a:r>
          </a:p>
        </p:txBody>
      </p:sp>
      <p:sp>
        <p:nvSpPr>
          <p:cNvPr id="206" name="Down Arrow 205"/>
          <p:cNvSpPr/>
          <p:nvPr/>
        </p:nvSpPr>
        <p:spPr>
          <a:xfrm>
            <a:off x="4544568" y="8037575"/>
            <a:ext cx="548640" cy="402336"/>
          </a:xfrm>
          <a:prstGeom prst="downArrow">
            <a:avLst/>
          </a:prstGeom>
          <a:ln>
            <a:noFill/>
          </a:ln>
          <a:gradFill>
            <a:gsLst>
              <a:gs pos="0">
                <a:srgbClr val="EBEBEB"/>
              </a:gs>
              <a:gs pos="100000">
                <a:srgbClr val="707070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ounded Rectangle 206"/>
          <p:cNvSpPr/>
          <p:nvPr/>
        </p:nvSpPr>
        <p:spPr>
          <a:xfrm>
            <a:off x="448056" y="9427464"/>
            <a:ext cx="301752" cy="2478024"/>
          </a:xfrm>
          <a:prstGeom prst="roundRect">
            <a:avLst>
              <a:gd name="adj" fmla="val 14000"/>
            </a:avLst>
          </a:prstGeom>
          <a:ln w="12700" cap="rnd">
            <a:solidFill>
              <a:srgbClr val="101010"/>
            </a:solidFill>
            <a:round/>
          </a:ln>
          <a:gradFill>
            <a:gsLst>
              <a:gs pos="0">
                <a:srgbClr val="ECECEC"/>
              </a:gs>
              <a:gs pos="100000">
                <a:srgbClr val="C5C5C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+"/>
          <p:cNvSpPr txBox="1"/>
          <p:nvPr/>
        </p:nvSpPr>
        <p:spPr>
          <a:xfrm>
            <a:off x="448056" y="9774387"/>
            <a:ext cx="3017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209" name="+"/>
          <p:cNvSpPr txBox="1"/>
          <p:nvPr/>
        </p:nvSpPr>
        <p:spPr>
          <a:xfrm>
            <a:off x="448056" y="10294772"/>
            <a:ext cx="3017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210" name="+"/>
          <p:cNvSpPr txBox="1"/>
          <p:nvPr/>
        </p:nvSpPr>
        <p:spPr>
          <a:xfrm>
            <a:off x="448056" y="10815157"/>
            <a:ext cx="3017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211" name="+"/>
          <p:cNvSpPr txBox="1"/>
          <p:nvPr/>
        </p:nvSpPr>
        <p:spPr>
          <a:xfrm>
            <a:off x="448056" y="11335542"/>
            <a:ext cx="30175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3959352" y="9427464"/>
            <a:ext cx="283464" cy="2478024"/>
          </a:xfrm>
          <a:prstGeom prst="roundRect">
            <a:avLst>
              <a:gd name="adj" fmla="val 14000"/>
            </a:avLst>
          </a:prstGeom>
          <a:ln w="12700" cap="rnd">
            <a:solidFill>
              <a:srgbClr val="101010"/>
            </a:solidFill>
            <a:round/>
          </a:ln>
          <a:gradFill>
            <a:gsLst>
              <a:gs pos="0">
                <a:srgbClr val="ECECEC"/>
              </a:gs>
              <a:gs pos="100000">
                <a:srgbClr val="C5C5C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−"/>
          <p:cNvSpPr txBox="1"/>
          <p:nvPr/>
        </p:nvSpPr>
        <p:spPr>
          <a:xfrm>
            <a:off x="3959352" y="9774387"/>
            <a:ext cx="28346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214" name="−"/>
          <p:cNvSpPr txBox="1"/>
          <p:nvPr/>
        </p:nvSpPr>
        <p:spPr>
          <a:xfrm>
            <a:off x="3959352" y="10294772"/>
            <a:ext cx="28346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215" name="−"/>
          <p:cNvSpPr txBox="1"/>
          <p:nvPr/>
        </p:nvSpPr>
        <p:spPr>
          <a:xfrm>
            <a:off x="3959352" y="10815157"/>
            <a:ext cx="28346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216" name="−"/>
          <p:cNvSpPr txBox="1"/>
          <p:nvPr/>
        </p:nvSpPr>
        <p:spPr>
          <a:xfrm>
            <a:off x="3959352" y="11335542"/>
            <a:ext cx="28346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A5AAD"/>
                </a:solidFill>
                <a:latin typeface="Times New Roman"/>
              </a:defRPr>
            </a:pPr>
            <a:r>
              <a:t>−</a:t>
            </a:r>
          </a:p>
        </p:txBody>
      </p:sp>
      <p:cxnSp>
        <p:nvCxnSpPr>
          <p:cNvPr id="217" name="Connector 216"/>
          <p:cNvCxnSpPr/>
          <p:nvPr/>
        </p:nvCxnSpPr>
        <p:spPr>
          <a:xfrm>
            <a:off x="4608576" y="9171432"/>
            <a:ext cx="0" cy="3218688"/>
          </a:xfrm>
          <a:prstGeom prst="line">
            <a:avLst/>
          </a:prstGeom>
          <a:ln w="10160">
            <a:solidFill>
              <a:srgbClr val="8D8D8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Oval 217"/>
          <p:cNvSpPr/>
          <p:nvPr/>
        </p:nvSpPr>
        <p:spPr>
          <a:xfrm>
            <a:off x="1307592" y="9592056"/>
            <a:ext cx="329184" cy="329184"/>
          </a:xfrm>
          <a:prstGeom prst="ellipse">
            <a:avLst/>
          </a:prstGeom>
          <a:ln w="8890" cap="rnd">
            <a:solidFill>
              <a:srgbClr val="3F8420"/>
            </a:solidFill>
            <a:round/>
          </a:ln>
          <a:gradFill>
            <a:gsLst>
              <a:gs pos="0">
                <a:srgbClr val="A4D65C"/>
              </a:gs>
              <a:gs pos="100000">
                <a:srgbClr val="38831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−"/>
          <p:cNvSpPr txBox="1"/>
          <p:nvPr/>
        </p:nvSpPr>
        <p:spPr>
          <a:xfrm>
            <a:off x="1307592" y="9657892"/>
            <a:ext cx="329184" cy="2238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220" name="Oval 219"/>
          <p:cNvSpPr/>
          <p:nvPr/>
        </p:nvSpPr>
        <p:spPr>
          <a:xfrm>
            <a:off x="841248" y="10131552"/>
            <a:ext cx="329184" cy="329184"/>
          </a:xfrm>
          <a:prstGeom prst="ellipse">
            <a:avLst/>
          </a:prstGeom>
          <a:ln w="8890" cap="rnd">
            <a:solidFill>
              <a:srgbClr val="3F8420"/>
            </a:solidFill>
            <a:round/>
          </a:ln>
          <a:gradFill>
            <a:gsLst>
              <a:gs pos="0">
                <a:srgbClr val="A4D65C"/>
              </a:gs>
              <a:gs pos="100000">
                <a:srgbClr val="38831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−"/>
          <p:cNvSpPr txBox="1"/>
          <p:nvPr/>
        </p:nvSpPr>
        <p:spPr>
          <a:xfrm>
            <a:off x="841248" y="10197388"/>
            <a:ext cx="329184" cy="2238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222" name="Oval 221"/>
          <p:cNvSpPr/>
          <p:nvPr/>
        </p:nvSpPr>
        <p:spPr>
          <a:xfrm>
            <a:off x="832104" y="11329416"/>
            <a:ext cx="338328" cy="338328"/>
          </a:xfrm>
          <a:prstGeom prst="ellipse">
            <a:avLst/>
          </a:prstGeom>
          <a:ln w="8890" cap="rnd">
            <a:solidFill>
              <a:srgbClr val="3F8420"/>
            </a:solidFill>
            <a:round/>
          </a:ln>
          <a:gradFill>
            <a:gsLst>
              <a:gs pos="0">
                <a:srgbClr val="A4D65C"/>
              </a:gs>
              <a:gs pos="100000">
                <a:srgbClr val="38831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−"/>
          <p:cNvSpPr txBox="1"/>
          <p:nvPr/>
        </p:nvSpPr>
        <p:spPr>
          <a:xfrm>
            <a:off x="832104" y="11397081"/>
            <a:ext cx="338328" cy="2300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2697480" y="9491472"/>
            <a:ext cx="393192" cy="374904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5" name="Connector 224"/>
          <p:cNvCxnSpPr/>
          <p:nvPr/>
        </p:nvCxnSpPr>
        <p:spPr>
          <a:xfrm>
            <a:off x="2761488" y="9537192"/>
            <a:ext cx="265176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+"/>
          <p:cNvSpPr txBox="1"/>
          <p:nvPr/>
        </p:nvSpPr>
        <p:spPr>
          <a:xfrm>
            <a:off x="2706624" y="9540209"/>
            <a:ext cx="374904" cy="2999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3465576" y="9866376"/>
            <a:ext cx="393192" cy="365760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8" name="Connector 227"/>
          <p:cNvCxnSpPr/>
          <p:nvPr/>
        </p:nvCxnSpPr>
        <p:spPr>
          <a:xfrm>
            <a:off x="3529584" y="9912096"/>
            <a:ext cx="265176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+"/>
          <p:cNvSpPr txBox="1"/>
          <p:nvPr/>
        </p:nvSpPr>
        <p:spPr>
          <a:xfrm>
            <a:off x="3474720" y="9913924"/>
            <a:ext cx="374904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3163824" y="11192256"/>
            <a:ext cx="393192" cy="384048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1" name="Connector 230"/>
          <p:cNvCxnSpPr/>
          <p:nvPr/>
        </p:nvCxnSpPr>
        <p:spPr>
          <a:xfrm>
            <a:off x="3227832" y="11237976"/>
            <a:ext cx="265176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+"/>
          <p:cNvSpPr txBox="1"/>
          <p:nvPr/>
        </p:nvSpPr>
        <p:spPr>
          <a:xfrm>
            <a:off x="3172968" y="11242182"/>
            <a:ext cx="374904" cy="3072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Times New Roman"/>
              </a:defRPr>
            </a:pPr>
            <a:r>
              <a:t>+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3108960" y="9674352"/>
            <a:ext cx="768096" cy="0"/>
          </a:xfrm>
          <a:prstGeom prst="line">
            <a:avLst/>
          </a:prstGeom>
          <a:ln w="15240">
            <a:solidFill>
              <a:srgbClr val="F8750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Freeform 233"/>
          <p:cNvSpPr/>
          <p:nvPr/>
        </p:nvSpPr>
        <p:spPr>
          <a:xfrm>
            <a:off x="3785616" y="9628632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F87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5" name="Connector 234"/>
          <p:cNvCxnSpPr/>
          <p:nvPr/>
        </p:nvCxnSpPr>
        <p:spPr>
          <a:xfrm>
            <a:off x="2898648" y="10067544"/>
            <a:ext cx="521208" cy="0"/>
          </a:xfrm>
          <a:prstGeom prst="line">
            <a:avLst/>
          </a:prstGeom>
          <a:ln w="15240">
            <a:solidFill>
              <a:srgbClr val="F8750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Freeform 235"/>
          <p:cNvSpPr/>
          <p:nvPr/>
        </p:nvSpPr>
        <p:spPr>
          <a:xfrm>
            <a:off x="3328416" y="1002182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F87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7" name="Connector 236"/>
          <p:cNvCxnSpPr/>
          <p:nvPr/>
        </p:nvCxnSpPr>
        <p:spPr>
          <a:xfrm>
            <a:off x="3127248" y="11091672"/>
            <a:ext cx="749808" cy="0"/>
          </a:xfrm>
          <a:prstGeom prst="line">
            <a:avLst/>
          </a:prstGeom>
          <a:ln w="15240">
            <a:solidFill>
              <a:srgbClr val="F8750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Freeform 237"/>
          <p:cNvSpPr/>
          <p:nvPr/>
        </p:nvSpPr>
        <p:spPr>
          <a:xfrm>
            <a:off x="3785616" y="11045952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F87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9" name="Connector 238"/>
          <p:cNvCxnSpPr/>
          <p:nvPr/>
        </p:nvCxnSpPr>
        <p:spPr>
          <a:xfrm>
            <a:off x="2478024" y="11722608"/>
            <a:ext cx="1399032" cy="0"/>
          </a:xfrm>
          <a:prstGeom prst="line">
            <a:avLst/>
          </a:prstGeom>
          <a:ln w="15240">
            <a:solidFill>
              <a:srgbClr val="F8750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Freeform 239"/>
          <p:cNvSpPr/>
          <p:nvPr/>
        </p:nvSpPr>
        <p:spPr>
          <a:xfrm>
            <a:off x="3785616" y="11676888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5"/>
                </a:moveTo>
                <a:lnTo>
                  <a:pt x="0" y="0"/>
                </a:lnTo>
                <a:lnTo>
                  <a:pt x="0" y="10"/>
                </a:lnTo>
                <a:close/>
              </a:path>
            </a:pathLst>
          </a:custGeom>
          <a:solidFill>
            <a:srgbClr val="F87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1" name="Connector 240"/>
          <p:cNvCxnSpPr/>
          <p:nvPr/>
        </p:nvCxnSpPr>
        <p:spPr>
          <a:xfrm flipH="1">
            <a:off x="795528" y="9793224"/>
            <a:ext cx="457200" cy="0"/>
          </a:xfrm>
          <a:prstGeom prst="line">
            <a:avLst/>
          </a:prstGeom>
          <a:ln w="15240">
            <a:solidFill>
              <a:srgbClr val="5AAC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Freeform 241"/>
          <p:cNvSpPr/>
          <p:nvPr/>
        </p:nvSpPr>
        <p:spPr>
          <a:xfrm>
            <a:off x="795528" y="974750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10"/>
                </a:lnTo>
                <a:lnTo>
                  <a:pt x="10" y="0"/>
                </a:lnTo>
                <a:close/>
              </a:path>
            </a:pathLst>
          </a:custGeom>
          <a:solidFill>
            <a:srgbClr val="5AA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3" name="Connector 242"/>
          <p:cNvCxnSpPr/>
          <p:nvPr/>
        </p:nvCxnSpPr>
        <p:spPr>
          <a:xfrm flipH="1">
            <a:off x="1207008" y="10323576"/>
            <a:ext cx="265176" cy="0"/>
          </a:xfrm>
          <a:prstGeom prst="line">
            <a:avLst/>
          </a:prstGeom>
          <a:ln w="15240">
            <a:solidFill>
              <a:srgbClr val="5AAC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Freeform 243"/>
          <p:cNvSpPr/>
          <p:nvPr/>
        </p:nvSpPr>
        <p:spPr>
          <a:xfrm>
            <a:off x="1207008" y="10277856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10"/>
                </a:lnTo>
                <a:lnTo>
                  <a:pt x="10" y="0"/>
                </a:lnTo>
                <a:close/>
              </a:path>
            </a:pathLst>
          </a:custGeom>
          <a:solidFill>
            <a:srgbClr val="5AA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5" name="Connector 244"/>
          <p:cNvCxnSpPr/>
          <p:nvPr/>
        </p:nvCxnSpPr>
        <p:spPr>
          <a:xfrm flipH="1">
            <a:off x="868680" y="11804904"/>
            <a:ext cx="1307592" cy="0"/>
          </a:xfrm>
          <a:prstGeom prst="line">
            <a:avLst/>
          </a:prstGeom>
          <a:ln w="15240">
            <a:solidFill>
              <a:srgbClr val="5AAC2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Freeform 245"/>
          <p:cNvSpPr/>
          <p:nvPr/>
        </p:nvSpPr>
        <p:spPr>
          <a:xfrm>
            <a:off x="868680" y="11759184"/>
            <a:ext cx="91440" cy="9144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5"/>
                </a:moveTo>
                <a:lnTo>
                  <a:pt x="10" y="10"/>
                </a:lnTo>
                <a:lnTo>
                  <a:pt x="10" y="0"/>
                </a:lnTo>
                <a:close/>
              </a:path>
            </a:pathLst>
          </a:custGeom>
          <a:solidFill>
            <a:srgbClr val="5AA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59" name="Starch granule — editable vector group"/>
          <p:cNvGrpSpPr/>
          <p:nvPr/>
        </p:nvGrpSpPr>
        <p:grpSpPr>
          <a:xfrm>
            <a:off x="1600200" y="9811512"/>
            <a:ext cx="1225296" cy="1152144"/>
            <a:chOff x="1600200" y="9811512"/>
            <a:chExt cx="1225296" cy="1152144"/>
          </a:xfrm>
        </p:grpSpPr>
        <p:sp>
          <p:nvSpPr>
            <p:cNvPr id="247" name="Editable starch granule"/>
            <p:cNvSpPr/>
            <p:nvPr/>
          </p:nvSpPr>
          <p:spPr>
            <a:xfrm>
              <a:off x="1600200" y="9811512"/>
              <a:ext cx="1225296" cy="1152144"/>
            </a:xfrm>
            <a:prstGeom prst="ellipse">
              <a:avLst/>
            </a:prstGeom>
            <a:ln w="15316" cap="rnd">
              <a:solidFill>
                <a:srgbClr val="002D65"/>
              </a:solidFill>
              <a:round/>
            </a:ln>
            <a:gradFill>
              <a:gsLst>
                <a:gs pos="0">
                  <a:srgbClr val="F7FCFF"/>
                </a:gs>
                <a:gs pos="100000">
                  <a:srgbClr val="A9D6F8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8" name="Freeform 247"/>
            <p:cNvSpPr/>
            <p:nvPr/>
          </p:nvSpPr>
          <p:spPr>
            <a:xfrm>
              <a:off x="1810512" y="9939528"/>
              <a:ext cx="338328" cy="393192"/>
            </a:xfrm>
            <a:custGeom>
              <a:avLst/>
              <a:gdLst/>
              <a:ahLst/>
              <a:cxnLst/>
              <a:rect l="l" t="t" r="r" b="b"/>
              <a:pathLst>
                <a:path w="37" h="43">
                  <a:moveTo>
                    <a:pt x="37" y="43"/>
                  </a:moveTo>
                  <a:lnTo>
                    <a:pt x="36" y="42"/>
                  </a:lnTo>
                  <a:lnTo>
                    <a:pt x="35" y="41"/>
                  </a:lnTo>
                  <a:lnTo>
                    <a:pt x="34" y="39"/>
                  </a:lnTo>
                  <a:lnTo>
                    <a:pt x="33" y="37"/>
                  </a:lnTo>
                  <a:lnTo>
                    <a:pt x="31" y="36"/>
                  </a:lnTo>
                  <a:lnTo>
                    <a:pt x="29" y="34"/>
                  </a:lnTo>
                  <a:lnTo>
                    <a:pt x="28" y="33"/>
                  </a:lnTo>
                  <a:lnTo>
                    <a:pt x="26" y="31"/>
                  </a:lnTo>
                  <a:lnTo>
                    <a:pt x="25" y="30"/>
                  </a:lnTo>
                  <a:lnTo>
                    <a:pt x="24" y="29"/>
                  </a:lnTo>
                  <a:lnTo>
                    <a:pt x="23" y="29"/>
                  </a:lnTo>
                  <a:lnTo>
                    <a:pt x="22" y="29"/>
                  </a:lnTo>
                  <a:lnTo>
                    <a:pt x="21" y="29"/>
                  </a:lnTo>
                  <a:lnTo>
                    <a:pt x="20" y="28"/>
                  </a:lnTo>
                  <a:lnTo>
                    <a:pt x="20" y="28"/>
                  </a:lnTo>
                  <a:lnTo>
                    <a:pt x="19" y="28"/>
                  </a:lnTo>
                  <a:lnTo>
                    <a:pt x="18" y="27"/>
                  </a:lnTo>
                  <a:lnTo>
                    <a:pt x="17" y="26"/>
                  </a:lnTo>
                  <a:lnTo>
                    <a:pt x="17" y="25"/>
                  </a:lnTo>
                  <a:lnTo>
                    <a:pt x="16" y="23"/>
                  </a:lnTo>
                  <a:lnTo>
                    <a:pt x="15" y="22"/>
                  </a:lnTo>
                  <a:lnTo>
                    <a:pt x="15" y="20"/>
                  </a:lnTo>
                  <a:lnTo>
                    <a:pt x="15" y="17"/>
                  </a:lnTo>
                  <a:lnTo>
                    <a:pt x="14" y="15"/>
                  </a:lnTo>
                  <a:lnTo>
                    <a:pt x="13" y="13"/>
                  </a:lnTo>
                  <a:lnTo>
                    <a:pt x="13" y="12"/>
                  </a:lnTo>
                  <a:lnTo>
                    <a:pt x="12" y="10"/>
                  </a:lnTo>
                  <a:lnTo>
                    <a:pt x="11" y="8"/>
                  </a:lnTo>
                  <a:lnTo>
                    <a:pt x="9" y="7"/>
                  </a:lnTo>
                  <a:lnTo>
                    <a:pt x="8" y="6"/>
                  </a:lnTo>
                  <a:lnTo>
                    <a:pt x="6" y="4"/>
                  </a:lnTo>
                  <a:lnTo>
                    <a:pt x="5" y="3"/>
                  </a:lnTo>
                  <a:lnTo>
                    <a:pt x="3" y="2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noFill/>
            <a:ln w="11912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9" name="Freeform 248"/>
            <p:cNvSpPr/>
            <p:nvPr/>
          </p:nvSpPr>
          <p:spPr>
            <a:xfrm>
              <a:off x="2167128" y="9884664"/>
              <a:ext cx="146304" cy="420624"/>
            </a:xfrm>
            <a:custGeom>
              <a:avLst/>
              <a:gdLst/>
              <a:ahLst/>
              <a:cxnLst/>
              <a:rect l="l" t="t" r="r" b="b"/>
              <a:pathLst>
                <a:path w="16" h="46">
                  <a:moveTo>
                    <a:pt x="0" y="46"/>
                  </a:moveTo>
                  <a:lnTo>
                    <a:pt x="0" y="45"/>
                  </a:lnTo>
                  <a:lnTo>
                    <a:pt x="1" y="44"/>
                  </a:lnTo>
                  <a:lnTo>
                    <a:pt x="2" y="43"/>
                  </a:lnTo>
                  <a:lnTo>
                    <a:pt x="3" y="42"/>
                  </a:lnTo>
                  <a:lnTo>
                    <a:pt x="5" y="40"/>
                  </a:lnTo>
                  <a:lnTo>
                    <a:pt x="6" y="39"/>
                  </a:lnTo>
                  <a:lnTo>
                    <a:pt x="7" y="37"/>
                  </a:lnTo>
                  <a:lnTo>
                    <a:pt x="8" y="35"/>
                  </a:lnTo>
                  <a:lnTo>
                    <a:pt x="9" y="34"/>
                  </a:lnTo>
                  <a:lnTo>
                    <a:pt x="10" y="32"/>
                  </a:lnTo>
                  <a:lnTo>
                    <a:pt x="11" y="30"/>
                  </a:lnTo>
                  <a:lnTo>
                    <a:pt x="12" y="28"/>
                  </a:lnTo>
                  <a:lnTo>
                    <a:pt x="13" y="27"/>
                  </a:lnTo>
                  <a:lnTo>
                    <a:pt x="13" y="25"/>
                  </a:lnTo>
                  <a:lnTo>
                    <a:pt x="14" y="23"/>
                  </a:lnTo>
                  <a:lnTo>
                    <a:pt x="15" y="21"/>
                  </a:lnTo>
                  <a:lnTo>
                    <a:pt x="15" y="19"/>
                  </a:lnTo>
                  <a:lnTo>
                    <a:pt x="16" y="17"/>
                  </a:lnTo>
                  <a:lnTo>
                    <a:pt x="16" y="15"/>
                  </a:lnTo>
                  <a:lnTo>
                    <a:pt x="16" y="13"/>
                  </a:lnTo>
                  <a:lnTo>
                    <a:pt x="16" y="11"/>
                  </a:lnTo>
                  <a:lnTo>
                    <a:pt x="16" y="8"/>
                  </a:lnTo>
                  <a:lnTo>
                    <a:pt x="15" y="6"/>
                  </a:lnTo>
                  <a:lnTo>
                    <a:pt x="15" y="4"/>
                  </a:lnTo>
                  <a:lnTo>
                    <a:pt x="15" y="2"/>
                  </a:lnTo>
                  <a:lnTo>
                    <a:pt x="15" y="1"/>
                  </a:lnTo>
                  <a:lnTo>
                    <a:pt x="14" y="0"/>
                  </a:lnTo>
                </a:path>
              </a:pathLst>
            </a:custGeom>
            <a:noFill/>
            <a:ln w="11912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0" name="Freeform 249"/>
            <p:cNvSpPr/>
            <p:nvPr/>
          </p:nvSpPr>
          <p:spPr>
            <a:xfrm>
              <a:off x="2167128" y="10122408"/>
              <a:ext cx="585216" cy="237744"/>
            </a:xfrm>
            <a:custGeom>
              <a:avLst/>
              <a:gdLst/>
              <a:ahLst/>
              <a:cxnLst/>
              <a:rect l="l" t="t" r="r" b="b"/>
              <a:pathLst>
                <a:path w="64" h="26">
                  <a:moveTo>
                    <a:pt x="0" y="26"/>
                  </a:moveTo>
                  <a:lnTo>
                    <a:pt x="1" y="26"/>
                  </a:lnTo>
                  <a:lnTo>
                    <a:pt x="3" y="25"/>
                  </a:lnTo>
                  <a:lnTo>
                    <a:pt x="6" y="24"/>
                  </a:lnTo>
                  <a:lnTo>
                    <a:pt x="8" y="23"/>
                  </a:lnTo>
                  <a:lnTo>
                    <a:pt x="11" y="21"/>
                  </a:lnTo>
                  <a:lnTo>
                    <a:pt x="14" y="20"/>
                  </a:lnTo>
                  <a:lnTo>
                    <a:pt x="17" y="19"/>
                  </a:lnTo>
                  <a:lnTo>
                    <a:pt x="20" y="18"/>
                  </a:lnTo>
                  <a:lnTo>
                    <a:pt x="22" y="18"/>
                  </a:lnTo>
                  <a:lnTo>
                    <a:pt x="25" y="17"/>
                  </a:lnTo>
                  <a:lnTo>
                    <a:pt x="27" y="17"/>
                  </a:lnTo>
                  <a:lnTo>
                    <a:pt x="29" y="17"/>
                  </a:lnTo>
                  <a:lnTo>
                    <a:pt x="31" y="18"/>
                  </a:lnTo>
                  <a:lnTo>
                    <a:pt x="32" y="18"/>
                  </a:lnTo>
                  <a:lnTo>
                    <a:pt x="34" y="18"/>
                  </a:lnTo>
                  <a:lnTo>
                    <a:pt x="36" y="18"/>
                  </a:lnTo>
                  <a:lnTo>
                    <a:pt x="38" y="18"/>
                  </a:lnTo>
                  <a:lnTo>
                    <a:pt x="40" y="18"/>
                  </a:lnTo>
                  <a:lnTo>
                    <a:pt x="42" y="17"/>
                  </a:lnTo>
                  <a:lnTo>
                    <a:pt x="44" y="16"/>
                  </a:lnTo>
                  <a:lnTo>
                    <a:pt x="46" y="15"/>
                  </a:lnTo>
                  <a:lnTo>
                    <a:pt x="48" y="14"/>
                  </a:lnTo>
                  <a:lnTo>
                    <a:pt x="49" y="12"/>
                  </a:lnTo>
                  <a:lnTo>
                    <a:pt x="51" y="11"/>
                  </a:lnTo>
                  <a:lnTo>
                    <a:pt x="53" y="10"/>
                  </a:lnTo>
                  <a:lnTo>
                    <a:pt x="54" y="9"/>
                  </a:lnTo>
                  <a:lnTo>
                    <a:pt x="56" y="8"/>
                  </a:lnTo>
                  <a:lnTo>
                    <a:pt x="57" y="7"/>
                  </a:lnTo>
                  <a:lnTo>
                    <a:pt x="58" y="6"/>
                  </a:lnTo>
                  <a:lnTo>
                    <a:pt x="59" y="5"/>
                  </a:lnTo>
                  <a:lnTo>
                    <a:pt x="60" y="4"/>
                  </a:lnTo>
                  <a:lnTo>
                    <a:pt x="61" y="3"/>
                  </a:lnTo>
                  <a:lnTo>
                    <a:pt x="62" y="2"/>
                  </a:lnTo>
                  <a:lnTo>
                    <a:pt x="63" y="1"/>
                  </a:lnTo>
                  <a:lnTo>
                    <a:pt x="63" y="1"/>
                  </a:lnTo>
                  <a:lnTo>
                    <a:pt x="64" y="0"/>
                  </a:lnTo>
                </a:path>
              </a:pathLst>
            </a:custGeom>
            <a:noFill/>
            <a:ln w="11912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1" name="Freeform 250"/>
            <p:cNvSpPr/>
            <p:nvPr/>
          </p:nvSpPr>
          <p:spPr>
            <a:xfrm>
              <a:off x="2185416" y="10396728"/>
              <a:ext cx="603504" cy="246888"/>
            </a:xfrm>
            <a:custGeom>
              <a:avLst/>
              <a:gdLst/>
              <a:ahLst/>
              <a:cxnLst/>
              <a:rect l="l" t="t" r="r" b="b"/>
              <a:pathLst>
                <a:path w="66" h="27">
                  <a:moveTo>
                    <a:pt x="0" y="0"/>
                  </a:moveTo>
                  <a:lnTo>
                    <a:pt x="2" y="1"/>
                  </a:lnTo>
                  <a:lnTo>
                    <a:pt x="3" y="2"/>
                  </a:lnTo>
                  <a:lnTo>
                    <a:pt x="5" y="4"/>
                  </a:lnTo>
                  <a:lnTo>
                    <a:pt x="7" y="5"/>
                  </a:lnTo>
                  <a:lnTo>
                    <a:pt x="9" y="7"/>
                  </a:lnTo>
                  <a:lnTo>
                    <a:pt x="11" y="9"/>
                  </a:lnTo>
                  <a:lnTo>
                    <a:pt x="14" y="10"/>
                  </a:lnTo>
                  <a:lnTo>
                    <a:pt x="16" y="12"/>
                  </a:lnTo>
                  <a:lnTo>
                    <a:pt x="18" y="13"/>
                  </a:lnTo>
                  <a:lnTo>
                    <a:pt x="19" y="14"/>
                  </a:lnTo>
                  <a:lnTo>
                    <a:pt x="21" y="15"/>
                  </a:lnTo>
                  <a:lnTo>
                    <a:pt x="23" y="15"/>
                  </a:lnTo>
                  <a:lnTo>
                    <a:pt x="24" y="16"/>
                  </a:lnTo>
                  <a:lnTo>
                    <a:pt x="26" y="17"/>
                  </a:lnTo>
                  <a:lnTo>
                    <a:pt x="27" y="17"/>
                  </a:lnTo>
                  <a:lnTo>
                    <a:pt x="29" y="17"/>
                  </a:lnTo>
                  <a:lnTo>
                    <a:pt x="31" y="18"/>
                  </a:lnTo>
                  <a:lnTo>
                    <a:pt x="32" y="18"/>
                  </a:lnTo>
                  <a:lnTo>
                    <a:pt x="35" y="18"/>
                  </a:lnTo>
                  <a:lnTo>
                    <a:pt x="37" y="18"/>
                  </a:lnTo>
                  <a:lnTo>
                    <a:pt x="39" y="18"/>
                  </a:lnTo>
                  <a:lnTo>
                    <a:pt x="42" y="17"/>
                  </a:lnTo>
                  <a:lnTo>
                    <a:pt x="45" y="17"/>
                  </a:lnTo>
                  <a:lnTo>
                    <a:pt x="47" y="16"/>
                  </a:lnTo>
                  <a:lnTo>
                    <a:pt x="50" y="16"/>
                  </a:lnTo>
                  <a:lnTo>
                    <a:pt x="52" y="16"/>
                  </a:lnTo>
                  <a:lnTo>
                    <a:pt x="54" y="17"/>
                  </a:lnTo>
                  <a:lnTo>
                    <a:pt x="56" y="17"/>
                  </a:lnTo>
                  <a:lnTo>
                    <a:pt x="57" y="18"/>
                  </a:lnTo>
                  <a:lnTo>
                    <a:pt x="59" y="20"/>
                  </a:lnTo>
                  <a:lnTo>
                    <a:pt x="61" y="21"/>
                  </a:lnTo>
                  <a:lnTo>
                    <a:pt x="62" y="22"/>
                  </a:lnTo>
                  <a:lnTo>
                    <a:pt x="63" y="24"/>
                  </a:lnTo>
                  <a:lnTo>
                    <a:pt x="64" y="25"/>
                  </a:lnTo>
                  <a:lnTo>
                    <a:pt x="65" y="26"/>
                  </a:lnTo>
                  <a:lnTo>
                    <a:pt x="66" y="27"/>
                  </a:lnTo>
                </a:path>
              </a:pathLst>
            </a:custGeom>
            <a:noFill/>
            <a:ln w="11912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2" name="Freeform 251"/>
            <p:cNvSpPr/>
            <p:nvPr/>
          </p:nvSpPr>
          <p:spPr>
            <a:xfrm>
              <a:off x="2002536" y="10442448"/>
              <a:ext cx="164592" cy="466344"/>
            </a:xfrm>
            <a:custGeom>
              <a:avLst/>
              <a:gdLst/>
              <a:ahLst/>
              <a:cxnLst/>
              <a:rect l="l" t="t" r="r" b="b"/>
              <a:pathLst>
                <a:path w="18" h="51">
                  <a:moveTo>
                    <a:pt x="18" y="0"/>
                  </a:moveTo>
                  <a:lnTo>
                    <a:pt x="17" y="2"/>
                  </a:lnTo>
                  <a:lnTo>
                    <a:pt x="16" y="4"/>
                  </a:lnTo>
                  <a:lnTo>
                    <a:pt x="14" y="6"/>
                  </a:lnTo>
                  <a:lnTo>
                    <a:pt x="13" y="8"/>
                  </a:lnTo>
                  <a:lnTo>
                    <a:pt x="11" y="11"/>
                  </a:lnTo>
                  <a:lnTo>
                    <a:pt x="10" y="13"/>
                  </a:lnTo>
                  <a:lnTo>
                    <a:pt x="9" y="16"/>
                  </a:lnTo>
                  <a:lnTo>
                    <a:pt x="8" y="18"/>
                  </a:lnTo>
                  <a:lnTo>
                    <a:pt x="7" y="20"/>
                  </a:lnTo>
                  <a:lnTo>
                    <a:pt x="7" y="22"/>
                  </a:lnTo>
                  <a:lnTo>
                    <a:pt x="7" y="24"/>
                  </a:lnTo>
                  <a:lnTo>
                    <a:pt x="7" y="26"/>
                  </a:lnTo>
                  <a:lnTo>
                    <a:pt x="8" y="28"/>
                  </a:lnTo>
                  <a:lnTo>
                    <a:pt x="9" y="29"/>
                  </a:lnTo>
                  <a:lnTo>
                    <a:pt x="9" y="31"/>
                  </a:lnTo>
                  <a:lnTo>
                    <a:pt x="10" y="32"/>
                  </a:lnTo>
                  <a:lnTo>
                    <a:pt x="10" y="34"/>
                  </a:lnTo>
                  <a:lnTo>
                    <a:pt x="10" y="36"/>
                  </a:lnTo>
                  <a:lnTo>
                    <a:pt x="9" y="37"/>
                  </a:lnTo>
                  <a:lnTo>
                    <a:pt x="8" y="39"/>
                  </a:lnTo>
                  <a:lnTo>
                    <a:pt x="7" y="41"/>
                  </a:lnTo>
                  <a:lnTo>
                    <a:pt x="6" y="43"/>
                  </a:lnTo>
                  <a:lnTo>
                    <a:pt x="4" y="45"/>
                  </a:lnTo>
                  <a:lnTo>
                    <a:pt x="3" y="47"/>
                  </a:lnTo>
                  <a:lnTo>
                    <a:pt x="2" y="48"/>
                  </a:lnTo>
                  <a:lnTo>
                    <a:pt x="1" y="50"/>
                  </a:lnTo>
                  <a:lnTo>
                    <a:pt x="0" y="51"/>
                  </a:lnTo>
                </a:path>
              </a:pathLst>
            </a:custGeom>
            <a:noFill/>
            <a:ln w="11912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3" name="Freeform 252"/>
            <p:cNvSpPr/>
            <p:nvPr/>
          </p:nvSpPr>
          <p:spPr>
            <a:xfrm>
              <a:off x="1664208" y="10396728"/>
              <a:ext cx="466344" cy="164592"/>
            </a:xfrm>
            <a:custGeom>
              <a:avLst/>
              <a:gdLst/>
              <a:ahLst/>
              <a:cxnLst/>
              <a:rect l="l" t="t" r="r" b="b"/>
              <a:pathLst>
                <a:path w="51" h="18">
                  <a:moveTo>
                    <a:pt x="51" y="0"/>
                  </a:moveTo>
                  <a:lnTo>
                    <a:pt x="49" y="1"/>
                  </a:lnTo>
                  <a:lnTo>
                    <a:pt x="48" y="1"/>
                  </a:lnTo>
                  <a:lnTo>
                    <a:pt x="46" y="2"/>
                  </a:lnTo>
                  <a:lnTo>
                    <a:pt x="44" y="2"/>
                  </a:lnTo>
                  <a:lnTo>
                    <a:pt x="42" y="3"/>
                  </a:lnTo>
                  <a:lnTo>
                    <a:pt x="39" y="4"/>
                  </a:lnTo>
                  <a:lnTo>
                    <a:pt x="37" y="5"/>
                  </a:lnTo>
                  <a:lnTo>
                    <a:pt x="35" y="6"/>
                  </a:lnTo>
                  <a:lnTo>
                    <a:pt x="33" y="7"/>
                  </a:lnTo>
                  <a:lnTo>
                    <a:pt x="31" y="8"/>
                  </a:lnTo>
                  <a:lnTo>
                    <a:pt x="30" y="9"/>
                  </a:lnTo>
                  <a:lnTo>
                    <a:pt x="28" y="10"/>
                  </a:lnTo>
                  <a:lnTo>
                    <a:pt x="27" y="12"/>
                  </a:lnTo>
                  <a:lnTo>
                    <a:pt x="25" y="13"/>
                  </a:lnTo>
                  <a:lnTo>
                    <a:pt x="24" y="15"/>
                  </a:lnTo>
                  <a:lnTo>
                    <a:pt x="22" y="16"/>
                  </a:lnTo>
                  <a:lnTo>
                    <a:pt x="20" y="17"/>
                  </a:lnTo>
                  <a:lnTo>
                    <a:pt x="18" y="18"/>
                  </a:lnTo>
                  <a:lnTo>
                    <a:pt x="16" y="18"/>
                  </a:lnTo>
                  <a:lnTo>
                    <a:pt x="14" y="18"/>
                  </a:lnTo>
                  <a:lnTo>
                    <a:pt x="12" y="18"/>
                  </a:lnTo>
                  <a:lnTo>
                    <a:pt x="9" y="18"/>
                  </a:lnTo>
                  <a:lnTo>
                    <a:pt x="7" y="18"/>
                  </a:lnTo>
                  <a:lnTo>
                    <a:pt x="5" y="17"/>
                  </a:lnTo>
                  <a:lnTo>
                    <a:pt x="3" y="17"/>
                  </a:lnTo>
                  <a:lnTo>
                    <a:pt x="1" y="17"/>
                  </a:lnTo>
                  <a:lnTo>
                    <a:pt x="0" y="17"/>
                  </a:lnTo>
                </a:path>
              </a:pathLst>
            </a:custGeom>
            <a:noFill/>
            <a:ln w="11912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4" name="Freeform 253"/>
            <p:cNvSpPr/>
            <p:nvPr/>
          </p:nvSpPr>
          <p:spPr>
            <a:xfrm>
              <a:off x="1773936" y="10552176"/>
              <a:ext cx="91440" cy="246888"/>
            </a:xfrm>
            <a:custGeom>
              <a:avLst/>
              <a:gdLst/>
              <a:ahLst/>
              <a:cxnLst/>
              <a:rect l="l" t="t" r="r" b="b"/>
              <a:pathLst>
                <a:path w="10" h="27">
                  <a:moveTo>
                    <a:pt x="9" y="0"/>
                  </a:moveTo>
                  <a:lnTo>
                    <a:pt x="9" y="1"/>
                  </a:lnTo>
                  <a:lnTo>
                    <a:pt x="9" y="3"/>
                  </a:lnTo>
                  <a:lnTo>
                    <a:pt x="9" y="4"/>
                  </a:lnTo>
                  <a:lnTo>
                    <a:pt x="10" y="7"/>
                  </a:lnTo>
                  <a:lnTo>
                    <a:pt x="10" y="9"/>
                  </a:lnTo>
                  <a:lnTo>
                    <a:pt x="10" y="11"/>
                  </a:lnTo>
                  <a:lnTo>
                    <a:pt x="10" y="14"/>
                  </a:lnTo>
                  <a:lnTo>
                    <a:pt x="10" y="16"/>
                  </a:lnTo>
                  <a:lnTo>
                    <a:pt x="9" y="17"/>
                  </a:lnTo>
                  <a:lnTo>
                    <a:pt x="8" y="19"/>
                  </a:lnTo>
                  <a:lnTo>
                    <a:pt x="8" y="20"/>
                  </a:lnTo>
                  <a:lnTo>
                    <a:pt x="6" y="22"/>
                  </a:lnTo>
                  <a:lnTo>
                    <a:pt x="5" y="23"/>
                  </a:lnTo>
                  <a:lnTo>
                    <a:pt x="4" y="24"/>
                  </a:lnTo>
                  <a:lnTo>
                    <a:pt x="3" y="25"/>
                  </a:lnTo>
                  <a:lnTo>
                    <a:pt x="1" y="26"/>
                  </a:lnTo>
                  <a:lnTo>
                    <a:pt x="0" y="27"/>
                  </a:lnTo>
                  <a:lnTo>
                    <a:pt x="0" y="27"/>
                  </a:lnTo>
                </a:path>
              </a:pathLst>
            </a:custGeom>
            <a:noFill/>
            <a:ln w="11912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Freeform 254"/>
            <p:cNvSpPr/>
            <p:nvPr/>
          </p:nvSpPr>
          <p:spPr>
            <a:xfrm>
              <a:off x="2395728" y="9994392"/>
              <a:ext cx="128016" cy="292608"/>
            </a:xfrm>
            <a:custGeom>
              <a:avLst/>
              <a:gdLst/>
              <a:ahLst/>
              <a:cxnLst/>
              <a:rect l="l" t="t" r="r" b="b"/>
              <a:pathLst>
                <a:path w="14" h="32">
                  <a:moveTo>
                    <a:pt x="0" y="32"/>
                  </a:moveTo>
                  <a:lnTo>
                    <a:pt x="0" y="31"/>
                  </a:lnTo>
                  <a:lnTo>
                    <a:pt x="0" y="29"/>
                  </a:lnTo>
                  <a:lnTo>
                    <a:pt x="0" y="27"/>
                  </a:lnTo>
                  <a:lnTo>
                    <a:pt x="0" y="25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0" y="19"/>
                  </a:lnTo>
                  <a:lnTo>
                    <a:pt x="1" y="17"/>
                  </a:lnTo>
                  <a:lnTo>
                    <a:pt x="1" y="15"/>
                  </a:lnTo>
                  <a:lnTo>
                    <a:pt x="2" y="13"/>
                  </a:lnTo>
                  <a:lnTo>
                    <a:pt x="4" y="12"/>
                  </a:lnTo>
                  <a:lnTo>
                    <a:pt x="5" y="10"/>
                  </a:lnTo>
                  <a:lnTo>
                    <a:pt x="7" y="8"/>
                  </a:lnTo>
                  <a:lnTo>
                    <a:pt x="8" y="6"/>
                  </a:lnTo>
                  <a:lnTo>
                    <a:pt x="10" y="4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0"/>
                  </a:lnTo>
                </a:path>
              </a:pathLst>
            </a:custGeom>
            <a:noFill/>
            <a:ln w="11912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Freeform 255"/>
            <p:cNvSpPr/>
            <p:nvPr/>
          </p:nvSpPr>
          <p:spPr>
            <a:xfrm>
              <a:off x="2441448" y="10561320"/>
              <a:ext cx="91440" cy="301752"/>
            </a:xfrm>
            <a:custGeom>
              <a:avLst/>
              <a:gdLst/>
              <a:ahLst/>
              <a:cxnLst/>
              <a:rect l="l" t="t" r="r" b="b"/>
              <a:pathLst>
                <a:path w="10" h="33">
                  <a:moveTo>
                    <a:pt x="4" y="0"/>
                  </a:moveTo>
                  <a:lnTo>
                    <a:pt x="4" y="1"/>
                  </a:lnTo>
                  <a:lnTo>
                    <a:pt x="4" y="2"/>
                  </a:lnTo>
                  <a:lnTo>
                    <a:pt x="3" y="4"/>
                  </a:lnTo>
                  <a:lnTo>
                    <a:pt x="2" y="6"/>
                  </a:lnTo>
                  <a:lnTo>
                    <a:pt x="2" y="8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1" y="18"/>
                  </a:lnTo>
                  <a:lnTo>
                    <a:pt x="2" y="20"/>
                  </a:lnTo>
                  <a:lnTo>
                    <a:pt x="3" y="22"/>
                  </a:lnTo>
                  <a:lnTo>
                    <a:pt x="4" y="24"/>
                  </a:lnTo>
                  <a:lnTo>
                    <a:pt x="6" y="27"/>
                  </a:lnTo>
                  <a:lnTo>
                    <a:pt x="7" y="28"/>
                  </a:lnTo>
                  <a:lnTo>
                    <a:pt x="8" y="30"/>
                  </a:lnTo>
                  <a:lnTo>
                    <a:pt x="9" y="32"/>
                  </a:lnTo>
                  <a:lnTo>
                    <a:pt x="10" y="33"/>
                  </a:lnTo>
                </a:path>
              </a:pathLst>
            </a:custGeom>
            <a:noFill/>
            <a:ln w="11912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7" name="Freeform 256"/>
            <p:cNvSpPr/>
            <p:nvPr/>
          </p:nvSpPr>
          <p:spPr>
            <a:xfrm>
              <a:off x="1682496" y="10122408"/>
              <a:ext cx="283464" cy="82296"/>
            </a:xfrm>
            <a:custGeom>
              <a:avLst/>
              <a:gdLst/>
              <a:ahLst/>
              <a:cxnLst/>
              <a:rect l="l" t="t" r="r" b="b"/>
              <a:pathLst>
                <a:path w="31" h="9">
                  <a:moveTo>
                    <a:pt x="31" y="6"/>
                  </a:moveTo>
                  <a:lnTo>
                    <a:pt x="30" y="7"/>
                  </a:lnTo>
                  <a:lnTo>
                    <a:pt x="29" y="7"/>
                  </a:lnTo>
                  <a:lnTo>
                    <a:pt x="27" y="7"/>
                  </a:lnTo>
                  <a:lnTo>
                    <a:pt x="26" y="8"/>
                  </a:lnTo>
                  <a:lnTo>
                    <a:pt x="24" y="8"/>
                  </a:lnTo>
                  <a:lnTo>
                    <a:pt x="22" y="9"/>
                  </a:lnTo>
                  <a:lnTo>
                    <a:pt x="20" y="9"/>
                  </a:lnTo>
                  <a:lnTo>
                    <a:pt x="18" y="9"/>
                  </a:lnTo>
                  <a:lnTo>
                    <a:pt x="16" y="9"/>
                  </a:lnTo>
                  <a:lnTo>
                    <a:pt x="15" y="8"/>
                  </a:lnTo>
                  <a:lnTo>
                    <a:pt x="13" y="7"/>
                  </a:lnTo>
                  <a:lnTo>
                    <a:pt x="11" y="6"/>
                  </a:lnTo>
                  <a:lnTo>
                    <a:pt x="9" y="5"/>
                  </a:lnTo>
                  <a:lnTo>
                    <a:pt x="6" y="4"/>
                  </a:lnTo>
                  <a:lnTo>
                    <a:pt x="5" y="3"/>
                  </a:lnTo>
                  <a:lnTo>
                    <a:pt x="3" y="2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noFill/>
            <a:ln w="11912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Oval 257"/>
            <p:cNvSpPr/>
            <p:nvPr/>
          </p:nvSpPr>
          <p:spPr>
            <a:xfrm>
              <a:off x="1600200" y="9811512"/>
              <a:ext cx="1225296" cy="1152144"/>
            </a:xfrm>
            <a:prstGeom prst="ellipse">
              <a:avLst/>
            </a:prstGeom>
            <a:noFill/>
            <a:ln w="15316" cap="rnd">
              <a:solidFill>
                <a:srgbClr val="002D65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2" name="Starch granule — editable vector group"/>
          <p:cNvGrpSpPr/>
          <p:nvPr/>
        </p:nvGrpSpPr>
        <p:grpSpPr>
          <a:xfrm>
            <a:off x="1161288" y="10863072"/>
            <a:ext cx="585216" cy="576072"/>
            <a:chOff x="1161288" y="10863072"/>
            <a:chExt cx="585216" cy="576072"/>
          </a:xfrm>
        </p:grpSpPr>
        <p:sp>
          <p:nvSpPr>
            <p:cNvPr id="260" name="Editable starch granule"/>
            <p:cNvSpPr/>
            <p:nvPr/>
          </p:nvSpPr>
          <p:spPr>
            <a:xfrm>
              <a:off x="1161288" y="10863072"/>
              <a:ext cx="585216" cy="576072"/>
            </a:xfrm>
            <a:prstGeom prst="ellipse">
              <a:avLst/>
            </a:prstGeom>
            <a:ln w="7620" cap="rnd">
              <a:solidFill>
                <a:srgbClr val="002D65"/>
              </a:solidFill>
              <a:round/>
            </a:ln>
            <a:gradFill>
              <a:gsLst>
                <a:gs pos="0">
                  <a:srgbClr val="F7FCFF"/>
                </a:gs>
                <a:gs pos="100000">
                  <a:srgbClr val="A9D6F8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1" name="Freeform 260"/>
            <p:cNvSpPr/>
            <p:nvPr/>
          </p:nvSpPr>
          <p:spPr>
            <a:xfrm>
              <a:off x="1481328" y="10927080"/>
              <a:ext cx="164592" cy="192024"/>
            </a:xfrm>
            <a:custGeom>
              <a:avLst/>
              <a:gdLst/>
              <a:ahLst/>
              <a:cxnLst/>
              <a:rect l="l" t="t" r="r" b="b"/>
              <a:pathLst>
                <a:path w="18" h="21">
                  <a:moveTo>
                    <a:pt x="0" y="21"/>
                  </a:moveTo>
                  <a:lnTo>
                    <a:pt x="1" y="21"/>
                  </a:lnTo>
                  <a:lnTo>
                    <a:pt x="1" y="20"/>
                  </a:lnTo>
                  <a:lnTo>
                    <a:pt x="2" y="20"/>
                  </a:lnTo>
                  <a:lnTo>
                    <a:pt x="2" y="19"/>
                  </a:lnTo>
                  <a:lnTo>
                    <a:pt x="3" y="18"/>
                  </a:lnTo>
                  <a:lnTo>
                    <a:pt x="4" y="17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6" y="15"/>
                  </a:lnTo>
                  <a:lnTo>
                    <a:pt x="6" y="15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8" y="14"/>
                  </a:lnTo>
                  <a:lnTo>
                    <a:pt x="8" y="14"/>
                  </a:lnTo>
                  <a:lnTo>
                    <a:pt x="9" y="14"/>
                  </a:lnTo>
                  <a:lnTo>
                    <a:pt x="9" y="14"/>
                  </a:lnTo>
                  <a:lnTo>
                    <a:pt x="9" y="14"/>
                  </a:lnTo>
                  <a:lnTo>
                    <a:pt x="10" y="13"/>
                  </a:lnTo>
                  <a:lnTo>
                    <a:pt x="10" y="13"/>
                  </a:lnTo>
                  <a:lnTo>
                    <a:pt x="10" y="12"/>
                  </a:lnTo>
                  <a:lnTo>
                    <a:pt x="11" y="11"/>
                  </a:lnTo>
                  <a:lnTo>
                    <a:pt x="11" y="10"/>
                  </a:lnTo>
                  <a:lnTo>
                    <a:pt x="11" y="9"/>
                  </a:lnTo>
                  <a:lnTo>
                    <a:pt x="11" y="8"/>
                  </a:lnTo>
                  <a:lnTo>
                    <a:pt x="12" y="7"/>
                  </a:lnTo>
                  <a:lnTo>
                    <a:pt x="12" y="6"/>
                  </a:lnTo>
                  <a:lnTo>
                    <a:pt x="12" y="5"/>
                  </a:lnTo>
                  <a:lnTo>
                    <a:pt x="13" y="4"/>
                  </a:lnTo>
                  <a:lnTo>
                    <a:pt x="14" y="4"/>
                  </a:lnTo>
                  <a:lnTo>
                    <a:pt x="14" y="3"/>
                  </a:lnTo>
                  <a:lnTo>
                    <a:pt x="15" y="2"/>
                  </a:lnTo>
                  <a:lnTo>
                    <a:pt x="16" y="2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18" y="0"/>
                  </a:lnTo>
                  <a:lnTo>
                    <a:pt x="18" y="0"/>
                  </a:lnTo>
                </a:path>
              </a:pathLst>
            </a:custGeom>
            <a:noFill/>
            <a:ln w="5689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2" name="Freeform 261"/>
            <p:cNvSpPr/>
            <p:nvPr/>
          </p:nvSpPr>
          <p:spPr>
            <a:xfrm>
              <a:off x="1408176" y="10899648"/>
              <a:ext cx="73152" cy="210312"/>
            </a:xfrm>
            <a:custGeom>
              <a:avLst/>
              <a:gdLst/>
              <a:ahLst/>
              <a:cxnLst/>
              <a:rect l="l" t="t" r="r" b="b"/>
              <a:pathLst>
                <a:path w="8" h="23">
                  <a:moveTo>
                    <a:pt x="8" y="23"/>
                  </a:moveTo>
                  <a:lnTo>
                    <a:pt x="7" y="23"/>
                  </a:lnTo>
                  <a:lnTo>
                    <a:pt x="7" y="22"/>
                  </a:lnTo>
                  <a:lnTo>
                    <a:pt x="6" y="22"/>
                  </a:lnTo>
                  <a:lnTo>
                    <a:pt x="6" y="21"/>
                  </a:lnTo>
                  <a:lnTo>
                    <a:pt x="5" y="20"/>
                  </a:lnTo>
                  <a:lnTo>
                    <a:pt x="5" y="19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2" y="15"/>
                  </a:lnTo>
                  <a:lnTo>
                    <a:pt x="2" y="14"/>
                  </a:lnTo>
                  <a:lnTo>
                    <a:pt x="1" y="13"/>
                  </a:lnTo>
                  <a:lnTo>
                    <a:pt x="1" y="12"/>
                  </a:lnTo>
                  <a:lnTo>
                    <a:pt x="1" y="11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9"/>
                  </a:lnTo>
                  <a:lnTo>
                    <a:pt x="0" y="8"/>
                  </a:lnTo>
                  <a:lnTo>
                    <a:pt x="0" y="7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5689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3" name="Freeform 262"/>
            <p:cNvSpPr/>
            <p:nvPr/>
          </p:nvSpPr>
          <p:spPr>
            <a:xfrm>
              <a:off x="1197864" y="11018520"/>
              <a:ext cx="283464" cy="118872"/>
            </a:xfrm>
            <a:custGeom>
              <a:avLst/>
              <a:gdLst/>
              <a:ahLst/>
              <a:cxnLst/>
              <a:rect l="l" t="t" r="r" b="b"/>
              <a:pathLst>
                <a:path w="31" h="13">
                  <a:moveTo>
                    <a:pt x="31" y="13"/>
                  </a:moveTo>
                  <a:lnTo>
                    <a:pt x="30" y="13"/>
                  </a:lnTo>
                  <a:lnTo>
                    <a:pt x="29" y="12"/>
                  </a:lnTo>
                  <a:lnTo>
                    <a:pt x="28" y="12"/>
                  </a:lnTo>
                  <a:lnTo>
                    <a:pt x="26" y="11"/>
                  </a:lnTo>
                  <a:lnTo>
                    <a:pt x="25" y="11"/>
                  </a:lnTo>
                  <a:lnTo>
                    <a:pt x="24" y="10"/>
                  </a:lnTo>
                  <a:lnTo>
                    <a:pt x="22" y="10"/>
                  </a:lnTo>
                  <a:lnTo>
                    <a:pt x="21" y="9"/>
                  </a:lnTo>
                  <a:lnTo>
                    <a:pt x="20" y="9"/>
                  </a:lnTo>
                  <a:lnTo>
                    <a:pt x="19" y="9"/>
                  </a:lnTo>
                  <a:lnTo>
                    <a:pt x="18" y="9"/>
                  </a:lnTo>
                  <a:lnTo>
                    <a:pt x="17" y="9"/>
                  </a:lnTo>
                  <a:lnTo>
                    <a:pt x="16" y="9"/>
                  </a:lnTo>
                  <a:lnTo>
                    <a:pt x="15" y="9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1" y="9"/>
                  </a:lnTo>
                  <a:lnTo>
                    <a:pt x="10" y="8"/>
                  </a:lnTo>
                  <a:lnTo>
                    <a:pt x="10" y="8"/>
                  </a:lnTo>
                  <a:lnTo>
                    <a:pt x="9" y="7"/>
                  </a:lnTo>
                  <a:lnTo>
                    <a:pt x="8" y="7"/>
                  </a:lnTo>
                  <a:lnTo>
                    <a:pt x="7" y="6"/>
                  </a:lnTo>
                  <a:lnTo>
                    <a:pt x="6" y="6"/>
                  </a:lnTo>
                  <a:lnTo>
                    <a:pt x="5" y="5"/>
                  </a:lnTo>
                  <a:lnTo>
                    <a:pt x="4" y="4"/>
                  </a:lnTo>
                  <a:lnTo>
                    <a:pt x="4" y="4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5689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Freeform 263"/>
            <p:cNvSpPr/>
            <p:nvPr/>
          </p:nvSpPr>
          <p:spPr>
            <a:xfrm>
              <a:off x="1179576" y="11155680"/>
              <a:ext cx="283464" cy="118872"/>
            </a:xfrm>
            <a:custGeom>
              <a:avLst/>
              <a:gdLst/>
              <a:ahLst/>
              <a:cxnLst/>
              <a:rect l="l" t="t" r="r" b="b"/>
              <a:pathLst>
                <a:path w="31" h="13">
                  <a:moveTo>
                    <a:pt x="31" y="0"/>
                  </a:moveTo>
                  <a:lnTo>
                    <a:pt x="31" y="1"/>
                  </a:lnTo>
                  <a:lnTo>
                    <a:pt x="30" y="1"/>
                  </a:lnTo>
                  <a:lnTo>
                    <a:pt x="29" y="2"/>
                  </a:lnTo>
                  <a:lnTo>
                    <a:pt x="28" y="3"/>
                  </a:lnTo>
                  <a:lnTo>
                    <a:pt x="27" y="4"/>
                  </a:lnTo>
                  <a:lnTo>
                    <a:pt x="26" y="4"/>
                  </a:lnTo>
                  <a:lnTo>
                    <a:pt x="25" y="5"/>
                  </a:lnTo>
                  <a:lnTo>
                    <a:pt x="24" y="6"/>
                  </a:lnTo>
                  <a:lnTo>
                    <a:pt x="23" y="6"/>
                  </a:lnTo>
                  <a:lnTo>
                    <a:pt x="22" y="7"/>
                  </a:lnTo>
                  <a:lnTo>
                    <a:pt x="21" y="7"/>
                  </a:lnTo>
                  <a:lnTo>
                    <a:pt x="21" y="8"/>
                  </a:lnTo>
                  <a:lnTo>
                    <a:pt x="20" y="8"/>
                  </a:lnTo>
                  <a:lnTo>
                    <a:pt x="19" y="8"/>
                  </a:lnTo>
                  <a:lnTo>
                    <a:pt x="18" y="8"/>
                  </a:lnTo>
                  <a:lnTo>
                    <a:pt x="18" y="9"/>
                  </a:lnTo>
                  <a:lnTo>
                    <a:pt x="17" y="9"/>
                  </a:lnTo>
                  <a:lnTo>
                    <a:pt x="16" y="9"/>
                  </a:lnTo>
                  <a:lnTo>
                    <a:pt x="15" y="9"/>
                  </a:lnTo>
                  <a:lnTo>
                    <a:pt x="14" y="9"/>
                  </a:lnTo>
                  <a:lnTo>
                    <a:pt x="13" y="9"/>
                  </a:lnTo>
                  <a:lnTo>
                    <a:pt x="11" y="9"/>
                  </a:lnTo>
                  <a:lnTo>
                    <a:pt x="10" y="8"/>
                  </a:lnTo>
                  <a:lnTo>
                    <a:pt x="9" y="8"/>
                  </a:lnTo>
                  <a:lnTo>
                    <a:pt x="8" y="8"/>
                  </a:lnTo>
                  <a:lnTo>
                    <a:pt x="7" y="8"/>
                  </a:lnTo>
                  <a:lnTo>
                    <a:pt x="6" y="8"/>
                  </a:lnTo>
                  <a:lnTo>
                    <a:pt x="5" y="9"/>
                  </a:lnTo>
                  <a:lnTo>
                    <a:pt x="4" y="9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2" y="11"/>
                  </a:lnTo>
                  <a:lnTo>
                    <a:pt x="1" y="12"/>
                  </a:lnTo>
                  <a:lnTo>
                    <a:pt x="1" y="12"/>
                  </a:lnTo>
                  <a:lnTo>
                    <a:pt x="0" y="13"/>
                  </a:lnTo>
                  <a:lnTo>
                    <a:pt x="0" y="13"/>
                  </a:lnTo>
                </a:path>
              </a:pathLst>
            </a:custGeom>
            <a:noFill/>
            <a:ln w="5689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5" name="Freeform 264"/>
            <p:cNvSpPr/>
            <p:nvPr/>
          </p:nvSpPr>
          <p:spPr>
            <a:xfrm>
              <a:off x="1481328" y="11183112"/>
              <a:ext cx="73152" cy="228600"/>
            </a:xfrm>
            <a:custGeom>
              <a:avLst/>
              <a:gdLst/>
              <a:ahLst/>
              <a:cxnLst/>
              <a:rect l="l" t="t" r="r" b="b"/>
              <a:pathLst>
                <a:path w="8" h="25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4"/>
                  </a:lnTo>
                  <a:lnTo>
                    <a:pt x="3" y="5"/>
                  </a:lnTo>
                  <a:lnTo>
                    <a:pt x="3" y="6"/>
                  </a:lnTo>
                  <a:lnTo>
                    <a:pt x="4" y="7"/>
                  </a:lnTo>
                  <a:lnTo>
                    <a:pt x="4" y="9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4" y="13"/>
                  </a:lnTo>
                  <a:lnTo>
                    <a:pt x="4" y="14"/>
                  </a:lnTo>
                  <a:lnTo>
                    <a:pt x="4" y="15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3" y="17"/>
                  </a:lnTo>
                  <a:lnTo>
                    <a:pt x="4" y="18"/>
                  </a:lnTo>
                  <a:lnTo>
                    <a:pt x="4" y="19"/>
                  </a:lnTo>
                  <a:lnTo>
                    <a:pt x="5" y="20"/>
                  </a:lnTo>
                  <a:lnTo>
                    <a:pt x="5" y="21"/>
                  </a:lnTo>
                  <a:lnTo>
                    <a:pt x="6" y="22"/>
                  </a:lnTo>
                  <a:lnTo>
                    <a:pt x="7" y="23"/>
                  </a:lnTo>
                  <a:lnTo>
                    <a:pt x="7" y="24"/>
                  </a:lnTo>
                  <a:lnTo>
                    <a:pt x="8" y="24"/>
                  </a:lnTo>
                  <a:lnTo>
                    <a:pt x="8" y="25"/>
                  </a:lnTo>
                </a:path>
              </a:pathLst>
            </a:custGeom>
            <a:noFill/>
            <a:ln w="5689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6" name="Freeform 265"/>
            <p:cNvSpPr/>
            <p:nvPr/>
          </p:nvSpPr>
          <p:spPr>
            <a:xfrm>
              <a:off x="1490472" y="11155680"/>
              <a:ext cx="228600" cy="82296"/>
            </a:xfrm>
            <a:custGeom>
              <a:avLst/>
              <a:gdLst/>
              <a:ahLst/>
              <a:cxnLst/>
              <a:rect l="l" t="t" r="r" b="b"/>
              <a:pathLst>
                <a:path w="25" h="9">
                  <a:moveTo>
                    <a:pt x="0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3" y="1"/>
                  </a:lnTo>
                  <a:lnTo>
                    <a:pt x="4" y="1"/>
                  </a:lnTo>
                  <a:lnTo>
                    <a:pt x="5" y="2"/>
                  </a:lnTo>
                  <a:lnTo>
                    <a:pt x="6" y="2"/>
                  </a:lnTo>
                  <a:lnTo>
                    <a:pt x="7" y="2"/>
                  </a:lnTo>
                  <a:lnTo>
                    <a:pt x="8" y="3"/>
                  </a:lnTo>
                  <a:lnTo>
                    <a:pt x="9" y="3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1" y="5"/>
                  </a:lnTo>
                  <a:lnTo>
                    <a:pt x="12" y="6"/>
                  </a:lnTo>
                  <a:lnTo>
                    <a:pt x="13" y="7"/>
                  </a:lnTo>
                  <a:lnTo>
                    <a:pt x="13" y="7"/>
                  </a:lnTo>
                  <a:lnTo>
                    <a:pt x="14" y="8"/>
                  </a:lnTo>
                  <a:lnTo>
                    <a:pt x="15" y="9"/>
                  </a:lnTo>
                  <a:lnTo>
                    <a:pt x="16" y="9"/>
                  </a:lnTo>
                  <a:lnTo>
                    <a:pt x="17" y="9"/>
                  </a:lnTo>
                  <a:lnTo>
                    <a:pt x="18" y="9"/>
                  </a:lnTo>
                  <a:lnTo>
                    <a:pt x="19" y="9"/>
                  </a:lnTo>
                  <a:lnTo>
                    <a:pt x="20" y="9"/>
                  </a:lnTo>
                  <a:lnTo>
                    <a:pt x="21" y="9"/>
                  </a:lnTo>
                  <a:lnTo>
                    <a:pt x="22" y="9"/>
                  </a:lnTo>
                  <a:lnTo>
                    <a:pt x="23" y="9"/>
                  </a:lnTo>
                  <a:lnTo>
                    <a:pt x="24" y="8"/>
                  </a:lnTo>
                  <a:lnTo>
                    <a:pt x="25" y="8"/>
                  </a:lnTo>
                </a:path>
              </a:pathLst>
            </a:custGeom>
            <a:noFill/>
            <a:ln w="5689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7" name="Freeform 266"/>
            <p:cNvSpPr/>
            <p:nvPr/>
          </p:nvSpPr>
          <p:spPr>
            <a:xfrm>
              <a:off x="1618488" y="11228832"/>
              <a:ext cx="45720" cy="128016"/>
            </a:xfrm>
            <a:custGeom>
              <a:avLst/>
              <a:gdLst/>
              <a:ahLst/>
              <a:cxnLst/>
              <a:rect l="l" t="t" r="r" b="b"/>
              <a:pathLst>
                <a:path w="5" h="14">
                  <a:moveTo>
                    <a:pt x="1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8"/>
                  </a:lnTo>
                  <a:lnTo>
                    <a:pt x="1" y="9"/>
                  </a:lnTo>
                  <a:lnTo>
                    <a:pt x="1" y="10"/>
                  </a:lnTo>
                  <a:lnTo>
                    <a:pt x="1" y="11"/>
                  </a:lnTo>
                  <a:lnTo>
                    <a:pt x="2" y="11"/>
                  </a:lnTo>
                  <a:lnTo>
                    <a:pt x="2" y="12"/>
                  </a:lnTo>
                  <a:lnTo>
                    <a:pt x="3" y="12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5" y="14"/>
                  </a:lnTo>
                  <a:lnTo>
                    <a:pt x="5" y="14"/>
                  </a:lnTo>
                </a:path>
              </a:pathLst>
            </a:custGeom>
            <a:noFill/>
            <a:ln w="5689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8" name="Freeform 267"/>
            <p:cNvSpPr/>
            <p:nvPr/>
          </p:nvSpPr>
          <p:spPr>
            <a:xfrm>
              <a:off x="1307592" y="10954512"/>
              <a:ext cx="54864" cy="146304"/>
            </a:xfrm>
            <a:custGeom>
              <a:avLst/>
              <a:gdLst/>
              <a:ahLst/>
              <a:cxnLst/>
              <a:rect l="l" t="t" r="r" b="b"/>
              <a:pathLst>
                <a:path w="6" h="16">
                  <a:moveTo>
                    <a:pt x="6" y="16"/>
                  </a:moveTo>
                  <a:lnTo>
                    <a:pt x="6" y="15"/>
                  </a:lnTo>
                  <a:lnTo>
                    <a:pt x="6" y="15"/>
                  </a:lnTo>
                  <a:lnTo>
                    <a:pt x="6" y="14"/>
                  </a:lnTo>
                  <a:lnTo>
                    <a:pt x="6" y="13"/>
                  </a:lnTo>
                  <a:lnTo>
                    <a:pt x="6" y="12"/>
                  </a:lnTo>
                  <a:lnTo>
                    <a:pt x="6" y="11"/>
                  </a:lnTo>
                  <a:lnTo>
                    <a:pt x="6" y="10"/>
                  </a:lnTo>
                  <a:lnTo>
                    <a:pt x="6" y="9"/>
                  </a:lnTo>
                  <a:lnTo>
                    <a:pt x="6" y="8"/>
                  </a:lnTo>
                  <a:lnTo>
                    <a:pt x="5" y="7"/>
                  </a:lnTo>
                  <a:lnTo>
                    <a:pt x="5" y="6"/>
                  </a:lnTo>
                  <a:lnTo>
                    <a:pt x="4" y="5"/>
                  </a:lnTo>
                  <a:lnTo>
                    <a:pt x="3" y="4"/>
                  </a:lnTo>
                  <a:lnTo>
                    <a:pt x="2" y="3"/>
                  </a:lnTo>
                  <a:lnTo>
                    <a:pt x="2" y="2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noFill/>
            <a:ln w="5689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9" name="Freeform 268"/>
            <p:cNvSpPr/>
            <p:nvPr/>
          </p:nvSpPr>
          <p:spPr>
            <a:xfrm>
              <a:off x="1298448" y="11237976"/>
              <a:ext cx="45720" cy="146304"/>
            </a:xfrm>
            <a:custGeom>
              <a:avLst/>
              <a:gdLst/>
              <a:ahLst/>
              <a:cxnLst/>
              <a:rect l="l" t="t" r="r" b="b"/>
              <a:pathLst>
                <a:path w="5" h="16">
                  <a:moveTo>
                    <a:pt x="3" y="0"/>
                  </a:moveTo>
                  <a:lnTo>
                    <a:pt x="3" y="1"/>
                  </a:lnTo>
                  <a:lnTo>
                    <a:pt x="3" y="1"/>
                  </a:lnTo>
                  <a:lnTo>
                    <a:pt x="4" y="2"/>
                  </a:lnTo>
                  <a:lnTo>
                    <a:pt x="4" y="3"/>
                  </a:lnTo>
                  <a:lnTo>
                    <a:pt x="4" y="4"/>
                  </a:lnTo>
                  <a:lnTo>
                    <a:pt x="5" y="5"/>
                  </a:lnTo>
                  <a:lnTo>
                    <a:pt x="5" y="6"/>
                  </a:lnTo>
                  <a:lnTo>
                    <a:pt x="5" y="7"/>
                  </a:lnTo>
                  <a:lnTo>
                    <a:pt x="5" y="8"/>
                  </a:lnTo>
                  <a:lnTo>
                    <a:pt x="5" y="9"/>
                  </a:lnTo>
                  <a:lnTo>
                    <a:pt x="4" y="10"/>
                  </a:lnTo>
                  <a:lnTo>
                    <a:pt x="4" y="11"/>
                  </a:lnTo>
                  <a:lnTo>
                    <a:pt x="3" y="12"/>
                  </a:lnTo>
                  <a:lnTo>
                    <a:pt x="2" y="13"/>
                  </a:lnTo>
                  <a:lnTo>
                    <a:pt x="2" y="14"/>
                  </a:lnTo>
                  <a:lnTo>
                    <a:pt x="1" y="15"/>
                  </a:lnTo>
                  <a:lnTo>
                    <a:pt x="1" y="16"/>
                  </a:lnTo>
                  <a:lnTo>
                    <a:pt x="0" y="16"/>
                  </a:lnTo>
                </a:path>
              </a:pathLst>
            </a:custGeom>
            <a:noFill/>
            <a:ln w="5689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0" name="Freeform 269"/>
            <p:cNvSpPr/>
            <p:nvPr/>
          </p:nvSpPr>
          <p:spPr>
            <a:xfrm>
              <a:off x="1572768" y="11018520"/>
              <a:ext cx="137160" cy="45720"/>
            </a:xfrm>
            <a:custGeom>
              <a:avLst/>
              <a:gdLst/>
              <a:ahLst/>
              <a:cxnLst/>
              <a:rect l="l" t="t" r="r" b="b"/>
              <a:pathLst>
                <a:path w="15" h="5">
                  <a:moveTo>
                    <a:pt x="0" y="3"/>
                  </a:moveTo>
                  <a:lnTo>
                    <a:pt x="0" y="3"/>
                  </a:lnTo>
                  <a:lnTo>
                    <a:pt x="1" y="3"/>
                  </a:lnTo>
                  <a:lnTo>
                    <a:pt x="2" y="4"/>
                  </a:lnTo>
                  <a:lnTo>
                    <a:pt x="2" y="4"/>
                  </a:lnTo>
                  <a:lnTo>
                    <a:pt x="3" y="4"/>
                  </a:lnTo>
                  <a:lnTo>
                    <a:pt x="4" y="4"/>
                  </a:lnTo>
                  <a:lnTo>
                    <a:pt x="5" y="4"/>
                  </a:lnTo>
                  <a:lnTo>
                    <a:pt x="6" y="5"/>
                  </a:lnTo>
                  <a:lnTo>
                    <a:pt x="7" y="4"/>
                  </a:lnTo>
                  <a:lnTo>
                    <a:pt x="8" y="4"/>
                  </a:lnTo>
                  <a:lnTo>
                    <a:pt x="9" y="4"/>
                  </a:lnTo>
                  <a:lnTo>
                    <a:pt x="10" y="3"/>
                  </a:lnTo>
                  <a:lnTo>
                    <a:pt x="11" y="3"/>
                  </a:lnTo>
                  <a:lnTo>
                    <a:pt x="12" y="2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14" y="0"/>
                  </a:lnTo>
                  <a:lnTo>
                    <a:pt x="15" y="0"/>
                  </a:lnTo>
                </a:path>
              </a:pathLst>
            </a:custGeom>
            <a:noFill/>
            <a:ln w="5689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1" name="Oval 270"/>
            <p:cNvSpPr/>
            <p:nvPr/>
          </p:nvSpPr>
          <p:spPr>
            <a:xfrm>
              <a:off x="1161288" y="10863072"/>
              <a:ext cx="585216" cy="576072"/>
            </a:xfrm>
            <a:prstGeom prst="ellipse">
              <a:avLst/>
            </a:prstGeom>
            <a:noFill/>
            <a:ln w="7620" cap="rnd">
              <a:solidFill>
                <a:srgbClr val="002D65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5" name="Starch granule — editable vector group"/>
          <p:cNvGrpSpPr/>
          <p:nvPr/>
        </p:nvGrpSpPr>
        <p:grpSpPr>
          <a:xfrm>
            <a:off x="2368296" y="11045952"/>
            <a:ext cx="594360" cy="566928"/>
            <a:chOff x="2368296" y="11045952"/>
            <a:chExt cx="594360" cy="566928"/>
          </a:xfrm>
        </p:grpSpPr>
        <p:sp>
          <p:nvSpPr>
            <p:cNvPr id="273" name="Editable starch granule"/>
            <p:cNvSpPr/>
            <p:nvPr/>
          </p:nvSpPr>
          <p:spPr>
            <a:xfrm>
              <a:off x="2368296" y="11045952"/>
              <a:ext cx="594360" cy="566928"/>
            </a:xfrm>
            <a:prstGeom prst="ellipse">
              <a:avLst/>
            </a:prstGeom>
            <a:ln w="7620" cap="rnd">
              <a:solidFill>
                <a:srgbClr val="002D65"/>
              </a:solidFill>
              <a:round/>
            </a:ln>
            <a:gradFill>
              <a:gsLst>
                <a:gs pos="0">
                  <a:srgbClr val="F7FCFF"/>
                </a:gs>
                <a:gs pos="100000">
                  <a:srgbClr val="A9D6F8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4" name="Freeform 273"/>
            <p:cNvSpPr/>
            <p:nvPr/>
          </p:nvSpPr>
          <p:spPr>
            <a:xfrm>
              <a:off x="2468880" y="11109960"/>
              <a:ext cx="164592" cy="192024"/>
            </a:xfrm>
            <a:custGeom>
              <a:avLst/>
              <a:gdLst/>
              <a:ahLst/>
              <a:cxnLst/>
              <a:rect l="l" t="t" r="r" b="b"/>
              <a:pathLst>
                <a:path w="18" h="21">
                  <a:moveTo>
                    <a:pt x="18" y="21"/>
                  </a:moveTo>
                  <a:lnTo>
                    <a:pt x="18" y="20"/>
                  </a:lnTo>
                  <a:lnTo>
                    <a:pt x="17" y="20"/>
                  </a:lnTo>
                  <a:lnTo>
                    <a:pt x="17" y="19"/>
                  </a:lnTo>
                  <a:lnTo>
                    <a:pt x="16" y="18"/>
                  </a:lnTo>
                  <a:lnTo>
                    <a:pt x="15" y="17"/>
                  </a:lnTo>
                  <a:lnTo>
                    <a:pt x="14" y="17"/>
                  </a:lnTo>
                  <a:lnTo>
                    <a:pt x="14" y="16"/>
                  </a:lnTo>
                  <a:lnTo>
                    <a:pt x="13" y="15"/>
                  </a:lnTo>
                  <a:lnTo>
                    <a:pt x="12" y="15"/>
                  </a:lnTo>
                  <a:lnTo>
                    <a:pt x="12" y="14"/>
                  </a:lnTo>
                  <a:lnTo>
                    <a:pt x="11" y="14"/>
                  </a:lnTo>
                  <a:lnTo>
                    <a:pt x="11" y="14"/>
                  </a:lnTo>
                  <a:lnTo>
                    <a:pt x="10" y="14"/>
                  </a:lnTo>
                  <a:lnTo>
                    <a:pt x="10" y="14"/>
                  </a:lnTo>
                  <a:lnTo>
                    <a:pt x="10" y="14"/>
                  </a:lnTo>
                  <a:lnTo>
                    <a:pt x="9" y="14"/>
                  </a:lnTo>
                  <a:lnTo>
                    <a:pt x="9" y="13"/>
                  </a:lnTo>
                  <a:lnTo>
                    <a:pt x="8" y="13"/>
                  </a:lnTo>
                  <a:lnTo>
                    <a:pt x="8" y="12"/>
                  </a:lnTo>
                  <a:lnTo>
                    <a:pt x="8" y="11"/>
                  </a:lnTo>
                  <a:lnTo>
                    <a:pt x="8" y="10"/>
                  </a:lnTo>
                  <a:lnTo>
                    <a:pt x="7" y="10"/>
                  </a:lnTo>
                  <a:lnTo>
                    <a:pt x="7" y="8"/>
                  </a:lnTo>
                  <a:lnTo>
                    <a:pt x="7" y="7"/>
                  </a:lnTo>
                  <a:lnTo>
                    <a:pt x="7" y="6"/>
                  </a:lnTo>
                  <a:lnTo>
                    <a:pt x="6" y="6"/>
                  </a:lnTo>
                  <a:lnTo>
                    <a:pt x="6" y="5"/>
                  </a:lnTo>
                  <a:lnTo>
                    <a:pt x="5" y="4"/>
                  </a:lnTo>
                  <a:lnTo>
                    <a:pt x="5" y="3"/>
                  </a:lnTo>
                  <a:lnTo>
                    <a:pt x="4" y="3"/>
                  </a:lnTo>
                  <a:lnTo>
                    <a:pt x="3" y="2"/>
                  </a:lnTo>
                  <a:lnTo>
                    <a:pt x="2" y="2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5778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5" name="Freeform 274"/>
            <p:cNvSpPr/>
            <p:nvPr/>
          </p:nvSpPr>
          <p:spPr>
            <a:xfrm>
              <a:off x="2642616" y="11082528"/>
              <a:ext cx="73152" cy="210312"/>
            </a:xfrm>
            <a:custGeom>
              <a:avLst/>
              <a:gdLst/>
              <a:ahLst/>
              <a:cxnLst/>
              <a:rect l="l" t="t" r="r" b="b"/>
              <a:pathLst>
                <a:path w="8" h="23">
                  <a:moveTo>
                    <a:pt x="0" y="23"/>
                  </a:moveTo>
                  <a:lnTo>
                    <a:pt x="0" y="22"/>
                  </a:lnTo>
                  <a:lnTo>
                    <a:pt x="1" y="22"/>
                  </a:lnTo>
                  <a:lnTo>
                    <a:pt x="1" y="21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3" y="19"/>
                  </a:lnTo>
                  <a:lnTo>
                    <a:pt x="3" y="18"/>
                  </a:lnTo>
                  <a:lnTo>
                    <a:pt x="4" y="17"/>
                  </a:lnTo>
                  <a:lnTo>
                    <a:pt x="4" y="16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6" y="14"/>
                  </a:lnTo>
                  <a:lnTo>
                    <a:pt x="6" y="13"/>
                  </a:lnTo>
                  <a:lnTo>
                    <a:pt x="7" y="12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8" y="9"/>
                  </a:lnTo>
                  <a:lnTo>
                    <a:pt x="8" y="8"/>
                  </a:lnTo>
                  <a:lnTo>
                    <a:pt x="8" y="7"/>
                  </a:lnTo>
                  <a:lnTo>
                    <a:pt x="8" y="6"/>
                  </a:lnTo>
                  <a:lnTo>
                    <a:pt x="8" y="5"/>
                  </a:lnTo>
                  <a:lnTo>
                    <a:pt x="8" y="4"/>
                  </a:lnTo>
                  <a:lnTo>
                    <a:pt x="8" y="3"/>
                  </a:lnTo>
                  <a:lnTo>
                    <a:pt x="7" y="2"/>
                  </a:lnTo>
                  <a:lnTo>
                    <a:pt x="7" y="1"/>
                  </a:lnTo>
                  <a:lnTo>
                    <a:pt x="7" y="0"/>
                  </a:lnTo>
                  <a:lnTo>
                    <a:pt x="7" y="0"/>
                  </a:lnTo>
                </a:path>
              </a:pathLst>
            </a:custGeom>
            <a:noFill/>
            <a:ln w="5778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6" name="Freeform 275"/>
            <p:cNvSpPr/>
            <p:nvPr/>
          </p:nvSpPr>
          <p:spPr>
            <a:xfrm>
              <a:off x="2642616" y="11201400"/>
              <a:ext cx="283464" cy="118872"/>
            </a:xfrm>
            <a:custGeom>
              <a:avLst/>
              <a:gdLst/>
              <a:ahLst/>
              <a:cxnLst/>
              <a:rect l="l" t="t" r="r" b="b"/>
              <a:pathLst>
                <a:path w="31" h="13">
                  <a:moveTo>
                    <a:pt x="0" y="13"/>
                  </a:moveTo>
                  <a:lnTo>
                    <a:pt x="1" y="12"/>
                  </a:lnTo>
                  <a:lnTo>
                    <a:pt x="2" y="12"/>
                  </a:lnTo>
                  <a:lnTo>
                    <a:pt x="3" y="11"/>
                  </a:lnTo>
                  <a:lnTo>
                    <a:pt x="4" y="11"/>
                  </a:lnTo>
                  <a:lnTo>
                    <a:pt x="6" y="10"/>
                  </a:lnTo>
                  <a:lnTo>
                    <a:pt x="7" y="10"/>
                  </a:lnTo>
                  <a:lnTo>
                    <a:pt x="8" y="9"/>
                  </a:lnTo>
                  <a:lnTo>
                    <a:pt x="10" y="9"/>
                  </a:lnTo>
                  <a:lnTo>
                    <a:pt x="11" y="8"/>
                  </a:lnTo>
                  <a:lnTo>
                    <a:pt x="12" y="8"/>
                  </a:lnTo>
                  <a:lnTo>
                    <a:pt x="13" y="8"/>
                  </a:lnTo>
                  <a:lnTo>
                    <a:pt x="14" y="8"/>
                  </a:lnTo>
                  <a:lnTo>
                    <a:pt x="15" y="8"/>
                  </a:lnTo>
                  <a:lnTo>
                    <a:pt x="16" y="9"/>
                  </a:lnTo>
                  <a:lnTo>
                    <a:pt x="17" y="9"/>
                  </a:lnTo>
                  <a:lnTo>
                    <a:pt x="18" y="9"/>
                  </a:lnTo>
                  <a:lnTo>
                    <a:pt x="19" y="9"/>
                  </a:lnTo>
                  <a:lnTo>
                    <a:pt x="19" y="8"/>
                  </a:lnTo>
                  <a:lnTo>
                    <a:pt x="20" y="8"/>
                  </a:lnTo>
                  <a:lnTo>
                    <a:pt x="21" y="8"/>
                  </a:lnTo>
                  <a:lnTo>
                    <a:pt x="22" y="7"/>
                  </a:lnTo>
                  <a:lnTo>
                    <a:pt x="23" y="6"/>
                  </a:lnTo>
                  <a:lnTo>
                    <a:pt x="24" y="6"/>
                  </a:lnTo>
                  <a:lnTo>
                    <a:pt x="25" y="5"/>
                  </a:lnTo>
                  <a:lnTo>
                    <a:pt x="26" y="5"/>
                  </a:lnTo>
                  <a:lnTo>
                    <a:pt x="27" y="4"/>
                  </a:lnTo>
                  <a:lnTo>
                    <a:pt x="27" y="3"/>
                  </a:lnTo>
                  <a:lnTo>
                    <a:pt x="28" y="3"/>
                  </a:lnTo>
                  <a:lnTo>
                    <a:pt x="28" y="2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30" y="1"/>
                  </a:lnTo>
                  <a:lnTo>
                    <a:pt x="30" y="1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31" y="0"/>
                  </a:lnTo>
                </a:path>
              </a:pathLst>
            </a:custGeom>
            <a:noFill/>
            <a:ln w="5778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7" name="Freeform 276"/>
            <p:cNvSpPr/>
            <p:nvPr/>
          </p:nvSpPr>
          <p:spPr>
            <a:xfrm>
              <a:off x="2651760" y="11338560"/>
              <a:ext cx="292608" cy="118872"/>
            </a:xfrm>
            <a:custGeom>
              <a:avLst/>
              <a:gdLst/>
              <a:ahLst/>
              <a:cxnLst/>
              <a:rect l="l" t="t" r="r" b="b"/>
              <a:pathLst>
                <a:path w="32" h="13">
                  <a:moveTo>
                    <a:pt x="0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2"/>
                  </a:lnTo>
                  <a:lnTo>
                    <a:pt x="5" y="3"/>
                  </a:lnTo>
                  <a:lnTo>
                    <a:pt x="6" y="4"/>
                  </a:lnTo>
                  <a:lnTo>
                    <a:pt x="7" y="5"/>
                  </a:lnTo>
                  <a:lnTo>
                    <a:pt x="8" y="5"/>
                  </a:lnTo>
                  <a:lnTo>
                    <a:pt x="9" y="6"/>
                  </a:lnTo>
                  <a:lnTo>
                    <a:pt x="9" y="6"/>
                  </a:lnTo>
                  <a:lnTo>
                    <a:pt x="10" y="7"/>
                  </a:lnTo>
                  <a:lnTo>
                    <a:pt x="11" y="7"/>
                  </a:lnTo>
                  <a:lnTo>
                    <a:pt x="12" y="7"/>
                  </a:lnTo>
                  <a:lnTo>
                    <a:pt x="12" y="8"/>
                  </a:lnTo>
                  <a:lnTo>
                    <a:pt x="13" y="8"/>
                  </a:lnTo>
                  <a:lnTo>
                    <a:pt x="14" y="8"/>
                  </a:lnTo>
                  <a:lnTo>
                    <a:pt x="15" y="8"/>
                  </a:lnTo>
                  <a:lnTo>
                    <a:pt x="16" y="8"/>
                  </a:lnTo>
                  <a:lnTo>
                    <a:pt x="17" y="8"/>
                  </a:lnTo>
                  <a:lnTo>
                    <a:pt x="18" y="8"/>
                  </a:lnTo>
                  <a:lnTo>
                    <a:pt x="19" y="8"/>
                  </a:lnTo>
                  <a:lnTo>
                    <a:pt x="20" y="8"/>
                  </a:lnTo>
                  <a:lnTo>
                    <a:pt x="22" y="8"/>
                  </a:lnTo>
                  <a:lnTo>
                    <a:pt x="23" y="8"/>
                  </a:lnTo>
                  <a:lnTo>
                    <a:pt x="24" y="8"/>
                  </a:lnTo>
                  <a:lnTo>
                    <a:pt x="25" y="8"/>
                  </a:lnTo>
                  <a:lnTo>
                    <a:pt x="26" y="8"/>
                  </a:lnTo>
                  <a:lnTo>
                    <a:pt x="27" y="8"/>
                  </a:lnTo>
                  <a:lnTo>
                    <a:pt x="28" y="9"/>
                  </a:lnTo>
                  <a:lnTo>
                    <a:pt x="29" y="9"/>
                  </a:lnTo>
                  <a:lnTo>
                    <a:pt x="29" y="10"/>
                  </a:lnTo>
                  <a:lnTo>
                    <a:pt x="30" y="10"/>
                  </a:lnTo>
                  <a:lnTo>
                    <a:pt x="31" y="11"/>
                  </a:lnTo>
                  <a:lnTo>
                    <a:pt x="31" y="12"/>
                  </a:lnTo>
                  <a:lnTo>
                    <a:pt x="32" y="12"/>
                  </a:lnTo>
                  <a:lnTo>
                    <a:pt x="32" y="13"/>
                  </a:lnTo>
                </a:path>
              </a:pathLst>
            </a:custGeom>
            <a:noFill/>
            <a:ln w="5778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8" name="Freeform 277"/>
            <p:cNvSpPr/>
            <p:nvPr/>
          </p:nvSpPr>
          <p:spPr>
            <a:xfrm>
              <a:off x="2560320" y="11356848"/>
              <a:ext cx="82296" cy="228600"/>
            </a:xfrm>
            <a:custGeom>
              <a:avLst/>
              <a:gdLst/>
              <a:ahLst/>
              <a:cxnLst/>
              <a:rect l="l" t="t" r="r" b="b"/>
              <a:pathLst>
                <a:path w="9" h="25">
                  <a:moveTo>
                    <a:pt x="9" y="0"/>
                  </a:moveTo>
                  <a:lnTo>
                    <a:pt x="9" y="1"/>
                  </a:lnTo>
                  <a:lnTo>
                    <a:pt x="8" y="2"/>
                  </a:lnTo>
                  <a:lnTo>
                    <a:pt x="7" y="3"/>
                  </a:lnTo>
                  <a:lnTo>
                    <a:pt x="7" y="4"/>
                  </a:lnTo>
                  <a:lnTo>
                    <a:pt x="6" y="5"/>
                  </a:lnTo>
                  <a:lnTo>
                    <a:pt x="5" y="7"/>
                  </a:lnTo>
                  <a:lnTo>
                    <a:pt x="5" y="8"/>
                  </a:lnTo>
                  <a:lnTo>
                    <a:pt x="4" y="9"/>
                  </a:lnTo>
                  <a:lnTo>
                    <a:pt x="4" y="10"/>
                  </a:lnTo>
                  <a:lnTo>
                    <a:pt x="4" y="11"/>
                  </a:lnTo>
                  <a:lnTo>
                    <a:pt x="4" y="12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4" y="14"/>
                  </a:lnTo>
                  <a:lnTo>
                    <a:pt x="5" y="15"/>
                  </a:lnTo>
                  <a:lnTo>
                    <a:pt x="5" y="16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5" y="18"/>
                  </a:lnTo>
                  <a:lnTo>
                    <a:pt x="4" y="19"/>
                  </a:lnTo>
                  <a:lnTo>
                    <a:pt x="4" y="20"/>
                  </a:lnTo>
                  <a:lnTo>
                    <a:pt x="3" y="21"/>
                  </a:lnTo>
                  <a:lnTo>
                    <a:pt x="2" y="22"/>
                  </a:lnTo>
                  <a:lnTo>
                    <a:pt x="2" y="23"/>
                  </a:lnTo>
                  <a:lnTo>
                    <a:pt x="1" y="24"/>
                  </a:lnTo>
                  <a:lnTo>
                    <a:pt x="1" y="24"/>
                  </a:lnTo>
                  <a:lnTo>
                    <a:pt x="0" y="25"/>
                  </a:lnTo>
                </a:path>
              </a:pathLst>
            </a:custGeom>
            <a:noFill/>
            <a:ln w="5778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9" name="Freeform 278"/>
            <p:cNvSpPr/>
            <p:nvPr/>
          </p:nvSpPr>
          <p:spPr>
            <a:xfrm>
              <a:off x="2395728" y="11338560"/>
              <a:ext cx="228600" cy="82296"/>
            </a:xfrm>
            <a:custGeom>
              <a:avLst/>
              <a:gdLst/>
              <a:ahLst/>
              <a:cxnLst/>
              <a:rect l="l" t="t" r="r" b="b"/>
              <a:pathLst>
                <a:path w="25" h="9">
                  <a:moveTo>
                    <a:pt x="25" y="0"/>
                  </a:moveTo>
                  <a:lnTo>
                    <a:pt x="24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2" y="1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8" y="2"/>
                  </a:lnTo>
                  <a:lnTo>
                    <a:pt x="17" y="2"/>
                  </a:lnTo>
                  <a:lnTo>
                    <a:pt x="16" y="3"/>
                  </a:lnTo>
                  <a:lnTo>
                    <a:pt x="16" y="3"/>
                  </a:lnTo>
                  <a:lnTo>
                    <a:pt x="15" y="4"/>
                  </a:lnTo>
                  <a:lnTo>
                    <a:pt x="14" y="5"/>
                  </a:lnTo>
                  <a:lnTo>
                    <a:pt x="13" y="5"/>
                  </a:lnTo>
                  <a:lnTo>
                    <a:pt x="13" y="6"/>
                  </a:lnTo>
                  <a:lnTo>
                    <a:pt x="12" y="7"/>
                  </a:lnTo>
                  <a:lnTo>
                    <a:pt x="11" y="7"/>
                  </a:lnTo>
                  <a:lnTo>
                    <a:pt x="10" y="8"/>
                  </a:lnTo>
                  <a:lnTo>
                    <a:pt x="9" y="8"/>
                  </a:lnTo>
                  <a:lnTo>
                    <a:pt x="8" y="8"/>
                  </a:lnTo>
                  <a:lnTo>
                    <a:pt x="7" y="9"/>
                  </a:lnTo>
                  <a:lnTo>
                    <a:pt x="6" y="9"/>
                  </a:lnTo>
                  <a:lnTo>
                    <a:pt x="5" y="8"/>
                  </a:lnTo>
                  <a:lnTo>
                    <a:pt x="4" y="8"/>
                  </a:lnTo>
                  <a:lnTo>
                    <a:pt x="3" y="8"/>
                  </a:lnTo>
                  <a:lnTo>
                    <a:pt x="2" y="8"/>
                  </a:lnTo>
                  <a:lnTo>
                    <a:pt x="1" y="8"/>
                  </a:lnTo>
                  <a:lnTo>
                    <a:pt x="0" y="8"/>
                  </a:lnTo>
                </a:path>
              </a:pathLst>
            </a:custGeom>
            <a:noFill/>
            <a:ln w="5778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0" name="Freeform 279"/>
            <p:cNvSpPr/>
            <p:nvPr/>
          </p:nvSpPr>
          <p:spPr>
            <a:xfrm>
              <a:off x="2450592" y="11411712"/>
              <a:ext cx="45720" cy="118872"/>
            </a:xfrm>
            <a:custGeom>
              <a:avLst/>
              <a:gdLst/>
              <a:ahLst/>
              <a:cxnLst/>
              <a:rect l="l" t="t" r="r" b="b"/>
              <a:pathLst>
                <a:path w="5" h="13">
                  <a:moveTo>
                    <a:pt x="5" y="0"/>
                  </a:moveTo>
                  <a:lnTo>
                    <a:pt x="5" y="0"/>
                  </a:lnTo>
                  <a:lnTo>
                    <a:pt x="5" y="1"/>
                  </a:lnTo>
                  <a:lnTo>
                    <a:pt x="5" y="2"/>
                  </a:lnTo>
                  <a:lnTo>
                    <a:pt x="5" y="3"/>
                  </a:lnTo>
                  <a:lnTo>
                    <a:pt x="5" y="4"/>
                  </a:lnTo>
                  <a:lnTo>
                    <a:pt x="5" y="5"/>
                  </a:lnTo>
                  <a:lnTo>
                    <a:pt x="5" y="7"/>
                  </a:lnTo>
                  <a:lnTo>
                    <a:pt x="5" y="8"/>
                  </a:lnTo>
                  <a:lnTo>
                    <a:pt x="5" y="8"/>
                  </a:lnTo>
                  <a:lnTo>
                    <a:pt x="4" y="9"/>
                  </a:lnTo>
                  <a:lnTo>
                    <a:pt x="4" y="10"/>
                  </a:lnTo>
                  <a:lnTo>
                    <a:pt x="3" y="10"/>
                  </a:lnTo>
                  <a:lnTo>
                    <a:pt x="3" y="11"/>
                  </a:lnTo>
                  <a:lnTo>
                    <a:pt x="2" y="12"/>
                  </a:lnTo>
                  <a:lnTo>
                    <a:pt x="1" y="12"/>
                  </a:lnTo>
                  <a:lnTo>
                    <a:pt x="1" y="13"/>
                  </a:lnTo>
                  <a:lnTo>
                    <a:pt x="0" y="13"/>
                  </a:lnTo>
                  <a:lnTo>
                    <a:pt x="0" y="13"/>
                  </a:lnTo>
                </a:path>
              </a:pathLst>
            </a:custGeom>
            <a:noFill/>
            <a:ln w="5778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1" name="Freeform 280"/>
            <p:cNvSpPr/>
            <p:nvPr/>
          </p:nvSpPr>
          <p:spPr>
            <a:xfrm>
              <a:off x="2752344" y="11137392"/>
              <a:ext cx="64008" cy="137160"/>
            </a:xfrm>
            <a:custGeom>
              <a:avLst/>
              <a:gdLst/>
              <a:ahLst/>
              <a:cxnLst/>
              <a:rect l="l" t="t" r="r" b="b"/>
              <a:pathLst>
                <a:path w="7" h="15">
                  <a:moveTo>
                    <a:pt x="0" y="15"/>
                  </a:moveTo>
                  <a:lnTo>
                    <a:pt x="0" y="15"/>
                  </a:lnTo>
                  <a:lnTo>
                    <a:pt x="0" y="14"/>
                  </a:lnTo>
                  <a:lnTo>
                    <a:pt x="0" y="13"/>
                  </a:lnTo>
                  <a:lnTo>
                    <a:pt x="0" y="12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0" y="9"/>
                  </a:lnTo>
                  <a:lnTo>
                    <a:pt x="1" y="8"/>
                  </a:lnTo>
                  <a:lnTo>
                    <a:pt x="1" y="7"/>
                  </a:lnTo>
                  <a:lnTo>
                    <a:pt x="1" y="6"/>
                  </a:lnTo>
                  <a:lnTo>
                    <a:pt x="2" y="6"/>
                  </a:lnTo>
                  <a:lnTo>
                    <a:pt x="3" y="5"/>
                  </a:lnTo>
                  <a:lnTo>
                    <a:pt x="3" y="4"/>
                  </a:lnTo>
                  <a:lnTo>
                    <a:pt x="4" y="3"/>
                  </a:lnTo>
                  <a:lnTo>
                    <a:pt x="5" y="2"/>
                  </a:lnTo>
                  <a:lnTo>
                    <a:pt x="6" y="1"/>
                  </a:lnTo>
                  <a:lnTo>
                    <a:pt x="6" y="0"/>
                  </a:lnTo>
                  <a:lnTo>
                    <a:pt x="7" y="0"/>
                  </a:lnTo>
                </a:path>
              </a:pathLst>
            </a:custGeom>
            <a:noFill/>
            <a:ln w="5778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2" name="Freeform 281"/>
            <p:cNvSpPr/>
            <p:nvPr/>
          </p:nvSpPr>
          <p:spPr>
            <a:xfrm>
              <a:off x="2779776" y="11411712"/>
              <a:ext cx="36576" cy="146304"/>
            </a:xfrm>
            <a:custGeom>
              <a:avLst/>
              <a:gdLst/>
              <a:ahLst/>
              <a:cxnLst/>
              <a:rect l="l" t="t" r="r" b="b"/>
              <a:pathLst>
                <a:path w="4" h="16">
                  <a:moveTo>
                    <a:pt x="2" y="0"/>
                  </a:moveTo>
                  <a:lnTo>
                    <a:pt x="2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8"/>
                  </a:lnTo>
                  <a:lnTo>
                    <a:pt x="0" y="9"/>
                  </a:lnTo>
                  <a:lnTo>
                    <a:pt x="1" y="10"/>
                  </a:lnTo>
                  <a:lnTo>
                    <a:pt x="1" y="11"/>
                  </a:lnTo>
                  <a:lnTo>
                    <a:pt x="2" y="12"/>
                  </a:lnTo>
                  <a:lnTo>
                    <a:pt x="2" y="13"/>
                  </a:lnTo>
                  <a:lnTo>
                    <a:pt x="3" y="14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4" y="16"/>
                  </a:lnTo>
                </a:path>
              </a:pathLst>
            </a:custGeom>
            <a:noFill/>
            <a:ln w="5778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Freeform 282"/>
            <p:cNvSpPr/>
            <p:nvPr/>
          </p:nvSpPr>
          <p:spPr>
            <a:xfrm>
              <a:off x="2414016" y="11201400"/>
              <a:ext cx="128016" cy="36576"/>
            </a:xfrm>
            <a:custGeom>
              <a:avLst/>
              <a:gdLst/>
              <a:ahLst/>
              <a:cxnLst/>
              <a:rect l="l" t="t" r="r" b="b"/>
              <a:pathLst>
                <a:path w="14" h="4">
                  <a:moveTo>
                    <a:pt x="14" y="3"/>
                  </a:moveTo>
                  <a:lnTo>
                    <a:pt x="14" y="3"/>
                  </a:lnTo>
                  <a:lnTo>
                    <a:pt x="13" y="3"/>
                  </a:lnTo>
                  <a:lnTo>
                    <a:pt x="13" y="3"/>
                  </a:lnTo>
                  <a:lnTo>
                    <a:pt x="12" y="4"/>
                  </a:lnTo>
                  <a:lnTo>
                    <a:pt x="11" y="4"/>
                  </a:lnTo>
                  <a:lnTo>
                    <a:pt x="10" y="4"/>
                  </a:lnTo>
                  <a:lnTo>
                    <a:pt x="9" y="4"/>
                  </a:lnTo>
                  <a:lnTo>
                    <a:pt x="8" y="4"/>
                  </a:lnTo>
                  <a:lnTo>
                    <a:pt x="7" y="4"/>
                  </a:lnTo>
                  <a:lnTo>
                    <a:pt x="6" y="4"/>
                  </a:lnTo>
                  <a:lnTo>
                    <a:pt x="6" y="3"/>
                  </a:lnTo>
                  <a:lnTo>
                    <a:pt x="5" y="3"/>
                  </a:lnTo>
                  <a:lnTo>
                    <a:pt x="3" y="2"/>
                  </a:lnTo>
                  <a:lnTo>
                    <a:pt x="3" y="2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5778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4" name="Oval 283"/>
            <p:cNvSpPr/>
            <p:nvPr/>
          </p:nvSpPr>
          <p:spPr>
            <a:xfrm>
              <a:off x="2368296" y="11045952"/>
              <a:ext cx="594360" cy="566928"/>
            </a:xfrm>
            <a:prstGeom prst="ellipse">
              <a:avLst/>
            </a:prstGeom>
            <a:noFill/>
            <a:ln w="7620" cap="rnd">
              <a:solidFill>
                <a:srgbClr val="002D65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8" name="Starch granule — editable vector group"/>
          <p:cNvGrpSpPr/>
          <p:nvPr/>
        </p:nvGrpSpPr>
        <p:grpSpPr>
          <a:xfrm>
            <a:off x="3099816" y="10460736"/>
            <a:ext cx="502920" cy="493776"/>
            <a:chOff x="3099816" y="10460736"/>
            <a:chExt cx="502920" cy="493776"/>
          </a:xfrm>
        </p:grpSpPr>
        <p:sp>
          <p:nvSpPr>
            <p:cNvPr id="286" name="Editable starch granule"/>
            <p:cNvSpPr/>
            <p:nvPr/>
          </p:nvSpPr>
          <p:spPr>
            <a:xfrm>
              <a:off x="3099816" y="10460736"/>
              <a:ext cx="502920" cy="493776"/>
            </a:xfrm>
            <a:prstGeom prst="ellipse">
              <a:avLst/>
            </a:prstGeom>
            <a:ln w="7620" cap="rnd">
              <a:solidFill>
                <a:srgbClr val="002D65"/>
              </a:solidFill>
              <a:round/>
            </a:ln>
            <a:gradFill>
              <a:gsLst>
                <a:gs pos="0">
                  <a:srgbClr val="F7FCFF"/>
                </a:gs>
                <a:gs pos="100000">
                  <a:srgbClr val="A9D6F8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7" name="Freeform 286"/>
            <p:cNvSpPr/>
            <p:nvPr/>
          </p:nvSpPr>
          <p:spPr>
            <a:xfrm>
              <a:off x="3374136" y="10515600"/>
              <a:ext cx="146304" cy="164592"/>
            </a:xfrm>
            <a:custGeom>
              <a:avLst/>
              <a:gdLst/>
              <a:ahLst/>
              <a:cxnLst/>
              <a:rect l="l" t="t" r="r" b="b"/>
              <a:pathLst>
                <a:path w="16" h="18">
                  <a:moveTo>
                    <a:pt x="0" y="18"/>
                  </a:moveTo>
                  <a:lnTo>
                    <a:pt x="1" y="18"/>
                  </a:lnTo>
                  <a:lnTo>
                    <a:pt x="1" y="17"/>
                  </a:lnTo>
                  <a:lnTo>
                    <a:pt x="2" y="17"/>
                  </a:lnTo>
                  <a:lnTo>
                    <a:pt x="2" y="16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4" y="14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6" y="13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9" y="10"/>
                  </a:lnTo>
                  <a:lnTo>
                    <a:pt x="9" y="9"/>
                  </a:lnTo>
                  <a:lnTo>
                    <a:pt x="9" y="8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2" y="3"/>
                  </a:lnTo>
                  <a:lnTo>
                    <a:pt x="12" y="2"/>
                  </a:lnTo>
                  <a:lnTo>
                    <a:pt x="13" y="2"/>
                  </a:lnTo>
                  <a:lnTo>
                    <a:pt x="14" y="1"/>
                  </a:lnTo>
                  <a:lnTo>
                    <a:pt x="14" y="1"/>
                  </a:lnTo>
                  <a:lnTo>
                    <a:pt x="15" y="1"/>
                  </a:lnTo>
                  <a:lnTo>
                    <a:pt x="15" y="0"/>
                  </a:lnTo>
                  <a:lnTo>
                    <a:pt x="16" y="0"/>
                  </a:lnTo>
                </a:path>
              </a:pathLst>
            </a:custGeom>
            <a:noFill/>
            <a:ln w="4889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8" name="Freeform 287"/>
            <p:cNvSpPr/>
            <p:nvPr/>
          </p:nvSpPr>
          <p:spPr>
            <a:xfrm>
              <a:off x="3310128" y="10488168"/>
              <a:ext cx="64008" cy="182880"/>
            </a:xfrm>
            <a:custGeom>
              <a:avLst/>
              <a:gdLst/>
              <a:ahLst/>
              <a:cxnLst/>
              <a:rect l="l" t="t" r="r" b="b"/>
              <a:pathLst>
                <a:path w="7" h="20">
                  <a:moveTo>
                    <a:pt x="7" y="20"/>
                  </a:moveTo>
                  <a:lnTo>
                    <a:pt x="6" y="20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4" y="17"/>
                  </a:lnTo>
                  <a:lnTo>
                    <a:pt x="4" y="16"/>
                  </a:lnTo>
                  <a:lnTo>
                    <a:pt x="3" y="16"/>
                  </a:lnTo>
                  <a:lnTo>
                    <a:pt x="3" y="15"/>
                  </a:lnTo>
                  <a:lnTo>
                    <a:pt x="2" y="14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1" y="12"/>
                  </a:lnTo>
                  <a:lnTo>
                    <a:pt x="1" y="11"/>
                  </a:lnTo>
                  <a:lnTo>
                    <a:pt x="1" y="10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8"/>
                  </a:lnTo>
                  <a:lnTo>
                    <a:pt x="0" y="7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noFill/>
            <a:ln w="4889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9" name="Freeform 288"/>
            <p:cNvSpPr/>
            <p:nvPr/>
          </p:nvSpPr>
          <p:spPr>
            <a:xfrm>
              <a:off x="3127248" y="10597896"/>
              <a:ext cx="246888" cy="100584"/>
            </a:xfrm>
            <a:custGeom>
              <a:avLst/>
              <a:gdLst/>
              <a:ahLst/>
              <a:cxnLst/>
              <a:rect l="l" t="t" r="r" b="b"/>
              <a:pathLst>
                <a:path w="27" h="11">
                  <a:moveTo>
                    <a:pt x="27" y="11"/>
                  </a:moveTo>
                  <a:lnTo>
                    <a:pt x="26" y="11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23" y="9"/>
                  </a:lnTo>
                  <a:lnTo>
                    <a:pt x="22" y="9"/>
                  </a:lnTo>
                  <a:lnTo>
                    <a:pt x="21" y="8"/>
                  </a:lnTo>
                  <a:lnTo>
                    <a:pt x="19" y="8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5" y="7"/>
                  </a:lnTo>
                  <a:lnTo>
                    <a:pt x="14" y="7"/>
                  </a:lnTo>
                  <a:lnTo>
                    <a:pt x="13" y="7"/>
                  </a:lnTo>
                  <a:lnTo>
                    <a:pt x="12" y="7"/>
                  </a:lnTo>
                  <a:lnTo>
                    <a:pt x="12" y="7"/>
                  </a:lnTo>
                  <a:lnTo>
                    <a:pt x="11" y="7"/>
                  </a:lnTo>
                  <a:lnTo>
                    <a:pt x="10" y="7"/>
                  </a:lnTo>
                  <a:lnTo>
                    <a:pt x="9" y="7"/>
                  </a:lnTo>
                  <a:lnTo>
                    <a:pt x="9" y="6"/>
                  </a:lnTo>
                  <a:lnTo>
                    <a:pt x="8" y="6"/>
                  </a:lnTo>
                  <a:lnTo>
                    <a:pt x="7" y="5"/>
                  </a:lnTo>
                  <a:lnTo>
                    <a:pt x="6" y="5"/>
                  </a:lnTo>
                  <a:lnTo>
                    <a:pt x="6" y="4"/>
                  </a:lnTo>
                  <a:lnTo>
                    <a:pt x="5" y="4"/>
                  </a:lnTo>
                  <a:lnTo>
                    <a:pt x="4" y="3"/>
                  </a:lnTo>
                  <a:lnTo>
                    <a:pt x="4" y="3"/>
                  </a:lnTo>
                  <a:lnTo>
                    <a:pt x="3" y="2"/>
                  </a:lnTo>
                  <a:lnTo>
                    <a:pt x="3" y="2"/>
                  </a:lnTo>
                  <a:lnTo>
                    <a:pt x="2" y="2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noFill/>
            <a:ln w="4889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0" name="Freeform 289"/>
            <p:cNvSpPr/>
            <p:nvPr/>
          </p:nvSpPr>
          <p:spPr>
            <a:xfrm>
              <a:off x="3118104" y="10716768"/>
              <a:ext cx="246888" cy="100584"/>
            </a:xfrm>
            <a:custGeom>
              <a:avLst/>
              <a:gdLst/>
              <a:ahLst/>
              <a:cxnLst/>
              <a:rect l="l" t="t" r="r" b="b"/>
              <a:pathLst>
                <a:path w="27" h="11">
                  <a:moveTo>
                    <a:pt x="27" y="0"/>
                  </a:moveTo>
                  <a:lnTo>
                    <a:pt x="26" y="0"/>
                  </a:lnTo>
                  <a:lnTo>
                    <a:pt x="25" y="0"/>
                  </a:lnTo>
                  <a:lnTo>
                    <a:pt x="25" y="1"/>
                  </a:lnTo>
                  <a:lnTo>
                    <a:pt x="24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1" y="4"/>
                  </a:lnTo>
                  <a:lnTo>
                    <a:pt x="20" y="4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18" y="6"/>
                  </a:lnTo>
                  <a:lnTo>
                    <a:pt x="17" y="6"/>
                  </a:lnTo>
                  <a:lnTo>
                    <a:pt x="17" y="6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5" y="7"/>
                  </a:lnTo>
                  <a:lnTo>
                    <a:pt x="14" y="7"/>
                  </a:lnTo>
                  <a:lnTo>
                    <a:pt x="13" y="7"/>
                  </a:lnTo>
                  <a:lnTo>
                    <a:pt x="13" y="7"/>
                  </a:lnTo>
                  <a:lnTo>
                    <a:pt x="12" y="7"/>
                  </a:lnTo>
                  <a:lnTo>
                    <a:pt x="11" y="7"/>
                  </a:lnTo>
                  <a:lnTo>
                    <a:pt x="9" y="7"/>
                  </a:lnTo>
                  <a:lnTo>
                    <a:pt x="8" y="7"/>
                  </a:lnTo>
                  <a:lnTo>
                    <a:pt x="7" y="6"/>
                  </a:lnTo>
                  <a:lnTo>
                    <a:pt x="6" y="6"/>
                  </a:lnTo>
                  <a:lnTo>
                    <a:pt x="5" y="6"/>
                  </a:lnTo>
                  <a:lnTo>
                    <a:pt x="5" y="7"/>
                  </a:lnTo>
                  <a:lnTo>
                    <a:pt x="4" y="7"/>
                  </a:lnTo>
                  <a:lnTo>
                    <a:pt x="3" y="7"/>
                  </a:lnTo>
                  <a:lnTo>
                    <a:pt x="2" y="8"/>
                  </a:lnTo>
                  <a:lnTo>
                    <a:pt x="2" y="8"/>
                  </a:lnTo>
                  <a:lnTo>
                    <a:pt x="1" y="9"/>
                  </a:lnTo>
                  <a:lnTo>
                    <a:pt x="1" y="10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1"/>
                  </a:lnTo>
                </a:path>
              </a:pathLst>
            </a:custGeom>
            <a:noFill/>
            <a:ln w="4889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1" name="Freeform 290"/>
            <p:cNvSpPr/>
            <p:nvPr/>
          </p:nvSpPr>
          <p:spPr>
            <a:xfrm>
              <a:off x="3374136" y="10735056"/>
              <a:ext cx="64008" cy="192024"/>
            </a:xfrm>
            <a:custGeom>
              <a:avLst/>
              <a:gdLst/>
              <a:ahLst/>
              <a:cxnLst/>
              <a:rect l="l" t="t" r="r" b="b"/>
              <a:pathLst>
                <a:path w="7" h="2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2" y="4"/>
                  </a:lnTo>
                  <a:lnTo>
                    <a:pt x="3" y="5"/>
                  </a:lnTo>
                  <a:lnTo>
                    <a:pt x="3" y="6"/>
                  </a:lnTo>
                  <a:lnTo>
                    <a:pt x="4" y="7"/>
                  </a:lnTo>
                  <a:lnTo>
                    <a:pt x="4" y="8"/>
                  </a:lnTo>
                  <a:lnTo>
                    <a:pt x="4" y="9"/>
                  </a:lnTo>
                  <a:lnTo>
                    <a:pt x="4" y="10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3" y="15"/>
                  </a:lnTo>
                  <a:lnTo>
                    <a:pt x="3" y="16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5" y="18"/>
                  </a:lnTo>
                  <a:lnTo>
                    <a:pt x="5" y="19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7" y="21"/>
                  </a:lnTo>
                  <a:lnTo>
                    <a:pt x="7" y="21"/>
                  </a:lnTo>
                </a:path>
              </a:pathLst>
            </a:custGeom>
            <a:noFill/>
            <a:ln w="4889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2" name="Freeform 291"/>
            <p:cNvSpPr/>
            <p:nvPr/>
          </p:nvSpPr>
          <p:spPr>
            <a:xfrm>
              <a:off x="3383280" y="10716768"/>
              <a:ext cx="192024" cy="64008"/>
            </a:xfrm>
            <a:custGeom>
              <a:avLst/>
              <a:gdLst/>
              <a:ahLst/>
              <a:cxnLst/>
              <a:rect l="l" t="t" r="r" b="b"/>
              <a:pathLst>
                <a:path w="21" h="7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3" y="0"/>
                  </a:lnTo>
                  <a:lnTo>
                    <a:pt x="4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7" y="2"/>
                  </a:lnTo>
                  <a:lnTo>
                    <a:pt x="8" y="2"/>
                  </a:lnTo>
                  <a:lnTo>
                    <a:pt x="8" y="3"/>
                  </a:lnTo>
                  <a:lnTo>
                    <a:pt x="9" y="3"/>
                  </a:lnTo>
                  <a:lnTo>
                    <a:pt x="10" y="4"/>
                  </a:lnTo>
                  <a:lnTo>
                    <a:pt x="10" y="5"/>
                  </a:lnTo>
                  <a:lnTo>
                    <a:pt x="11" y="5"/>
                  </a:lnTo>
                  <a:lnTo>
                    <a:pt x="11" y="6"/>
                  </a:lnTo>
                  <a:lnTo>
                    <a:pt x="12" y="6"/>
                  </a:lnTo>
                  <a:lnTo>
                    <a:pt x="13" y="7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5" y="7"/>
                  </a:lnTo>
                  <a:lnTo>
                    <a:pt x="16" y="7"/>
                  </a:lnTo>
                  <a:lnTo>
                    <a:pt x="17" y="7"/>
                  </a:lnTo>
                  <a:lnTo>
                    <a:pt x="18" y="7"/>
                  </a:lnTo>
                  <a:lnTo>
                    <a:pt x="19" y="7"/>
                  </a:lnTo>
                  <a:lnTo>
                    <a:pt x="20" y="7"/>
                  </a:lnTo>
                  <a:lnTo>
                    <a:pt x="21" y="7"/>
                  </a:lnTo>
                  <a:lnTo>
                    <a:pt x="21" y="7"/>
                  </a:lnTo>
                </a:path>
              </a:pathLst>
            </a:custGeom>
            <a:noFill/>
            <a:ln w="4889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3" name="Freeform 292"/>
            <p:cNvSpPr/>
            <p:nvPr/>
          </p:nvSpPr>
          <p:spPr>
            <a:xfrm>
              <a:off x="3493008" y="10780776"/>
              <a:ext cx="36576" cy="100584"/>
            </a:xfrm>
            <a:custGeom>
              <a:avLst/>
              <a:gdLst/>
              <a:ahLst/>
              <a:cxnLst/>
              <a:rect l="l" t="t" r="r" b="b"/>
              <a:pathLst>
                <a:path w="4" h="11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4" y="11"/>
                  </a:lnTo>
                </a:path>
              </a:pathLst>
            </a:custGeom>
            <a:noFill/>
            <a:ln w="4889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4" name="Freeform 293"/>
            <p:cNvSpPr/>
            <p:nvPr/>
          </p:nvSpPr>
          <p:spPr>
            <a:xfrm>
              <a:off x="3227832" y="10543032"/>
              <a:ext cx="45720" cy="118872"/>
            </a:xfrm>
            <a:custGeom>
              <a:avLst/>
              <a:gdLst/>
              <a:ahLst/>
              <a:cxnLst/>
              <a:rect l="l" t="t" r="r" b="b"/>
              <a:pathLst>
                <a:path w="5" h="13">
                  <a:moveTo>
                    <a:pt x="5" y="13"/>
                  </a:moveTo>
                  <a:lnTo>
                    <a:pt x="5" y="13"/>
                  </a:lnTo>
                  <a:lnTo>
                    <a:pt x="5" y="12"/>
                  </a:lnTo>
                  <a:lnTo>
                    <a:pt x="5" y="11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5" y="9"/>
                  </a:lnTo>
                  <a:lnTo>
                    <a:pt x="5" y="8"/>
                  </a:lnTo>
                  <a:lnTo>
                    <a:pt x="5" y="7"/>
                  </a:lnTo>
                  <a:lnTo>
                    <a:pt x="5" y="6"/>
                  </a:lnTo>
                  <a:lnTo>
                    <a:pt x="4" y="5"/>
                  </a:lnTo>
                  <a:lnTo>
                    <a:pt x="4" y="5"/>
                  </a:lnTo>
                  <a:lnTo>
                    <a:pt x="3" y="4"/>
                  </a:lnTo>
                  <a:lnTo>
                    <a:pt x="3" y="3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4889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5" name="Freeform 294"/>
            <p:cNvSpPr/>
            <p:nvPr/>
          </p:nvSpPr>
          <p:spPr>
            <a:xfrm>
              <a:off x="3218688" y="10780776"/>
              <a:ext cx="36576" cy="128016"/>
            </a:xfrm>
            <a:custGeom>
              <a:avLst/>
              <a:gdLst/>
              <a:ahLst/>
              <a:cxnLst/>
              <a:rect l="l" t="t" r="r" b="b"/>
              <a:pathLst>
                <a:path w="4" h="14">
                  <a:moveTo>
                    <a:pt x="2" y="0"/>
                  </a:moveTo>
                  <a:lnTo>
                    <a:pt x="3" y="1"/>
                  </a:lnTo>
                  <a:lnTo>
                    <a:pt x="3" y="1"/>
                  </a:lnTo>
                  <a:lnTo>
                    <a:pt x="3" y="2"/>
                  </a:lnTo>
                  <a:lnTo>
                    <a:pt x="3" y="3"/>
                  </a:lnTo>
                  <a:lnTo>
                    <a:pt x="4" y="4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6"/>
                  </a:lnTo>
                  <a:lnTo>
                    <a:pt x="4" y="7"/>
                  </a:lnTo>
                  <a:lnTo>
                    <a:pt x="4" y="8"/>
                  </a:lnTo>
                  <a:lnTo>
                    <a:pt x="3" y="9"/>
                  </a:lnTo>
                  <a:lnTo>
                    <a:pt x="3" y="10"/>
                  </a:lnTo>
                  <a:lnTo>
                    <a:pt x="3" y="11"/>
                  </a:lnTo>
                  <a:lnTo>
                    <a:pt x="2" y="12"/>
                  </a:lnTo>
                  <a:lnTo>
                    <a:pt x="1" y="12"/>
                  </a:lnTo>
                  <a:lnTo>
                    <a:pt x="1" y="13"/>
                  </a:lnTo>
                  <a:lnTo>
                    <a:pt x="0" y="14"/>
                  </a:lnTo>
                  <a:lnTo>
                    <a:pt x="0" y="14"/>
                  </a:lnTo>
                </a:path>
              </a:pathLst>
            </a:custGeom>
            <a:noFill/>
            <a:ln w="4889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6" name="Freeform 295"/>
            <p:cNvSpPr/>
            <p:nvPr/>
          </p:nvSpPr>
          <p:spPr>
            <a:xfrm>
              <a:off x="3456432" y="10597896"/>
              <a:ext cx="109728" cy="27432"/>
            </a:xfrm>
            <a:custGeom>
              <a:avLst/>
              <a:gdLst/>
              <a:ahLst/>
              <a:cxnLst/>
              <a:rect l="l" t="t" r="r" b="b"/>
              <a:pathLst>
                <a:path w="12" h="3">
                  <a:moveTo>
                    <a:pt x="0" y="2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1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3" y="3"/>
                  </a:lnTo>
                  <a:lnTo>
                    <a:pt x="4" y="3"/>
                  </a:lnTo>
                  <a:lnTo>
                    <a:pt x="5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7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1" y="0"/>
                  </a:lnTo>
                  <a:lnTo>
                    <a:pt x="12" y="0"/>
                  </a:lnTo>
                  <a:lnTo>
                    <a:pt x="12" y="0"/>
                  </a:lnTo>
                </a:path>
              </a:pathLst>
            </a:custGeom>
            <a:noFill/>
            <a:ln w="4889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7" name="Oval 296"/>
            <p:cNvSpPr/>
            <p:nvPr/>
          </p:nvSpPr>
          <p:spPr>
            <a:xfrm>
              <a:off x="3099816" y="10460736"/>
              <a:ext cx="502920" cy="493776"/>
            </a:xfrm>
            <a:prstGeom prst="ellipse">
              <a:avLst/>
            </a:prstGeom>
            <a:noFill/>
            <a:ln w="7620" cap="rnd">
              <a:solidFill>
                <a:srgbClr val="002D65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299" name="Connector 298"/>
          <p:cNvCxnSpPr/>
          <p:nvPr/>
        </p:nvCxnSpPr>
        <p:spPr>
          <a:xfrm>
            <a:off x="2862072" y="10415016"/>
            <a:ext cx="192024" cy="109728"/>
          </a:xfrm>
          <a:prstGeom prst="line">
            <a:avLst/>
          </a:prstGeom>
          <a:ln w="11430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Freeform 299"/>
          <p:cNvSpPr/>
          <p:nvPr/>
        </p:nvSpPr>
        <p:spPr>
          <a:xfrm>
            <a:off x="2953512" y="10442448"/>
            <a:ext cx="100584" cy="82296"/>
          </a:xfrm>
          <a:custGeom>
            <a:avLst/>
            <a:gdLst/>
            <a:ahLst/>
            <a:cxnLst/>
            <a:rect l="l" t="t" r="r" b="b"/>
            <a:pathLst>
              <a:path w="11" h="9">
                <a:moveTo>
                  <a:pt x="11" y="9"/>
                </a:moveTo>
                <a:lnTo>
                  <a:pt x="5" y="0"/>
                </a:lnTo>
                <a:lnTo>
                  <a:pt x="0" y="8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1" name="Connector 300"/>
          <p:cNvCxnSpPr/>
          <p:nvPr/>
        </p:nvCxnSpPr>
        <p:spPr>
          <a:xfrm>
            <a:off x="2734056" y="10789920"/>
            <a:ext cx="118872" cy="219456"/>
          </a:xfrm>
          <a:prstGeom prst="line">
            <a:avLst/>
          </a:prstGeom>
          <a:ln w="11430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2" name="Freeform 301"/>
          <p:cNvSpPr/>
          <p:nvPr/>
        </p:nvSpPr>
        <p:spPr>
          <a:xfrm>
            <a:off x="2770632" y="10908792"/>
            <a:ext cx="82296" cy="100584"/>
          </a:xfrm>
          <a:custGeom>
            <a:avLst/>
            <a:gdLst/>
            <a:ahLst/>
            <a:cxnLst/>
            <a:rect l="l" t="t" r="r" b="b"/>
            <a:pathLst>
              <a:path w="9" h="11">
                <a:moveTo>
                  <a:pt x="9" y="11"/>
                </a:moveTo>
                <a:lnTo>
                  <a:pt x="9" y="0"/>
                </a:lnTo>
                <a:lnTo>
                  <a:pt x="0" y="5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3" name="Connector 302"/>
          <p:cNvCxnSpPr/>
          <p:nvPr/>
        </p:nvCxnSpPr>
        <p:spPr>
          <a:xfrm flipH="1">
            <a:off x="1645920" y="10853928"/>
            <a:ext cx="146304" cy="82296"/>
          </a:xfrm>
          <a:prstGeom prst="line">
            <a:avLst/>
          </a:prstGeom>
          <a:ln w="11430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Freeform 303"/>
          <p:cNvSpPr/>
          <p:nvPr/>
        </p:nvSpPr>
        <p:spPr>
          <a:xfrm>
            <a:off x="1645920" y="10853928"/>
            <a:ext cx="100584" cy="82296"/>
          </a:xfrm>
          <a:custGeom>
            <a:avLst/>
            <a:gdLst/>
            <a:ahLst/>
            <a:cxnLst/>
            <a:rect l="l" t="t" r="r" b="b"/>
            <a:pathLst>
              <a:path w="11" h="9">
                <a:moveTo>
                  <a:pt x="0" y="9"/>
                </a:moveTo>
                <a:lnTo>
                  <a:pt x="11" y="8"/>
                </a:lnTo>
                <a:lnTo>
                  <a:pt x="6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5" name="Connector 304"/>
          <p:cNvCxnSpPr/>
          <p:nvPr/>
        </p:nvCxnSpPr>
        <p:spPr>
          <a:xfrm flipH="1">
            <a:off x="1929384" y="10936224"/>
            <a:ext cx="173736" cy="356616"/>
          </a:xfrm>
          <a:prstGeom prst="line">
            <a:avLst/>
          </a:prstGeom>
          <a:ln w="11430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6" name="Freeform 305"/>
          <p:cNvSpPr/>
          <p:nvPr/>
        </p:nvSpPr>
        <p:spPr>
          <a:xfrm>
            <a:off x="1929384" y="11192256"/>
            <a:ext cx="82296" cy="100584"/>
          </a:xfrm>
          <a:custGeom>
            <a:avLst/>
            <a:gdLst/>
            <a:ahLst/>
            <a:cxnLst/>
            <a:rect l="l" t="t" r="r" b="b"/>
            <a:pathLst>
              <a:path w="9" h="11">
                <a:moveTo>
                  <a:pt x="0" y="11"/>
                </a:moveTo>
                <a:lnTo>
                  <a:pt x="9" y="4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ounded Rectangle 306"/>
          <p:cNvSpPr/>
          <p:nvPr/>
        </p:nvSpPr>
        <p:spPr>
          <a:xfrm>
            <a:off x="5806440" y="8650224"/>
            <a:ext cx="2862072" cy="292608"/>
          </a:xfrm>
          <a:prstGeom prst="roundRect">
            <a:avLst>
              <a:gd name="adj" fmla="val 16000"/>
            </a:avLst>
          </a:prstGeom>
          <a:ln w="11430" cap="rnd">
            <a:solidFill>
              <a:srgbClr val="0646A5"/>
            </a:solidFill>
            <a:round/>
          </a:ln>
          <a:gradFill>
            <a:gsLst>
              <a:gs pos="0">
                <a:srgbClr val="F4FBFF"/>
              </a:gs>
              <a:gs pos="100000">
                <a:srgbClr val="D3E8FA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Anion effect"/>
          <p:cNvSpPr txBox="1"/>
          <p:nvPr/>
        </p:nvSpPr>
        <p:spPr>
          <a:xfrm>
            <a:off x="5843016" y="8659368"/>
            <a:ext cx="278892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30" b="1">
                <a:solidFill>
                  <a:srgbClr val="002D65"/>
                </a:solidFill>
                <a:latin typeface="Times New Roman"/>
              </a:defRPr>
            </a:pPr>
            <a:r>
              <a:t>Anion effect</a:t>
            </a:r>
          </a:p>
        </p:txBody>
      </p:sp>
      <p:sp>
        <p:nvSpPr>
          <p:cNvPr id="309" name="Rounded Rectangle 308"/>
          <p:cNvSpPr/>
          <p:nvPr/>
        </p:nvSpPr>
        <p:spPr>
          <a:xfrm>
            <a:off x="5806440" y="9665208"/>
            <a:ext cx="2862072" cy="292608"/>
          </a:xfrm>
          <a:prstGeom prst="roundRect">
            <a:avLst>
              <a:gd name="adj" fmla="val 16000"/>
            </a:avLst>
          </a:prstGeom>
          <a:ln w="11430" cap="rnd">
            <a:solidFill>
              <a:srgbClr val="0646A5"/>
            </a:solidFill>
            <a:round/>
          </a:ln>
          <a:gradFill>
            <a:gsLst>
              <a:gs pos="0">
                <a:srgbClr val="F4FBFF"/>
              </a:gs>
              <a:gs pos="100000">
                <a:srgbClr val="D3E8FA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Cation structure"/>
          <p:cNvSpPr txBox="1"/>
          <p:nvPr/>
        </p:nvSpPr>
        <p:spPr>
          <a:xfrm>
            <a:off x="5843016" y="9674352"/>
            <a:ext cx="278892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30" b="1">
                <a:solidFill>
                  <a:srgbClr val="002D65"/>
                </a:solidFill>
                <a:latin typeface="Times New Roman"/>
              </a:defRPr>
            </a:pPr>
            <a:r>
              <a:t>Cation structure</a:t>
            </a:r>
          </a:p>
        </p:txBody>
      </p:sp>
      <p:sp>
        <p:nvSpPr>
          <p:cNvPr id="311" name="Oval 310"/>
          <p:cNvSpPr/>
          <p:nvPr/>
        </p:nvSpPr>
        <p:spPr>
          <a:xfrm>
            <a:off x="6117336" y="9043416"/>
            <a:ext cx="530352" cy="530352"/>
          </a:xfrm>
          <a:prstGeom prst="ellipse">
            <a:avLst/>
          </a:prstGeom>
          <a:ln w="8890" cap="rnd">
            <a:solidFill>
              <a:srgbClr val="3F8420"/>
            </a:solidFill>
            <a:round/>
          </a:ln>
          <a:gradFill>
            <a:gsLst>
              <a:gs pos="0">
                <a:srgbClr val="A4D65C"/>
              </a:gs>
              <a:gs pos="100000">
                <a:srgbClr val="38831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Cl⁻"/>
          <p:cNvSpPr txBox="1"/>
          <p:nvPr/>
        </p:nvSpPr>
        <p:spPr>
          <a:xfrm>
            <a:off x="6117336" y="9149486"/>
            <a:ext cx="530352" cy="3606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Times New Roman"/>
              </a:defRPr>
            </a:pPr>
            <a:r>
              <a:t>Cl⁻</a:t>
            </a:r>
          </a:p>
        </p:txBody>
      </p:sp>
      <p:sp>
        <p:nvSpPr>
          <p:cNvPr id="313" name="Oval 312"/>
          <p:cNvSpPr/>
          <p:nvPr/>
        </p:nvSpPr>
        <p:spPr>
          <a:xfrm>
            <a:off x="7708392" y="8997696"/>
            <a:ext cx="630936" cy="630936"/>
          </a:xfrm>
          <a:prstGeom prst="ellipse">
            <a:avLst/>
          </a:prstGeom>
          <a:ln w="8890" cap="rnd">
            <a:solidFill>
              <a:srgbClr val="3F8420"/>
            </a:solidFill>
            <a:round/>
          </a:ln>
          <a:gradFill>
            <a:gsLst>
              <a:gs pos="0">
                <a:srgbClr val="A4D65C"/>
              </a:gs>
              <a:gs pos="100000">
                <a:srgbClr val="38831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[OAc]⁻"/>
          <p:cNvSpPr txBox="1"/>
          <p:nvPr/>
        </p:nvSpPr>
        <p:spPr>
          <a:xfrm>
            <a:off x="7708392" y="9123883"/>
            <a:ext cx="630936" cy="429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20" b="1">
                <a:solidFill>
                  <a:srgbClr val="FFFFFF"/>
                </a:solidFill>
                <a:latin typeface="Times New Roman"/>
              </a:defRPr>
            </a:pPr>
            <a:r>
              <a:t>[OAc]⁻</a:t>
            </a:r>
          </a:p>
        </p:txBody>
      </p:sp>
      <p:sp>
        <p:nvSpPr>
          <p:cNvPr id="315" name="&gt;"/>
          <p:cNvSpPr txBox="1"/>
          <p:nvPr/>
        </p:nvSpPr>
        <p:spPr>
          <a:xfrm>
            <a:off x="7040880" y="9043416"/>
            <a:ext cx="347472" cy="5212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01010"/>
                </a:solidFill>
                <a:latin typeface="Times New Roman"/>
              </a:defRPr>
            </a:pPr>
            <a:r>
              <a:t>&gt;</a:t>
            </a:r>
          </a:p>
        </p:txBody>
      </p:sp>
      <p:sp>
        <p:nvSpPr>
          <p:cNvPr id="316" name="[Bmim]⁺, [Amim]⁺, [Emim]⁺"/>
          <p:cNvSpPr txBox="1"/>
          <p:nvPr/>
        </p:nvSpPr>
        <p:spPr>
          <a:xfrm>
            <a:off x="5815584" y="9994392"/>
            <a:ext cx="2962656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70" b="1">
                <a:solidFill>
                  <a:srgbClr val="101010"/>
                </a:solidFill>
                <a:latin typeface="Times New Roman"/>
              </a:defRPr>
            </a:pPr>
            <a:r>
              <a:t>[Bmim]⁺, [Amim]⁺, [Emim]⁺</a:t>
            </a:r>
          </a:p>
        </p:txBody>
      </p:sp>
      <p:sp>
        <p:nvSpPr>
          <p:cNvPr id="317" name="Rounded Rectangle 316"/>
          <p:cNvSpPr/>
          <p:nvPr/>
        </p:nvSpPr>
        <p:spPr>
          <a:xfrm>
            <a:off x="5056632" y="10415016"/>
            <a:ext cx="905256" cy="347472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8" name="Connector 317"/>
          <p:cNvCxnSpPr/>
          <p:nvPr/>
        </p:nvCxnSpPr>
        <p:spPr>
          <a:xfrm>
            <a:off x="5120640" y="10460736"/>
            <a:ext cx="777240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[Bmim]⁺"/>
          <p:cNvSpPr txBox="1"/>
          <p:nvPr/>
        </p:nvSpPr>
        <p:spPr>
          <a:xfrm>
            <a:off x="5065776" y="10460187"/>
            <a:ext cx="886968" cy="2779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[Bmim]⁺</a:t>
            </a:r>
          </a:p>
        </p:txBody>
      </p:sp>
      <p:sp>
        <p:nvSpPr>
          <p:cNvPr id="320" name="Rounded Rectangle 319"/>
          <p:cNvSpPr/>
          <p:nvPr/>
        </p:nvSpPr>
        <p:spPr>
          <a:xfrm>
            <a:off x="6693408" y="10415016"/>
            <a:ext cx="905256" cy="347472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1" name="Connector 320"/>
          <p:cNvCxnSpPr/>
          <p:nvPr/>
        </p:nvCxnSpPr>
        <p:spPr>
          <a:xfrm>
            <a:off x="6757416" y="10460736"/>
            <a:ext cx="777240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2" name="[Amim]⁺"/>
          <p:cNvSpPr txBox="1"/>
          <p:nvPr/>
        </p:nvSpPr>
        <p:spPr>
          <a:xfrm>
            <a:off x="6702552" y="10460187"/>
            <a:ext cx="886968" cy="2779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[Amim]⁺</a:t>
            </a:r>
          </a:p>
        </p:txBody>
      </p:sp>
      <p:sp>
        <p:nvSpPr>
          <p:cNvPr id="323" name="Rounded Rectangle 322"/>
          <p:cNvSpPr/>
          <p:nvPr/>
        </p:nvSpPr>
        <p:spPr>
          <a:xfrm>
            <a:off x="8284464" y="10415016"/>
            <a:ext cx="905256" cy="347472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4" name="Connector 323"/>
          <p:cNvCxnSpPr/>
          <p:nvPr/>
        </p:nvCxnSpPr>
        <p:spPr>
          <a:xfrm>
            <a:off x="8348472" y="10460736"/>
            <a:ext cx="777240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[Emim]⁺"/>
          <p:cNvSpPr txBox="1"/>
          <p:nvPr/>
        </p:nvSpPr>
        <p:spPr>
          <a:xfrm>
            <a:off x="8293608" y="10460187"/>
            <a:ext cx="886968" cy="2779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[Emim]⁺</a:t>
            </a:r>
          </a:p>
        </p:txBody>
      </p:sp>
      <p:grpSp>
        <p:nvGrpSpPr>
          <p:cNvPr id="338" name="Starch granule — editable vector group"/>
          <p:cNvGrpSpPr/>
          <p:nvPr/>
        </p:nvGrpSpPr>
        <p:grpSpPr>
          <a:xfrm>
            <a:off x="5193792" y="10863072"/>
            <a:ext cx="658368" cy="676656"/>
            <a:chOff x="5193792" y="10863072"/>
            <a:chExt cx="658368" cy="676656"/>
          </a:xfrm>
        </p:grpSpPr>
        <p:sp>
          <p:nvSpPr>
            <p:cNvPr id="326" name="Editable starch granule"/>
            <p:cNvSpPr/>
            <p:nvPr/>
          </p:nvSpPr>
          <p:spPr>
            <a:xfrm>
              <a:off x="5193792" y="10863072"/>
              <a:ext cx="658368" cy="676656"/>
            </a:xfrm>
            <a:prstGeom prst="ellipse">
              <a:avLst/>
            </a:prstGeom>
            <a:ln w="8229" cap="rnd">
              <a:solidFill>
                <a:srgbClr val="002D65"/>
              </a:solidFill>
              <a:round/>
            </a:ln>
            <a:gradFill>
              <a:gsLst>
                <a:gs pos="0">
                  <a:srgbClr val="F7FCFF"/>
                </a:gs>
                <a:gs pos="100000">
                  <a:srgbClr val="A9D6F8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7" name="Freeform 326"/>
            <p:cNvSpPr/>
            <p:nvPr/>
          </p:nvSpPr>
          <p:spPr>
            <a:xfrm>
              <a:off x="5303520" y="10936224"/>
              <a:ext cx="182880" cy="228600"/>
            </a:xfrm>
            <a:custGeom>
              <a:avLst/>
              <a:gdLst/>
              <a:ahLst/>
              <a:cxnLst/>
              <a:rect l="l" t="t" r="r" b="b"/>
              <a:pathLst>
                <a:path w="20" h="25">
                  <a:moveTo>
                    <a:pt x="20" y="25"/>
                  </a:moveTo>
                  <a:lnTo>
                    <a:pt x="20" y="25"/>
                  </a:lnTo>
                  <a:lnTo>
                    <a:pt x="19" y="24"/>
                  </a:lnTo>
                  <a:lnTo>
                    <a:pt x="19" y="23"/>
                  </a:lnTo>
                  <a:lnTo>
                    <a:pt x="18" y="22"/>
                  </a:lnTo>
                  <a:lnTo>
                    <a:pt x="17" y="21"/>
                  </a:lnTo>
                  <a:lnTo>
                    <a:pt x="16" y="20"/>
                  </a:lnTo>
                  <a:lnTo>
                    <a:pt x="15" y="19"/>
                  </a:lnTo>
                  <a:lnTo>
                    <a:pt x="15" y="19"/>
                  </a:lnTo>
                  <a:lnTo>
                    <a:pt x="14" y="18"/>
                  </a:lnTo>
                  <a:lnTo>
                    <a:pt x="13" y="17"/>
                  </a:lnTo>
                  <a:lnTo>
                    <a:pt x="13" y="17"/>
                  </a:lnTo>
                  <a:lnTo>
                    <a:pt x="12" y="17"/>
                  </a:lnTo>
                  <a:lnTo>
                    <a:pt x="12" y="17"/>
                  </a:lnTo>
                  <a:lnTo>
                    <a:pt x="11" y="17"/>
                  </a:lnTo>
                  <a:lnTo>
                    <a:pt x="11" y="17"/>
                  </a:lnTo>
                  <a:lnTo>
                    <a:pt x="10" y="17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9" y="15"/>
                  </a:lnTo>
                  <a:lnTo>
                    <a:pt x="9" y="14"/>
                  </a:lnTo>
                  <a:lnTo>
                    <a:pt x="9" y="13"/>
                  </a:lnTo>
                  <a:lnTo>
                    <a:pt x="8" y="12"/>
                  </a:lnTo>
                  <a:lnTo>
                    <a:pt x="8" y="10"/>
                  </a:lnTo>
                  <a:lnTo>
                    <a:pt x="8" y="9"/>
                  </a:lnTo>
                  <a:lnTo>
                    <a:pt x="8" y="8"/>
                  </a:lnTo>
                  <a:lnTo>
                    <a:pt x="7" y="7"/>
                  </a:lnTo>
                  <a:lnTo>
                    <a:pt x="7" y="6"/>
                  </a:lnTo>
                  <a:lnTo>
                    <a:pt x="6" y="5"/>
                  </a:lnTo>
                  <a:lnTo>
                    <a:pt x="5" y="4"/>
                  </a:lnTo>
                  <a:lnTo>
                    <a:pt x="5" y="4"/>
                  </a:lnTo>
                  <a:lnTo>
                    <a:pt x="4" y="3"/>
                  </a:lnTo>
                  <a:lnTo>
                    <a:pt x="3" y="2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</a:path>
              </a:pathLst>
            </a:custGeom>
            <a:noFill/>
            <a:ln w="6400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8" name="Freeform 327"/>
            <p:cNvSpPr/>
            <p:nvPr/>
          </p:nvSpPr>
          <p:spPr>
            <a:xfrm>
              <a:off x="5495544" y="10899648"/>
              <a:ext cx="82296" cy="256032"/>
            </a:xfrm>
            <a:custGeom>
              <a:avLst/>
              <a:gdLst/>
              <a:ahLst/>
              <a:cxnLst/>
              <a:rect l="l" t="t" r="r" b="b"/>
              <a:pathLst>
                <a:path w="9" h="28">
                  <a:moveTo>
                    <a:pt x="0" y="28"/>
                  </a:moveTo>
                  <a:lnTo>
                    <a:pt x="0" y="27"/>
                  </a:lnTo>
                  <a:lnTo>
                    <a:pt x="1" y="27"/>
                  </a:lnTo>
                  <a:lnTo>
                    <a:pt x="1" y="26"/>
                  </a:lnTo>
                  <a:lnTo>
                    <a:pt x="2" y="25"/>
                  </a:lnTo>
                  <a:lnTo>
                    <a:pt x="3" y="24"/>
                  </a:lnTo>
                  <a:lnTo>
                    <a:pt x="3" y="23"/>
                  </a:lnTo>
                  <a:lnTo>
                    <a:pt x="4" y="22"/>
                  </a:lnTo>
                  <a:lnTo>
                    <a:pt x="5" y="21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6" y="18"/>
                  </a:lnTo>
                  <a:lnTo>
                    <a:pt x="7" y="17"/>
                  </a:lnTo>
                  <a:lnTo>
                    <a:pt x="7" y="16"/>
                  </a:lnTo>
                  <a:lnTo>
                    <a:pt x="8" y="15"/>
                  </a:lnTo>
                  <a:lnTo>
                    <a:pt x="8" y="14"/>
                  </a:lnTo>
                  <a:lnTo>
                    <a:pt x="8" y="13"/>
                  </a:lnTo>
                  <a:lnTo>
                    <a:pt x="9" y="12"/>
                  </a:lnTo>
                  <a:lnTo>
                    <a:pt x="9" y="11"/>
                  </a:lnTo>
                  <a:lnTo>
                    <a:pt x="9" y="10"/>
                  </a:lnTo>
                  <a:lnTo>
                    <a:pt x="9" y="8"/>
                  </a:lnTo>
                  <a:lnTo>
                    <a:pt x="9" y="7"/>
                  </a:lnTo>
                  <a:lnTo>
                    <a:pt x="9" y="6"/>
                  </a:lnTo>
                  <a:lnTo>
                    <a:pt x="9" y="4"/>
                  </a:lnTo>
                  <a:lnTo>
                    <a:pt x="8" y="3"/>
                  </a:lnTo>
                  <a:lnTo>
                    <a:pt x="8" y="2"/>
                  </a:lnTo>
                  <a:lnTo>
                    <a:pt x="8" y="1"/>
                  </a:lnTo>
                  <a:lnTo>
                    <a:pt x="8" y="0"/>
                  </a:lnTo>
                </a:path>
              </a:pathLst>
            </a:custGeom>
            <a:noFill/>
            <a:ln w="6400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9" name="Freeform 328"/>
            <p:cNvSpPr/>
            <p:nvPr/>
          </p:nvSpPr>
          <p:spPr>
            <a:xfrm>
              <a:off x="5495544" y="11045952"/>
              <a:ext cx="320040" cy="146304"/>
            </a:xfrm>
            <a:custGeom>
              <a:avLst/>
              <a:gdLst/>
              <a:ahLst/>
              <a:cxnLst/>
              <a:rect l="l" t="t" r="r" b="b"/>
              <a:pathLst>
                <a:path w="35" h="16">
                  <a:moveTo>
                    <a:pt x="0" y="16"/>
                  </a:moveTo>
                  <a:lnTo>
                    <a:pt x="1" y="15"/>
                  </a:lnTo>
                  <a:lnTo>
                    <a:pt x="2" y="15"/>
                  </a:lnTo>
                  <a:lnTo>
                    <a:pt x="3" y="14"/>
                  </a:lnTo>
                  <a:lnTo>
                    <a:pt x="5" y="13"/>
                  </a:lnTo>
                  <a:lnTo>
                    <a:pt x="6" y="13"/>
                  </a:lnTo>
                  <a:lnTo>
                    <a:pt x="8" y="12"/>
                  </a:lnTo>
                  <a:lnTo>
                    <a:pt x="10" y="11"/>
                  </a:lnTo>
                  <a:lnTo>
                    <a:pt x="11" y="11"/>
                  </a:lnTo>
                  <a:lnTo>
                    <a:pt x="12" y="10"/>
                  </a:lnTo>
                  <a:lnTo>
                    <a:pt x="14" y="10"/>
                  </a:lnTo>
                  <a:lnTo>
                    <a:pt x="15" y="10"/>
                  </a:lnTo>
                  <a:lnTo>
                    <a:pt x="16" y="10"/>
                  </a:lnTo>
                  <a:lnTo>
                    <a:pt x="17" y="10"/>
                  </a:lnTo>
                  <a:lnTo>
                    <a:pt x="18" y="10"/>
                  </a:lnTo>
                  <a:lnTo>
                    <a:pt x="19" y="11"/>
                  </a:lnTo>
                  <a:lnTo>
                    <a:pt x="20" y="11"/>
                  </a:lnTo>
                  <a:lnTo>
                    <a:pt x="21" y="11"/>
                  </a:lnTo>
                  <a:lnTo>
                    <a:pt x="22" y="10"/>
                  </a:lnTo>
                  <a:lnTo>
                    <a:pt x="23" y="10"/>
                  </a:lnTo>
                  <a:lnTo>
                    <a:pt x="24" y="9"/>
                  </a:lnTo>
                  <a:lnTo>
                    <a:pt x="25" y="9"/>
                  </a:lnTo>
                  <a:lnTo>
                    <a:pt x="26" y="8"/>
                  </a:lnTo>
                  <a:lnTo>
                    <a:pt x="27" y="7"/>
                  </a:lnTo>
                  <a:lnTo>
                    <a:pt x="28" y="7"/>
                  </a:lnTo>
                  <a:lnTo>
                    <a:pt x="29" y="6"/>
                  </a:lnTo>
                  <a:lnTo>
                    <a:pt x="30" y="5"/>
                  </a:lnTo>
                  <a:lnTo>
                    <a:pt x="30" y="4"/>
                  </a:lnTo>
                  <a:lnTo>
                    <a:pt x="31" y="4"/>
                  </a:lnTo>
                  <a:lnTo>
                    <a:pt x="32" y="3"/>
                  </a:lnTo>
                  <a:lnTo>
                    <a:pt x="32" y="3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34" y="1"/>
                  </a:lnTo>
                  <a:lnTo>
                    <a:pt x="34" y="1"/>
                  </a:lnTo>
                  <a:lnTo>
                    <a:pt x="34" y="0"/>
                  </a:lnTo>
                  <a:lnTo>
                    <a:pt x="35" y="0"/>
                  </a:lnTo>
                </a:path>
              </a:pathLst>
            </a:custGeom>
            <a:noFill/>
            <a:ln w="6400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0" name="Freeform 329"/>
            <p:cNvSpPr/>
            <p:nvPr/>
          </p:nvSpPr>
          <p:spPr>
            <a:xfrm>
              <a:off x="5513832" y="11210544"/>
              <a:ext cx="320040" cy="137160"/>
            </a:xfrm>
            <a:custGeom>
              <a:avLst/>
              <a:gdLst/>
              <a:ahLst/>
              <a:cxnLst/>
              <a:rect l="l" t="t" r="r" b="b"/>
              <a:pathLst>
                <a:path w="35" h="15">
                  <a:moveTo>
                    <a:pt x="0" y="0"/>
                  </a:moveTo>
                  <a:lnTo>
                    <a:pt x="0" y="0"/>
                  </a:lnTo>
                  <a:lnTo>
                    <a:pt x="1" y="1"/>
                  </a:lnTo>
                  <a:lnTo>
                    <a:pt x="2" y="2"/>
                  </a:lnTo>
                  <a:lnTo>
                    <a:pt x="3" y="3"/>
                  </a:lnTo>
                  <a:lnTo>
                    <a:pt x="4" y="4"/>
                  </a:lnTo>
                  <a:lnTo>
                    <a:pt x="6" y="5"/>
                  </a:lnTo>
                  <a:lnTo>
                    <a:pt x="7" y="6"/>
                  </a:lnTo>
                  <a:lnTo>
                    <a:pt x="8" y="6"/>
                  </a:lnTo>
                  <a:lnTo>
                    <a:pt x="9" y="7"/>
                  </a:lnTo>
                  <a:lnTo>
                    <a:pt x="10" y="8"/>
                  </a:lnTo>
                  <a:lnTo>
                    <a:pt x="11" y="8"/>
                  </a:lnTo>
                  <a:lnTo>
                    <a:pt x="12" y="9"/>
                  </a:lnTo>
                  <a:lnTo>
                    <a:pt x="12" y="9"/>
                  </a:lnTo>
                  <a:lnTo>
                    <a:pt x="13" y="9"/>
                  </a:lnTo>
                  <a:lnTo>
                    <a:pt x="14" y="10"/>
                  </a:lnTo>
                  <a:lnTo>
                    <a:pt x="15" y="10"/>
                  </a:lnTo>
                  <a:lnTo>
                    <a:pt x="16" y="10"/>
                  </a:lnTo>
                  <a:lnTo>
                    <a:pt x="17" y="10"/>
                  </a:lnTo>
                  <a:lnTo>
                    <a:pt x="18" y="10"/>
                  </a:lnTo>
                  <a:lnTo>
                    <a:pt x="19" y="10"/>
                  </a:lnTo>
                  <a:lnTo>
                    <a:pt x="21" y="10"/>
                  </a:lnTo>
                  <a:lnTo>
                    <a:pt x="22" y="10"/>
                  </a:lnTo>
                  <a:lnTo>
                    <a:pt x="23" y="9"/>
                  </a:lnTo>
                  <a:lnTo>
                    <a:pt x="25" y="9"/>
                  </a:lnTo>
                  <a:lnTo>
                    <a:pt x="26" y="9"/>
                  </a:lnTo>
                  <a:lnTo>
                    <a:pt x="27" y="9"/>
                  </a:lnTo>
                  <a:lnTo>
                    <a:pt x="28" y="9"/>
                  </a:lnTo>
                  <a:lnTo>
                    <a:pt x="29" y="10"/>
                  </a:lnTo>
                  <a:lnTo>
                    <a:pt x="30" y="10"/>
                  </a:lnTo>
                  <a:lnTo>
                    <a:pt x="31" y="11"/>
                  </a:lnTo>
                  <a:lnTo>
                    <a:pt x="32" y="12"/>
                  </a:lnTo>
                  <a:lnTo>
                    <a:pt x="33" y="13"/>
                  </a:lnTo>
                  <a:lnTo>
                    <a:pt x="33" y="13"/>
                  </a:lnTo>
                  <a:lnTo>
                    <a:pt x="34" y="14"/>
                  </a:lnTo>
                  <a:lnTo>
                    <a:pt x="34" y="15"/>
                  </a:lnTo>
                  <a:lnTo>
                    <a:pt x="35" y="15"/>
                  </a:lnTo>
                </a:path>
              </a:pathLst>
            </a:custGeom>
            <a:noFill/>
            <a:ln w="6400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1" name="Freeform 330"/>
            <p:cNvSpPr/>
            <p:nvPr/>
          </p:nvSpPr>
          <p:spPr>
            <a:xfrm>
              <a:off x="5413248" y="11237976"/>
              <a:ext cx="82296" cy="265176"/>
            </a:xfrm>
            <a:custGeom>
              <a:avLst/>
              <a:gdLst/>
              <a:ahLst/>
              <a:cxnLst/>
              <a:rect l="l" t="t" r="r" b="b"/>
              <a:pathLst>
                <a:path w="9" h="29">
                  <a:moveTo>
                    <a:pt x="9" y="0"/>
                  </a:moveTo>
                  <a:lnTo>
                    <a:pt x="9" y="1"/>
                  </a:lnTo>
                  <a:lnTo>
                    <a:pt x="8" y="2"/>
                  </a:lnTo>
                  <a:lnTo>
                    <a:pt x="7" y="3"/>
                  </a:lnTo>
                  <a:lnTo>
                    <a:pt x="7" y="4"/>
                  </a:lnTo>
                  <a:lnTo>
                    <a:pt x="6" y="6"/>
                  </a:lnTo>
                  <a:lnTo>
                    <a:pt x="5" y="7"/>
                  </a:lnTo>
                  <a:lnTo>
                    <a:pt x="4" y="9"/>
                  </a:lnTo>
                  <a:lnTo>
                    <a:pt x="4" y="10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3" y="14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4" y="17"/>
                  </a:lnTo>
                  <a:lnTo>
                    <a:pt x="5" y="18"/>
                  </a:lnTo>
                  <a:lnTo>
                    <a:pt x="5" y="19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4" y="21"/>
                  </a:lnTo>
                  <a:lnTo>
                    <a:pt x="4" y="23"/>
                  </a:lnTo>
                  <a:lnTo>
                    <a:pt x="3" y="24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1" y="27"/>
                  </a:lnTo>
                  <a:lnTo>
                    <a:pt x="1" y="28"/>
                  </a:lnTo>
                  <a:lnTo>
                    <a:pt x="0" y="29"/>
                  </a:lnTo>
                  <a:lnTo>
                    <a:pt x="0" y="29"/>
                  </a:lnTo>
                </a:path>
              </a:pathLst>
            </a:custGeom>
            <a:noFill/>
            <a:ln w="6400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2" name="Freeform 331"/>
            <p:cNvSpPr/>
            <p:nvPr/>
          </p:nvSpPr>
          <p:spPr>
            <a:xfrm>
              <a:off x="5230368" y="11210544"/>
              <a:ext cx="246888" cy="91440"/>
            </a:xfrm>
            <a:custGeom>
              <a:avLst/>
              <a:gdLst/>
              <a:ahLst/>
              <a:cxnLst/>
              <a:rect l="l" t="t" r="r" b="b"/>
              <a:pathLst>
                <a:path w="27" h="10">
                  <a:moveTo>
                    <a:pt x="27" y="0"/>
                  </a:moveTo>
                  <a:lnTo>
                    <a:pt x="26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1"/>
                  </a:lnTo>
                  <a:lnTo>
                    <a:pt x="22" y="1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8" y="3"/>
                  </a:lnTo>
                  <a:lnTo>
                    <a:pt x="17" y="4"/>
                  </a:lnTo>
                  <a:lnTo>
                    <a:pt x="16" y="5"/>
                  </a:lnTo>
                  <a:lnTo>
                    <a:pt x="15" y="6"/>
                  </a:lnTo>
                  <a:lnTo>
                    <a:pt x="14" y="7"/>
                  </a:lnTo>
                  <a:lnTo>
                    <a:pt x="13" y="7"/>
                  </a:lnTo>
                  <a:lnTo>
                    <a:pt x="12" y="8"/>
                  </a:lnTo>
                  <a:lnTo>
                    <a:pt x="12" y="9"/>
                  </a:lnTo>
                  <a:lnTo>
                    <a:pt x="11" y="10"/>
                  </a:lnTo>
                  <a:lnTo>
                    <a:pt x="10" y="10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6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2" y="10"/>
                  </a:lnTo>
                  <a:lnTo>
                    <a:pt x="1" y="10"/>
                  </a:lnTo>
                  <a:lnTo>
                    <a:pt x="0" y="9"/>
                  </a:lnTo>
                  <a:lnTo>
                    <a:pt x="0" y="9"/>
                  </a:lnTo>
                </a:path>
              </a:pathLst>
            </a:custGeom>
            <a:noFill/>
            <a:ln w="6400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3" name="Freeform 332"/>
            <p:cNvSpPr/>
            <p:nvPr/>
          </p:nvSpPr>
          <p:spPr>
            <a:xfrm>
              <a:off x="5285232" y="11292840"/>
              <a:ext cx="45720" cy="155448"/>
            </a:xfrm>
            <a:custGeom>
              <a:avLst/>
              <a:gdLst/>
              <a:ahLst/>
              <a:cxnLst/>
              <a:rect l="l" t="t" r="r" b="b"/>
              <a:pathLst>
                <a:path w="5" h="17">
                  <a:moveTo>
                    <a:pt x="5" y="0"/>
                  </a:moveTo>
                  <a:lnTo>
                    <a:pt x="5" y="1"/>
                  </a:lnTo>
                  <a:lnTo>
                    <a:pt x="5" y="2"/>
                  </a:lnTo>
                  <a:lnTo>
                    <a:pt x="5" y="3"/>
                  </a:lnTo>
                  <a:lnTo>
                    <a:pt x="5" y="4"/>
                  </a:lnTo>
                  <a:lnTo>
                    <a:pt x="5" y="6"/>
                  </a:lnTo>
                  <a:lnTo>
                    <a:pt x="5" y="7"/>
                  </a:lnTo>
                  <a:lnTo>
                    <a:pt x="5" y="9"/>
                  </a:lnTo>
                  <a:lnTo>
                    <a:pt x="5" y="10"/>
                  </a:lnTo>
                  <a:lnTo>
                    <a:pt x="5" y="11"/>
                  </a:lnTo>
                  <a:lnTo>
                    <a:pt x="5" y="12"/>
                  </a:lnTo>
                  <a:lnTo>
                    <a:pt x="4" y="12"/>
                  </a:lnTo>
                  <a:lnTo>
                    <a:pt x="4" y="13"/>
                  </a:lnTo>
                  <a:lnTo>
                    <a:pt x="3" y="14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1" y="16"/>
                  </a:lnTo>
                  <a:lnTo>
                    <a:pt x="0" y="16"/>
                  </a:lnTo>
                  <a:lnTo>
                    <a:pt x="0" y="17"/>
                  </a:lnTo>
                </a:path>
              </a:pathLst>
            </a:custGeom>
            <a:noFill/>
            <a:ln w="6400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4" name="Freeform 333"/>
            <p:cNvSpPr/>
            <p:nvPr/>
          </p:nvSpPr>
          <p:spPr>
            <a:xfrm>
              <a:off x="5623560" y="10972800"/>
              <a:ext cx="64008" cy="164592"/>
            </a:xfrm>
            <a:custGeom>
              <a:avLst/>
              <a:gdLst/>
              <a:ahLst/>
              <a:cxnLst/>
              <a:rect l="l" t="t" r="r" b="b"/>
              <a:pathLst>
                <a:path w="7" h="18">
                  <a:moveTo>
                    <a:pt x="0" y="18"/>
                  </a:moveTo>
                  <a:lnTo>
                    <a:pt x="0" y="18"/>
                  </a:lnTo>
                  <a:lnTo>
                    <a:pt x="0" y="17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0" y="12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1" y="9"/>
                  </a:lnTo>
                  <a:lnTo>
                    <a:pt x="1" y="8"/>
                  </a:lnTo>
                  <a:lnTo>
                    <a:pt x="2" y="7"/>
                  </a:lnTo>
                  <a:lnTo>
                    <a:pt x="2" y="5"/>
                  </a:lnTo>
                  <a:lnTo>
                    <a:pt x="3" y="4"/>
                  </a:lnTo>
                  <a:lnTo>
                    <a:pt x="4" y="3"/>
                  </a:lnTo>
                  <a:lnTo>
                    <a:pt x="5" y="2"/>
                  </a:lnTo>
                  <a:lnTo>
                    <a:pt x="6" y="1"/>
                  </a:lnTo>
                  <a:lnTo>
                    <a:pt x="7" y="0"/>
                  </a:lnTo>
                  <a:lnTo>
                    <a:pt x="7" y="0"/>
                  </a:lnTo>
                </a:path>
              </a:pathLst>
            </a:custGeom>
            <a:noFill/>
            <a:ln w="6400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5" name="Freeform 334"/>
            <p:cNvSpPr/>
            <p:nvPr/>
          </p:nvSpPr>
          <p:spPr>
            <a:xfrm>
              <a:off x="5650992" y="11301984"/>
              <a:ext cx="45720" cy="173736"/>
            </a:xfrm>
            <a:custGeom>
              <a:avLst/>
              <a:gdLst/>
              <a:ahLst/>
              <a:cxnLst/>
              <a:rect l="l" t="t" r="r" b="b"/>
              <a:pathLst>
                <a:path w="5" h="19">
                  <a:moveTo>
                    <a:pt x="2" y="0"/>
                  </a:moveTo>
                  <a:lnTo>
                    <a:pt x="2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1" y="13"/>
                  </a:lnTo>
                  <a:lnTo>
                    <a:pt x="2" y="15"/>
                  </a:lnTo>
                  <a:lnTo>
                    <a:pt x="2" y="16"/>
                  </a:lnTo>
                  <a:lnTo>
                    <a:pt x="3" y="17"/>
                  </a:lnTo>
                  <a:lnTo>
                    <a:pt x="4" y="18"/>
                  </a:lnTo>
                  <a:lnTo>
                    <a:pt x="4" y="19"/>
                  </a:lnTo>
                  <a:lnTo>
                    <a:pt x="5" y="19"/>
                  </a:lnTo>
                </a:path>
              </a:pathLst>
            </a:custGeom>
            <a:noFill/>
            <a:ln w="6400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6" name="Freeform 335"/>
            <p:cNvSpPr/>
            <p:nvPr/>
          </p:nvSpPr>
          <p:spPr>
            <a:xfrm>
              <a:off x="5239512" y="11045952"/>
              <a:ext cx="155448" cy="45720"/>
            </a:xfrm>
            <a:custGeom>
              <a:avLst/>
              <a:gdLst/>
              <a:ahLst/>
              <a:cxnLst/>
              <a:rect l="l" t="t" r="r" b="b"/>
              <a:pathLst>
                <a:path w="17" h="5">
                  <a:moveTo>
                    <a:pt x="17" y="4"/>
                  </a:moveTo>
                  <a:lnTo>
                    <a:pt x="16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4" y="5"/>
                  </a:lnTo>
                  <a:lnTo>
                    <a:pt x="13" y="5"/>
                  </a:lnTo>
                  <a:lnTo>
                    <a:pt x="12" y="5"/>
                  </a:lnTo>
                  <a:lnTo>
                    <a:pt x="11" y="5"/>
                  </a:lnTo>
                  <a:lnTo>
                    <a:pt x="10" y="5"/>
                  </a:lnTo>
                  <a:lnTo>
                    <a:pt x="9" y="5"/>
                  </a:lnTo>
                  <a:lnTo>
                    <a:pt x="8" y="5"/>
                  </a:lnTo>
                  <a:lnTo>
                    <a:pt x="7" y="4"/>
                  </a:lnTo>
                  <a:lnTo>
                    <a:pt x="6" y="4"/>
                  </a:lnTo>
                  <a:lnTo>
                    <a:pt x="4" y="3"/>
                  </a:lnTo>
                  <a:lnTo>
                    <a:pt x="3" y="2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noFill/>
            <a:ln w="6400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7" name="Oval 336"/>
            <p:cNvSpPr/>
            <p:nvPr/>
          </p:nvSpPr>
          <p:spPr>
            <a:xfrm>
              <a:off x="5193792" y="10863072"/>
              <a:ext cx="658368" cy="676656"/>
            </a:xfrm>
            <a:prstGeom prst="ellipse">
              <a:avLst/>
            </a:prstGeom>
            <a:noFill/>
            <a:ln w="8229" cap="rnd">
              <a:solidFill>
                <a:srgbClr val="002D65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1" name="Starch granule — editable vector group"/>
          <p:cNvGrpSpPr/>
          <p:nvPr/>
        </p:nvGrpSpPr>
        <p:grpSpPr>
          <a:xfrm>
            <a:off x="6830568" y="10844784"/>
            <a:ext cx="694944" cy="694944"/>
            <a:chOff x="6830568" y="10844784"/>
            <a:chExt cx="694944" cy="694944"/>
          </a:xfrm>
        </p:grpSpPr>
        <p:sp>
          <p:nvSpPr>
            <p:cNvPr id="339" name="Editable starch granule"/>
            <p:cNvSpPr/>
            <p:nvPr/>
          </p:nvSpPr>
          <p:spPr>
            <a:xfrm>
              <a:off x="6830568" y="10844784"/>
              <a:ext cx="694944" cy="694944"/>
            </a:xfrm>
            <a:prstGeom prst="ellipse">
              <a:avLst/>
            </a:prstGeom>
            <a:ln w="8686" cap="rnd">
              <a:solidFill>
                <a:srgbClr val="002D65"/>
              </a:solidFill>
              <a:round/>
            </a:ln>
            <a:gradFill>
              <a:gsLst>
                <a:gs pos="0">
                  <a:srgbClr val="F7FCFF"/>
                </a:gs>
                <a:gs pos="100000">
                  <a:srgbClr val="A9D6F8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0" name="Freeform 339"/>
            <p:cNvSpPr/>
            <p:nvPr/>
          </p:nvSpPr>
          <p:spPr>
            <a:xfrm>
              <a:off x="7214616" y="10917936"/>
              <a:ext cx="192024" cy="237744"/>
            </a:xfrm>
            <a:custGeom>
              <a:avLst/>
              <a:gdLst/>
              <a:ahLst/>
              <a:cxnLst/>
              <a:rect l="l" t="t" r="r" b="b"/>
              <a:pathLst>
                <a:path w="21" h="26">
                  <a:moveTo>
                    <a:pt x="0" y="26"/>
                  </a:moveTo>
                  <a:lnTo>
                    <a:pt x="0" y="26"/>
                  </a:lnTo>
                  <a:lnTo>
                    <a:pt x="1" y="25"/>
                  </a:lnTo>
                  <a:lnTo>
                    <a:pt x="2" y="24"/>
                  </a:lnTo>
                  <a:lnTo>
                    <a:pt x="2" y="23"/>
                  </a:lnTo>
                  <a:lnTo>
                    <a:pt x="3" y="22"/>
                  </a:lnTo>
                  <a:lnTo>
                    <a:pt x="4" y="21"/>
                  </a:lnTo>
                  <a:lnTo>
                    <a:pt x="5" y="20"/>
                  </a:lnTo>
                  <a:lnTo>
                    <a:pt x="6" y="19"/>
                  </a:lnTo>
                  <a:lnTo>
                    <a:pt x="7" y="19"/>
                  </a:lnTo>
                  <a:lnTo>
                    <a:pt x="7" y="18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10" y="17"/>
                  </a:lnTo>
                  <a:lnTo>
                    <a:pt x="10" y="17"/>
                  </a:lnTo>
                  <a:lnTo>
                    <a:pt x="11" y="17"/>
                  </a:lnTo>
                  <a:lnTo>
                    <a:pt x="11" y="16"/>
                  </a:lnTo>
                  <a:lnTo>
                    <a:pt x="12" y="16"/>
                  </a:lnTo>
                  <a:lnTo>
                    <a:pt x="12" y="15"/>
                  </a:lnTo>
                  <a:lnTo>
                    <a:pt x="12" y="13"/>
                  </a:lnTo>
                  <a:lnTo>
                    <a:pt x="12" y="12"/>
                  </a:lnTo>
                  <a:lnTo>
                    <a:pt x="13" y="11"/>
                  </a:lnTo>
                  <a:lnTo>
                    <a:pt x="13" y="10"/>
                  </a:lnTo>
                  <a:lnTo>
                    <a:pt x="13" y="9"/>
                  </a:lnTo>
                  <a:lnTo>
                    <a:pt x="14" y="7"/>
                  </a:lnTo>
                  <a:lnTo>
                    <a:pt x="14" y="6"/>
                  </a:lnTo>
                  <a:lnTo>
                    <a:pt x="15" y="6"/>
                  </a:lnTo>
                  <a:lnTo>
                    <a:pt x="16" y="5"/>
                  </a:lnTo>
                  <a:lnTo>
                    <a:pt x="16" y="4"/>
                  </a:lnTo>
                  <a:lnTo>
                    <a:pt x="17" y="3"/>
                  </a:lnTo>
                  <a:lnTo>
                    <a:pt x="18" y="2"/>
                  </a:lnTo>
                  <a:lnTo>
                    <a:pt x="19" y="2"/>
                  </a:lnTo>
                  <a:lnTo>
                    <a:pt x="20" y="1"/>
                  </a:lnTo>
                  <a:lnTo>
                    <a:pt x="21" y="1"/>
                  </a:lnTo>
                  <a:lnTo>
                    <a:pt x="21" y="0"/>
                  </a:lnTo>
                </a:path>
              </a:pathLst>
            </a:custGeom>
            <a:noFill/>
            <a:ln w="6756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1" name="Freeform 340"/>
            <p:cNvSpPr/>
            <p:nvPr/>
          </p:nvSpPr>
          <p:spPr>
            <a:xfrm>
              <a:off x="7123176" y="10890504"/>
              <a:ext cx="82296" cy="256032"/>
            </a:xfrm>
            <a:custGeom>
              <a:avLst/>
              <a:gdLst/>
              <a:ahLst/>
              <a:cxnLst/>
              <a:rect l="l" t="t" r="r" b="b"/>
              <a:pathLst>
                <a:path w="9" h="28">
                  <a:moveTo>
                    <a:pt x="9" y="28"/>
                  </a:moveTo>
                  <a:lnTo>
                    <a:pt x="9" y="27"/>
                  </a:lnTo>
                  <a:lnTo>
                    <a:pt x="8" y="27"/>
                  </a:lnTo>
                  <a:lnTo>
                    <a:pt x="8" y="26"/>
                  </a:lnTo>
                  <a:lnTo>
                    <a:pt x="7" y="25"/>
                  </a:lnTo>
                  <a:lnTo>
                    <a:pt x="6" y="24"/>
                  </a:lnTo>
                  <a:lnTo>
                    <a:pt x="6" y="23"/>
                  </a:lnTo>
                  <a:lnTo>
                    <a:pt x="5" y="22"/>
                  </a:lnTo>
                  <a:lnTo>
                    <a:pt x="4" y="21"/>
                  </a:lnTo>
                  <a:lnTo>
                    <a:pt x="4" y="20"/>
                  </a:lnTo>
                  <a:lnTo>
                    <a:pt x="3" y="19"/>
                  </a:lnTo>
                  <a:lnTo>
                    <a:pt x="3" y="18"/>
                  </a:lnTo>
                  <a:lnTo>
                    <a:pt x="2" y="17"/>
                  </a:lnTo>
                  <a:lnTo>
                    <a:pt x="2" y="16"/>
                  </a:lnTo>
                  <a:lnTo>
                    <a:pt x="1" y="15"/>
                  </a:lnTo>
                  <a:lnTo>
                    <a:pt x="1" y="14"/>
                  </a:lnTo>
                  <a:lnTo>
                    <a:pt x="0" y="12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0" y="9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 w="6756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2" name="Freeform 341"/>
            <p:cNvSpPr/>
            <p:nvPr/>
          </p:nvSpPr>
          <p:spPr>
            <a:xfrm>
              <a:off x="6876288" y="11036808"/>
              <a:ext cx="329184" cy="137160"/>
            </a:xfrm>
            <a:custGeom>
              <a:avLst/>
              <a:gdLst/>
              <a:ahLst/>
              <a:cxnLst/>
              <a:rect l="l" t="t" r="r" b="b"/>
              <a:pathLst>
                <a:path w="36" h="15">
                  <a:moveTo>
                    <a:pt x="36" y="15"/>
                  </a:moveTo>
                  <a:lnTo>
                    <a:pt x="35" y="15"/>
                  </a:lnTo>
                  <a:lnTo>
                    <a:pt x="34" y="15"/>
                  </a:lnTo>
                  <a:lnTo>
                    <a:pt x="33" y="14"/>
                  </a:lnTo>
                  <a:lnTo>
                    <a:pt x="31" y="13"/>
                  </a:lnTo>
                  <a:lnTo>
                    <a:pt x="29" y="12"/>
                  </a:lnTo>
                  <a:lnTo>
                    <a:pt x="28" y="12"/>
                  </a:lnTo>
                  <a:lnTo>
                    <a:pt x="26" y="11"/>
                  </a:lnTo>
                  <a:lnTo>
                    <a:pt x="24" y="11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0"/>
                  </a:lnTo>
                  <a:lnTo>
                    <a:pt x="18" y="10"/>
                  </a:lnTo>
                  <a:lnTo>
                    <a:pt x="17" y="10"/>
                  </a:lnTo>
                  <a:lnTo>
                    <a:pt x="16" y="10"/>
                  </a:lnTo>
                  <a:lnTo>
                    <a:pt x="15" y="10"/>
                  </a:lnTo>
                  <a:lnTo>
                    <a:pt x="14" y="10"/>
                  </a:lnTo>
                  <a:lnTo>
                    <a:pt x="13" y="10"/>
                  </a:lnTo>
                  <a:lnTo>
                    <a:pt x="12" y="10"/>
                  </a:lnTo>
                  <a:lnTo>
                    <a:pt x="11" y="9"/>
                  </a:lnTo>
                  <a:lnTo>
                    <a:pt x="10" y="9"/>
                  </a:lnTo>
                  <a:lnTo>
                    <a:pt x="9" y="8"/>
                  </a:lnTo>
                  <a:lnTo>
                    <a:pt x="8" y="7"/>
                  </a:lnTo>
                  <a:lnTo>
                    <a:pt x="7" y="6"/>
                  </a:lnTo>
                  <a:lnTo>
                    <a:pt x="6" y="5"/>
                  </a:lnTo>
                  <a:lnTo>
                    <a:pt x="5" y="5"/>
                  </a:lnTo>
                  <a:lnTo>
                    <a:pt x="4" y="4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6756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3" name="Freeform 342"/>
            <p:cNvSpPr/>
            <p:nvPr/>
          </p:nvSpPr>
          <p:spPr>
            <a:xfrm>
              <a:off x="6848856" y="11201400"/>
              <a:ext cx="347472" cy="146304"/>
            </a:xfrm>
            <a:custGeom>
              <a:avLst/>
              <a:gdLst/>
              <a:ahLst/>
              <a:cxnLst/>
              <a:rect l="l" t="t" r="r" b="b"/>
              <a:pathLst>
                <a:path w="38" h="16">
                  <a:moveTo>
                    <a:pt x="38" y="0"/>
                  </a:moveTo>
                  <a:lnTo>
                    <a:pt x="37" y="0"/>
                  </a:lnTo>
                  <a:lnTo>
                    <a:pt x="36" y="1"/>
                  </a:lnTo>
                  <a:lnTo>
                    <a:pt x="35" y="2"/>
                  </a:lnTo>
                  <a:lnTo>
                    <a:pt x="34" y="3"/>
                  </a:lnTo>
                  <a:lnTo>
                    <a:pt x="32" y="4"/>
                  </a:lnTo>
                  <a:lnTo>
                    <a:pt x="31" y="5"/>
                  </a:lnTo>
                  <a:lnTo>
                    <a:pt x="30" y="6"/>
                  </a:lnTo>
                  <a:lnTo>
                    <a:pt x="29" y="7"/>
                  </a:lnTo>
                  <a:lnTo>
                    <a:pt x="28" y="7"/>
                  </a:lnTo>
                  <a:lnTo>
                    <a:pt x="27" y="8"/>
                  </a:lnTo>
                  <a:lnTo>
                    <a:pt x="26" y="8"/>
                  </a:lnTo>
                  <a:lnTo>
                    <a:pt x="25" y="9"/>
                  </a:lnTo>
                  <a:lnTo>
                    <a:pt x="24" y="9"/>
                  </a:lnTo>
                  <a:lnTo>
                    <a:pt x="23" y="10"/>
                  </a:lnTo>
                  <a:lnTo>
                    <a:pt x="22" y="10"/>
                  </a:lnTo>
                  <a:lnTo>
                    <a:pt x="21" y="10"/>
                  </a:lnTo>
                  <a:lnTo>
                    <a:pt x="20" y="10"/>
                  </a:lnTo>
                  <a:lnTo>
                    <a:pt x="19" y="10"/>
                  </a:lnTo>
                  <a:lnTo>
                    <a:pt x="18" y="10"/>
                  </a:lnTo>
                  <a:lnTo>
                    <a:pt x="17" y="10"/>
                  </a:lnTo>
                  <a:lnTo>
                    <a:pt x="15" y="10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11" y="10"/>
                  </a:lnTo>
                  <a:lnTo>
                    <a:pt x="10" y="9"/>
                  </a:lnTo>
                  <a:lnTo>
                    <a:pt x="8" y="9"/>
                  </a:lnTo>
                  <a:lnTo>
                    <a:pt x="7" y="10"/>
                  </a:lnTo>
                  <a:lnTo>
                    <a:pt x="6" y="10"/>
                  </a:lnTo>
                  <a:lnTo>
                    <a:pt x="5" y="11"/>
                  </a:lnTo>
                  <a:lnTo>
                    <a:pt x="4" y="11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2" y="14"/>
                  </a:lnTo>
                  <a:lnTo>
                    <a:pt x="1" y="15"/>
                  </a:lnTo>
                  <a:lnTo>
                    <a:pt x="1" y="15"/>
                  </a:lnTo>
                  <a:lnTo>
                    <a:pt x="0" y="16"/>
                  </a:lnTo>
                </a:path>
              </a:pathLst>
            </a:custGeom>
            <a:noFill/>
            <a:ln w="6756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4" name="Freeform 343"/>
            <p:cNvSpPr/>
            <p:nvPr/>
          </p:nvSpPr>
          <p:spPr>
            <a:xfrm>
              <a:off x="7205472" y="11228832"/>
              <a:ext cx="91440" cy="274320"/>
            </a:xfrm>
            <a:custGeom>
              <a:avLst/>
              <a:gdLst/>
              <a:ahLst/>
              <a:cxnLst/>
              <a:rect l="l" t="t" r="r" b="b"/>
              <a:pathLst>
                <a:path w="10" h="30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2" y="3"/>
                  </a:lnTo>
                  <a:lnTo>
                    <a:pt x="3" y="5"/>
                  </a:lnTo>
                  <a:lnTo>
                    <a:pt x="4" y="6"/>
                  </a:lnTo>
                  <a:lnTo>
                    <a:pt x="4" y="8"/>
                  </a:lnTo>
                  <a:lnTo>
                    <a:pt x="5" y="9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6" y="14"/>
                  </a:lnTo>
                  <a:lnTo>
                    <a:pt x="6" y="15"/>
                  </a:lnTo>
                  <a:lnTo>
                    <a:pt x="6" y="16"/>
                  </a:lnTo>
                  <a:lnTo>
                    <a:pt x="5" y="17"/>
                  </a:lnTo>
                  <a:lnTo>
                    <a:pt x="5" y="18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5" y="21"/>
                  </a:lnTo>
                  <a:lnTo>
                    <a:pt x="5" y="22"/>
                  </a:lnTo>
                  <a:lnTo>
                    <a:pt x="5" y="23"/>
                  </a:lnTo>
                  <a:lnTo>
                    <a:pt x="6" y="24"/>
                  </a:lnTo>
                  <a:lnTo>
                    <a:pt x="7" y="26"/>
                  </a:lnTo>
                  <a:lnTo>
                    <a:pt x="8" y="27"/>
                  </a:lnTo>
                  <a:lnTo>
                    <a:pt x="8" y="28"/>
                  </a:lnTo>
                  <a:lnTo>
                    <a:pt x="9" y="29"/>
                  </a:lnTo>
                  <a:lnTo>
                    <a:pt x="10" y="30"/>
                  </a:lnTo>
                  <a:lnTo>
                    <a:pt x="10" y="30"/>
                  </a:lnTo>
                </a:path>
              </a:pathLst>
            </a:custGeom>
            <a:noFill/>
            <a:ln w="6756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5" name="Freeform 344"/>
            <p:cNvSpPr/>
            <p:nvPr/>
          </p:nvSpPr>
          <p:spPr>
            <a:xfrm>
              <a:off x="7223760" y="11201400"/>
              <a:ext cx="265176" cy="100584"/>
            </a:xfrm>
            <a:custGeom>
              <a:avLst/>
              <a:gdLst/>
              <a:ahLst/>
              <a:cxnLst/>
              <a:rect l="l" t="t" r="r" b="b"/>
              <a:pathLst>
                <a:path w="29" h="11">
                  <a:moveTo>
                    <a:pt x="0" y="0"/>
                  </a:moveTo>
                  <a:lnTo>
                    <a:pt x="1" y="0"/>
                  </a:lnTo>
                  <a:lnTo>
                    <a:pt x="2" y="0"/>
                  </a:lnTo>
                  <a:lnTo>
                    <a:pt x="3" y="1"/>
                  </a:lnTo>
                  <a:lnTo>
                    <a:pt x="4" y="1"/>
                  </a:lnTo>
                  <a:lnTo>
                    <a:pt x="5" y="1"/>
                  </a:lnTo>
                  <a:lnTo>
                    <a:pt x="7" y="2"/>
                  </a:lnTo>
                  <a:lnTo>
                    <a:pt x="8" y="2"/>
                  </a:lnTo>
                  <a:lnTo>
                    <a:pt x="9" y="3"/>
                  </a:lnTo>
                  <a:lnTo>
                    <a:pt x="10" y="4"/>
                  </a:lnTo>
                  <a:lnTo>
                    <a:pt x="11" y="4"/>
                  </a:lnTo>
                  <a:lnTo>
                    <a:pt x="12" y="5"/>
                  </a:lnTo>
                  <a:lnTo>
                    <a:pt x="13" y="6"/>
                  </a:lnTo>
                  <a:lnTo>
                    <a:pt x="14" y="7"/>
                  </a:lnTo>
                  <a:lnTo>
                    <a:pt x="15" y="8"/>
                  </a:lnTo>
                  <a:lnTo>
                    <a:pt x="16" y="9"/>
                  </a:lnTo>
                  <a:lnTo>
                    <a:pt x="17" y="9"/>
                  </a:lnTo>
                  <a:lnTo>
                    <a:pt x="18" y="10"/>
                  </a:lnTo>
                  <a:lnTo>
                    <a:pt x="19" y="10"/>
                  </a:lnTo>
                  <a:lnTo>
                    <a:pt x="20" y="11"/>
                  </a:lnTo>
                  <a:lnTo>
                    <a:pt x="21" y="11"/>
                  </a:lnTo>
                  <a:lnTo>
                    <a:pt x="22" y="11"/>
                  </a:lnTo>
                  <a:lnTo>
                    <a:pt x="24" y="11"/>
                  </a:lnTo>
                  <a:lnTo>
                    <a:pt x="25" y="10"/>
                  </a:lnTo>
                  <a:lnTo>
                    <a:pt x="26" y="10"/>
                  </a:lnTo>
                  <a:lnTo>
                    <a:pt x="28" y="10"/>
                  </a:lnTo>
                  <a:lnTo>
                    <a:pt x="28" y="10"/>
                  </a:lnTo>
                  <a:lnTo>
                    <a:pt x="29" y="10"/>
                  </a:lnTo>
                </a:path>
              </a:pathLst>
            </a:custGeom>
            <a:noFill/>
            <a:ln w="6756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6" name="Freeform 345"/>
            <p:cNvSpPr/>
            <p:nvPr/>
          </p:nvSpPr>
          <p:spPr>
            <a:xfrm>
              <a:off x="7379208" y="11292840"/>
              <a:ext cx="45720" cy="146304"/>
            </a:xfrm>
            <a:custGeom>
              <a:avLst/>
              <a:gdLst/>
              <a:ahLst/>
              <a:cxnLst/>
              <a:rect l="l" t="t" r="r" b="b"/>
              <a:pathLst>
                <a:path w="5" h="16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7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1" y="12"/>
                  </a:lnTo>
                  <a:lnTo>
                    <a:pt x="2" y="13"/>
                  </a:lnTo>
                  <a:lnTo>
                    <a:pt x="2" y="14"/>
                  </a:lnTo>
                  <a:lnTo>
                    <a:pt x="3" y="14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5" y="16"/>
                  </a:lnTo>
                  <a:lnTo>
                    <a:pt x="5" y="16"/>
                  </a:lnTo>
                </a:path>
              </a:pathLst>
            </a:custGeom>
            <a:noFill/>
            <a:ln w="6756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7" name="Freeform 346"/>
            <p:cNvSpPr/>
            <p:nvPr/>
          </p:nvSpPr>
          <p:spPr>
            <a:xfrm>
              <a:off x="7004304" y="10954512"/>
              <a:ext cx="73152" cy="173736"/>
            </a:xfrm>
            <a:custGeom>
              <a:avLst/>
              <a:gdLst/>
              <a:ahLst/>
              <a:cxnLst/>
              <a:rect l="l" t="t" r="r" b="b"/>
              <a:pathLst>
                <a:path w="8" h="19">
                  <a:moveTo>
                    <a:pt x="8" y="19"/>
                  </a:moveTo>
                  <a:lnTo>
                    <a:pt x="8" y="18"/>
                  </a:lnTo>
                  <a:lnTo>
                    <a:pt x="8" y="18"/>
                  </a:lnTo>
                  <a:lnTo>
                    <a:pt x="8" y="17"/>
                  </a:lnTo>
                  <a:lnTo>
                    <a:pt x="8" y="15"/>
                  </a:lnTo>
                  <a:lnTo>
                    <a:pt x="8" y="14"/>
                  </a:lnTo>
                  <a:lnTo>
                    <a:pt x="8" y="13"/>
                  </a:lnTo>
                  <a:lnTo>
                    <a:pt x="7" y="12"/>
                  </a:lnTo>
                  <a:lnTo>
                    <a:pt x="7" y="10"/>
                  </a:lnTo>
                  <a:lnTo>
                    <a:pt x="7" y="9"/>
                  </a:lnTo>
                  <a:lnTo>
                    <a:pt x="6" y="8"/>
                  </a:lnTo>
                  <a:lnTo>
                    <a:pt x="6" y="7"/>
                  </a:lnTo>
                  <a:lnTo>
                    <a:pt x="5" y="6"/>
                  </a:lnTo>
                  <a:lnTo>
                    <a:pt x="4" y="5"/>
                  </a:lnTo>
                  <a:lnTo>
                    <a:pt x="3" y="4"/>
                  </a:lnTo>
                  <a:lnTo>
                    <a:pt x="2" y="2"/>
                  </a:lnTo>
                  <a:lnTo>
                    <a:pt x="1" y="2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noFill/>
            <a:ln w="6756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8" name="Freeform 347"/>
            <p:cNvSpPr/>
            <p:nvPr/>
          </p:nvSpPr>
          <p:spPr>
            <a:xfrm>
              <a:off x="6995160" y="11292840"/>
              <a:ext cx="54864" cy="182880"/>
            </a:xfrm>
            <a:custGeom>
              <a:avLst/>
              <a:gdLst/>
              <a:ahLst/>
              <a:cxnLst/>
              <a:rect l="l" t="t" r="r" b="b"/>
              <a:pathLst>
                <a:path w="6" h="20">
                  <a:moveTo>
                    <a:pt x="3" y="0"/>
                  </a:moveTo>
                  <a:lnTo>
                    <a:pt x="3" y="1"/>
                  </a:lnTo>
                  <a:lnTo>
                    <a:pt x="4" y="2"/>
                  </a:lnTo>
                  <a:lnTo>
                    <a:pt x="4" y="3"/>
                  </a:lnTo>
                  <a:lnTo>
                    <a:pt x="5" y="4"/>
                  </a:lnTo>
                  <a:lnTo>
                    <a:pt x="5" y="5"/>
                  </a:lnTo>
                  <a:lnTo>
                    <a:pt x="5" y="7"/>
                  </a:lnTo>
                  <a:lnTo>
                    <a:pt x="6" y="8"/>
                  </a:lnTo>
                  <a:lnTo>
                    <a:pt x="6" y="9"/>
                  </a:lnTo>
                  <a:lnTo>
                    <a:pt x="6" y="10"/>
                  </a:lnTo>
                  <a:lnTo>
                    <a:pt x="5" y="11"/>
                  </a:lnTo>
                  <a:lnTo>
                    <a:pt x="5" y="13"/>
                  </a:lnTo>
                  <a:lnTo>
                    <a:pt x="4" y="14"/>
                  </a:lnTo>
                  <a:lnTo>
                    <a:pt x="3" y="15"/>
                  </a:lnTo>
                  <a:lnTo>
                    <a:pt x="3" y="16"/>
                  </a:lnTo>
                  <a:lnTo>
                    <a:pt x="2" y="18"/>
                  </a:lnTo>
                  <a:lnTo>
                    <a:pt x="1" y="19"/>
                  </a:lnTo>
                  <a:lnTo>
                    <a:pt x="1" y="19"/>
                  </a:lnTo>
                  <a:lnTo>
                    <a:pt x="0" y="20"/>
                  </a:lnTo>
                </a:path>
              </a:pathLst>
            </a:custGeom>
            <a:noFill/>
            <a:ln w="6756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9" name="Freeform 348"/>
            <p:cNvSpPr/>
            <p:nvPr/>
          </p:nvSpPr>
          <p:spPr>
            <a:xfrm>
              <a:off x="7315200" y="11036808"/>
              <a:ext cx="164592" cy="45720"/>
            </a:xfrm>
            <a:custGeom>
              <a:avLst/>
              <a:gdLst/>
              <a:ahLst/>
              <a:cxnLst/>
              <a:rect l="l" t="t" r="r" b="b"/>
              <a:pathLst>
                <a:path w="18" h="5">
                  <a:moveTo>
                    <a:pt x="0" y="3"/>
                  </a:moveTo>
                  <a:lnTo>
                    <a:pt x="1" y="3"/>
                  </a:lnTo>
                  <a:lnTo>
                    <a:pt x="1" y="4"/>
                  </a:lnTo>
                  <a:lnTo>
                    <a:pt x="2" y="4"/>
                  </a:lnTo>
                  <a:lnTo>
                    <a:pt x="3" y="4"/>
                  </a:lnTo>
                  <a:lnTo>
                    <a:pt x="4" y="5"/>
                  </a:lnTo>
                  <a:lnTo>
                    <a:pt x="5" y="5"/>
                  </a:lnTo>
                  <a:lnTo>
                    <a:pt x="6" y="5"/>
                  </a:lnTo>
                  <a:lnTo>
                    <a:pt x="8" y="5"/>
                  </a:lnTo>
                  <a:lnTo>
                    <a:pt x="9" y="5"/>
                  </a:lnTo>
                  <a:lnTo>
                    <a:pt x="10" y="5"/>
                  </a:lnTo>
                  <a:lnTo>
                    <a:pt x="11" y="4"/>
                  </a:lnTo>
                  <a:lnTo>
                    <a:pt x="12" y="3"/>
                  </a:lnTo>
                  <a:lnTo>
                    <a:pt x="13" y="3"/>
                  </a:lnTo>
                  <a:lnTo>
                    <a:pt x="14" y="2"/>
                  </a:lnTo>
                  <a:lnTo>
                    <a:pt x="15" y="1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8" y="0"/>
                  </a:lnTo>
                </a:path>
              </a:pathLst>
            </a:custGeom>
            <a:noFill/>
            <a:ln w="6756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0" name="Oval 349"/>
            <p:cNvSpPr/>
            <p:nvPr/>
          </p:nvSpPr>
          <p:spPr>
            <a:xfrm>
              <a:off x="6830568" y="10844784"/>
              <a:ext cx="694944" cy="694944"/>
            </a:xfrm>
            <a:prstGeom prst="ellipse">
              <a:avLst/>
            </a:prstGeom>
            <a:noFill/>
            <a:ln w="8686" cap="rnd">
              <a:solidFill>
                <a:srgbClr val="002D65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4" name="Starch granule — editable vector group"/>
          <p:cNvGrpSpPr/>
          <p:nvPr/>
        </p:nvGrpSpPr>
        <p:grpSpPr>
          <a:xfrm>
            <a:off x="8375904" y="10908792"/>
            <a:ext cx="356616" cy="356616"/>
            <a:chOff x="8375904" y="10908792"/>
            <a:chExt cx="356616" cy="356616"/>
          </a:xfrm>
        </p:grpSpPr>
        <p:sp>
          <p:nvSpPr>
            <p:cNvPr id="352" name="Editable starch granule"/>
            <p:cNvSpPr/>
            <p:nvPr/>
          </p:nvSpPr>
          <p:spPr>
            <a:xfrm>
              <a:off x="8375904" y="10908792"/>
              <a:ext cx="356616" cy="356616"/>
            </a:xfrm>
            <a:prstGeom prst="ellipse">
              <a:avLst/>
            </a:prstGeom>
            <a:ln w="7620" cap="rnd">
              <a:solidFill>
                <a:srgbClr val="002D65"/>
              </a:solidFill>
              <a:round/>
            </a:ln>
            <a:gradFill>
              <a:gsLst>
                <a:gs pos="0">
                  <a:srgbClr val="F7FCFF"/>
                </a:gs>
                <a:gs pos="100000">
                  <a:srgbClr val="A9D6F8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3" name="Freeform 352"/>
            <p:cNvSpPr/>
            <p:nvPr/>
          </p:nvSpPr>
          <p:spPr>
            <a:xfrm>
              <a:off x="8567928" y="10945368"/>
              <a:ext cx="100584" cy="128016"/>
            </a:xfrm>
            <a:custGeom>
              <a:avLst/>
              <a:gdLst/>
              <a:ahLst/>
              <a:cxnLst/>
              <a:rect l="l" t="t" r="r" b="b"/>
              <a:pathLst>
                <a:path w="11" h="14">
                  <a:moveTo>
                    <a:pt x="0" y="14"/>
                  </a:moveTo>
                  <a:lnTo>
                    <a:pt x="1" y="13"/>
                  </a:lnTo>
                  <a:lnTo>
                    <a:pt x="1" y="13"/>
                  </a:lnTo>
                  <a:lnTo>
                    <a:pt x="1" y="12"/>
                  </a:lnTo>
                  <a:lnTo>
                    <a:pt x="2" y="12"/>
                  </a:lnTo>
                  <a:lnTo>
                    <a:pt x="2" y="11"/>
                  </a:lnTo>
                  <a:lnTo>
                    <a:pt x="3" y="11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4" y="9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9"/>
                  </a:lnTo>
                  <a:lnTo>
                    <a:pt x="6" y="9"/>
                  </a:lnTo>
                  <a:lnTo>
                    <a:pt x="6" y="9"/>
                  </a:lnTo>
                  <a:lnTo>
                    <a:pt x="6" y="9"/>
                  </a:lnTo>
                  <a:lnTo>
                    <a:pt x="6" y="8"/>
                  </a:lnTo>
                  <a:lnTo>
                    <a:pt x="6" y="8"/>
                  </a:lnTo>
                  <a:lnTo>
                    <a:pt x="7" y="8"/>
                  </a:lnTo>
                  <a:lnTo>
                    <a:pt x="7" y="7"/>
                  </a:lnTo>
                  <a:lnTo>
                    <a:pt x="7" y="6"/>
                  </a:lnTo>
                  <a:lnTo>
                    <a:pt x="7" y="6"/>
                  </a:lnTo>
                  <a:lnTo>
                    <a:pt x="7" y="5"/>
                  </a:lnTo>
                  <a:lnTo>
                    <a:pt x="7" y="4"/>
                  </a:lnTo>
                  <a:lnTo>
                    <a:pt x="8" y="4"/>
                  </a:lnTo>
                  <a:lnTo>
                    <a:pt x="8" y="3"/>
                  </a:lnTo>
                  <a:lnTo>
                    <a:pt x="8" y="3"/>
                  </a:lnTo>
                  <a:lnTo>
                    <a:pt x="9" y="3"/>
                  </a:lnTo>
                  <a:lnTo>
                    <a:pt x="9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1" y="0"/>
                  </a:lnTo>
                  <a:lnTo>
                    <a:pt x="11" y="0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4" name="Freeform 353"/>
            <p:cNvSpPr/>
            <p:nvPr/>
          </p:nvSpPr>
          <p:spPr>
            <a:xfrm>
              <a:off x="8522208" y="10927080"/>
              <a:ext cx="45720" cy="137160"/>
            </a:xfrm>
            <a:custGeom>
              <a:avLst/>
              <a:gdLst/>
              <a:ahLst/>
              <a:cxnLst/>
              <a:rect l="l" t="t" r="r" b="b"/>
              <a:pathLst>
                <a:path w="5" h="15">
                  <a:moveTo>
                    <a:pt x="5" y="15"/>
                  </a:moveTo>
                  <a:lnTo>
                    <a:pt x="5" y="15"/>
                  </a:lnTo>
                  <a:lnTo>
                    <a:pt x="5" y="14"/>
                  </a:lnTo>
                  <a:lnTo>
                    <a:pt x="4" y="14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3" y="11"/>
                  </a:lnTo>
                  <a:lnTo>
                    <a:pt x="2" y="11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9"/>
                  </a:lnTo>
                  <a:lnTo>
                    <a:pt x="1" y="9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7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5" name="Freeform 354"/>
            <p:cNvSpPr/>
            <p:nvPr/>
          </p:nvSpPr>
          <p:spPr>
            <a:xfrm>
              <a:off x="8394192" y="11009376"/>
              <a:ext cx="173736" cy="73152"/>
            </a:xfrm>
            <a:custGeom>
              <a:avLst/>
              <a:gdLst/>
              <a:ahLst/>
              <a:cxnLst/>
              <a:rect l="l" t="t" r="r" b="b"/>
              <a:pathLst>
                <a:path w="19" h="8">
                  <a:moveTo>
                    <a:pt x="19" y="8"/>
                  </a:moveTo>
                  <a:lnTo>
                    <a:pt x="19" y="8"/>
                  </a:lnTo>
                  <a:lnTo>
                    <a:pt x="18" y="7"/>
                  </a:lnTo>
                  <a:lnTo>
                    <a:pt x="17" y="7"/>
                  </a:lnTo>
                  <a:lnTo>
                    <a:pt x="16" y="7"/>
                  </a:lnTo>
                  <a:lnTo>
                    <a:pt x="16" y="6"/>
                  </a:lnTo>
                  <a:lnTo>
                    <a:pt x="15" y="6"/>
                  </a:lnTo>
                  <a:lnTo>
                    <a:pt x="14" y="5"/>
                  </a:lnTo>
                  <a:lnTo>
                    <a:pt x="13" y="5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5"/>
                  </a:lnTo>
                  <a:lnTo>
                    <a:pt x="8" y="5"/>
                  </a:lnTo>
                  <a:lnTo>
                    <a:pt x="8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6" y="4"/>
                  </a:lnTo>
                  <a:lnTo>
                    <a:pt x="6" y="4"/>
                  </a:lnTo>
                  <a:lnTo>
                    <a:pt x="5" y="4"/>
                  </a:lnTo>
                  <a:lnTo>
                    <a:pt x="5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3" y="2"/>
                  </a:lnTo>
                  <a:lnTo>
                    <a:pt x="3" y="2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6" name="Freeform 355"/>
            <p:cNvSpPr/>
            <p:nvPr/>
          </p:nvSpPr>
          <p:spPr>
            <a:xfrm>
              <a:off x="8385048" y="11091672"/>
              <a:ext cx="173736" cy="73152"/>
            </a:xfrm>
            <a:custGeom>
              <a:avLst/>
              <a:gdLst/>
              <a:ahLst/>
              <a:cxnLst/>
              <a:rect l="l" t="t" r="r" b="b"/>
              <a:pathLst>
                <a:path w="19" h="8">
                  <a:moveTo>
                    <a:pt x="19" y="0"/>
                  </a:moveTo>
                  <a:lnTo>
                    <a:pt x="19" y="0"/>
                  </a:lnTo>
                  <a:lnTo>
                    <a:pt x="18" y="1"/>
                  </a:lnTo>
                  <a:lnTo>
                    <a:pt x="18" y="1"/>
                  </a:lnTo>
                  <a:lnTo>
                    <a:pt x="17" y="1"/>
                  </a:lnTo>
                  <a:lnTo>
                    <a:pt x="17" y="2"/>
                  </a:lnTo>
                  <a:lnTo>
                    <a:pt x="16" y="3"/>
                  </a:lnTo>
                  <a:lnTo>
                    <a:pt x="15" y="3"/>
                  </a:lnTo>
                  <a:lnTo>
                    <a:pt x="15" y="3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3" y="4"/>
                  </a:lnTo>
                  <a:lnTo>
                    <a:pt x="13" y="5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5"/>
                  </a:lnTo>
                  <a:lnTo>
                    <a:pt x="7" y="5"/>
                  </a:lnTo>
                  <a:lnTo>
                    <a:pt x="6" y="5"/>
                  </a:lnTo>
                  <a:lnTo>
                    <a:pt x="6" y="5"/>
                  </a:lnTo>
                  <a:lnTo>
                    <a:pt x="5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2" y="6"/>
                  </a:lnTo>
                  <a:lnTo>
                    <a:pt x="2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8"/>
                  </a:lnTo>
                  <a:lnTo>
                    <a:pt x="0" y="8"/>
                  </a:lnTo>
                  <a:lnTo>
                    <a:pt x="0" y="8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7" name="Freeform 356"/>
            <p:cNvSpPr/>
            <p:nvPr/>
          </p:nvSpPr>
          <p:spPr>
            <a:xfrm>
              <a:off x="8567928" y="11100816"/>
              <a:ext cx="45720" cy="146304"/>
            </a:xfrm>
            <a:custGeom>
              <a:avLst/>
              <a:gdLst/>
              <a:ahLst/>
              <a:cxnLst/>
              <a:rect l="l" t="t" r="r" b="b"/>
              <a:pathLst>
                <a:path w="5" h="16">
                  <a:moveTo>
                    <a:pt x="0" y="0"/>
                  </a:moveTo>
                  <a:lnTo>
                    <a:pt x="0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2" y="4"/>
                  </a:lnTo>
                  <a:lnTo>
                    <a:pt x="2" y="4"/>
                  </a:lnTo>
                  <a:lnTo>
                    <a:pt x="3" y="5"/>
                  </a:lnTo>
                  <a:lnTo>
                    <a:pt x="3" y="6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8"/>
                  </a:lnTo>
                  <a:lnTo>
                    <a:pt x="3" y="8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10"/>
                  </a:lnTo>
                  <a:lnTo>
                    <a:pt x="2" y="10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4" y="15"/>
                  </a:lnTo>
                  <a:lnTo>
                    <a:pt x="5" y="15"/>
                  </a:lnTo>
                  <a:lnTo>
                    <a:pt x="5" y="16"/>
                  </a:lnTo>
                  <a:lnTo>
                    <a:pt x="5" y="16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8" name="Freeform 357"/>
            <p:cNvSpPr/>
            <p:nvPr/>
          </p:nvSpPr>
          <p:spPr>
            <a:xfrm>
              <a:off x="8577072" y="11091672"/>
              <a:ext cx="137160" cy="54864"/>
            </a:xfrm>
            <a:custGeom>
              <a:avLst/>
              <a:gdLst/>
              <a:ahLst/>
              <a:cxnLst/>
              <a:rect l="l" t="t" r="r" b="b"/>
              <a:pathLst>
                <a:path w="15" h="6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4" y="1"/>
                  </a:lnTo>
                  <a:lnTo>
                    <a:pt x="5" y="2"/>
                  </a:lnTo>
                  <a:lnTo>
                    <a:pt x="5" y="2"/>
                  </a:lnTo>
                  <a:lnTo>
                    <a:pt x="6" y="2"/>
                  </a:lnTo>
                  <a:lnTo>
                    <a:pt x="6" y="3"/>
                  </a:lnTo>
                  <a:lnTo>
                    <a:pt x="7" y="3"/>
                  </a:lnTo>
                  <a:lnTo>
                    <a:pt x="7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9" y="5"/>
                  </a:lnTo>
                  <a:lnTo>
                    <a:pt x="9" y="5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1" y="6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3" y="5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5" y="5"/>
                  </a:lnTo>
                  <a:lnTo>
                    <a:pt x="15" y="5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9" name="Freeform 358"/>
            <p:cNvSpPr/>
            <p:nvPr/>
          </p:nvSpPr>
          <p:spPr>
            <a:xfrm>
              <a:off x="8659368" y="11137392"/>
              <a:ext cx="27432" cy="82296"/>
            </a:xfrm>
            <a:custGeom>
              <a:avLst/>
              <a:gdLst/>
              <a:ahLst/>
              <a:cxnLst/>
              <a:rect l="l" t="t" r="r" b="b"/>
              <a:pathLst>
                <a:path w="3" h="9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2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3" y="9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0" name="Freeform 359"/>
            <p:cNvSpPr/>
            <p:nvPr/>
          </p:nvSpPr>
          <p:spPr>
            <a:xfrm>
              <a:off x="8467344" y="10963656"/>
              <a:ext cx="36576" cy="91440"/>
            </a:xfrm>
            <a:custGeom>
              <a:avLst/>
              <a:gdLst/>
              <a:ahLst/>
              <a:cxnLst/>
              <a:rect l="l" t="t" r="r" b="b"/>
              <a:pathLst>
                <a:path w="4" h="10">
                  <a:moveTo>
                    <a:pt x="4" y="10"/>
                  </a:moveTo>
                  <a:lnTo>
                    <a:pt x="4" y="10"/>
                  </a:lnTo>
                  <a:lnTo>
                    <a:pt x="4" y="9"/>
                  </a:lnTo>
                  <a:lnTo>
                    <a:pt x="4" y="9"/>
                  </a:lnTo>
                  <a:lnTo>
                    <a:pt x="4" y="8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6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2" y="3"/>
                  </a:lnTo>
                  <a:lnTo>
                    <a:pt x="2" y="3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1" name="Freeform 360"/>
            <p:cNvSpPr/>
            <p:nvPr/>
          </p:nvSpPr>
          <p:spPr>
            <a:xfrm>
              <a:off x="8458200" y="11137392"/>
              <a:ext cx="27432" cy="91440"/>
            </a:xfrm>
            <a:custGeom>
              <a:avLst/>
              <a:gdLst/>
              <a:ahLst/>
              <a:cxnLst/>
              <a:rect l="l" t="t" r="r" b="b"/>
              <a:pathLst>
                <a:path w="3" h="10">
                  <a:moveTo>
                    <a:pt x="2" y="0"/>
                  </a:move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6"/>
                  </a:lnTo>
                  <a:lnTo>
                    <a:pt x="3" y="7"/>
                  </a:lnTo>
                  <a:lnTo>
                    <a:pt x="2" y="7"/>
                  </a:lnTo>
                  <a:lnTo>
                    <a:pt x="2" y="8"/>
                  </a:lnTo>
                  <a:lnTo>
                    <a:pt x="2" y="9"/>
                  </a:lnTo>
                  <a:lnTo>
                    <a:pt x="1" y="9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0" y="10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2" name="Freeform 361"/>
            <p:cNvSpPr/>
            <p:nvPr/>
          </p:nvSpPr>
          <p:spPr>
            <a:xfrm>
              <a:off x="8622792" y="11009376"/>
              <a:ext cx="82296" cy="18288"/>
            </a:xfrm>
            <a:custGeom>
              <a:avLst/>
              <a:gdLst/>
              <a:ahLst/>
              <a:cxnLst/>
              <a:rect l="l" t="t" r="r" b="b"/>
              <a:pathLst>
                <a:path w="9" h="2">
                  <a:moveTo>
                    <a:pt x="0" y="1"/>
                  </a:move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7" y="1"/>
                  </a:lnTo>
                  <a:lnTo>
                    <a:pt x="7" y="1"/>
                  </a:lnTo>
                  <a:lnTo>
                    <a:pt x="8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3" name="Oval 362"/>
            <p:cNvSpPr/>
            <p:nvPr/>
          </p:nvSpPr>
          <p:spPr>
            <a:xfrm>
              <a:off x="8375904" y="10908792"/>
              <a:ext cx="356616" cy="356616"/>
            </a:xfrm>
            <a:prstGeom prst="ellipse">
              <a:avLst/>
            </a:prstGeom>
            <a:noFill/>
            <a:ln w="7620" cap="rnd">
              <a:solidFill>
                <a:srgbClr val="002D65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7" name="Starch granule — editable vector group"/>
          <p:cNvGrpSpPr/>
          <p:nvPr/>
        </p:nvGrpSpPr>
        <p:grpSpPr>
          <a:xfrm>
            <a:off x="8833104" y="10917936"/>
            <a:ext cx="228600" cy="228600"/>
            <a:chOff x="8833104" y="10917936"/>
            <a:chExt cx="228600" cy="228600"/>
          </a:xfrm>
        </p:grpSpPr>
        <p:sp>
          <p:nvSpPr>
            <p:cNvPr id="365" name="Editable starch granule"/>
            <p:cNvSpPr/>
            <p:nvPr/>
          </p:nvSpPr>
          <p:spPr>
            <a:xfrm>
              <a:off x="8833104" y="10917936"/>
              <a:ext cx="228600" cy="228600"/>
            </a:xfrm>
            <a:prstGeom prst="ellipse">
              <a:avLst/>
            </a:prstGeom>
            <a:ln w="7620" cap="rnd">
              <a:solidFill>
                <a:srgbClr val="002D65"/>
              </a:solidFill>
              <a:round/>
            </a:ln>
            <a:gradFill>
              <a:gsLst>
                <a:gs pos="0">
                  <a:srgbClr val="F7FCFF"/>
                </a:gs>
                <a:gs pos="100000">
                  <a:srgbClr val="A9D6F8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6" name="Freeform 365"/>
            <p:cNvSpPr/>
            <p:nvPr/>
          </p:nvSpPr>
          <p:spPr>
            <a:xfrm>
              <a:off x="8869680" y="10945368"/>
              <a:ext cx="64008" cy="73152"/>
            </a:xfrm>
            <a:custGeom>
              <a:avLst/>
              <a:gdLst/>
              <a:ahLst/>
              <a:cxnLst/>
              <a:rect l="l" t="t" r="r" b="b"/>
              <a:pathLst>
                <a:path w="7" h="8">
                  <a:moveTo>
                    <a:pt x="7" y="8"/>
                  </a:moveTo>
                  <a:lnTo>
                    <a:pt x="7" y="8"/>
                  </a:lnTo>
                  <a:lnTo>
                    <a:pt x="7" y="8"/>
                  </a:lnTo>
                  <a:lnTo>
                    <a:pt x="7" y="8"/>
                  </a:lnTo>
                  <a:lnTo>
                    <a:pt x="6" y="7"/>
                  </a:lnTo>
                  <a:lnTo>
                    <a:pt x="6" y="7"/>
                  </a:lnTo>
                  <a:lnTo>
                    <a:pt x="6" y="7"/>
                  </a:lnTo>
                  <a:lnTo>
                    <a:pt x="5" y="6"/>
                  </a:lnTo>
                  <a:lnTo>
                    <a:pt x="5" y="6"/>
                  </a:lnTo>
                  <a:lnTo>
                    <a:pt x="5" y="6"/>
                  </a:lnTo>
                  <a:lnTo>
                    <a:pt x="5" y="6"/>
                  </a:lnTo>
                  <a:lnTo>
                    <a:pt x="5" y="6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3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2"/>
                  </a:lnTo>
                  <a:lnTo>
                    <a:pt x="3" y="2"/>
                  </a:lnTo>
                  <a:lnTo>
                    <a:pt x="2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7" name="Freeform 366"/>
            <p:cNvSpPr/>
            <p:nvPr/>
          </p:nvSpPr>
          <p:spPr>
            <a:xfrm>
              <a:off x="8942832" y="10936224"/>
              <a:ext cx="27432" cy="82296"/>
            </a:xfrm>
            <a:custGeom>
              <a:avLst/>
              <a:gdLst/>
              <a:ahLst/>
              <a:cxnLst/>
              <a:rect l="l" t="t" r="r" b="b"/>
              <a:pathLst>
                <a:path w="3" h="9">
                  <a:moveTo>
                    <a:pt x="0" y="9"/>
                  </a:moveTo>
                  <a:lnTo>
                    <a:pt x="0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6"/>
                  </a:lnTo>
                  <a:lnTo>
                    <a:pt x="1" y="6"/>
                  </a:lnTo>
                  <a:lnTo>
                    <a:pt x="2" y="6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3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2"/>
                  </a:lnTo>
                  <a:lnTo>
                    <a:pt x="3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8" name="Freeform 367"/>
            <p:cNvSpPr/>
            <p:nvPr/>
          </p:nvSpPr>
          <p:spPr>
            <a:xfrm>
              <a:off x="8942832" y="10981944"/>
              <a:ext cx="109728" cy="45720"/>
            </a:xfrm>
            <a:custGeom>
              <a:avLst/>
              <a:gdLst/>
              <a:ahLst/>
              <a:cxnLst/>
              <a:rect l="l" t="t" r="r" b="b"/>
              <a:pathLst>
                <a:path w="12" h="5">
                  <a:moveTo>
                    <a:pt x="0" y="5"/>
                  </a:moveTo>
                  <a:lnTo>
                    <a:pt x="0" y="5"/>
                  </a:lnTo>
                  <a:lnTo>
                    <a:pt x="0" y="5"/>
                  </a:lnTo>
                  <a:lnTo>
                    <a:pt x="1" y="4"/>
                  </a:lnTo>
                  <a:lnTo>
                    <a:pt x="1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8" y="3"/>
                  </a:lnTo>
                  <a:lnTo>
                    <a:pt x="8" y="3"/>
                  </a:lnTo>
                  <a:lnTo>
                    <a:pt x="8" y="2"/>
                  </a:lnTo>
                  <a:lnTo>
                    <a:pt x="9" y="2"/>
                  </a:lnTo>
                  <a:lnTo>
                    <a:pt x="9" y="2"/>
                  </a:lnTo>
                  <a:lnTo>
                    <a:pt x="9" y="2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1" y="1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2" y="0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9" name="Freeform 368"/>
            <p:cNvSpPr/>
            <p:nvPr/>
          </p:nvSpPr>
          <p:spPr>
            <a:xfrm>
              <a:off x="8942832" y="11036808"/>
              <a:ext cx="109728" cy="45720"/>
            </a:xfrm>
            <a:custGeom>
              <a:avLst/>
              <a:gdLst/>
              <a:ahLst/>
              <a:cxnLst/>
              <a:rect l="l" t="t" r="r" b="b"/>
              <a:pathLst>
                <a:path w="12" h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4" y="2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8" y="3"/>
                  </a:lnTo>
                  <a:lnTo>
                    <a:pt x="8" y="3"/>
                  </a:lnTo>
                  <a:lnTo>
                    <a:pt x="9" y="3"/>
                  </a:lnTo>
                  <a:lnTo>
                    <a:pt x="9" y="3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11" y="3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2" y="4"/>
                  </a:lnTo>
                  <a:lnTo>
                    <a:pt x="12" y="4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2" y="5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0" name="Freeform 369"/>
            <p:cNvSpPr/>
            <p:nvPr/>
          </p:nvSpPr>
          <p:spPr>
            <a:xfrm>
              <a:off x="8906256" y="11045952"/>
              <a:ext cx="36576" cy="91440"/>
            </a:xfrm>
            <a:custGeom>
              <a:avLst/>
              <a:gdLst/>
              <a:ahLst/>
              <a:cxnLst/>
              <a:rect l="l" t="t" r="r" b="b"/>
              <a:pathLst>
                <a:path w="4" h="10">
                  <a:moveTo>
                    <a:pt x="4" y="0"/>
                  </a:moveTo>
                  <a:lnTo>
                    <a:pt x="3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8"/>
                  </a:lnTo>
                  <a:lnTo>
                    <a:pt x="1" y="8"/>
                  </a:lnTo>
                  <a:lnTo>
                    <a:pt x="1" y="9"/>
                  </a:lnTo>
                  <a:lnTo>
                    <a:pt x="1" y="9"/>
                  </a:lnTo>
                  <a:lnTo>
                    <a:pt x="1" y="9"/>
                  </a:lnTo>
                  <a:lnTo>
                    <a:pt x="0" y="10"/>
                  </a:lnTo>
                  <a:lnTo>
                    <a:pt x="0" y="10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1" name="Freeform 370"/>
            <p:cNvSpPr/>
            <p:nvPr/>
          </p:nvSpPr>
          <p:spPr>
            <a:xfrm>
              <a:off x="8842248" y="11036808"/>
              <a:ext cx="91440" cy="27432"/>
            </a:xfrm>
            <a:custGeom>
              <a:avLst/>
              <a:gdLst/>
              <a:ahLst/>
              <a:cxnLst/>
              <a:rect l="l" t="t" r="r" b="b"/>
              <a:pathLst>
                <a:path w="10" h="3">
                  <a:moveTo>
                    <a:pt x="10" y="0"/>
                  </a:moveTo>
                  <a:lnTo>
                    <a:pt x="10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7" y="1"/>
                  </a:lnTo>
                  <a:lnTo>
                    <a:pt x="7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6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3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2" name="Freeform 371"/>
            <p:cNvSpPr/>
            <p:nvPr/>
          </p:nvSpPr>
          <p:spPr>
            <a:xfrm>
              <a:off x="8869680" y="11064240"/>
              <a:ext cx="9144" cy="54864"/>
            </a:xfrm>
            <a:custGeom>
              <a:avLst/>
              <a:gdLst/>
              <a:ahLst/>
              <a:cxnLst/>
              <a:rect l="l" t="t" r="r" b="b"/>
              <a:pathLst>
                <a:path w="1" h="6"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6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3" name="Freeform 372"/>
            <p:cNvSpPr/>
            <p:nvPr/>
          </p:nvSpPr>
          <p:spPr>
            <a:xfrm>
              <a:off x="8979408" y="10954512"/>
              <a:ext cx="27432" cy="54864"/>
            </a:xfrm>
            <a:custGeom>
              <a:avLst/>
              <a:gdLst/>
              <a:ahLst/>
              <a:cxnLst/>
              <a:rect l="l" t="t" r="r" b="b"/>
              <a:pathLst>
                <a:path w="3" h="6">
                  <a:moveTo>
                    <a:pt x="0" y="6"/>
                  </a:moveTo>
                  <a:lnTo>
                    <a:pt x="0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lnTo>
                    <a:pt x="3" y="0"/>
                  </a:lnTo>
                  <a:lnTo>
                    <a:pt x="3" y="0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4" name="Freeform 373"/>
            <p:cNvSpPr/>
            <p:nvPr/>
          </p:nvSpPr>
          <p:spPr>
            <a:xfrm>
              <a:off x="8988552" y="11064240"/>
              <a:ext cx="18288" cy="64008"/>
            </a:xfrm>
            <a:custGeom>
              <a:avLst/>
              <a:gdLst/>
              <a:ahLst/>
              <a:cxnLst/>
              <a:rect l="l" t="t" r="r" b="b"/>
              <a:pathLst>
                <a:path w="2" h="7"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6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7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5" name="Freeform 374"/>
            <p:cNvSpPr/>
            <p:nvPr/>
          </p:nvSpPr>
          <p:spPr>
            <a:xfrm>
              <a:off x="8851392" y="10981944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6" y="1"/>
                  </a:moveTo>
                  <a:lnTo>
                    <a:pt x="5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6" name="Oval 375"/>
            <p:cNvSpPr/>
            <p:nvPr/>
          </p:nvSpPr>
          <p:spPr>
            <a:xfrm>
              <a:off x="8833104" y="10917936"/>
              <a:ext cx="228600" cy="228600"/>
            </a:xfrm>
            <a:prstGeom prst="ellipse">
              <a:avLst/>
            </a:prstGeom>
            <a:noFill/>
            <a:ln w="7620" cap="rnd">
              <a:solidFill>
                <a:srgbClr val="002D65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0" name="Starch granule — editable vector group"/>
          <p:cNvGrpSpPr/>
          <p:nvPr/>
        </p:nvGrpSpPr>
        <p:grpSpPr>
          <a:xfrm>
            <a:off x="8238744" y="11292840"/>
            <a:ext cx="237744" cy="237744"/>
            <a:chOff x="8238744" y="11292840"/>
            <a:chExt cx="237744" cy="237744"/>
          </a:xfrm>
        </p:grpSpPr>
        <p:sp>
          <p:nvSpPr>
            <p:cNvPr id="378" name="Editable starch granule"/>
            <p:cNvSpPr/>
            <p:nvPr/>
          </p:nvSpPr>
          <p:spPr>
            <a:xfrm>
              <a:off x="8238744" y="11292840"/>
              <a:ext cx="237744" cy="237744"/>
            </a:xfrm>
            <a:prstGeom prst="ellipse">
              <a:avLst/>
            </a:prstGeom>
            <a:ln w="7620" cap="rnd">
              <a:solidFill>
                <a:srgbClr val="002D65"/>
              </a:solidFill>
              <a:round/>
            </a:ln>
            <a:gradFill>
              <a:gsLst>
                <a:gs pos="0">
                  <a:srgbClr val="F7FCFF"/>
                </a:gs>
                <a:gs pos="100000">
                  <a:srgbClr val="A9D6F8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9" name="Freeform 378"/>
            <p:cNvSpPr/>
            <p:nvPr/>
          </p:nvSpPr>
          <p:spPr>
            <a:xfrm>
              <a:off x="8275320" y="11320272"/>
              <a:ext cx="73152" cy="82296"/>
            </a:xfrm>
            <a:custGeom>
              <a:avLst/>
              <a:gdLst/>
              <a:ahLst/>
              <a:cxnLst/>
              <a:rect l="l" t="t" r="r" b="b"/>
              <a:pathLst>
                <a:path w="8" h="9">
                  <a:moveTo>
                    <a:pt x="8" y="9"/>
                  </a:moveTo>
                  <a:lnTo>
                    <a:pt x="8" y="9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8"/>
                  </a:lnTo>
                  <a:lnTo>
                    <a:pt x="6" y="7"/>
                  </a:lnTo>
                  <a:lnTo>
                    <a:pt x="6" y="7"/>
                  </a:lnTo>
                  <a:lnTo>
                    <a:pt x="6" y="7"/>
                  </a:lnTo>
                  <a:lnTo>
                    <a:pt x="6" y="6"/>
                  </a:lnTo>
                  <a:lnTo>
                    <a:pt x="5" y="6"/>
                  </a:lnTo>
                  <a:lnTo>
                    <a:pt x="5" y="6"/>
                  </a:lnTo>
                  <a:lnTo>
                    <a:pt x="5" y="6"/>
                  </a:lnTo>
                  <a:lnTo>
                    <a:pt x="5" y="6"/>
                  </a:lnTo>
                  <a:lnTo>
                    <a:pt x="5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0" name="Freeform 379"/>
            <p:cNvSpPr/>
            <p:nvPr/>
          </p:nvSpPr>
          <p:spPr>
            <a:xfrm>
              <a:off x="8348472" y="11311128"/>
              <a:ext cx="27432" cy="82296"/>
            </a:xfrm>
            <a:custGeom>
              <a:avLst/>
              <a:gdLst/>
              <a:ahLst/>
              <a:cxnLst/>
              <a:rect l="l" t="t" r="r" b="b"/>
              <a:pathLst>
                <a:path w="3" h="9">
                  <a:moveTo>
                    <a:pt x="0" y="9"/>
                  </a:moveTo>
                  <a:lnTo>
                    <a:pt x="0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5"/>
                  </a:lnTo>
                  <a:lnTo>
                    <a:pt x="3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0"/>
                  </a:lnTo>
                  <a:lnTo>
                    <a:pt x="3" y="0"/>
                  </a:lnTo>
                  <a:lnTo>
                    <a:pt x="3" y="0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1" name="Freeform 380"/>
            <p:cNvSpPr/>
            <p:nvPr/>
          </p:nvSpPr>
          <p:spPr>
            <a:xfrm>
              <a:off x="8348472" y="11356848"/>
              <a:ext cx="109728" cy="45720"/>
            </a:xfrm>
            <a:custGeom>
              <a:avLst/>
              <a:gdLst/>
              <a:ahLst/>
              <a:cxnLst/>
              <a:rect l="l" t="t" r="r" b="b"/>
              <a:pathLst>
                <a:path w="12" h="5">
                  <a:moveTo>
                    <a:pt x="0" y="5"/>
                  </a:moveTo>
                  <a:lnTo>
                    <a:pt x="0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2" y="5"/>
                  </a:lnTo>
                  <a:lnTo>
                    <a:pt x="2" y="4"/>
                  </a:lnTo>
                  <a:lnTo>
                    <a:pt x="3" y="4"/>
                  </a:lnTo>
                  <a:lnTo>
                    <a:pt x="3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9" y="3"/>
                  </a:lnTo>
                  <a:lnTo>
                    <a:pt x="9" y="3"/>
                  </a:lnTo>
                  <a:lnTo>
                    <a:pt x="9" y="3"/>
                  </a:lnTo>
                  <a:lnTo>
                    <a:pt x="10" y="3"/>
                  </a:lnTo>
                  <a:lnTo>
                    <a:pt x="10" y="2"/>
                  </a:lnTo>
                  <a:lnTo>
                    <a:pt x="10" y="2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11" y="1"/>
                  </a:lnTo>
                  <a:lnTo>
                    <a:pt x="11" y="1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12" y="1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2" y="0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2" name="Freeform 381"/>
            <p:cNvSpPr/>
            <p:nvPr/>
          </p:nvSpPr>
          <p:spPr>
            <a:xfrm>
              <a:off x="8348472" y="11411712"/>
              <a:ext cx="118872" cy="54864"/>
            </a:xfrm>
            <a:custGeom>
              <a:avLst/>
              <a:gdLst/>
              <a:ahLst/>
              <a:cxnLst/>
              <a:rect l="l" t="t" r="r" b="b"/>
              <a:pathLst>
                <a:path w="13" h="6">
                  <a:moveTo>
                    <a:pt x="0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4"/>
                  </a:lnTo>
                  <a:lnTo>
                    <a:pt x="5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9" y="4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2" y="4"/>
                  </a:lnTo>
                  <a:lnTo>
                    <a:pt x="12" y="4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3" y="6"/>
                  </a:lnTo>
                  <a:lnTo>
                    <a:pt x="13" y="6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3" name="Freeform 382"/>
            <p:cNvSpPr/>
            <p:nvPr/>
          </p:nvSpPr>
          <p:spPr>
            <a:xfrm>
              <a:off x="8321040" y="11420856"/>
              <a:ext cx="27432" cy="100584"/>
            </a:xfrm>
            <a:custGeom>
              <a:avLst/>
              <a:gdLst/>
              <a:ahLst/>
              <a:cxnLst/>
              <a:rect l="l" t="t" r="r" b="b"/>
              <a:pathLst>
                <a:path w="3" h="11">
                  <a:moveTo>
                    <a:pt x="3" y="0"/>
                  </a:moveTo>
                  <a:lnTo>
                    <a:pt x="3" y="1"/>
                  </a:lnTo>
                  <a:lnTo>
                    <a:pt x="3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6"/>
                  </a:lnTo>
                  <a:lnTo>
                    <a:pt x="1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8"/>
                  </a:lnTo>
                  <a:lnTo>
                    <a:pt x="1" y="9"/>
                  </a:lnTo>
                  <a:lnTo>
                    <a:pt x="1" y="9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0" y="11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4" name="Freeform 383"/>
            <p:cNvSpPr/>
            <p:nvPr/>
          </p:nvSpPr>
          <p:spPr>
            <a:xfrm>
              <a:off x="8247888" y="11411712"/>
              <a:ext cx="91440" cy="36576"/>
            </a:xfrm>
            <a:custGeom>
              <a:avLst/>
              <a:gdLst/>
              <a:ahLst/>
              <a:cxnLst/>
              <a:rect l="l" t="t" r="r" b="b"/>
              <a:pathLst>
                <a:path w="10" h="4">
                  <a:moveTo>
                    <a:pt x="10" y="0"/>
                  </a:moveTo>
                  <a:lnTo>
                    <a:pt x="10" y="0"/>
                  </a:lnTo>
                  <a:lnTo>
                    <a:pt x="10" y="0"/>
                  </a:lnTo>
                  <a:lnTo>
                    <a:pt x="9" y="1"/>
                  </a:lnTo>
                  <a:lnTo>
                    <a:pt x="9" y="1"/>
                  </a:lnTo>
                  <a:lnTo>
                    <a:pt x="8" y="1"/>
                  </a:lnTo>
                  <a:lnTo>
                    <a:pt x="8" y="1"/>
                  </a:lnTo>
                  <a:lnTo>
                    <a:pt x="8" y="1"/>
                  </a:lnTo>
                  <a:lnTo>
                    <a:pt x="7" y="1"/>
                  </a:lnTo>
                  <a:lnTo>
                    <a:pt x="7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6" y="2"/>
                  </a:lnTo>
                  <a:lnTo>
                    <a:pt x="6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3" y="4"/>
                  </a:lnTo>
                  <a:lnTo>
                    <a:pt x="3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4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5" name="Freeform 384"/>
            <p:cNvSpPr/>
            <p:nvPr/>
          </p:nvSpPr>
          <p:spPr>
            <a:xfrm>
              <a:off x="8275320" y="11448288"/>
              <a:ext cx="18288" cy="45720"/>
            </a:xfrm>
            <a:custGeom>
              <a:avLst/>
              <a:gdLst/>
              <a:ahLst/>
              <a:cxnLst/>
              <a:rect l="l" t="t" r="r" b="b"/>
              <a:pathLst>
                <a:path w="2" h="5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6" name="Freeform 385"/>
            <p:cNvSpPr/>
            <p:nvPr/>
          </p:nvSpPr>
          <p:spPr>
            <a:xfrm>
              <a:off x="8394192" y="11329416"/>
              <a:ext cx="18288" cy="64008"/>
            </a:xfrm>
            <a:custGeom>
              <a:avLst/>
              <a:gdLst/>
              <a:ahLst/>
              <a:cxnLst/>
              <a:rect l="l" t="t" r="r" b="b"/>
              <a:pathLst>
                <a:path w="2" h="7">
                  <a:moveTo>
                    <a:pt x="0" y="7"/>
                  </a:move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1" y="3"/>
                  </a:lnTo>
                  <a:lnTo>
                    <a:pt x="1" y="2"/>
                  </a:lnTo>
                  <a:lnTo>
                    <a:pt x="1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0"/>
                  </a:lnTo>
                  <a:lnTo>
                    <a:pt x="2" y="0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7" name="Freeform 386"/>
            <p:cNvSpPr/>
            <p:nvPr/>
          </p:nvSpPr>
          <p:spPr>
            <a:xfrm>
              <a:off x="8403336" y="11448288"/>
              <a:ext cx="18288" cy="64008"/>
            </a:xfrm>
            <a:custGeom>
              <a:avLst/>
              <a:gdLst/>
              <a:ahLst/>
              <a:cxnLst/>
              <a:rect l="l" t="t" r="r" b="b"/>
              <a:pathLst>
                <a:path w="2" h="7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6"/>
                  </a:lnTo>
                  <a:lnTo>
                    <a:pt x="2" y="6"/>
                  </a:lnTo>
                  <a:lnTo>
                    <a:pt x="2" y="7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8" name="Freeform 387"/>
            <p:cNvSpPr/>
            <p:nvPr/>
          </p:nvSpPr>
          <p:spPr>
            <a:xfrm>
              <a:off x="8257032" y="11356848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6" y="1"/>
                  </a:moveTo>
                  <a:lnTo>
                    <a:pt x="6" y="1"/>
                  </a:lnTo>
                  <a:lnTo>
                    <a:pt x="5" y="1"/>
                  </a:lnTo>
                  <a:lnTo>
                    <a:pt x="5" y="2"/>
                  </a:lnTo>
                  <a:lnTo>
                    <a:pt x="5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2" y="2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9" name="Oval 388"/>
            <p:cNvSpPr/>
            <p:nvPr/>
          </p:nvSpPr>
          <p:spPr>
            <a:xfrm>
              <a:off x="8238744" y="11292840"/>
              <a:ext cx="237744" cy="237744"/>
            </a:xfrm>
            <a:prstGeom prst="ellipse">
              <a:avLst/>
            </a:prstGeom>
            <a:noFill/>
            <a:ln w="7620" cap="rnd">
              <a:solidFill>
                <a:srgbClr val="002D65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3" name="Starch granule — editable vector group"/>
          <p:cNvGrpSpPr/>
          <p:nvPr/>
        </p:nvGrpSpPr>
        <p:grpSpPr>
          <a:xfrm>
            <a:off x="8650224" y="11311128"/>
            <a:ext cx="283464" cy="283464"/>
            <a:chOff x="8650224" y="11311128"/>
            <a:chExt cx="283464" cy="283464"/>
          </a:xfrm>
        </p:grpSpPr>
        <p:sp>
          <p:nvSpPr>
            <p:cNvPr id="391" name="Editable starch granule"/>
            <p:cNvSpPr/>
            <p:nvPr/>
          </p:nvSpPr>
          <p:spPr>
            <a:xfrm>
              <a:off x="8650224" y="11311128"/>
              <a:ext cx="283464" cy="283464"/>
            </a:xfrm>
            <a:prstGeom prst="ellipse">
              <a:avLst/>
            </a:prstGeom>
            <a:ln w="7620" cap="rnd">
              <a:solidFill>
                <a:srgbClr val="002D65"/>
              </a:solidFill>
              <a:round/>
            </a:ln>
            <a:gradFill>
              <a:gsLst>
                <a:gs pos="0">
                  <a:srgbClr val="F7FCFF"/>
                </a:gs>
                <a:gs pos="100000">
                  <a:srgbClr val="A9D6F8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2" name="Freeform 391"/>
            <p:cNvSpPr/>
            <p:nvPr/>
          </p:nvSpPr>
          <p:spPr>
            <a:xfrm>
              <a:off x="8805672" y="11338560"/>
              <a:ext cx="82296" cy="100584"/>
            </a:xfrm>
            <a:custGeom>
              <a:avLst/>
              <a:gdLst/>
              <a:ahLst/>
              <a:cxnLst/>
              <a:rect l="l" t="t" r="r" b="b"/>
              <a:pathLst>
                <a:path w="9" h="11">
                  <a:moveTo>
                    <a:pt x="0" y="11"/>
                  </a:moveTo>
                  <a:lnTo>
                    <a:pt x="0" y="11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8"/>
                  </a:lnTo>
                  <a:lnTo>
                    <a:pt x="3" y="8"/>
                  </a:lnTo>
                  <a:lnTo>
                    <a:pt x="3" y="8"/>
                  </a:lnTo>
                  <a:lnTo>
                    <a:pt x="3" y="8"/>
                  </a:lnTo>
                  <a:lnTo>
                    <a:pt x="3" y="8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5" y="7"/>
                  </a:lnTo>
                  <a:lnTo>
                    <a:pt x="5" y="7"/>
                  </a:lnTo>
                  <a:lnTo>
                    <a:pt x="5" y="7"/>
                  </a:lnTo>
                  <a:lnTo>
                    <a:pt x="5" y="6"/>
                  </a:lnTo>
                  <a:lnTo>
                    <a:pt x="5" y="6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4"/>
                  </a:lnTo>
                  <a:lnTo>
                    <a:pt x="6" y="4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7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8" y="1"/>
                  </a:lnTo>
                  <a:lnTo>
                    <a:pt x="8" y="1"/>
                  </a:lnTo>
                  <a:lnTo>
                    <a:pt x="8" y="1"/>
                  </a:lnTo>
                  <a:lnTo>
                    <a:pt x="9" y="1"/>
                  </a:lnTo>
                  <a:lnTo>
                    <a:pt x="9" y="0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3" name="Freeform 392"/>
            <p:cNvSpPr/>
            <p:nvPr/>
          </p:nvSpPr>
          <p:spPr>
            <a:xfrm>
              <a:off x="8769096" y="11329416"/>
              <a:ext cx="36576" cy="100584"/>
            </a:xfrm>
            <a:custGeom>
              <a:avLst/>
              <a:gdLst/>
              <a:ahLst/>
              <a:cxnLst/>
              <a:rect l="l" t="t" r="r" b="b"/>
              <a:pathLst>
                <a:path w="4" h="11">
                  <a:moveTo>
                    <a:pt x="4" y="11"/>
                  </a:moveTo>
                  <a:lnTo>
                    <a:pt x="4" y="11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3" y="10"/>
                  </a:lnTo>
                  <a:lnTo>
                    <a:pt x="3" y="10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8"/>
                  </a:lnTo>
                  <a:lnTo>
                    <a:pt x="1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6"/>
                  </a:lnTo>
                  <a:lnTo>
                    <a:pt x="0" y="6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4" name="Freeform 393"/>
            <p:cNvSpPr/>
            <p:nvPr/>
          </p:nvSpPr>
          <p:spPr>
            <a:xfrm>
              <a:off x="8668512" y="11384280"/>
              <a:ext cx="137160" cy="64008"/>
            </a:xfrm>
            <a:custGeom>
              <a:avLst/>
              <a:gdLst/>
              <a:ahLst/>
              <a:cxnLst/>
              <a:rect l="l" t="t" r="r" b="b"/>
              <a:pathLst>
                <a:path w="15" h="7">
                  <a:moveTo>
                    <a:pt x="15" y="7"/>
                  </a:moveTo>
                  <a:lnTo>
                    <a:pt x="14" y="7"/>
                  </a:lnTo>
                  <a:lnTo>
                    <a:pt x="14" y="7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2" y="6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0" y="5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5"/>
                  </a:lnTo>
                  <a:lnTo>
                    <a:pt x="8" y="5"/>
                  </a:lnTo>
                  <a:lnTo>
                    <a:pt x="8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6" y="5"/>
                  </a:lnTo>
                  <a:lnTo>
                    <a:pt x="6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5" name="Freeform 394"/>
            <p:cNvSpPr/>
            <p:nvPr/>
          </p:nvSpPr>
          <p:spPr>
            <a:xfrm>
              <a:off x="8659368" y="11457432"/>
              <a:ext cx="137160" cy="54864"/>
            </a:xfrm>
            <a:custGeom>
              <a:avLst/>
              <a:gdLst/>
              <a:ahLst/>
              <a:cxnLst/>
              <a:rect l="l" t="t" r="r" b="b"/>
              <a:pathLst>
                <a:path w="15" h="6">
                  <a:moveTo>
                    <a:pt x="15" y="0"/>
                  </a:moveTo>
                  <a:lnTo>
                    <a:pt x="15" y="0"/>
                  </a:lnTo>
                  <a:lnTo>
                    <a:pt x="14" y="0"/>
                  </a:lnTo>
                  <a:lnTo>
                    <a:pt x="14" y="1"/>
                  </a:lnTo>
                  <a:lnTo>
                    <a:pt x="14" y="1"/>
                  </a:lnTo>
                  <a:lnTo>
                    <a:pt x="13" y="1"/>
                  </a:lnTo>
                  <a:lnTo>
                    <a:pt x="13" y="2"/>
                  </a:lnTo>
                  <a:lnTo>
                    <a:pt x="12" y="2"/>
                  </a:lnTo>
                  <a:lnTo>
                    <a:pt x="12" y="3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0" y="3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9" y="4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6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3" y="4"/>
                  </a:lnTo>
                  <a:lnTo>
                    <a:pt x="3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6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6" name="Freeform 395"/>
            <p:cNvSpPr/>
            <p:nvPr/>
          </p:nvSpPr>
          <p:spPr>
            <a:xfrm>
              <a:off x="8805672" y="11466576"/>
              <a:ext cx="36576" cy="109728"/>
            </a:xfrm>
            <a:custGeom>
              <a:avLst/>
              <a:gdLst/>
              <a:ahLst/>
              <a:cxnLst/>
              <a:rect l="l" t="t" r="r" b="b"/>
              <a:pathLst>
                <a:path w="4" h="12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2" y="3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1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3" y="12"/>
                  </a:lnTo>
                  <a:lnTo>
                    <a:pt x="4" y="12"/>
                  </a:lnTo>
                  <a:lnTo>
                    <a:pt x="4" y="12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7" name="Freeform 396"/>
            <p:cNvSpPr/>
            <p:nvPr/>
          </p:nvSpPr>
          <p:spPr>
            <a:xfrm>
              <a:off x="8814816" y="11457432"/>
              <a:ext cx="100584" cy="36576"/>
            </a:xfrm>
            <a:custGeom>
              <a:avLst/>
              <a:gdLst/>
              <a:ahLst/>
              <a:cxnLst/>
              <a:rect l="l" t="t" r="r" b="b"/>
              <a:pathLst>
                <a:path w="11" h="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2"/>
                  </a:lnTo>
                  <a:lnTo>
                    <a:pt x="4" y="2"/>
                  </a:lnTo>
                  <a:lnTo>
                    <a:pt x="5" y="2"/>
                  </a:lnTo>
                  <a:lnTo>
                    <a:pt x="5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4"/>
                  </a:lnTo>
                  <a:lnTo>
                    <a:pt x="7" y="4"/>
                  </a:lnTo>
                  <a:lnTo>
                    <a:pt x="7" y="4"/>
                  </a:lnTo>
                  <a:lnTo>
                    <a:pt x="8" y="4"/>
                  </a:lnTo>
                  <a:lnTo>
                    <a:pt x="8" y="4"/>
                  </a:lnTo>
                  <a:lnTo>
                    <a:pt x="9" y="4"/>
                  </a:lnTo>
                  <a:lnTo>
                    <a:pt x="9" y="4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4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8" name="Freeform 397"/>
            <p:cNvSpPr/>
            <p:nvPr/>
          </p:nvSpPr>
          <p:spPr>
            <a:xfrm>
              <a:off x="8869680" y="11494008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3" y="7"/>
                  </a:lnTo>
                  <a:lnTo>
                    <a:pt x="3" y="7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9" name="Freeform 398"/>
            <p:cNvSpPr/>
            <p:nvPr/>
          </p:nvSpPr>
          <p:spPr>
            <a:xfrm>
              <a:off x="8723376" y="11356848"/>
              <a:ext cx="27432" cy="73152"/>
            </a:xfrm>
            <a:custGeom>
              <a:avLst/>
              <a:gdLst/>
              <a:ahLst/>
              <a:cxnLst/>
              <a:rect l="l" t="t" r="r" b="b"/>
              <a:pathLst>
                <a:path w="3" h="8">
                  <a:moveTo>
                    <a:pt x="3" y="8"/>
                  </a:moveTo>
                  <a:lnTo>
                    <a:pt x="3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6"/>
                  </a:lnTo>
                  <a:lnTo>
                    <a:pt x="3" y="6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0" name="Freeform 399"/>
            <p:cNvSpPr/>
            <p:nvPr/>
          </p:nvSpPr>
          <p:spPr>
            <a:xfrm>
              <a:off x="8714232" y="11494008"/>
              <a:ext cx="27432" cy="73152"/>
            </a:xfrm>
            <a:custGeom>
              <a:avLst/>
              <a:gdLst/>
              <a:ahLst/>
              <a:cxnLst/>
              <a:rect l="l" t="t" r="r" b="b"/>
              <a:pathLst>
                <a:path w="3" h="8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4"/>
                  </a:lnTo>
                  <a:lnTo>
                    <a:pt x="3" y="4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6"/>
                  </a:lnTo>
                  <a:lnTo>
                    <a:pt x="2" y="6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8"/>
                  </a:lnTo>
                  <a:lnTo>
                    <a:pt x="1" y="8"/>
                  </a:lnTo>
                  <a:lnTo>
                    <a:pt x="0" y="8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1" name="Freeform 400"/>
            <p:cNvSpPr/>
            <p:nvPr/>
          </p:nvSpPr>
          <p:spPr>
            <a:xfrm>
              <a:off x="8851392" y="11384280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2"/>
                  </a:moveTo>
                  <a:lnTo>
                    <a:pt x="0" y="2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1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lnTo>
                    <a:pt x="6" y="1"/>
                  </a:lnTo>
                  <a:lnTo>
                    <a:pt x="6" y="1"/>
                  </a:lnTo>
                  <a:lnTo>
                    <a:pt x="7" y="1"/>
                  </a:lnTo>
                  <a:lnTo>
                    <a:pt x="7" y="0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2" name="Oval 401"/>
            <p:cNvSpPr/>
            <p:nvPr/>
          </p:nvSpPr>
          <p:spPr>
            <a:xfrm>
              <a:off x="8650224" y="11311128"/>
              <a:ext cx="283464" cy="283464"/>
            </a:xfrm>
            <a:prstGeom prst="ellipse">
              <a:avLst/>
            </a:prstGeom>
            <a:noFill/>
            <a:ln w="7620" cap="rnd">
              <a:solidFill>
                <a:srgbClr val="002D65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16" name="Starch granule — editable vector group"/>
          <p:cNvGrpSpPr/>
          <p:nvPr/>
        </p:nvGrpSpPr>
        <p:grpSpPr>
          <a:xfrm>
            <a:off x="9043416" y="11210544"/>
            <a:ext cx="228600" cy="228600"/>
            <a:chOff x="9043416" y="11210544"/>
            <a:chExt cx="228600" cy="228600"/>
          </a:xfrm>
        </p:grpSpPr>
        <p:sp>
          <p:nvSpPr>
            <p:cNvPr id="404" name="Editable starch granule"/>
            <p:cNvSpPr/>
            <p:nvPr/>
          </p:nvSpPr>
          <p:spPr>
            <a:xfrm>
              <a:off x="9043416" y="11210544"/>
              <a:ext cx="228600" cy="228600"/>
            </a:xfrm>
            <a:prstGeom prst="ellipse">
              <a:avLst/>
            </a:prstGeom>
            <a:ln w="7620" cap="rnd">
              <a:solidFill>
                <a:srgbClr val="002D65"/>
              </a:solidFill>
              <a:round/>
            </a:ln>
            <a:gradFill>
              <a:gsLst>
                <a:gs pos="0">
                  <a:srgbClr val="F7FCFF"/>
                </a:gs>
                <a:gs pos="100000">
                  <a:srgbClr val="A9D6F8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5" name="Freeform 404"/>
            <p:cNvSpPr/>
            <p:nvPr/>
          </p:nvSpPr>
          <p:spPr>
            <a:xfrm>
              <a:off x="9171432" y="11237976"/>
              <a:ext cx="64008" cy="73152"/>
            </a:xfrm>
            <a:custGeom>
              <a:avLst/>
              <a:gdLst/>
              <a:ahLst/>
              <a:cxnLst/>
              <a:rect l="l" t="t" r="r" b="b"/>
              <a:pathLst>
                <a:path w="7" h="8">
                  <a:moveTo>
                    <a:pt x="0" y="8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0" y="8"/>
                  </a:lnTo>
                  <a:lnTo>
                    <a:pt x="1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4" y="5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2"/>
                  </a:lnTo>
                  <a:lnTo>
                    <a:pt x="4" y="2"/>
                  </a:lnTo>
                  <a:lnTo>
                    <a:pt x="5" y="2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6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7" y="0"/>
                  </a:lnTo>
                  <a:lnTo>
                    <a:pt x="7" y="0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6" name="Freeform 405"/>
            <p:cNvSpPr/>
            <p:nvPr/>
          </p:nvSpPr>
          <p:spPr>
            <a:xfrm>
              <a:off x="9134856" y="11228832"/>
              <a:ext cx="27432" cy="82296"/>
            </a:xfrm>
            <a:custGeom>
              <a:avLst/>
              <a:gdLst/>
              <a:ahLst/>
              <a:cxnLst/>
              <a:rect l="l" t="t" r="r" b="b"/>
              <a:pathLst>
                <a:path w="3" h="9">
                  <a:moveTo>
                    <a:pt x="3" y="9"/>
                  </a:moveTo>
                  <a:lnTo>
                    <a:pt x="3" y="9"/>
                  </a:lnTo>
                  <a:lnTo>
                    <a:pt x="3" y="8"/>
                  </a:lnTo>
                  <a:lnTo>
                    <a:pt x="3" y="8"/>
                  </a:lnTo>
                  <a:lnTo>
                    <a:pt x="3" y="8"/>
                  </a:lnTo>
                  <a:lnTo>
                    <a:pt x="3" y="8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6"/>
                  </a:lnTo>
                  <a:lnTo>
                    <a:pt x="2" y="6"/>
                  </a:lnTo>
                  <a:lnTo>
                    <a:pt x="1" y="6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4"/>
                  </a:lnTo>
                  <a:lnTo>
                    <a:pt x="1" y="4"/>
                  </a:lnTo>
                  <a:lnTo>
                    <a:pt x="1" y="3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7" name="Freeform 406"/>
            <p:cNvSpPr/>
            <p:nvPr/>
          </p:nvSpPr>
          <p:spPr>
            <a:xfrm>
              <a:off x="9052560" y="11274552"/>
              <a:ext cx="109728" cy="45720"/>
            </a:xfrm>
            <a:custGeom>
              <a:avLst/>
              <a:gdLst/>
              <a:ahLst/>
              <a:cxnLst/>
              <a:rect l="l" t="t" r="r" b="b"/>
              <a:pathLst>
                <a:path w="12" h="5">
                  <a:moveTo>
                    <a:pt x="12" y="5"/>
                  </a:moveTo>
                  <a:lnTo>
                    <a:pt x="12" y="5"/>
                  </a:lnTo>
                  <a:lnTo>
                    <a:pt x="12" y="5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9" y="4"/>
                  </a:lnTo>
                  <a:lnTo>
                    <a:pt x="9" y="3"/>
                  </a:lnTo>
                  <a:lnTo>
                    <a:pt x="8" y="3"/>
                  </a:lnTo>
                  <a:lnTo>
                    <a:pt x="8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8" name="Freeform 407"/>
            <p:cNvSpPr/>
            <p:nvPr/>
          </p:nvSpPr>
          <p:spPr>
            <a:xfrm>
              <a:off x="9052560" y="11329416"/>
              <a:ext cx="109728" cy="45720"/>
            </a:xfrm>
            <a:custGeom>
              <a:avLst/>
              <a:gdLst/>
              <a:ahLst/>
              <a:cxnLst/>
              <a:rect l="l" t="t" r="r" b="b"/>
              <a:pathLst>
                <a:path w="12" h="5">
                  <a:moveTo>
                    <a:pt x="12" y="0"/>
                  </a:moveTo>
                  <a:lnTo>
                    <a:pt x="12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1"/>
                  </a:lnTo>
                  <a:lnTo>
                    <a:pt x="10" y="1"/>
                  </a:lnTo>
                  <a:lnTo>
                    <a:pt x="10" y="1"/>
                  </a:lnTo>
                  <a:lnTo>
                    <a:pt x="10" y="2"/>
                  </a:lnTo>
                  <a:lnTo>
                    <a:pt x="9" y="2"/>
                  </a:lnTo>
                  <a:lnTo>
                    <a:pt x="9" y="2"/>
                  </a:lnTo>
                  <a:lnTo>
                    <a:pt x="8" y="2"/>
                  </a:lnTo>
                  <a:lnTo>
                    <a:pt x="8" y="3"/>
                  </a:lnTo>
                  <a:lnTo>
                    <a:pt x="8" y="3"/>
                  </a:lnTo>
                  <a:lnTo>
                    <a:pt x="8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5" y="3"/>
                  </a:lnTo>
                  <a:lnTo>
                    <a:pt x="5" y="3"/>
                  </a:lnTo>
                  <a:lnTo>
                    <a:pt x="4" y="3"/>
                  </a:lnTo>
                  <a:lnTo>
                    <a:pt x="4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1" y="3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9" name="Freeform 408"/>
            <p:cNvSpPr/>
            <p:nvPr/>
          </p:nvSpPr>
          <p:spPr>
            <a:xfrm>
              <a:off x="9162288" y="11338560"/>
              <a:ext cx="36576" cy="91440"/>
            </a:xfrm>
            <a:custGeom>
              <a:avLst/>
              <a:gdLst/>
              <a:ahLst/>
              <a:cxnLst/>
              <a:rect l="l" t="t" r="r" b="b"/>
              <a:pathLst>
                <a:path w="4" h="10">
                  <a:moveTo>
                    <a:pt x="0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4"/>
                  </a:lnTo>
                  <a:lnTo>
                    <a:pt x="3" y="4"/>
                  </a:lnTo>
                  <a:lnTo>
                    <a:pt x="3" y="4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6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8"/>
                  </a:lnTo>
                  <a:lnTo>
                    <a:pt x="3" y="8"/>
                  </a:lnTo>
                  <a:lnTo>
                    <a:pt x="3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4" y="10"/>
                  </a:lnTo>
                  <a:lnTo>
                    <a:pt x="4" y="10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0" name="Freeform 409"/>
            <p:cNvSpPr/>
            <p:nvPr/>
          </p:nvSpPr>
          <p:spPr>
            <a:xfrm>
              <a:off x="9171432" y="11329416"/>
              <a:ext cx="91440" cy="27432"/>
            </a:xfrm>
            <a:custGeom>
              <a:avLst/>
              <a:gdLst/>
              <a:ahLst/>
              <a:cxnLst/>
              <a:rect l="l" t="t" r="r" b="b"/>
              <a:pathLst>
                <a:path w="10" h="3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6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8" y="3"/>
                  </a:lnTo>
                  <a:lnTo>
                    <a:pt x="8" y="3"/>
                  </a:lnTo>
                  <a:lnTo>
                    <a:pt x="9" y="3"/>
                  </a:lnTo>
                  <a:lnTo>
                    <a:pt x="9" y="3"/>
                  </a:lnTo>
                  <a:lnTo>
                    <a:pt x="10" y="3"/>
                  </a:lnTo>
                  <a:lnTo>
                    <a:pt x="10" y="3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1" name="Freeform 410"/>
            <p:cNvSpPr/>
            <p:nvPr/>
          </p:nvSpPr>
          <p:spPr>
            <a:xfrm>
              <a:off x="9226296" y="11356848"/>
              <a:ext cx="9144" cy="54864"/>
            </a:xfrm>
            <a:custGeom>
              <a:avLst/>
              <a:gdLst/>
              <a:ahLst/>
              <a:cxnLst/>
              <a:rect l="l" t="t" r="r" b="b"/>
              <a:pathLst>
                <a:path w="1" h="6">
                  <a:moveTo>
                    <a:pt x="0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6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2" name="Freeform 411"/>
            <p:cNvSpPr/>
            <p:nvPr/>
          </p:nvSpPr>
          <p:spPr>
            <a:xfrm>
              <a:off x="9098280" y="11247120"/>
              <a:ext cx="27432" cy="54864"/>
            </a:xfrm>
            <a:custGeom>
              <a:avLst/>
              <a:gdLst/>
              <a:ahLst/>
              <a:cxnLst/>
              <a:rect l="l" t="t" r="r" b="b"/>
              <a:pathLst>
                <a:path w="3" h="6">
                  <a:moveTo>
                    <a:pt x="3" y="6"/>
                  </a:moveTo>
                  <a:lnTo>
                    <a:pt x="3" y="6"/>
                  </a:lnTo>
                  <a:lnTo>
                    <a:pt x="3" y="6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3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3" name="Freeform 412"/>
            <p:cNvSpPr/>
            <p:nvPr/>
          </p:nvSpPr>
          <p:spPr>
            <a:xfrm>
              <a:off x="9098280" y="11356848"/>
              <a:ext cx="18288" cy="64008"/>
            </a:xfrm>
            <a:custGeom>
              <a:avLst/>
              <a:gdLst/>
              <a:ahLst/>
              <a:cxnLst/>
              <a:rect l="l" t="t" r="r" b="b"/>
              <a:pathLst>
                <a:path w="2" h="7">
                  <a:moveTo>
                    <a:pt x="1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4"/>
                  </a:lnTo>
                  <a:lnTo>
                    <a:pt x="2" y="4"/>
                  </a:lnTo>
                  <a:lnTo>
                    <a:pt x="1" y="4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6"/>
                  </a:lnTo>
                  <a:lnTo>
                    <a:pt x="1" y="6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7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4" name="Freeform 413"/>
            <p:cNvSpPr/>
            <p:nvPr/>
          </p:nvSpPr>
          <p:spPr>
            <a:xfrm>
              <a:off x="9198864" y="11274552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2" y="1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4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5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</a:path>
              </a:pathLst>
            </a:custGeom>
            <a:noFill/>
            <a:ln w="4445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5" name="Oval 414"/>
            <p:cNvSpPr/>
            <p:nvPr/>
          </p:nvSpPr>
          <p:spPr>
            <a:xfrm>
              <a:off x="9043416" y="11210544"/>
              <a:ext cx="228600" cy="228600"/>
            </a:xfrm>
            <a:prstGeom prst="ellipse">
              <a:avLst/>
            </a:prstGeom>
            <a:noFill/>
            <a:ln w="7620" cap="rnd">
              <a:solidFill>
                <a:srgbClr val="002D65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17" name="Weaker disruption"/>
          <p:cNvSpPr txBox="1"/>
          <p:nvPr/>
        </p:nvSpPr>
        <p:spPr>
          <a:xfrm>
            <a:off x="5038344" y="11640312"/>
            <a:ext cx="1005840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01010"/>
                </a:solidFill>
                <a:latin typeface="Times New Roman"/>
              </a:defRPr>
            </a:pPr>
            <a:r>
              <a:t>Weaker</a:t>
            </a:r>
          </a:p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01010"/>
                </a:solidFill>
                <a:latin typeface="Times New Roman"/>
              </a:defRPr>
            </a:pPr>
            <a:r>
              <a:t>disruption</a:t>
            </a:r>
          </a:p>
        </p:txBody>
      </p:sp>
      <p:sp>
        <p:nvSpPr>
          <p:cNvPr id="418" name="Moderate disruption"/>
          <p:cNvSpPr txBox="1"/>
          <p:nvPr/>
        </p:nvSpPr>
        <p:spPr>
          <a:xfrm>
            <a:off x="6665976" y="11640312"/>
            <a:ext cx="1051560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01010"/>
                </a:solidFill>
                <a:latin typeface="Times New Roman"/>
              </a:defRPr>
            </a:pPr>
            <a:r>
              <a:t>Moderate</a:t>
            </a:r>
          </a:p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01010"/>
                </a:solidFill>
                <a:latin typeface="Times New Roman"/>
              </a:defRPr>
            </a:pPr>
            <a:r>
              <a:t>disruption</a:t>
            </a:r>
          </a:p>
        </p:txBody>
      </p:sp>
      <p:sp>
        <p:nvSpPr>
          <p:cNvPr id="419" name="Stronger disruption"/>
          <p:cNvSpPr txBox="1"/>
          <p:nvPr/>
        </p:nvSpPr>
        <p:spPr>
          <a:xfrm>
            <a:off x="8229600" y="11640312"/>
            <a:ext cx="1060704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01010"/>
                </a:solidFill>
                <a:latin typeface="Times New Roman"/>
              </a:defRPr>
            </a:pPr>
            <a:r>
              <a:t>Stronger</a:t>
            </a:r>
          </a:p>
          <a:p>
            <a:pPr algn="ctr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01010"/>
                </a:solidFill>
                <a:latin typeface="Times New Roman"/>
              </a:defRPr>
            </a:pPr>
            <a:r>
              <a:t>disruption</a:t>
            </a:r>
          </a:p>
        </p:txBody>
      </p:sp>
      <p:sp>
        <p:nvSpPr>
          <p:cNvPr id="420" name="Right Arrow 419"/>
          <p:cNvSpPr/>
          <p:nvPr/>
        </p:nvSpPr>
        <p:spPr>
          <a:xfrm>
            <a:off x="4919472" y="12060936"/>
            <a:ext cx="4361688" cy="329184"/>
          </a:xfrm>
          <a:prstGeom prst="rightArrow">
            <a:avLst/>
          </a:prstGeom>
          <a:ln>
            <a:noFill/>
          </a:ln>
          <a:gradFill>
            <a:gsLst>
              <a:gs pos="0">
                <a:srgbClr val="F8FBFF"/>
              </a:gs>
              <a:gs pos="100000">
                <a:srgbClr val="397CC6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Starch disruption"/>
          <p:cNvSpPr txBox="1"/>
          <p:nvPr/>
        </p:nvSpPr>
        <p:spPr>
          <a:xfrm>
            <a:off x="6062472" y="12326112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50" b="1">
                <a:solidFill>
                  <a:srgbClr val="101010"/>
                </a:solidFill>
                <a:latin typeface="Times New Roman"/>
              </a:defRPr>
            </a:pPr>
            <a:r>
              <a:t>Starch disruption</a:t>
            </a:r>
          </a:p>
        </p:txBody>
      </p:sp>
      <p:sp>
        <p:nvSpPr>
          <p:cNvPr id="422" name="Rounded Rectangle 421"/>
          <p:cNvSpPr/>
          <p:nvPr/>
        </p:nvSpPr>
        <p:spPr>
          <a:xfrm>
            <a:off x="1463040" y="12856464"/>
            <a:ext cx="6720840" cy="64922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0160" cap="rnd">
            <a:solidFill>
              <a:srgbClr val="4A81C5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35" name="Starch granule — editable vector group"/>
          <p:cNvGrpSpPr/>
          <p:nvPr/>
        </p:nvGrpSpPr>
        <p:grpSpPr>
          <a:xfrm>
            <a:off x="1691640" y="12920472"/>
            <a:ext cx="502920" cy="502920"/>
            <a:chOff x="1691640" y="12920472"/>
            <a:chExt cx="502920" cy="502920"/>
          </a:xfrm>
        </p:grpSpPr>
        <p:sp>
          <p:nvSpPr>
            <p:cNvPr id="423" name="Editable starch granule"/>
            <p:cNvSpPr/>
            <p:nvPr/>
          </p:nvSpPr>
          <p:spPr>
            <a:xfrm>
              <a:off x="1691640" y="12920472"/>
              <a:ext cx="502920" cy="502920"/>
            </a:xfrm>
            <a:prstGeom prst="ellipse">
              <a:avLst/>
            </a:prstGeom>
            <a:ln w="7620" cap="rnd">
              <a:solidFill>
                <a:srgbClr val="002D65"/>
              </a:solidFill>
              <a:round/>
            </a:ln>
            <a:gradFill>
              <a:gsLst>
                <a:gs pos="0">
                  <a:srgbClr val="F7FCFF"/>
                </a:gs>
                <a:gs pos="100000">
                  <a:srgbClr val="A9D6F8"/>
                </a:gs>
              </a:gsLst>
              <a:lin ang="2700000" scaled="1"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4" name="Freeform 423"/>
            <p:cNvSpPr/>
            <p:nvPr/>
          </p:nvSpPr>
          <p:spPr>
            <a:xfrm>
              <a:off x="1773936" y="12975336"/>
              <a:ext cx="146304" cy="173736"/>
            </a:xfrm>
            <a:custGeom>
              <a:avLst/>
              <a:gdLst/>
              <a:ahLst/>
              <a:cxnLst/>
              <a:rect l="l" t="t" r="r" b="b"/>
              <a:pathLst>
                <a:path w="16" h="19">
                  <a:moveTo>
                    <a:pt x="16" y="19"/>
                  </a:moveTo>
                  <a:lnTo>
                    <a:pt x="15" y="18"/>
                  </a:lnTo>
                  <a:lnTo>
                    <a:pt x="15" y="18"/>
                  </a:lnTo>
                  <a:lnTo>
                    <a:pt x="14" y="17"/>
                  </a:lnTo>
                  <a:lnTo>
                    <a:pt x="14" y="16"/>
                  </a:lnTo>
                  <a:lnTo>
                    <a:pt x="13" y="16"/>
                  </a:lnTo>
                  <a:lnTo>
                    <a:pt x="13" y="15"/>
                  </a:lnTo>
                  <a:lnTo>
                    <a:pt x="12" y="14"/>
                  </a:lnTo>
                  <a:lnTo>
                    <a:pt x="11" y="14"/>
                  </a:lnTo>
                  <a:lnTo>
                    <a:pt x="11" y="13"/>
                  </a:lnTo>
                  <a:lnTo>
                    <a:pt x="10" y="13"/>
                  </a:lnTo>
                  <a:lnTo>
                    <a:pt x="10" y="13"/>
                  </a:lnTo>
                  <a:lnTo>
                    <a:pt x="10" y="13"/>
                  </a:lnTo>
                  <a:lnTo>
                    <a:pt x="9" y="13"/>
                  </a:lnTo>
                  <a:lnTo>
                    <a:pt x="9" y="12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7" y="11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7" y="9"/>
                  </a:lnTo>
                  <a:lnTo>
                    <a:pt x="6" y="8"/>
                  </a:lnTo>
                  <a:lnTo>
                    <a:pt x="6" y="7"/>
                  </a:lnTo>
                  <a:lnTo>
                    <a:pt x="6" y="6"/>
                  </a:lnTo>
                  <a:lnTo>
                    <a:pt x="6" y="5"/>
                  </a:lnTo>
                  <a:lnTo>
                    <a:pt x="5" y="4"/>
                  </a:lnTo>
                  <a:lnTo>
                    <a:pt x="5" y="4"/>
                  </a:lnTo>
                  <a:lnTo>
                    <a:pt x="4" y="3"/>
                  </a:lnTo>
                  <a:lnTo>
                    <a:pt x="4" y="3"/>
                  </a:lnTo>
                  <a:lnTo>
                    <a:pt x="3" y="2"/>
                  </a:lnTo>
                  <a:lnTo>
                    <a:pt x="2" y="2"/>
                  </a:lnTo>
                  <a:lnTo>
                    <a:pt x="2" y="1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</a:path>
              </a:pathLst>
            </a:custGeom>
            <a:noFill/>
            <a:ln w="4889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5" name="Freeform 424"/>
            <p:cNvSpPr/>
            <p:nvPr/>
          </p:nvSpPr>
          <p:spPr>
            <a:xfrm>
              <a:off x="1920240" y="12947904"/>
              <a:ext cx="64008" cy="192024"/>
            </a:xfrm>
            <a:custGeom>
              <a:avLst/>
              <a:gdLst/>
              <a:ahLst/>
              <a:cxnLst/>
              <a:rect l="l" t="t" r="r" b="b"/>
              <a:pathLst>
                <a:path w="7" h="21">
                  <a:moveTo>
                    <a:pt x="0" y="21"/>
                  </a:moveTo>
                  <a:lnTo>
                    <a:pt x="1" y="20"/>
                  </a:lnTo>
                  <a:lnTo>
                    <a:pt x="1" y="20"/>
                  </a:lnTo>
                  <a:lnTo>
                    <a:pt x="1" y="19"/>
                  </a:lnTo>
                  <a:lnTo>
                    <a:pt x="2" y="19"/>
                  </a:lnTo>
                  <a:lnTo>
                    <a:pt x="2" y="18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4" y="16"/>
                  </a:lnTo>
                  <a:lnTo>
                    <a:pt x="4" y="15"/>
                  </a:lnTo>
                  <a:lnTo>
                    <a:pt x="5" y="14"/>
                  </a:lnTo>
                  <a:lnTo>
                    <a:pt x="5" y="14"/>
                  </a:lnTo>
                  <a:lnTo>
                    <a:pt x="5" y="13"/>
                  </a:lnTo>
                  <a:lnTo>
                    <a:pt x="6" y="12"/>
                  </a:lnTo>
                  <a:lnTo>
                    <a:pt x="6" y="11"/>
                  </a:lnTo>
                  <a:lnTo>
                    <a:pt x="6" y="10"/>
                  </a:lnTo>
                  <a:lnTo>
                    <a:pt x="7" y="10"/>
                  </a:lnTo>
                  <a:lnTo>
                    <a:pt x="7" y="9"/>
                  </a:lnTo>
                  <a:lnTo>
                    <a:pt x="7" y="8"/>
                  </a:lnTo>
                  <a:lnTo>
                    <a:pt x="7" y="7"/>
                  </a:lnTo>
                  <a:lnTo>
                    <a:pt x="7" y="6"/>
                  </a:lnTo>
                  <a:lnTo>
                    <a:pt x="7" y="5"/>
                  </a:lnTo>
                  <a:lnTo>
                    <a:pt x="7" y="4"/>
                  </a:lnTo>
                  <a:lnTo>
                    <a:pt x="7" y="3"/>
                  </a:lnTo>
                  <a:lnTo>
                    <a:pt x="7" y="2"/>
                  </a:lnTo>
                  <a:lnTo>
                    <a:pt x="6" y="2"/>
                  </a:lnTo>
                  <a:lnTo>
                    <a:pt x="6" y="1"/>
                  </a:lnTo>
                  <a:lnTo>
                    <a:pt x="6" y="0"/>
                  </a:lnTo>
                </a:path>
              </a:pathLst>
            </a:custGeom>
            <a:noFill/>
            <a:ln w="4889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6" name="Freeform 425"/>
            <p:cNvSpPr/>
            <p:nvPr/>
          </p:nvSpPr>
          <p:spPr>
            <a:xfrm>
              <a:off x="1920240" y="13057632"/>
              <a:ext cx="246888" cy="100584"/>
            </a:xfrm>
            <a:custGeom>
              <a:avLst/>
              <a:gdLst/>
              <a:ahLst/>
              <a:cxnLst/>
              <a:rect l="l" t="t" r="r" b="b"/>
              <a:pathLst>
                <a:path w="27" h="11">
                  <a:moveTo>
                    <a:pt x="0" y="11"/>
                  </a:moveTo>
                  <a:lnTo>
                    <a:pt x="1" y="11"/>
                  </a:lnTo>
                  <a:lnTo>
                    <a:pt x="2" y="11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5" y="9"/>
                  </a:lnTo>
                  <a:lnTo>
                    <a:pt x="6" y="9"/>
                  </a:lnTo>
                  <a:lnTo>
                    <a:pt x="8" y="8"/>
                  </a:lnTo>
                  <a:lnTo>
                    <a:pt x="9" y="8"/>
                  </a:lnTo>
                  <a:lnTo>
                    <a:pt x="10" y="8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2" y="7"/>
                  </a:lnTo>
                  <a:lnTo>
                    <a:pt x="13" y="8"/>
                  </a:lnTo>
                  <a:lnTo>
                    <a:pt x="14" y="8"/>
                  </a:lnTo>
                  <a:lnTo>
                    <a:pt x="15" y="8"/>
                  </a:lnTo>
                  <a:lnTo>
                    <a:pt x="15" y="8"/>
                  </a:lnTo>
                  <a:lnTo>
                    <a:pt x="16" y="8"/>
                  </a:lnTo>
                  <a:lnTo>
                    <a:pt x="17" y="8"/>
                  </a:lnTo>
                  <a:lnTo>
                    <a:pt x="18" y="7"/>
                  </a:lnTo>
                  <a:lnTo>
                    <a:pt x="18" y="7"/>
                  </a:lnTo>
                  <a:lnTo>
                    <a:pt x="19" y="6"/>
                  </a:lnTo>
                  <a:lnTo>
                    <a:pt x="20" y="6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2" y="4"/>
                  </a:lnTo>
                  <a:lnTo>
                    <a:pt x="23" y="4"/>
                  </a:lnTo>
                  <a:lnTo>
                    <a:pt x="23" y="3"/>
                  </a:lnTo>
                  <a:lnTo>
                    <a:pt x="24" y="3"/>
                  </a:lnTo>
                  <a:lnTo>
                    <a:pt x="24" y="2"/>
                  </a:lnTo>
                  <a:lnTo>
                    <a:pt x="25" y="2"/>
                  </a:lnTo>
                  <a:lnTo>
                    <a:pt x="25" y="1"/>
                  </a:lnTo>
                  <a:lnTo>
                    <a:pt x="26" y="1"/>
                  </a:lnTo>
                  <a:lnTo>
                    <a:pt x="26" y="1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7" y="0"/>
                  </a:lnTo>
                </a:path>
              </a:pathLst>
            </a:custGeom>
            <a:noFill/>
            <a:ln w="4889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7" name="Freeform 426"/>
            <p:cNvSpPr/>
            <p:nvPr/>
          </p:nvSpPr>
          <p:spPr>
            <a:xfrm>
              <a:off x="1929384" y="13176504"/>
              <a:ext cx="246888" cy="109728"/>
            </a:xfrm>
            <a:custGeom>
              <a:avLst/>
              <a:gdLst/>
              <a:ahLst/>
              <a:cxnLst/>
              <a:rect l="l" t="t" r="r" b="b"/>
              <a:pathLst>
                <a:path w="27" h="12">
                  <a:moveTo>
                    <a:pt x="0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2" y="2"/>
                  </a:lnTo>
                  <a:lnTo>
                    <a:pt x="3" y="2"/>
                  </a:lnTo>
                  <a:lnTo>
                    <a:pt x="4" y="3"/>
                  </a:lnTo>
                  <a:lnTo>
                    <a:pt x="5" y="4"/>
                  </a:lnTo>
                  <a:lnTo>
                    <a:pt x="6" y="4"/>
                  </a:lnTo>
                  <a:lnTo>
                    <a:pt x="7" y="5"/>
                  </a:lnTo>
                  <a:lnTo>
                    <a:pt x="8" y="6"/>
                  </a:lnTo>
                  <a:lnTo>
                    <a:pt x="8" y="6"/>
                  </a:lnTo>
                  <a:lnTo>
                    <a:pt x="9" y="6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2" y="8"/>
                  </a:lnTo>
                  <a:lnTo>
                    <a:pt x="13" y="8"/>
                  </a:lnTo>
                  <a:lnTo>
                    <a:pt x="14" y="8"/>
                  </a:lnTo>
                  <a:lnTo>
                    <a:pt x="14" y="8"/>
                  </a:lnTo>
                  <a:lnTo>
                    <a:pt x="15" y="8"/>
                  </a:lnTo>
                  <a:lnTo>
                    <a:pt x="16" y="8"/>
                  </a:lnTo>
                  <a:lnTo>
                    <a:pt x="18" y="7"/>
                  </a:lnTo>
                  <a:lnTo>
                    <a:pt x="19" y="7"/>
                  </a:lnTo>
                  <a:lnTo>
                    <a:pt x="20" y="7"/>
                  </a:lnTo>
                  <a:lnTo>
                    <a:pt x="21" y="7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3" y="7"/>
                  </a:lnTo>
                  <a:lnTo>
                    <a:pt x="24" y="8"/>
                  </a:lnTo>
                  <a:lnTo>
                    <a:pt x="25" y="8"/>
                  </a:lnTo>
                  <a:lnTo>
                    <a:pt x="25" y="9"/>
                  </a:lnTo>
                  <a:lnTo>
                    <a:pt x="26" y="10"/>
                  </a:lnTo>
                  <a:lnTo>
                    <a:pt x="26" y="10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7" y="12"/>
                  </a:lnTo>
                </a:path>
              </a:pathLst>
            </a:custGeom>
            <a:noFill/>
            <a:ln w="4889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8" name="Freeform 427"/>
            <p:cNvSpPr/>
            <p:nvPr/>
          </p:nvSpPr>
          <p:spPr>
            <a:xfrm>
              <a:off x="1856232" y="13194792"/>
              <a:ext cx="64008" cy="201168"/>
            </a:xfrm>
            <a:custGeom>
              <a:avLst/>
              <a:gdLst/>
              <a:ahLst/>
              <a:cxnLst/>
              <a:rect l="l" t="t" r="r" b="b"/>
              <a:pathLst>
                <a:path w="7" h="22">
                  <a:moveTo>
                    <a:pt x="7" y="0"/>
                  </a:moveTo>
                  <a:lnTo>
                    <a:pt x="7" y="1"/>
                  </a:lnTo>
                  <a:lnTo>
                    <a:pt x="7" y="2"/>
                  </a:lnTo>
                  <a:lnTo>
                    <a:pt x="6" y="3"/>
                  </a:lnTo>
                  <a:lnTo>
                    <a:pt x="5" y="4"/>
                  </a:lnTo>
                  <a:lnTo>
                    <a:pt x="5" y="5"/>
                  </a:lnTo>
                  <a:lnTo>
                    <a:pt x="4" y="6"/>
                  </a:lnTo>
                  <a:lnTo>
                    <a:pt x="4" y="7"/>
                  </a:lnTo>
                  <a:lnTo>
                    <a:pt x="3" y="8"/>
                  </a:lnTo>
                  <a:lnTo>
                    <a:pt x="3" y="9"/>
                  </a:lnTo>
                  <a:lnTo>
                    <a:pt x="3" y="10"/>
                  </a:lnTo>
                  <a:lnTo>
                    <a:pt x="3" y="11"/>
                  </a:lnTo>
                  <a:lnTo>
                    <a:pt x="3" y="11"/>
                  </a:lnTo>
                  <a:lnTo>
                    <a:pt x="3" y="12"/>
                  </a:lnTo>
                  <a:lnTo>
                    <a:pt x="4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4" y="15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3" y="17"/>
                  </a:lnTo>
                  <a:lnTo>
                    <a:pt x="3" y="18"/>
                  </a:lnTo>
                  <a:lnTo>
                    <a:pt x="2" y="19"/>
                  </a:lnTo>
                  <a:lnTo>
                    <a:pt x="2" y="20"/>
                  </a:lnTo>
                  <a:lnTo>
                    <a:pt x="1" y="21"/>
                  </a:lnTo>
                  <a:lnTo>
                    <a:pt x="1" y="21"/>
                  </a:lnTo>
                  <a:lnTo>
                    <a:pt x="0" y="22"/>
                  </a:lnTo>
                  <a:lnTo>
                    <a:pt x="0" y="22"/>
                  </a:lnTo>
                </a:path>
              </a:pathLst>
            </a:custGeom>
            <a:noFill/>
            <a:ln w="4889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9" name="Freeform 428"/>
            <p:cNvSpPr/>
            <p:nvPr/>
          </p:nvSpPr>
          <p:spPr>
            <a:xfrm>
              <a:off x="1719072" y="13176504"/>
              <a:ext cx="192024" cy="73152"/>
            </a:xfrm>
            <a:custGeom>
              <a:avLst/>
              <a:gdLst/>
              <a:ahLst/>
              <a:cxnLst/>
              <a:rect l="l" t="t" r="r" b="b"/>
              <a:pathLst>
                <a:path w="21" h="8">
                  <a:moveTo>
                    <a:pt x="21" y="0"/>
                  </a:moveTo>
                  <a:lnTo>
                    <a:pt x="20" y="0"/>
                  </a:lnTo>
                  <a:lnTo>
                    <a:pt x="20" y="0"/>
                  </a:lnTo>
                  <a:lnTo>
                    <a:pt x="19" y="1"/>
                  </a:lnTo>
                  <a:lnTo>
                    <a:pt x="18" y="1"/>
                  </a:lnTo>
                  <a:lnTo>
                    <a:pt x="17" y="1"/>
                  </a:lnTo>
                  <a:lnTo>
                    <a:pt x="16" y="2"/>
                  </a:lnTo>
                  <a:lnTo>
                    <a:pt x="15" y="2"/>
                  </a:lnTo>
                  <a:lnTo>
                    <a:pt x="14" y="2"/>
                  </a:lnTo>
                  <a:lnTo>
                    <a:pt x="14" y="3"/>
                  </a:lnTo>
                  <a:lnTo>
                    <a:pt x="13" y="3"/>
                  </a:lnTo>
                  <a:lnTo>
                    <a:pt x="12" y="4"/>
                  </a:lnTo>
                  <a:lnTo>
                    <a:pt x="11" y="4"/>
                  </a:lnTo>
                  <a:lnTo>
                    <a:pt x="11" y="5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9" y="7"/>
                  </a:lnTo>
                  <a:lnTo>
                    <a:pt x="8" y="7"/>
                  </a:lnTo>
                  <a:lnTo>
                    <a:pt x="7" y="8"/>
                  </a:lnTo>
                  <a:lnTo>
                    <a:pt x="7" y="8"/>
                  </a:lnTo>
                  <a:lnTo>
                    <a:pt x="6" y="8"/>
                  </a:lnTo>
                  <a:lnTo>
                    <a:pt x="5" y="8"/>
                  </a:lnTo>
                  <a:lnTo>
                    <a:pt x="4" y="8"/>
                  </a:lnTo>
                  <a:lnTo>
                    <a:pt x="3" y="8"/>
                  </a:lnTo>
                  <a:lnTo>
                    <a:pt x="2" y="8"/>
                  </a:lnTo>
                  <a:lnTo>
                    <a:pt x="1" y="7"/>
                  </a:lnTo>
                  <a:lnTo>
                    <a:pt x="0" y="7"/>
                  </a:lnTo>
                  <a:lnTo>
                    <a:pt x="0" y="7"/>
                  </a:lnTo>
                </a:path>
              </a:pathLst>
            </a:custGeom>
            <a:noFill/>
            <a:ln w="4889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0" name="Freeform 429"/>
            <p:cNvSpPr/>
            <p:nvPr/>
          </p:nvSpPr>
          <p:spPr>
            <a:xfrm>
              <a:off x="1764792" y="13240512"/>
              <a:ext cx="36576" cy="109728"/>
            </a:xfrm>
            <a:custGeom>
              <a:avLst/>
              <a:gdLst/>
              <a:ahLst/>
              <a:cxnLst/>
              <a:rect l="l" t="t" r="r" b="b"/>
              <a:pathLst>
                <a:path w="4" h="12">
                  <a:moveTo>
                    <a:pt x="4" y="0"/>
                  </a:moveTo>
                  <a:lnTo>
                    <a:pt x="4" y="1"/>
                  </a:lnTo>
                  <a:lnTo>
                    <a:pt x="4" y="1"/>
                  </a:lnTo>
                  <a:lnTo>
                    <a:pt x="4" y="2"/>
                  </a:lnTo>
                  <a:lnTo>
                    <a:pt x="4" y="3"/>
                  </a:lnTo>
                  <a:lnTo>
                    <a:pt x="4" y="4"/>
                  </a:lnTo>
                  <a:lnTo>
                    <a:pt x="4" y="5"/>
                  </a:lnTo>
                  <a:lnTo>
                    <a:pt x="4" y="6"/>
                  </a:lnTo>
                  <a:lnTo>
                    <a:pt x="4" y="7"/>
                  </a:lnTo>
                  <a:lnTo>
                    <a:pt x="4" y="8"/>
                  </a:lnTo>
                  <a:lnTo>
                    <a:pt x="3" y="9"/>
                  </a:lnTo>
                  <a:lnTo>
                    <a:pt x="3" y="9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</a:path>
              </a:pathLst>
            </a:custGeom>
            <a:noFill/>
            <a:ln w="4889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1" name="Freeform 430"/>
            <p:cNvSpPr/>
            <p:nvPr/>
          </p:nvSpPr>
          <p:spPr>
            <a:xfrm>
              <a:off x="2020824" y="13002768"/>
              <a:ext cx="45720" cy="128016"/>
            </a:xfrm>
            <a:custGeom>
              <a:avLst/>
              <a:gdLst/>
              <a:ahLst/>
              <a:cxnLst/>
              <a:rect l="l" t="t" r="r" b="b"/>
              <a:pathLst>
                <a:path w="5" h="14">
                  <a:moveTo>
                    <a:pt x="0" y="14"/>
                  </a:moveTo>
                  <a:lnTo>
                    <a:pt x="0" y="13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0" y="9"/>
                  </a:lnTo>
                  <a:lnTo>
                    <a:pt x="0" y="8"/>
                  </a:lnTo>
                  <a:lnTo>
                    <a:pt x="0" y="7"/>
                  </a:lnTo>
                  <a:lnTo>
                    <a:pt x="0" y="6"/>
                  </a:lnTo>
                  <a:lnTo>
                    <a:pt x="1" y="6"/>
                  </a:lnTo>
                  <a:lnTo>
                    <a:pt x="1" y="5"/>
                  </a:lnTo>
                  <a:lnTo>
                    <a:pt x="2" y="4"/>
                  </a:lnTo>
                  <a:lnTo>
                    <a:pt x="2" y="3"/>
                  </a:lnTo>
                  <a:lnTo>
                    <a:pt x="3" y="2"/>
                  </a:lnTo>
                  <a:lnTo>
                    <a:pt x="4" y="1"/>
                  </a:lnTo>
                  <a:lnTo>
                    <a:pt x="4" y="1"/>
                  </a:lnTo>
                  <a:lnTo>
                    <a:pt x="5" y="0"/>
                  </a:lnTo>
                  <a:lnTo>
                    <a:pt x="5" y="0"/>
                  </a:lnTo>
                </a:path>
              </a:pathLst>
            </a:custGeom>
            <a:noFill/>
            <a:ln w="4889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2" name="Freeform 431"/>
            <p:cNvSpPr/>
            <p:nvPr/>
          </p:nvSpPr>
          <p:spPr>
            <a:xfrm>
              <a:off x="2039112" y="13249656"/>
              <a:ext cx="36576" cy="128016"/>
            </a:xfrm>
            <a:custGeom>
              <a:avLst/>
              <a:gdLst/>
              <a:ahLst/>
              <a:cxnLst/>
              <a:rect l="l" t="t" r="r" b="b"/>
              <a:pathLst>
                <a:path w="4" h="14">
                  <a:moveTo>
                    <a:pt x="2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8"/>
                  </a:lnTo>
                  <a:lnTo>
                    <a:pt x="1" y="9"/>
                  </a:lnTo>
                  <a:lnTo>
                    <a:pt x="1" y="10"/>
                  </a:lnTo>
                  <a:lnTo>
                    <a:pt x="1" y="10"/>
                  </a:lnTo>
                  <a:lnTo>
                    <a:pt x="2" y="11"/>
                  </a:lnTo>
                  <a:lnTo>
                    <a:pt x="3" y="12"/>
                  </a:lnTo>
                  <a:lnTo>
                    <a:pt x="3" y="13"/>
                  </a:lnTo>
                  <a:lnTo>
                    <a:pt x="4" y="14"/>
                  </a:lnTo>
                  <a:lnTo>
                    <a:pt x="4" y="14"/>
                  </a:lnTo>
                </a:path>
              </a:pathLst>
            </a:custGeom>
            <a:noFill/>
            <a:ln w="4889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3" name="Freeform 432"/>
            <p:cNvSpPr/>
            <p:nvPr/>
          </p:nvSpPr>
          <p:spPr>
            <a:xfrm>
              <a:off x="1728216" y="13057632"/>
              <a:ext cx="118872" cy="36576"/>
            </a:xfrm>
            <a:custGeom>
              <a:avLst/>
              <a:gdLst/>
              <a:ahLst/>
              <a:cxnLst/>
              <a:rect l="l" t="t" r="r" b="b"/>
              <a:pathLst>
                <a:path w="13" h="4">
                  <a:moveTo>
                    <a:pt x="13" y="3"/>
                  </a:moveTo>
                  <a:lnTo>
                    <a:pt x="12" y="3"/>
                  </a:lnTo>
                  <a:lnTo>
                    <a:pt x="12" y="3"/>
                  </a:lnTo>
                  <a:lnTo>
                    <a:pt x="11" y="3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9" y="4"/>
                  </a:lnTo>
                  <a:lnTo>
                    <a:pt x="8" y="4"/>
                  </a:lnTo>
                  <a:lnTo>
                    <a:pt x="7" y="4"/>
                  </a:lnTo>
                  <a:lnTo>
                    <a:pt x="6" y="4"/>
                  </a:lnTo>
                  <a:lnTo>
                    <a:pt x="6" y="3"/>
                  </a:lnTo>
                  <a:lnTo>
                    <a:pt x="5" y="3"/>
                  </a:lnTo>
                  <a:lnTo>
                    <a:pt x="4" y="3"/>
                  </a:lnTo>
                  <a:lnTo>
                    <a:pt x="3" y="2"/>
                  </a:lnTo>
                  <a:lnTo>
                    <a:pt x="2" y="2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4889">
              <a:solidFill>
                <a:srgbClr val="316FB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4" name="Oval 433"/>
            <p:cNvSpPr/>
            <p:nvPr/>
          </p:nvSpPr>
          <p:spPr>
            <a:xfrm>
              <a:off x="1691640" y="12920472"/>
              <a:ext cx="502920" cy="502920"/>
            </a:xfrm>
            <a:prstGeom prst="ellipse">
              <a:avLst/>
            </a:prstGeom>
            <a:noFill/>
            <a:ln w="7620" cap="rnd">
              <a:solidFill>
                <a:srgbClr val="002D65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36" name="Starch granule"/>
          <p:cNvSpPr txBox="1"/>
          <p:nvPr/>
        </p:nvSpPr>
        <p:spPr>
          <a:xfrm>
            <a:off x="2423160" y="13039344"/>
            <a:ext cx="1453896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01010"/>
                </a:solidFill>
                <a:latin typeface="Times New Roman"/>
              </a:defRPr>
            </a:pPr>
            <a:r>
              <a:t>Starch granule</a:t>
            </a:r>
          </a:p>
        </p:txBody>
      </p:sp>
      <p:sp>
        <p:nvSpPr>
          <p:cNvPr id="437" name="Rounded Rectangle 436"/>
          <p:cNvSpPr/>
          <p:nvPr/>
        </p:nvSpPr>
        <p:spPr>
          <a:xfrm>
            <a:off x="4059936" y="12984480"/>
            <a:ext cx="438912" cy="402336"/>
          </a:xfrm>
          <a:prstGeom prst="roundRect">
            <a:avLst>
              <a:gd name="adj" fmla="val 14000"/>
            </a:avLst>
          </a:prstGeom>
          <a:ln w="10160" cap="rnd">
            <a:solidFill>
              <a:srgbClr val="A84400"/>
            </a:solidFill>
            <a:round/>
          </a:ln>
          <a:gradFill>
            <a:gsLst>
              <a:gs pos="0">
                <a:srgbClr val="FCA13A"/>
              </a:gs>
              <a:gs pos="100000">
                <a:srgbClr val="CD4C00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8" name="Connector 437"/>
          <p:cNvCxnSpPr/>
          <p:nvPr/>
        </p:nvCxnSpPr>
        <p:spPr>
          <a:xfrm>
            <a:off x="4123944" y="13030200"/>
            <a:ext cx="310896" cy="0"/>
          </a:xfrm>
          <a:prstGeom prst="line">
            <a:avLst/>
          </a:prstGeom>
          <a:ln w="12700">
            <a:solidFill>
              <a:srgbClr val="FFB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9" name="+"/>
          <p:cNvSpPr txBox="1"/>
          <p:nvPr/>
        </p:nvSpPr>
        <p:spPr>
          <a:xfrm>
            <a:off x="4069080" y="13036783"/>
            <a:ext cx="420624" cy="3218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Times New Roman"/>
              </a:defRPr>
            </a:pPr>
            <a:r>
              <a:t>+</a:t>
            </a:r>
          </a:p>
        </p:txBody>
      </p:sp>
      <p:sp>
        <p:nvSpPr>
          <p:cNvPr id="440" name="Cation (IL⁺)"/>
          <p:cNvSpPr txBox="1"/>
          <p:nvPr/>
        </p:nvSpPr>
        <p:spPr>
          <a:xfrm>
            <a:off x="4718304" y="13030200"/>
            <a:ext cx="1344168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01010"/>
                </a:solidFill>
                <a:latin typeface="Times New Roman"/>
              </a:defRPr>
            </a:pPr>
            <a:r>
              <a:t>Cation (IL⁺)</a:t>
            </a:r>
          </a:p>
        </p:txBody>
      </p:sp>
      <p:sp>
        <p:nvSpPr>
          <p:cNvPr id="441" name="Oval 440"/>
          <p:cNvSpPr/>
          <p:nvPr/>
        </p:nvSpPr>
        <p:spPr>
          <a:xfrm>
            <a:off x="6291072" y="12966192"/>
            <a:ext cx="402336" cy="402336"/>
          </a:xfrm>
          <a:prstGeom prst="ellipse">
            <a:avLst/>
          </a:prstGeom>
          <a:ln w="8890" cap="rnd">
            <a:solidFill>
              <a:srgbClr val="3F8420"/>
            </a:solidFill>
            <a:round/>
          </a:ln>
          <a:gradFill>
            <a:gsLst>
              <a:gs pos="0">
                <a:srgbClr val="A4D65C"/>
              </a:gs>
              <a:gs pos="100000">
                <a:srgbClr val="388315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−"/>
          <p:cNvSpPr txBox="1"/>
          <p:nvPr/>
        </p:nvSpPr>
        <p:spPr>
          <a:xfrm>
            <a:off x="6291072" y="13046659"/>
            <a:ext cx="402336" cy="2735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Times New Roman"/>
              </a:defRPr>
            </a:pPr>
            <a:r>
              <a:t>−</a:t>
            </a:r>
          </a:p>
        </p:txBody>
      </p:sp>
      <p:sp>
        <p:nvSpPr>
          <p:cNvPr id="443" name="Anion (IL⁻)"/>
          <p:cNvSpPr txBox="1"/>
          <p:nvPr/>
        </p:nvSpPr>
        <p:spPr>
          <a:xfrm>
            <a:off x="7004304" y="13030200"/>
            <a:ext cx="1170432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01010"/>
                </a:solidFill>
                <a:latin typeface="Times New Roman"/>
              </a:defRPr>
            </a:pPr>
            <a:r>
              <a:t>Anion (IL⁻)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Electric-field-assisted starch disruption and mass transfer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