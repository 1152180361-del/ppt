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个人简介截图重建。文字、姓名条、目标标签、分隔线、面板及图标均为原生可编辑PowerPoint对象。人物照片由图像工具按截图复刻，为可替换图片，并非原照片像素。保留原图姓名江叙然、XX大学、日期及邮箱占位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88767" cy="8604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2/9"/>
          <p:cNvSpPr txBox="1"/>
          <p:nvPr/>
        </p:nvSpPr>
        <p:spPr>
          <a:xfrm>
            <a:off x="448056" y="219456"/>
            <a:ext cx="612648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654AD"/>
                </a:solidFill>
                <a:latin typeface="Noto Sans CJK SC"/>
              </a:defRPr>
            </a:pPr>
            <a:r>
              <a:rPr>
                <a:ea typeface="Noto Sans CJK SC"/>
              </a:rPr>
              <a:t>2/9</a:t>
            </a:r>
          </a:p>
        </p:txBody>
      </p:sp>
      <p:sp>
        <p:nvSpPr>
          <p:cNvPr id="4" name="个人简介"/>
          <p:cNvSpPr txBox="1"/>
          <p:nvPr/>
        </p:nvSpPr>
        <p:spPr>
          <a:xfrm>
            <a:off x="1289304" y="210312"/>
            <a:ext cx="2167128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064591"/>
                </a:solidFill>
                <a:latin typeface="Noto Sans CJK SC"/>
              </a:defRPr>
            </a:pPr>
            <a:r>
              <a:rPr>
                <a:ea typeface="Noto Sans CJK SC"/>
              </a:rPr>
              <a:t>个人简介</a:t>
            </a:r>
          </a:p>
        </p:txBody>
      </p:sp>
      <p:sp>
        <p:nvSpPr>
          <p:cNvPr id="5" name="—  求职方向 · 技术优势 · 自我介绍"/>
          <p:cNvSpPr txBox="1"/>
          <p:nvPr/>
        </p:nvSpPr>
        <p:spPr>
          <a:xfrm>
            <a:off x="3575304" y="301752"/>
            <a:ext cx="7077456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064591"/>
                </a:solidFill>
                <a:latin typeface="Noto Sans CJK SC"/>
              </a:defRPr>
            </a:pPr>
            <a:r>
              <a:rPr>
                <a:ea typeface="Noto Sans CJK SC"/>
              </a:rPr>
              <a:t>—  求职方向 · 技术优势 · 自我介绍</a:t>
            </a:r>
          </a:p>
        </p:txBody>
      </p:sp>
      <p:sp>
        <p:nvSpPr>
          <p:cNvPr id="6" name="BIO · AI · DRUG DISCOVERY"/>
          <p:cNvSpPr txBox="1"/>
          <p:nvPr/>
        </p:nvSpPr>
        <p:spPr>
          <a:xfrm>
            <a:off x="11530584" y="530352"/>
            <a:ext cx="33924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70" b="0">
                <a:solidFill>
                  <a:srgbClr val="92BEEE"/>
                </a:solidFill>
                <a:latin typeface="Noto Sans CJK SC"/>
              </a:defRPr>
            </a:pPr>
            <a:r>
              <a:rPr spc="180">
                <a:ea typeface="Noto Sans CJK SC"/>
              </a:rPr>
              <a:t>BIO · AI · DRUG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0976"/>
            <a:ext cx="14493240" cy="27432"/>
          </a:xfrm>
          <a:prstGeom prst="rect">
            <a:avLst/>
          </a:prstGeom>
          <a:ln>
            <a:noFill/>
          </a:ln>
          <a:gradFill>
            <a:gsLst>
              <a:gs pos="0">
                <a:srgbClr val="388CCD"/>
              </a:gs>
              <a:gs pos="100000">
                <a:srgbClr val="0063B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人物照片（按参考图复刻，可替换）" descr="exec-3a5f4581-81cb-4430-b269-c6d665b91f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261872"/>
            <a:ext cx="3886200" cy="4059936"/>
          </a:xfrm>
          <a:prstGeom prst="roundRect">
            <a:avLst>
              <a:gd name="adj" fmla="val 1800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804672" y="5422392"/>
            <a:ext cx="3877056" cy="704088"/>
          </a:xfrm>
          <a:prstGeom prst="roundRect">
            <a:avLst>
              <a:gd name="adj" fmla="val 4000"/>
            </a:avLst>
          </a:prstGeom>
          <a:ln>
            <a:noFill/>
          </a:ln>
          <a:gradFill>
            <a:gsLst>
              <a:gs pos="0">
                <a:srgbClr val="075DBB"/>
              </a:gs>
              <a:gs pos="100000">
                <a:srgbClr val="0A4D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江 叙 然"/>
          <p:cNvSpPr txBox="1"/>
          <p:nvPr/>
        </p:nvSpPr>
        <p:spPr>
          <a:xfrm>
            <a:off x="905256" y="5495544"/>
            <a:ext cx="3675887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20" b="1">
                <a:solidFill>
                  <a:srgbClr val="FFFFFF"/>
                </a:solidFill>
                <a:latin typeface="Noto Sans CJK SC"/>
              </a:defRPr>
            </a:pPr>
            <a:r>
              <a:rPr spc="1030">
                <a:ea typeface="Noto Sans CJK SC"/>
              </a:rPr>
              <a:t>江 叙 然</a:t>
            </a:r>
          </a:p>
        </p:txBody>
      </p:sp>
      <p:sp>
        <p:nvSpPr>
          <p:cNvPr id="11" name="XX大学"/>
          <p:cNvSpPr txBox="1"/>
          <p:nvPr/>
        </p:nvSpPr>
        <p:spPr>
          <a:xfrm>
            <a:off x="1005840" y="6318504"/>
            <a:ext cx="106984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XX大学</a:t>
            </a:r>
          </a:p>
        </p:txBody>
      </p:sp>
      <p:sp>
        <p:nvSpPr>
          <p:cNvPr id="12" name="生物信息学（硕士）"/>
          <p:cNvSpPr txBox="1"/>
          <p:nvPr/>
        </p:nvSpPr>
        <p:spPr>
          <a:xfrm>
            <a:off x="2130552" y="6318504"/>
            <a:ext cx="2642616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0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生物信息学（硕士）</a:t>
            </a:r>
          </a:p>
        </p:txBody>
      </p:sp>
      <p:sp>
        <p:nvSpPr>
          <p:cNvPr id="13" name="2021.09 – 2024.06"/>
          <p:cNvSpPr txBox="1"/>
          <p:nvPr/>
        </p:nvSpPr>
        <p:spPr>
          <a:xfrm>
            <a:off x="1069848" y="6803136"/>
            <a:ext cx="336499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10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2021.09 – 2024.06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" y="7251192"/>
            <a:ext cx="3877056" cy="0"/>
          </a:xfrm>
          <a:prstGeom prst="line">
            <a:avLst/>
          </a:prstGeom>
          <a:ln w="8255">
            <a:solidFill>
              <a:srgbClr val="E9F3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66928" y="7379208"/>
            <a:ext cx="374904" cy="365760"/>
          </a:xfrm>
          <a:prstGeom prst="ellipse">
            <a:avLst/>
          </a:prstGeom>
          <a:solidFill>
            <a:srgbClr val="066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658368" y="7470648"/>
            <a:ext cx="91440" cy="182879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8" y="7470648"/>
            <a:ext cx="100584" cy="182879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" y="7653527"/>
            <a:ext cx="192024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20547" y="7441387"/>
            <a:ext cx="58521" cy="58521"/>
          </a:xfrm>
          <a:prstGeom prst="ellipse">
            <a:avLst/>
          </a:prstGeom>
          <a:solidFill>
            <a:srgbClr val="0860AE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9107" y="7624267"/>
            <a:ext cx="58521" cy="58521"/>
          </a:xfrm>
          <a:prstGeom prst="ellipse">
            <a:avLst/>
          </a:prstGeom>
          <a:solidFill>
            <a:srgbClr val="0860AE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1131" y="7624267"/>
            <a:ext cx="58521" cy="58521"/>
          </a:xfrm>
          <a:prstGeom prst="ellipse">
            <a:avLst/>
          </a:prstGeom>
          <a:solidFill>
            <a:srgbClr val="0860AE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计算生物学 / 人工智能 / 药物研发"/>
          <p:cNvSpPr txBox="1"/>
          <p:nvPr/>
        </p:nvSpPr>
        <p:spPr>
          <a:xfrm>
            <a:off x="1234440" y="7388352"/>
            <a:ext cx="38862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计算生物学 / 人工智能 / 药物研发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7845552"/>
            <a:ext cx="374904" cy="365760"/>
          </a:xfrm>
          <a:prstGeom prst="ellipse">
            <a:avLst/>
          </a:prstGeom>
          <a:solidFill>
            <a:srgbClr val="066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" y="7946136"/>
            <a:ext cx="24688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30936" y="7946136"/>
            <a:ext cx="118872" cy="100584"/>
          </a:xfrm>
          <a:prstGeom prst="line">
            <a:avLst/>
          </a:prstGeom>
          <a:ln w="8255">
            <a:solidFill>
              <a:srgbClr val="066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49808" y="7946136"/>
            <a:ext cx="128016" cy="100584"/>
          </a:xfrm>
          <a:prstGeom prst="line">
            <a:avLst/>
          </a:prstGeom>
          <a:ln w="8255">
            <a:solidFill>
              <a:srgbClr val="066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30936" y="8037575"/>
            <a:ext cx="73152" cy="73152"/>
          </a:xfrm>
          <a:prstGeom prst="line">
            <a:avLst/>
          </a:prstGeom>
          <a:ln w="6350">
            <a:solidFill>
              <a:srgbClr val="066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804672" y="8037575"/>
            <a:ext cx="73152" cy="73152"/>
          </a:xfrm>
          <a:prstGeom prst="line">
            <a:avLst/>
          </a:prstGeom>
          <a:ln w="6350">
            <a:solidFill>
              <a:srgbClr val="066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mail: xxx@xxx.com"/>
          <p:cNvSpPr txBox="1"/>
          <p:nvPr/>
        </p:nvSpPr>
        <p:spPr>
          <a:xfrm>
            <a:off x="1234440" y="7836408"/>
            <a:ext cx="346557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Email: xxx@xxx.com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12664" y="1252728"/>
            <a:ext cx="9637776" cy="38496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6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12664" y="1252728"/>
            <a:ext cx="9637776" cy="667512"/>
          </a:xfrm>
          <a:prstGeom prst="roundRect">
            <a:avLst>
              <a:gd name="adj" fmla="val 2500"/>
            </a:avLst>
          </a:prstGeom>
          <a:ln>
            <a:noFill/>
          </a:ln>
          <a:gradFill>
            <a:gsLst>
              <a:gs pos="0">
                <a:srgbClr val="E0F1FF"/>
              </a:gs>
              <a:gs pos="100000">
                <a:srgbClr val="F9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32120" y="1389888"/>
            <a:ext cx="420624" cy="420624"/>
          </a:xfrm>
          <a:prstGeom prst="ellipse">
            <a:avLst/>
          </a:prstGeom>
          <a:noFill/>
          <a:ln w="38100">
            <a:solidFill>
              <a:srgbClr val="064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02223" y="1459992"/>
            <a:ext cx="280416" cy="280416"/>
          </a:xfrm>
          <a:prstGeom prst="ellipse">
            <a:avLst/>
          </a:prstGeom>
          <a:noFill/>
          <a:ln w="38100">
            <a:solidFill>
              <a:srgbClr val="064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92140" y="1549908"/>
            <a:ext cx="100584" cy="100584"/>
          </a:xfrm>
          <a:prstGeom prst="ellipse">
            <a:avLst/>
          </a:prstGeom>
          <a:solidFill>
            <a:srgbClr val="06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5742432" y="1426464"/>
            <a:ext cx="173736" cy="173736"/>
          </a:xfrm>
          <a:prstGeom prst="line">
            <a:avLst/>
          </a:prstGeom>
          <a:ln w="45720">
            <a:solidFill>
              <a:srgbClr val="064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5843016" y="1325880"/>
            <a:ext cx="137160" cy="128016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0" y="7"/>
                </a:moveTo>
                <a:lnTo>
                  <a:pt x="7" y="14"/>
                </a:lnTo>
                <a:lnTo>
                  <a:pt x="15" y="7"/>
                </a:lnTo>
                <a:lnTo>
                  <a:pt x="7" y="0"/>
                </a:lnTo>
                <a:close/>
              </a:path>
            </a:pathLst>
          </a:custGeom>
          <a:solidFill>
            <a:srgbClr val="06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求职方向"/>
          <p:cNvSpPr txBox="1"/>
          <p:nvPr/>
        </p:nvSpPr>
        <p:spPr>
          <a:xfrm>
            <a:off x="6217920" y="1389888"/>
            <a:ext cx="2276856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064591"/>
                </a:solidFill>
                <a:latin typeface="Noto Sans CJK SC"/>
              </a:defRPr>
            </a:pPr>
            <a:r>
              <a:rPr>
                <a:ea typeface="Noto Sans CJK SC"/>
              </a:rPr>
              <a:t>求职方向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07608" y="2112264"/>
            <a:ext cx="1746504" cy="484632"/>
          </a:xfrm>
          <a:prstGeom prst="roundRect">
            <a:avLst>
              <a:gd name="adj" fmla="val 13000"/>
            </a:avLst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求职岗位"/>
          <p:cNvSpPr txBox="1"/>
          <p:nvPr/>
        </p:nvSpPr>
        <p:spPr>
          <a:xfrm>
            <a:off x="6062472" y="2185416"/>
            <a:ext cx="163677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64591"/>
                </a:solidFill>
                <a:latin typeface="Noto Sans CJK SC"/>
              </a:defRPr>
            </a:pPr>
            <a:r>
              <a:rPr>
                <a:ea typeface="Noto Sans CJK SC"/>
              </a:rPr>
              <a:t>求职岗位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07608" y="2761488"/>
            <a:ext cx="1746504" cy="484632"/>
          </a:xfrm>
          <a:prstGeom prst="roundRect">
            <a:avLst>
              <a:gd name="adj" fmla="val 13000"/>
            </a:avLst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目标方向"/>
          <p:cNvSpPr txBox="1"/>
          <p:nvPr/>
        </p:nvSpPr>
        <p:spPr>
          <a:xfrm>
            <a:off x="6062472" y="2834640"/>
            <a:ext cx="163677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64591"/>
                </a:solidFill>
                <a:latin typeface="Noto Sans CJK SC"/>
              </a:defRPr>
            </a:pPr>
            <a:r>
              <a:rPr>
                <a:ea typeface="Noto Sans CJK SC"/>
              </a:rPr>
              <a:t>目标方向</a:t>
            </a:r>
          </a:p>
        </p:txBody>
      </p:sp>
      <p:sp>
        <p:nvSpPr>
          <p:cNvPr id="42" name="生物医药算法工程师"/>
          <p:cNvSpPr txBox="1"/>
          <p:nvPr/>
        </p:nvSpPr>
        <p:spPr>
          <a:xfrm>
            <a:off x="8037575" y="2212848"/>
            <a:ext cx="530352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50" b="1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生物医药算法工程师</a:t>
            </a:r>
          </a:p>
        </p:txBody>
      </p:sp>
      <p:sp>
        <p:nvSpPr>
          <p:cNvPr id="43" name="AI辅助药物发现 / 蛋白质设计 / 计算生物学"/>
          <p:cNvSpPr txBox="1"/>
          <p:nvPr/>
        </p:nvSpPr>
        <p:spPr>
          <a:xfrm>
            <a:off x="8037575" y="2852928"/>
            <a:ext cx="642823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80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AI辅助药物发现 / 蛋白质设计 / 计算生物学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42432" y="3438144"/>
            <a:ext cx="8878824" cy="0"/>
          </a:xfrm>
          <a:prstGeom prst="line">
            <a:avLst/>
          </a:prstGeom>
          <a:ln w="12700">
            <a:solidFill>
              <a:srgbClr val="C6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742432" y="3749039"/>
            <a:ext cx="164592" cy="164592"/>
          </a:xfrm>
          <a:prstGeom prst="rect">
            <a:avLst/>
          </a:prstGeom>
          <a:ln>
            <a:noFill/>
          </a:ln>
          <a:gradFill>
            <a:gsLst>
              <a:gs pos="0">
                <a:srgbClr val="0882E2"/>
              </a:gs>
              <a:gs pos="100000">
                <a:srgbClr val="0665B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面向AI驱动的蛋白设计与药物发现方向开展算法研发"/>
          <p:cNvSpPr txBox="1"/>
          <p:nvPr/>
        </p:nvSpPr>
        <p:spPr>
          <a:xfrm>
            <a:off x="6199632" y="3648456"/>
            <a:ext cx="8403336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面向AI驱动的蛋白设计与药物发现方向开展算法研发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42432" y="4197096"/>
            <a:ext cx="164592" cy="164592"/>
          </a:xfrm>
          <a:prstGeom prst="rect">
            <a:avLst/>
          </a:prstGeom>
          <a:ln>
            <a:noFill/>
          </a:ln>
          <a:gradFill>
            <a:gsLst>
              <a:gs pos="0">
                <a:srgbClr val="0882E2"/>
              </a:gs>
              <a:gs pos="100000">
                <a:srgbClr val="0665B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结合机器学习、结构生物学与生成式AI方法解决生物医药问题"/>
          <p:cNvSpPr txBox="1"/>
          <p:nvPr/>
        </p:nvSpPr>
        <p:spPr>
          <a:xfrm>
            <a:off x="6199632" y="4096512"/>
            <a:ext cx="8403336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结合机器学习、结构生物学与生成式AI方法解决生物医药问题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42432" y="4645152"/>
            <a:ext cx="164592" cy="164592"/>
          </a:xfrm>
          <a:prstGeom prst="rect">
            <a:avLst/>
          </a:prstGeom>
          <a:ln>
            <a:noFill/>
          </a:ln>
          <a:gradFill>
            <a:gsLst>
              <a:gs pos="0">
                <a:srgbClr val="0882E2"/>
              </a:gs>
              <a:gs pos="100000">
                <a:srgbClr val="0665B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具备蛋白设计、虚拟筛选、LLM Agent系统开发经验"/>
          <p:cNvSpPr txBox="1"/>
          <p:nvPr/>
        </p:nvSpPr>
        <p:spPr>
          <a:xfrm>
            <a:off x="6199632" y="4544568"/>
            <a:ext cx="8403336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具备蛋白设计、虚拟筛选、LLM Agent系统开发经验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12664" y="5367528"/>
            <a:ext cx="9637776" cy="29169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6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312664" y="5367528"/>
            <a:ext cx="9637776" cy="667512"/>
          </a:xfrm>
          <a:prstGeom prst="roundRect">
            <a:avLst>
              <a:gd name="adj" fmla="val 2500"/>
            </a:avLst>
          </a:prstGeom>
          <a:ln>
            <a:noFill/>
          </a:ln>
          <a:gradFill>
            <a:gsLst>
              <a:gs pos="0">
                <a:srgbClr val="DFF0FF"/>
              </a:gs>
              <a:gs pos="100000">
                <a:srgbClr val="F4F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532120" y="5504688"/>
            <a:ext cx="420624" cy="420624"/>
          </a:xfrm>
          <a:prstGeom prst="ellipse">
            <a:avLst/>
          </a:prstGeom>
          <a:noFill/>
          <a:ln w="38100">
            <a:solidFill>
              <a:srgbClr val="064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602223" y="5574792"/>
            <a:ext cx="280416" cy="280416"/>
          </a:xfrm>
          <a:prstGeom prst="ellipse">
            <a:avLst/>
          </a:prstGeom>
          <a:noFill/>
          <a:ln w="38100">
            <a:solidFill>
              <a:srgbClr val="064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692140" y="5664708"/>
            <a:ext cx="100584" cy="100584"/>
          </a:xfrm>
          <a:prstGeom prst="ellipse">
            <a:avLst/>
          </a:prstGeom>
          <a:solidFill>
            <a:srgbClr val="06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5742432" y="5541264"/>
            <a:ext cx="173736" cy="173736"/>
          </a:xfrm>
          <a:prstGeom prst="line">
            <a:avLst/>
          </a:prstGeom>
          <a:ln w="45720">
            <a:solidFill>
              <a:srgbClr val="064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5843016" y="5440680"/>
            <a:ext cx="137160" cy="128016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0" y="7"/>
                </a:moveTo>
                <a:lnTo>
                  <a:pt x="7" y="14"/>
                </a:lnTo>
                <a:lnTo>
                  <a:pt x="15" y="7"/>
                </a:lnTo>
                <a:lnTo>
                  <a:pt x="7" y="0"/>
                </a:lnTo>
                <a:close/>
              </a:path>
            </a:pathLst>
          </a:custGeom>
          <a:solidFill>
            <a:srgbClr val="064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自我介绍"/>
          <p:cNvSpPr txBox="1"/>
          <p:nvPr/>
        </p:nvSpPr>
        <p:spPr>
          <a:xfrm>
            <a:off x="6217920" y="5522976"/>
            <a:ext cx="2276856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064591"/>
                </a:solidFill>
                <a:latin typeface="Noto Sans CJK SC"/>
              </a:defRPr>
            </a:pPr>
            <a:r>
              <a:rPr>
                <a:ea typeface="Noto Sans CJK SC"/>
              </a:rPr>
              <a:t>自我介绍</a:t>
            </a:r>
          </a:p>
        </p:txBody>
      </p:sp>
      <p:sp>
        <p:nvSpPr>
          <p:cNvPr id="59" name="我专注于生物医药与人工智能交叉领域研究，具备蛋白设计、分子建模及 AI辅助药物发现项目经验。熟悉从生物数据处理、机器学习建模、结构预测 到计算验证的完整研发流程，并探索大模型Agent在药物研发决策中"/>
          <p:cNvSpPr txBox="1"/>
          <p:nvPr/>
        </p:nvSpPr>
        <p:spPr>
          <a:xfrm>
            <a:off x="5833872" y="6117336"/>
            <a:ext cx="8906256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我专注于生物医药与人工智能交叉领域研究，具备蛋白设计、分子建模及</a:t>
            </a:r>
          </a:p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AI辅助药物发现项目经验。熟悉从生物数据处理、机器学习建模、结构预测</a:t>
            </a:r>
          </a:p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到计算验证的完整研发流程，并探索大模型Agent在药物研发决策中的应用。</a:t>
            </a:r>
          </a:p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希望在AI驱动的生物医药算法研发岗位中，将计算方法与实际研发场景结合，</a:t>
            </a:r>
          </a:p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061E50"/>
                </a:solidFill>
                <a:latin typeface="Noto Sans CJK SC"/>
              </a:defRPr>
            </a:pPr>
            <a:r>
              <a:rPr>
                <a:ea typeface="Noto Sans CJK SC"/>
              </a:rPr>
              <a:t>创造应用价值。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生物医药算法工程师面试个人简介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