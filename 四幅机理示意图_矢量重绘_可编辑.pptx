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定性示意图，供作者科学核对。全部为可编辑矢量对象。无实验数值，无生成式图像位图。化学片段省略立体化学，不是优化后的分子构型或真实模拟快照。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定性示意图，供作者科学核对。全部为可编辑矢量对象。无实验数值，无生成式图像位图。化学片段省略立体化学，不是优化后的分子构型或真实模拟快照。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定性示意图，供作者科学核对。全部为可编辑矢量对象。无实验数值，无生成式图像位图。化学片段省略立体化学，不是优化后的分子构型或真实模拟快照。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定性示意图，供作者科学核对。全部为可编辑矢量对象。无实验数值，无生成式图像位图。化学片段省略立体化学，不是优化后的分子构型或真实模拟快照。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EF heating apparatus"/>
          <p:cNvSpPr txBox="1"/>
          <p:nvPr/>
        </p:nvSpPr>
        <p:spPr>
          <a:xfrm>
            <a:off x="365760" y="155448"/>
            <a:ext cx="3917771" cy="5431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592" b="1">
                <a:solidFill>
                  <a:srgbClr val="223043"/>
                </a:solidFill>
                <a:latin typeface="Arial"/>
              </a:defRPr>
            </a:pPr>
            <a:r>
              <a:t>MEF heating apparatus</a:t>
            </a:r>
          </a:p>
        </p:txBody>
      </p:sp>
      <p:sp>
        <p:nvSpPr>
          <p:cNvPr id="3" name="Qualitative schematic • not to scale"/>
          <p:cNvSpPr txBox="1"/>
          <p:nvPr/>
        </p:nvSpPr>
        <p:spPr>
          <a:xfrm>
            <a:off x="365760" y="621792"/>
            <a:ext cx="4205050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637284"/>
                </a:solidFill>
                <a:latin typeface="Arial"/>
              </a:defRPr>
            </a:pPr>
            <a:r>
              <a:t>Qualitative schematic • not to scale</a:t>
            </a:r>
          </a:p>
        </p:txBody>
      </p:sp>
      <p:sp>
        <p:nvSpPr>
          <p:cNvPr id="4" name="rect"/>
          <p:cNvSpPr/>
          <p:nvPr/>
        </p:nvSpPr>
        <p:spPr>
          <a:xfrm>
            <a:off x="2423160" y="1682496"/>
            <a:ext cx="4297680" cy="3063240"/>
          </a:xfrm>
          <a:prstGeom prst="roundRect">
            <a:avLst>
              <a:gd name="adj" fmla="val 6567"/>
            </a:avLst>
          </a:prstGeom>
          <a:solidFill>
            <a:srgbClr val="FAFCFD"/>
          </a:solidFill>
          <a:ln w="25603" cap="rnd">
            <a:solidFill>
              <a:srgbClr val="22304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"/>
          <p:cNvSpPr/>
          <p:nvPr/>
        </p:nvSpPr>
        <p:spPr>
          <a:xfrm>
            <a:off x="2560320" y="2788920"/>
            <a:ext cx="4023360" cy="1819656"/>
          </a:xfrm>
          <a:prstGeom prst="roundRect">
            <a:avLst>
              <a:gd name="adj" fmla="val 6030"/>
            </a:avLst>
          </a:prstGeom>
          <a:solidFill>
            <a:srgbClr val="E8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llipse"/>
          <p:cNvSpPr/>
          <p:nvPr/>
        </p:nvSpPr>
        <p:spPr>
          <a:xfrm>
            <a:off x="2560320" y="2615184"/>
            <a:ext cx="4023360" cy="393192"/>
          </a:xfrm>
          <a:prstGeom prst="ellipse">
            <a:avLst/>
          </a:prstGeom>
          <a:solidFill>
            <a:srgbClr val="F2F8FB"/>
          </a:solidFill>
          <a:ln w="18288" cap="rnd">
            <a:solidFill>
              <a:srgbClr val="A7C7D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llipse"/>
          <p:cNvSpPr/>
          <p:nvPr/>
        </p:nvSpPr>
        <p:spPr>
          <a:xfrm>
            <a:off x="2423160" y="4517136"/>
            <a:ext cx="4297680" cy="438912"/>
          </a:xfrm>
          <a:prstGeom prst="ellipse">
            <a:avLst/>
          </a:prstGeom>
          <a:solidFill>
            <a:srgbClr val="F6FAFD"/>
          </a:solidFill>
          <a:ln w="25603" cap="rnd">
            <a:solidFill>
              <a:srgbClr val="22304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"/>
          <p:cNvSpPr/>
          <p:nvPr/>
        </p:nvSpPr>
        <p:spPr>
          <a:xfrm>
            <a:off x="2313432" y="1517904"/>
            <a:ext cx="4517136" cy="310896"/>
          </a:xfrm>
          <a:prstGeom prst="roundRect">
            <a:avLst>
              <a:gd name="adj" fmla="val 32352"/>
            </a:avLst>
          </a:prstGeom>
          <a:solidFill>
            <a:srgbClr val="E2E8EE"/>
          </a:solidFill>
          <a:ln w="25603" cap="rnd">
            <a:solidFill>
              <a:srgbClr val="22304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"/>
          <p:cNvSpPr/>
          <p:nvPr/>
        </p:nvSpPr>
        <p:spPr>
          <a:xfrm>
            <a:off x="3264408" y="1554480"/>
            <a:ext cx="237744" cy="2340864"/>
          </a:xfrm>
          <a:prstGeom prst="roundRect">
            <a:avLst>
              <a:gd name="adj" fmla="val 19230"/>
            </a:avLst>
          </a:prstGeom>
          <a:solidFill>
            <a:srgbClr val="BFC9D1"/>
          </a:solidFill>
          <a:ln w="25603" cap="rnd">
            <a:solidFill>
              <a:srgbClr val="22304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llipse"/>
          <p:cNvSpPr/>
          <p:nvPr/>
        </p:nvSpPr>
        <p:spPr>
          <a:xfrm>
            <a:off x="3172968" y="1344168"/>
            <a:ext cx="420624" cy="274320"/>
          </a:xfrm>
          <a:prstGeom prst="ellipse">
            <a:avLst/>
          </a:prstGeom>
          <a:solidFill>
            <a:srgbClr val="6F7F8B"/>
          </a:solidFill>
          <a:ln w="21945" cap="rnd">
            <a:solidFill>
              <a:srgbClr val="22304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"/>
          <p:cNvSpPr/>
          <p:nvPr/>
        </p:nvSpPr>
        <p:spPr>
          <a:xfrm>
            <a:off x="5641848" y="1554480"/>
            <a:ext cx="237744" cy="2340864"/>
          </a:xfrm>
          <a:prstGeom prst="roundRect">
            <a:avLst>
              <a:gd name="adj" fmla="val 19230"/>
            </a:avLst>
          </a:prstGeom>
          <a:solidFill>
            <a:srgbClr val="BFC9D1"/>
          </a:solidFill>
          <a:ln w="25603" cap="rnd">
            <a:solidFill>
              <a:srgbClr val="22304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llipse"/>
          <p:cNvSpPr/>
          <p:nvPr/>
        </p:nvSpPr>
        <p:spPr>
          <a:xfrm>
            <a:off x="5550408" y="1344168"/>
            <a:ext cx="420624" cy="274320"/>
          </a:xfrm>
          <a:prstGeom prst="ellipse">
            <a:avLst/>
          </a:prstGeom>
          <a:solidFill>
            <a:srgbClr val="6F7F8B"/>
          </a:solidFill>
          <a:ln w="21945" cap="rnd">
            <a:solidFill>
              <a:srgbClr val="22304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rch / ionic-liquid medium"/>
          <p:cNvSpPr txBox="1"/>
          <p:nvPr/>
        </p:nvSpPr>
        <p:spPr>
          <a:xfrm>
            <a:off x="2887302" y="4069080"/>
            <a:ext cx="3616282" cy="4526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160" b="0">
                <a:solidFill>
                  <a:srgbClr val="223043"/>
                </a:solidFill>
                <a:latin typeface="Arial"/>
              </a:defRPr>
            </a:pPr>
            <a:r>
              <a:t>Starch / ionic-liquid medium</a:t>
            </a:r>
          </a:p>
        </p:txBody>
      </p:sp>
      <p:sp>
        <p:nvSpPr>
          <p:cNvPr id="14" name="Electrodes"/>
          <p:cNvSpPr txBox="1"/>
          <p:nvPr/>
        </p:nvSpPr>
        <p:spPr>
          <a:xfrm>
            <a:off x="1298448" y="1801368"/>
            <a:ext cx="1440079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223043"/>
                </a:solidFill>
                <a:latin typeface="Arial"/>
              </a:defRPr>
            </a:pPr>
            <a:r>
              <a:t>Electrodes</a:t>
            </a:r>
          </a:p>
        </p:txBody>
      </p:sp>
      <p:sp>
        <p:nvSpPr>
          <p:cNvPr id="15" name="path"/>
          <p:cNvSpPr/>
          <p:nvPr/>
        </p:nvSpPr>
        <p:spPr>
          <a:xfrm>
            <a:off x="2606040" y="1993392"/>
            <a:ext cx="640080" cy="246888"/>
          </a:xfrm>
          <a:custGeom>
            <a:avLst/>
            <a:gdLst/>
            <a:ahLst/>
            <a:cxnLst/>
            <a:rect l="l" t="t" r="r" b="b"/>
            <a:pathLst>
              <a:path w="70" h="27">
                <a:moveTo>
                  <a:pt x="0" y="0"/>
                </a:moveTo>
                <a:lnTo>
                  <a:pt x="70" y="27"/>
                </a:lnTo>
              </a:path>
            </a:pathLst>
          </a:custGeom>
          <a:noFill/>
          <a:ln w="18288" cap="rnd">
            <a:solidFill>
              <a:srgbClr val="637284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th"/>
          <p:cNvSpPr/>
          <p:nvPr/>
        </p:nvSpPr>
        <p:spPr>
          <a:xfrm>
            <a:off x="3950208" y="3337560"/>
            <a:ext cx="1243584" cy="0"/>
          </a:xfrm>
          <a:custGeom>
            <a:avLst/>
            <a:gdLst/>
            <a:ahLst/>
            <a:cxnLst/>
            <a:rect l="l" t="t" r="r" b="b"/>
            <a:pathLst>
              <a:path w="136" h="0">
                <a:moveTo>
                  <a:pt x="0" y="0"/>
                </a:moveTo>
                <a:lnTo>
                  <a:pt x="136" y="0"/>
                </a:lnTo>
              </a:path>
            </a:pathLst>
          </a:custGeom>
          <a:noFill/>
          <a:ln w="27432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th"/>
          <p:cNvSpPr/>
          <p:nvPr/>
        </p:nvSpPr>
        <p:spPr>
          <a:xfrm>
            <a:off x="5056632" y="3273552"/>
            <a:ext cx="137160" cy="128016"/>
          </a:xfrm>
          <a:custGeom>
            <a:avLst/>
            <a:gdLst/>
            <a:ahLst/>
            <a:cxnLst/>
            <a:rect l="l" t="t" r="r" b="b"/>
            <a:pathLst>
              <a:path w="15" h="14">
                <a:moveTo>
                  <a:pt x="15" y="7"/>
                </a:moveTo>
                <a:lnTo>
                  <a:pt x="0" y="0"/>
                </a:lnTo>
                <a:lnTo>
                  <a:pt x="0" y="14"/>
                </a:lnTo>
                <a:close/>
              </a:path>
            </a:pathLst>
          </a:custGeom>
          <a:solidFill>
            <a:srgbClr val="2369A2"/>
          </a:solidFill>
          <a:ln w="9144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th"/>
          <p:cNvSpPr/>
          <p:nvPr/>
        </p:nvSpPr>
        <p:spPr>
          <a:xfrm>
            <a:off x="3950208" y="3273552"/>
            <a:ext cx="137160" cy="128016"/>
          </a:xfrm>
          <a:custGeom>
            <a:avLst/>
            <a:gdLst/>
            <a:ahLst/>
            <a:cxnLst/>
            <a:rect l="l" t="t" r="r" b="b"/>
            <a:pathLst>
              <a:path w="15" h="14">
                <a:moveTo>
                  <a:pt x="0" y="7"/>
                </a:moveTo>
                <a:lnTo>
                  <a:pt x="15" y="14"/>
                </a:lnTo>
                <a:lnTo>
                  <a:pt x="15" y="0"/>
                </a:lnTo>
                <a:close/>
              </a:path>
            </a:pathLst>
          </a:custGeom>
          <a:solidFill>
            <a:srgbClr val="2369A2"/>
          </a:solidFill>
          <a:ln w="9144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(t)"/>
          <p:cNvSpPr txBox="1"/>
          <p:nvPr/>
        </p:nvSpPr>
        <p:spPr>
          <a:xfrm>
            <a:off x="4343489" y="2907792"/>
            <a:ext cx="703909" cy="4526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160" b="1">
                <a:solidFill>
                  <a:srgbClr val="2369A2"/>
                </a:solidFill>
                <a:latin typeface="Arial"/>
              </a:defRPr>
            </a:pPr>
            <a:r>
              <a:t>E(t)</a:t>
            </a:r>
          </a:p>
        </p:txBody>
      </p:sp>
      <p:sp>
        <p:nvSpPr>
          <p:cNvPr id="20" name="rect"/>
          <p:cNvSpPr/>
          <p:nvPr/>
        </p:nvSpPr>
        <p:spPr>
          <a:xfrm>
            <a:off x="3429000" y="5303520"/>
            <a:ext cx="2286000" cy="960120"/>
          </a:xfrm>
          <a:prstGeom prst="roundRect">
            <a:avLst>
              <a:gd name="adj" fmla="val 9523"/>
            </a:avLst>
          </a:prstGeom>
          <a:solidFill>
            <a:srgbClr val="F7FAFC"/>
          </a:solidFill>
          <a:ln w="25603" cap="rnd">
            <a:solidFill>
              <a:srgbClr val="22304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C source"/>
          <p:cNvSpPr txBox="1"/>
          <p:nvPr/>
        </p:nvSpPr>
        <p:spPr>
          <a:xfrm>
            <a:off x="3885999" y="5330952"/>
            <a:ext cx="1618889" cy="4526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160" b="1">
                <a:solidFill>
                  <a:srgbClr val="223043"/>
                </a:solidFill>
                <a:latin typeface="Arial"/>
              </a:defRPr>
            </a:pPr>
            <a:r>
              <a:t>AC source</a:t>
            </a:r>
          </a:p>
        </p:txBody>
      </p:sp>
      <p:sp>
        <p:nvSpPr>
          <p:cNvPr id="22" name="path"/>
          <p:cNvSpPr/>
          <p:nvPr/>
        </p:nvSpPr>
        <p:spPr>
          <a:xfrm>
            <a:off x="3703320" y="5824728"/>
            <a:ext cx="1700784" cy="219456"/>
          </a:xfrm>
          <a:custGeom>
            <a:avLst/>
            <a:gdLst/>
            <a:ahLst/>
            <a:cxnLst/>
            <a:rect l="l" t="t" r="r" b="b"/>
            <a:pathLst>
              <a:path w="186" h="24">
                <a:moveTo>
                  <a:pt x="0" y="12"/>
                </a:moveTo>
                <a:lnTo>
                  <a:pt x="0" y="12"/>
                </a:lnTo>
                <a:lnTo>
                  <a:pt x="0" y="12"/>
                </a:lnTo>
                <a:lnTo>
                  <a:pt x="1" y="11"/>
                </a:lnTo>
                <a:lnTo>
                  <a:pt x="1" y="11"/>
                </a:lnTo>
                <a:lnTo>
                  <a:pt x="2" y="10"/>
                </a:lnTo>
                <a:lnTo>
                  <a:pt x="2" y="10"/>
                </a:lnTo>
                <a:lnTo>
                  <a:pt x="2" y="10"/>
                </a:lnTo>
                <a:lnTo>
                  <a:pt x="3" y="9"/>
                </a:lnTo>
                <a:lnTo>
                  <a:pt x="3" y="9"/>
                </a:lnTo>
                <a:lnTo>
                  <a:pt x="4" y="8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6" y="6"/>
                </a:lnTo>
                <a:lnTo>
                  <a:pt x="6" y="6"/>
                </a:lnTo>
                <a:lnTo>
                  <a:pt x="7" y="6"/>
                </a:lnTo>
                <a:lnTo>
                  <a:pt x="7" y="5"/>
                </a:lnTo>
                <a:lnTo>
                  <a:pt x="8" y="5"/>
                </a:lnTo>
                <a:lnTo>
                  <a:pt x="8" y="5"/>
                </a:lnTo>
                <a:lnTo>
                  <a:pt x="8" y="4"/>
                </a:lnTo>
                <a:lnTo>
                  <a:pt x="9" y="4"/>
                </a:lnTo>
                <a:lnTo>
                  <a:pt x="9" y="4"/>
                </a:lnTo>
                <a:lnTo>
                  <a:pt x="10" y="3"/>
                </a:lnTo>
                <a:lnTo>
                  <a:pt x="10" y="3"/>
                </a:lnTo>
                <a:lnTo>
                  <a:pt x="10" y="3"/>
                </a:lnTo>
                <a:lnTo>
                  <a:pt x="11" y="3"/>
                </a:lnTo>
                <a:lnTo>
                  <a:pt x="11" y="2"/>
                </a:lnTo>
                <a:lnTo>
                  <a:pt x="12" y="2"/>
                </a:lnTo>
                <a:lnTo>
                  <a:pt x="12" y="2"/>
                </a:lnTo>
                <a:lnTo>
                  <a:pt x="12" y="2"/>
                </a:lnTo>
                <a:lnTo>
                  <a:pt x="13" y="2"/>
                </a:lnTo>
                <a:lnTo>
                  <a:pt x="13" y="1"/>
                </a:lnTo>
                <a:lnTo>
                  <a:pt x="14" y="1"/>
                </a:lnTo>
                <a:lnTo>
                  <a:pt x="14" y="1"/>
                </a:lnTo>
                <a:lnTo>
                  <a:pt x="14" y="1"/>
                </a:lnTo>
                <a:lnTo>
                  <a:pt x="15" y="1"/>
                </a:lnTo>
                <a:lnTo>
                  <a:pt x="15" y="1"/>
                </a:lnTo>
                <a:lnTo>
                  <a:pt x="16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8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lnTo>
                  <a:pt x="21" y="0"/>
                </a:lnTo>
                <a:lnTo>
                  <a:pt x="21" y="0"/>
                </a:lnTo>
                <a:lnTo>
                  <a:pt x="22" y="0"/>
                </a:lnTo>
                <a:lnTo>
                  <a:pt x="22" y="0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5" y="2"/>
                </a:lnTo>
                <a:lnTo>
                  <a:pt x="26" y="2"/>
                </a:lnTo>
                <a:lnTo>
                  <a:pt x="26" y="2"/>
                </a:lnTo>
                <a:lnTo>
                  <a:pt x="26" y="2"/>
                </a:lnTo>
                <a:lnTo>
                  <a:pt x="27" y="3"/>
                </a:lnTo>
                <a:lnTo>
                  <a:pt x="27" y="3"/>
                </a:lnTo>
                <a:lnTo>
                  <a:pt x="28" y="3"/>
                </a:lnTo>
                <a:lnTo>
                  <a:pt x="28" y="3"/>
                </a:lnTo>
                <a:lnTo>
                  <a:pt x="28" y="4"/>
                </a:lnTo>
                <a:lnTo>
                  <a:pt x="29" y="4"/>
                </a:lnTo>
                <a:lnTo>
                  <a:pt x="29" y="4"/>
                </a:lnTo>
                <a:lnTo>
                  <a:pt x="30" y="5"/>
                </a:lnTo>
                <a:lnTo>
                  <a:pt x="30" y="5"/>
                </a:lnTo>
                <a:lnTo>
                  <a:pt x="30" y="5"/>
                </a:lnTo>
                <a:lnTo>
                  <a:pt x="31" y="5"/>
                </a:lnTo>
                <a:lnTo>
                  <a:pt x="31" y="6"/>
                </a:lnTo>
                <a:lnTo>
                  <a:pt x="32" y="6"/>
                </a:lnTo>
                <a:lnTo>
                  <a:pt x="32" y="7"/>
                </a:lnTo>
                <a:lnTo>
                  <a:pt x="32" y="7"/>
                </a:lnTo>
                <a:lnTo>
                  <a:pt x="33" y="7"/>
                </a:lnTo>
                <a:lnTo>
                  <a:pt x="33" y="8"/>
                </a:lnTo>
                <a:lnTo>
                  <a:pt x="34" y="8"/>
                </a:lnTo>
                <a:lnTo>
                  <a:pt x="34" y="8"/>
                </a:lnTo>
                <a:lnTo>
                  <a:pt x="34" y="9"/>
                </a:lnTo>
                <a:lnTo>
                  <a:pt x="35" y="9"/>
                </a:lnTo>
                <a:lnTo>
                  <a:pt x="35" y="10"/>
                </a:lnTo>
                <a:lnTo>
                  <a:pt x="36" y="10"/>
                </a:lnTo>
                <a:lnTo>
                  <a:pt x="36" y="10"/>
                </a:lnTo>
                <a:lnTo>
                  <a:pt x="36" y="11"/>
                </a:lnTo>
                <a:lnTo>
                  <a:pt x="37" y="11"/>
                </a:lnTo>
                <a:lnTo>
                  <a:pt x="37" y="11"/>
                </a:lnTo>
                <a:lnTo>
                  <a:pt x="38" y="12"/>
                </a:lnTo>
                <a:lnTo>
                  <a:pt x="38" y="12"/>
                </a:lnTo>
                <a:lnTo>
                  <a:pt x="38" y="13"/>
                </a:lnTo>
                <a:lnTo>
                  <a:pt x="39" y="13"/>
                </a:lnTo>
                <a:lnTo>
                  <a:pt x="39" y="13"/>
                </a:lnTo>
                <a:lnTo>
                  <a:pt x="40" y="14"/>
                </a:lnTo>
                <a:lnTo>
                  <a:pt x="40" y="14"/>
                </a:lnTo>
                <a:lnTo>
                  <a:pt x="40" y="15"/>
                </a:lnTo>
                <a:lnTo>
                  <a:pt x="41" y="15"/>
                </a:lnTo>
                <a:lnTo>
                  <a:pt x="41" y="15"/>
                </a:lnTo>
                <a:lnTo>
                  <a:pt x="42" y="16"/>
                </a:lnTo>
                <a:lnTo>
                  <a:pt x="42" y="16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8"/>
                </a:lnTo>
                <a:lnTo>
                  <a:pt x="44" y="18"/>
                </a:lnTo>
                <a:lnTo>
                  <a:pt x="44" y="18"/>
                </a:lnTo>
                <a:lnTo>
                  <a:pt x="45" y="19"/>
                </a:lnTo>
                <a:lnTo>
                  <a:pt x="45" y="19"/>
                </a:lnTo>
                <a:lnTo>
                  <a:pt x="46" y="19"/>
                </a:lnTo>
                <a:lnTo>
                  <a:pt x="46" y="20"/>
                </a:lnTo>
                <a:lnTo>
                  <a:pt x="46" y="20"/>
                </a:lnTo>
                <a:lnTo>
                  <a:pt x="47" y="20"/>
                </a:lnTo>
                <a:lnTo>
                  <a:pt x="47" y="21"/>
                </a:lnTo>
                <a:lnTo>
                  <a:pt x="48" y="21"/>
                </a:lnTo>
                <a:lnTo>
                  <a:pt x="48" y="21"/>
                </a:lnTo>
                <a:lnTo>
                  <a:pt x="48" y="21"/>
                </a:lnTo>
                <a:lnTo>
                  <a:pt x="49" y="22"/>
                </a:lnTo>
                <a:lnTo>
                  <a:pt x="49" y="22"/>
                </a:lnTo>
                <a:lnTo>
                  <a:pt x="50" y="22"/>
                </a:lnTo>
                <a:lnTo>
                  <a:pt x="50" y="22"/>
                </a:lnTo>
                <a:lnTo>
                  <a:pt x="50" y="22"/>
                </a:lnTo>
                <a:lnTo>
                  <a:pt x="51" y="23"/>
                </a:lnTo>
                <a:lnTo>
                  <a:pt x="51" y="23"/>
                </a:lnTo>
                <a:lnTo>
                  <a:pt x="52" y="23"/>
                </a:lnTo>
                <a:lnTo>
                  <a:pt x="52" y="23"/>
                </a:lnTo>
                <a:lnTo>
                  <a:pt x="52" y="23"/>
                </a:lnTo>
                <a:lnTo>
                  <a:pt x="53" y="23"/>
                </a:lnTo>
                <a:lnTo>
                  <a:pt x="53" y="24"/>
                </a:lnTo>
                <a:lnTo>
                  <a:pt x="54" y="24"/>
                </a:lnTo>
                <a:lnTo>
                  <a:pt x="54" y="24"/>
                </a:lnTo>
                <a:lnTo>
                  <a:pt x="54" y="24"/>
                </a:lnTo>
                <a:lnTo>
                  <a:pt x="55" y="24"/>
                </a:lnTo>
                <a:lnTo>
                  <a:pt x="55" y="24"/>
                </a:lnTo>
                <a:lnTo>
                  <a:pt x="56" y="24"/>
                </a:lnTo>
                <a:lnTo>
                  <a:pt x="56" y="24"/>
                </a:lnTo>
                <a:lnTo>
                  <a:pt x="56" y="24"/>
                </a:lnTo>
                <a:lnTo>
                  <a:pt x="57" y="24"/>
                </a:lnTo>
                <a:lnTo>
                  <a:pt x="57" y="24"/>
                </a:lnTo>
                <a:lnTo>
                  <a:pt x="58" y="24"/>
                </a:lnTo>
                <a:lnTo>
                  <a:pt x="58" y="24"/>
                </a:lnTo>
                <a:lnTo>
                  <a:pt x="58" y="24"/>
                </a:lnTo>
                <a:lnTo>
                  <a:pt x="59" y="24"/>
                </a:lnTo>
                <a:lnTo>
                  <a:pt x="59" y="24"/>
                </a:lnTo>
                <a:lnTo>
                  <a:pt x="60" y="24"/>
                </a:lnTo>
                <a:lnTo>
                  <a:pt x="60" y="24"/>
                </a:lnTo>
                <a:lnTo>
                  <a:pt x="60" y="23"/>
                </a:lnTo>
                <a:lnTo>
                  <a:pt x="61" y="23"/>
                </a:lnTo>
                <a:lnTo>
                  <a:pt x="61" y="23"/>
                </a:lnTo>
                <a:lnTo>
                  <a:pt x="62" y="23"/>
                </a:lnTo>
                <a:lnTo>
                  <a:pt x="62" y="23"/>
                </a:lnTo>
                <a:lnTo>
                  <a:pt x="62" y="23"/>
                </a:lnTo>
                <a:lnTo>
                  <a:pt x="63" y="22"/>
                </a:lnTo>
                <a:lnTo>
                  <a:pt x="63" y="22"/>
                </a:lnTo>
                <a:lnTo>
                  <a:pt x="64" y="22"/>
                </a:lnTo>
                <a:lnTo>
                  <a:pt x="64" y="22"/>
                </a:lnTo>
                <a:lnTo>
                  <a:pt x="64" y="21"/>
                </a:lnTo>
                <a:lnTo>
                  <a:pt x="65" y="21"/>
                </a:lnTo>
                <a:lnTo>
                  <a:pt x="65" y="21"/>
                </a:lnTo>
                <a:lnTo>
                  <a:pt x="66" y="21"/>
                </a:lnTo>
                <a:lnTo>
                  <a:pt x="66" y="20"/>
                </a:lnTo>
                <a:lnTo>
                  <a:pt x="66" y="20"/>
                </a:lnTo>
                <a:lnTo>
                  <a:pt x="67" y="20"/>
                </a:lnTo>
                <a:lnTo>
                  <a:pt x="67" y="20"/>
                </a:lnTo>
                <a:lnTo>
                  <a:pt x="68" y="19"/>
                </a:lnTo>
                <a:lnTo>
                  <a:pt x="68" y="19"/>
                </a:lnTo>
                <a:lnTo>
                  <a:pt x="68" y="19"/>
                </a:lnTo>
                <a:lnTo>
                  <a:pt x="69" y="18"/>
                </a:lnTo>
                <a:lnTo>
                  <a:pt x="69" y="18"/>
                </a:lnTo>
                <a:lnTo>
                  <a:pt x="70" y="18"/>
                </a:lnTo>
                <a:lnTo>
                  <a:pt x="70" y="17"/>
                </a:lnTo>
                <a:lnTo>
                  <a:pt x="70" y="17"/>
                </a:lnTo>
                <a:lnTo>
                  <a:pt x="71" y="16"/>
                </a:lnTo>
                <a:lnTo>
                  <a:pt x="71" y="16"/>
                </a:lnTo>
                <a:lnTo>
                  <a:pt x="72" y="16"/>
                </a:lnTo>
                <a:lnTo>
                  <a:pt x="72" y="15"/>
                </a:lnTo>
                <a:lnTo>
                  <a:pt x="72" y="15"/>
                </a:lnTo>
                <a:lnTo>
                  <a:pt x="73" y="15"/>
                </a:lnTo>
                <a:lnTo>
                  <a:pt x="73" y="14"/>
                </a:lnTo>
                <a:lnTo>
                  <a:pt x="74" y="14"/>
                </a:lnTo>
                <a:lnTo>
                  <a:pt x="74" y="13"/>
                </a:lnTo>
                <a:lnTo>
                  <a:pt x="74" y="13"/>
                </a:lnTo>
                <a:lnTo>
                  <a:pt x="75" y="13"/>
                </a:lnTo>
                <a:lnTo>
                  <a:pt x="75" y="12"/>
                </a:lnTo>
                <a:lnTo>
                  <a:pt x="76" y="12"/>
                </a:lnTo>
                <a:lnTo>
                  <a:pt x="76" y="11"/>
                </a:lnTo>
                <a:lnTo>
                  <a:pt x="76" y="11"/>
                </a:lnTo>
                <a:lnTo>
                  <a:pt x="77" y="11"/>
                </a:lnTo>
                <a:lnTo>
                  <a:pt x="77" y="10"/>
                </a:lnTo>
                <a:lnTo>
                  <a:pt x="78" y="10"/>
                </a:lnTo>
                <a:lnTo>
                  <a:pt x="78" y="9"/>
                </a:lnTo>
                <a:lnTo>
                  <a:pt x="78" y="9"/>
                </a:lnTo>
                <a:lnTo>
                  <a:pt x="79" y="9"/>
                </a:lnTo>
                <a:lnTo>
                  <a:pt x="79" y="8"/>
                </a:lnTo>
                <a:lnTo>
                  <a:pt x="80" y="8"/>
                </a:lnTo>
                <a:lnTo>
                  <a:pt x="80" y="8"/>
                </a:lnTo>
                <a:lnTo>
                  <a:pt x="80" y="7"/>
                </a:lnTo>
                <a:lnTo>
                  <a:pt x="81" y="7"/>
                </a:lnTo>
                <a:lnTo>
                  <a:pt x="81" y="6"/>
                </a:lnTo>
                <a:lnTo>
                  <a:pt x="82" y="6"/>
                </a:lnTo>
                <a:lnTo>
                  <a:pt x="82" y="6"/>
                </a:lnTo>
                <a:lnTo>
                  <a:pt x="82" y="5"/>
                </a:lnTo>
                <a:lnTo>
                  <a:pt x="83" y="5"/>
                </a:lnTo>
                <a:lnTo>
                  <a:pt x="83" y="5"/>
                </a:lnTo>
                <a:lnTo>
                  <a:pt x="84" y="4"/>
                </a:lnTo>
                <a:lnTo>
                  <a:pt x="84" y="4"/>
                </a:lnTo>
                <a:lnTo>
                  <a:pt x="84" y="4"/>
                </a:lnTo>
                <a:lnTo>
                  <a:pt x="85" y="4"/>
                </a:lnTo>
                <a:lnTo>
                  <a:pt x="85" y="3"/>
                </a:lnTo>
                <a:lnTo>
                  <a:pt x="86" y="3"/>
                </a:lnTo>
                <a:lnTo>
                  <a:pt x="86" y="3"/>
                </a:lnTo>
                <a:lnTo>
                  <a:pt x="86" y="2"/>
                </a:lnTo>
                <a:lnTo>
                  <a:pt x="87" y="2"/>
                </a:lnTo>
                <a:lnTo>
                  <a:pt x="87" y="2"/>
                </a:lnTo>
                <a:lnTo>
                  <a:pt x="88" y="2"/>
                </a:lnTo>
                <a:lnTo>
                  <a:pt x="88" y="2"/>
                </a:lnTo>
                <a:lnTo>
                  <a:pt x="88" y="1"/>
                </a:lnTo>
                <a:lnTo>
                  <a:pt x="89" y="1"/>
                </a:lnTo>
                <a:lnTo>
                  <a:pt x="89" y="1"/>
                </a:lnTo>
                <a:lnTo>
                  <a:pt x="90" y="1"/>
                </a:lnTo>
                <a:lnTo>
                  <a:pt x="90" y="1"/>
                </a:lnTo>
                <a:lnTo>
                  <a:pt x="90" y="1"/>
                </a:lnTo>
                <a:lnTo>
                  <a:pt x="91" y="1"/>
                </a:lnTo>
                <a:lnTo>
                  <a:pt x="91" y="0"/>
                </a:lnTo>
                <a:lnTo>
                  <a:pt x="92" y="0"/>
                </a:lnTo>
                <a:lnTo>
                  <a:pt x="92" y="0"/>
                </a:lnTo>
                <a:lnTo>
                  <a:pt x="92" y="0"/>
                </a:lnTo>
                <a:lnTo>
                  <a:pt x="93" y="0"/>
                </a:lnTo>
                <a:lnTo>
                  <a:pt x="93" y="0"/>
                </a:lnTo>
                <a:lnTo>
                  <a:pt x="94" y="0"/>
                </a:lnTo>
                <a:lnTo>
                  <a:pt x="94" y="0"/>
                </a:lnTo>
                <a:lnTo>
                  <a:pt x="94" y="0"/>
                </a:lnTo>
                <a:lnTo>
                  <a:pt x="95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6" y="0"/>
                </a:lnTo>
                <a:lnTo>
                  <a:pt x="97" y="0"/>
                </a:lnTo>
                <a:lnTo>
                  <a:pt x="97" y="0"/>
                </a:lnTo>
                <a:lnTo>
                  <a:pt x="98" y="0"/>
                </a:lnTo>
                <a:lnTo>
                  <a:pt x="98" y="1"/>
                </a:lnTo>
                <a:lnTo>
                  <a:pt x="98" y="1"/>
                </a:lnTo>
                <a:lnTo>
                  <a:pt x="99" y="1"/>
                </a:lnTo>
                <a:lnTo>
                  <a:pt x="99" y="1"/>
                </a:lnTo>
                <a:lnTo>
                  <a:pt x="100" y="1"/>
                </a:lnTo>
                <a:lnTo>
                  <a:pt x="100" y="1"/>
                </a:lnTo>
                <a:lnTo>
                  <a:pt x="100" y="2"/>
                </a:lnTo>
                <a:lnTo>
                  <a:pt x="101" y="2"/>
                </a:lnTo>
                <a:lnTo>
                  <a:pt x="101" y="2"/>
                </a:lnTo>
                <a:lnTo>
                  <a:pt x="102" y="2"/>
                </a:lnTo>
                <a:lnTo>
                  <a:pt x="102" y="2"/>
                </a:lnTo>
                <a:lnTo>
                  <a:pt x="102" y="3"/>
                </a:lnTo>
                <a:lnTo>
                  <a:pt x="103" y="3"/>
                </a:lnTo>
                <a:lnTo>
                  <a:pt x="103" y="3"/>
                </a:lnTo>
                <a:lnTo>
                  <a:pt x="104" y="3"/>
                </a:lnTo>
                <a:lnTo>
                  <a:pt x="104" y="4"/>
                </a:lnTo>
                <a:lnTo>
                  <a:pt x="104" y="4"/>
                </a:lnTo>
                <a:lnTo>
                  <a:pt x="105" y="4"/>
                </a:lnTo>
                <a:lnTo>
                  <a:pt x="105" y="5"/>
                </a:lnTo>
                <a:lnTo>
                  <a:pt x="106" y="5"/>
                </a:lnTo>
                <a:lnTo>
                  <a:pt x="106" y="5"/>
                </a:lnTo>
                <a:lnTo>
                  <a:pt x="106" y="6"/>
                </a:lnTo>
                <a:lnTo>
                  <a:pt x="107" y="6"/>
                </a:lnTo>
                <a:lnTo>
                  <a:pt x="107" y="6"/>
                </a:lnTo>
                <a:lnTo>
                  <a:pt x="108" y="7"/>
                </a:lnTo>
                <a:lnTo>
                  <a:pt x="108" y="7"/>
                </a:lnTo>
                <a:lnTo>
                  <a:pt x="108" y="7"/>
                </a:lnTo>
                <a:lnTo>
                  <a:pt x="109" y="8"/>
                </a:lnTo>
                <a:lnTo>
                  <a:pt x="109" y="8"/>
                </a:lnTo>
                <a:lnTo>
                  <a:pt x="110" y="9"/>
                </a:lnTo>
                <a:lnTo>
                  <a:pt x="110" y="9"/>
                </a:lnTo>
                <a:lnTo>
                  <a:pt x="110" y="9"/>
                </a:lnTo>
                <a:lnTo>
                  <a:pt x="111" y="10"/>
                </a:lnTo>
                <a:lnTo>
                  <a:pt x="111" y="10"/>
                </a:lnTo>
                <a:lnTo>
                  <a:pt x="112" y="11"/>
                </a:lnTo>
                <a:lnTo>
                  <a:pt x="112" y="11"/>
                </a:lnTo>
                <a:lnTo>
                  <a:pt x="112" y="11"/>
                </a:lnTo>
                <a:lnTo>
                  <a:pt x="113" y="12"/>
                </a:lnTo>
                <a:lnTo>
                  <a:pt x="113" y="12"/>
                </a:lnTo>
                <a:lnTo>
                  <a:pt x="114" y="13"/>
                </a:lnTo>
                <a:lnTo>
                  <a:pt x="114" y="13"/>
                </a:lnTo>
                <a:lnTo>
                  <a:pt x="114" y="13"/>
                </a:lnTo>
                <a:lnTo>
                  <a:pt x="115" y="14"/>
                </a:lnTo>
                <a:lnTo>
                  <a:pt x="115" y="14"/>
                </a:lnTo>
                <a:lnTo>
                  <a:pt x="116" y="14"/>
                </a:lnTo>
                <a:lnTo>
                  <a:pt x="116" y="15"/>
                </a:lnTo>
                <a:lnTo>
                  <a:pt x="116" y="15"/>
                </a:lnTo>
                <a:lnTo>
                  <a:pt x="117" y="16"/>
                </a:lnTo>
                <a:lnTo>
                  <a:pt x="117" y="16"/>
                </a:lnTo>
                <a:lnTo>
                  <a:pt x="118" y="16"/>
                </a:lnTo>
                <a:lnTo>
                  <a:pt x="118" y="17"/>
                </a:lnTo>
                <a:lnTo>
                  <a:pt x="118" y="17"/>
                </a:lnTo>
                <a:lnTo>
                  <a:pt x="119" y="18"/>
                </a:lnTo>
                <a:lnTo>
                  <a:pt x="119" y="18"/>
                </a:lnTo>
                <a:lnTo>
                  <a:pt x="120" y="18"/>
                </a:lnTo>
                <a:lnTo>
                  <a:pt x="120" y="19"/>
                </a:lnTo>
                <a:lnTo>
                  <a:pt x="120" y="19"/>
                </a:lnTo>
                <a:lnTo>
                  <a:pt x="121" y="19"/>
                </a:lnTo>
                <a:lnTo>
                  <a:pt x="121" y="19"/>
                </a:lnTo>
                <a:lnTo>
                  <a:pt x="122" y="20"/>
                </a:lnTo>
                <a:lnTo>
                  <a:pt x="122" y="20"/>
                </a:lnTo>
                <a:lnTo>
                  <a:pt x="122" y="20"/>
                </a:lnTo>
                <a:lnTo>
                  <a:pt x="123" y="21"/>
                </a:lnTo>
                <a:lnTo>
                  <a:pt x="123" y="21"/>
                </a:lnTo>
                <a:lnTo>
                  <a:pt x="124" y="21"/>
                </a:lnTo>
                <a:lnTo>
                  <a:pt x="124" y="21"/>
                </a:lnTo>
                <a:lnTo>
                  <a:pt x="124" y="22"/>
                </a:lnTo>
                <a:lnTo>
                  <a:pt x="125" y="22"/>
                </a:lnTo>
                <a:lnTo>
                  <a:pt x="125" y="22"/>
                </a:lnTo>
                <a:lnTo>
                  <a:pt x="126" y="22"/>
                </a:lnTo>
                <a:lnTo>
                  <a:pt x="126" y="23"/>
                </a:lnTo>
                <a:lnTo>
                  <a:pt x="126" y="23"/>
                </a:lnTo>
                <a:lnTo>
                  <a:pt x="127" y="23"/>
                </a:lnTo>
                <a:lnTo>
                  <a:pt x="127" y="23"/>
                </a:lnTo>
                <a:lnTo>
                  <a:pt x="128" y="23"/>
                </a:lnTo>
                <a:lnTo>
                  <a:pt x="128" y="23"/>
                </a:lnTo>
                <a:lnTo>
                  <a:pt x="128" y="23"/>
                </a:lnTo>
                <a:lnTo>
                  <a:pt x="129" y="24"/>
                </a:lnTo>
                <a:lnTo>
                  <a:pt x="129" y="24"/>
                </a:lnTo>
                <a:lnTo>
                  <a:pt x="130" y="24"/>
                </a:lnTo>
                <a:lnTo>
                  <a:pt x="130" y="24"/>
                </a:lnTo>
                <a:lnTo>
                  <a:pt x="130" y="24"/>
                </a:lnTo>
                <a:lnTo>
                  <a:pt x="131" y="24"/>
                </a:lnTo>
                <a:lnTo>
                  <a:pt x="131" y="24"/>
                </a:lnTo>
                <a:lnTo>
                  <a:pt x="132" y="24"/>
                </a:lnTo>
                <a:lnTo>
                  <a:pt x="132" y="24"/>
                </a:lnTo>
                <a:lnTo>
                  <a:pt x="132" y="24"/>
                </a:lnTo>
                <a:lnTo>
                  <a:pt x="133" y="24"/>
                </a:lnTo>
                <a:lnTo>
                  <a:pt x="133" y="24"/>
                </a:lnTo>
                <a:lnTo>
                  <a:pt x="134" y="24"/>
                </a:lnTo>
                <a:lnTo>
                  <a:pt x="134" y="24"/>
                </a:lnTo>
                <a:lnTo>
                  <a:pt x="134" y="24"/>
                </a:lnTo>
                <a:lnTo>
                  <a:pt x="135" y="24"/>
                </a:lnTo>
                <a:lnTo>
                  <a:pt x="135" y="24"/>
                </a:lnTo>
                <a:lnTo>
                  <a:pt x="136" y="23"/>
                </a:lnTo>
                <a:lnTo>
                  <a:pt x="136" y="23"/>
                </a:lnTo>
                <a:lnTo>
                  <a:pt x="136" y="23"/>
                </a:lnTo>
                <a:lnTo>
                  <a:pt x="137" y="23"/>
                </a:lnTo>
                <a:lnTo>
                  <a:pt x="137" y="23"/>
                </a:lnTo>
                <a:lnTo>
                  <a:pt x="138" y="23"/>
                </a:lnTo>
                <a:lnTo>
                  <a:pt x="138" y="23"/>
                </a:lnTo>
                <a:lnTo>
                  <a:pt x="138" y="22"/>
                </a:lnTo>
                <a:lnTo>
                  <a:pt x="139" y="22"/>
                </a:lnTo>
                <a:lnTo>
                  <a:pt x="139" y="22"/>
                </a:lnTo>
                <a:lnTo>
                  <a:pt x="140" y="22"/>
                </a:lnTo>
                <a:lnTo>
                  <a:pt x="140" y="21"/>
                </a:lnTo>
                <a:lnTo>
                  <a:pt x="140" y="21"/>
                </a:lnTo>
                <a:lnTo>
                  <a:pt x="141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2" y="20"/>
                </a:lnTo>
                <a:lnTo>
                  <a:pt x="143" y="19"/>
                </a:lnTo>
                <a:lnTo>
                  <a:pt x="143" y="19"/>
                </a:lnTo>
                <a:lnTo>
                  <a:pt x="144" y="19"/>
                </a:lnTo>
                <a:lnTo>
                  <a:pt x="144" y="18"/>
                </a:lnTo>
                <a:lnTo>
                  <a:pt x="144" y="18"/>
                </a:lnTo>
                <a:lnTo>
                  <a:pt x="145" y="18"/>
                </a:lnTo>
                <a:lnTo>
                  <a:pt x="145" y="17"/>
                </a:lnTo>
                <a:lnTo>
                  <a:pt x="146" y="17"/>
                </a:lnTo>
                <a:lnTo>
                  <a:pt x="146" y="17"/>
                </a:lnTo>
                <a:lnTo>
                  <a:pt x="146" y="16"/>
                </a:lnTo>
                <a:lnTo>
                  <a:pt x="147" y="16"/>
                </a:lnTo>
                <a:lnTo>
                  <a:pt x="147" y="16"/>
                </a:lnTo>
                <a:lnTo>
                  <a:pt x="148" y="15"/>
                </a:lnTo>
                <a:lnTo>
                  <a:pt x="148" y="15"/>
                </a:lnTo>
                <a:lnTo>
                  <a:pt x="148" y="14"/>
                </a:lnTo>
                <a:lnTo>
                  <a:pt x="149" y="14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0" y="12"/>
                </a:lnTo>
                <a:lnTo>
                  <a:pt x="151" y="12"/>
                </a:lnTo>
                <a:lnTo>
                  <a:pt x="151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10"/>
                </a:lnTo>
                <a:lnTo>
                  <a:pt x="153" y="10"/>
                </a:lnTo>
                <a:lnTo>
                  <a:pt x="154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5" y="8"/>
                </a:lnTo>
                <a:lnTo>
                  <a:pt x="156" y="7"/>
                </a:lnTo>
                <a:lnTo>
                  <a:pt x="156" y="7"/>
                </a:lnTo>
                <a:lnTo>
                  <a:pt x="156" y="7"/>
                </a:lnTo>
                <a:lnTo>
                  <a:pt x="157" y="6"/>
                </a:lnTo>
                <a:lnTo>
                  <a:pt x="157" y="6"/>
                </a:lnTo>
                <a:lnTo>
                  <a:pt x="158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0" y="4"/>
                </a:lnTo>
                <a:lnTo>
                  <a:pt x="160" y="3"/>
                </a:lnTo>
                <a:lnTo>
                  <a:pt x="161" y="3"/>
                </a:lnTo>
                <a:lnTo>
                  <a:pt x="161" y="3"/>
                </a:lnTo>
                <a:lnTo>
                  <a:pt x="162" y="3"/>
                </a:lnTo>
                <a:lnTo>
                  <a:pt x="162" y="2"/>
                </a:lnTo>
                <a:lnTo>
                  <a:pt x="162" y="2"/>
                </a:lnTo>
                <a:lnTo>
                  <a:pt x="163" y="2"/>
                </a:lnTo>
                <a:lnTo>
                  <a:pt x="163" y="2"/>
                </a:lnTo>
                <a:lnTo>
                  <a:pt x="164" y="2"/>
                </a:lnTo>
                <a:lnTo>
                  <a:pt x="164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6" y="1"/>
                </a:lnTo>
                <a:lnTo>
                  <a:pt x="166" y="1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8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0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lnTo>
                  <a:pt x="172" y="0"/>
                </a:lnTo>
                <a:lnTo>
                  <a:pt x="172" y="0"/>
                </a:lnTo>
                <a:lnTo>
                  <a:pt x="172" y="0"/>
                </a:lnTo>
                <a:lnTo>
                  <a:pt x="173" y="0"/>
                </a:lnTo>
                <a:lnTo>
                  <a:pt x="173" y="1"/>
                </a:lnTo>
                <a:lnTo>
                  <a:pt x="174" y="1"/>
                </a:lnTo>
                <a:lnTo>
                  <a:pt x="174" y="1"/>
                </a:lnTo>
                <a:lnTo>
                  <a:pt x="174" y="1"/>
                </a:lnTo>
                <a:lnTo>
                  <a:pt x="175" y="1"/>
                </a:lnTo>
                <a:lnTo>
                  <a:pt x="175" y="1"/>
                </a:lnTo>
                <a:lnTo>
                  <a:pt x="176" y="1"/>
                </a:lnTo>
                <a:lnTo>
                  <a:pt x="176" y="2"/>
                </a:lnTo>
                <a:lnTo>
                  <a:pt x="176" y="2"/>
                </a:lnTo>
                <a:lnTo>
                  <a:pt x="177" y="2"/>
                </a:lnTo>
                <a:lnTo>
                  <a:pt x="177" y="2"/>
                </a:lnTo>
                <a:lnTo>
                  <a:pt x="178" y="3"/>
                </a:lnTo>
                <a:lnTo>
                  <a:pt x="178" y="3"/>
                </a:lnTo>
                <a:lnTo>
                  <a:pt x="178" y="3"/>
                </a:lnTo>
                <a:lnTo>
                  <a:pt x="179" y="3"/>
                </a:lnTo>
                <a:lnTo>
                  <a:pt x="179" y="4"/>
                </a:lnTo>
                <a:lnTo>
                  <a:pt x="180" y="4"/>
                </a:lnTo>
                <a:lnTo>
                  <a:pt x="180" y="4"/>
                </a:lnTo>
                <a:lnTo>
                  <a:pt x="180" y="5"/>
                </a:lnTo>
                <a:lnTo>
                  <a:pt x="181" y="5"/>
                </a:lnTo>
                <a:lnTo>
                  <a:pt x="181" y="5"/>
                </a:lnTo>
                <a:lnTo>
                  <a:pt x="182" y="6"/>
                </a:lnTo>
                <a:lnTo>
                  <a:pt x="182" y="6"/>
                </a:lnTo>
                <a:lnTo>
                  <a:pt x="183" y="6"/>
                </a:lnTo>
                <a:lnTo>
                  <a:pt x="183" y="7"/>
                </a:lnTo>
                <a:lnTo>
                  <a:pt x="184" y="7"/>
                </a:lnTo>
                <a:lnTo>
                  <a:pt x="184" y="8"/>
                </a:lnTo>
                <a:lnTo>
                  <a:pt x="184" y="8"/>
                </a:lnTo>
                <a:lnTo>
                  <a:pt x="185" y="8"/>
                </a:lnTo>
                <a:lnTo>
                  <a:pt x="185" y="9"/>
                </a:lnTo>
                <a:lnTo>
                  <a:pt x="186" y="9"/>
                </a:lnTo>
                <a:lnTo>
                  <a:pt x="186" y="9"/>
                </a:lnTo>
                <a:lnTo>
                  <a:pt x="186" y="10"/>
                </a:lnTo>
              </a:path>
            </a:pathLst>
          </a:custGeom>
          <a:noFill/>
          <a:ln w="27432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th"/>
          <p:cNvSpPr/>
          <p:nvPr/>
        </p:nvSpPr>
        <p:spPr>
          <a:xfrm>
            <a:off x="1435608" y="1152144"/>
            <a:ext cx="2304288" cy="4398264"/>
          </a:xfrm>
          <a:custGeom>
            <a:avLst/>
            <a:gdLst/>
            <a:ahLst/>
            <a:cxnLst/>
            <a:rect l="l" t="t" r="r" b="b"/>
            <a:pathLst>
              <a:path w="252" h="481">
                <a:moveTo>
                  <a:pt x="213" y="24"/>
                </a:moveTo>
                <a:lnTo>
                  <a:pt x="207" y="23"/>
                </a:lnTo>
                <a:lnTo>
                  <a:pt x="199" y="22"/>
                </a:lnTo>
                <a:lnTo>
                  <a:pt x="190" y="21"/>
                </a:lnTo>
                <a:lnTo>
                  <a:pt x="180" y="19"/>
                </a:lnTo>
                <a:lnTo>
                  <a:pt x="169" y="18"/>
                </a:lnTo>
                <a:lnTo>
                  <a:pt x="157" y="16"/>
                </a:lnTo>
                <a:lnTo>
                  <a:pt x="144" y="14"/>
                </a:lnTo>
                <a:lnTo>
                  <a:pt x="132" y="12"/>
                </a:lnTo>
                <a:lnTo>
                  <a:pt x="119" y="11"/>
                </a:lnTo>
                <a:lnTo>
                  <a:pt x="107" y="9"/>
                </a:lnTo>
                <a:lnTo>
                  <a:pt x="95" y="8"/>
                </a:lnTo>
                <a:lnTo>
                  <a:pt x="84" y="7"/>
                </a:lnTo>
                <a:lnTo>
                  <a:pt x="74" y="7"/>
                </a:lnTo>
                <a:lnTo>
                  <a:pt x="65" y="7"/>
                </a:lnTo>
                <a:lnTo>
                  <a:pt x="58" y="7"/>
                </a:lnTo>
                <a:lnTo>
                  <a:pt x="52" y="7"/>
                </a:lnTo>
                <a:lnTo>
                  <a:pt x="46" y="7"/>
                </a:lnTo>
                <a:lnTo>
                  <a:pt x="42" y="5"/>
                </a:lnTo>
                <a:lnTo>
                  <a:pt x="38" y="4"/>
                </a:lnTo>
                <a:lnTo>
                  <a:pt x="34" y="2"/>
                </a:lnTo>
                <a:lnTo>
                  <a:pt x="31" y="1"/>
                </a:lnTo>
                <a:lnTo>
                  <a:pt x="29" y="0"/>
                </a:lnTo>
                <a:lnTo>
                  <a:pt x="27" y="0"/>
                </a:lnTo>
                <a:lnTo>
                  <a:pt x="25" y="2"/>
                </a:lnTo>
                <a:lnTo>
                  <a:pt x="23" y="4"/>
                </a:lnTo>
                <a:lnTo>
                  <a:pt x="22" y="8"/>
                </a:lnTo>
                <a:lnTo>
                  <a:pt x="21" y="14"/>
                </a:lnTo>
                <a:lnTo>
                  <a:pt x="19" y="22"/>
                </a:lnTo>
                <a:lnTo>
                  <a:pt x="18" y="32"/>
                </a:lnTo>
                <a:lnTo>
                  <a:pt x="17" y="45"/>
                </a:lnTo>
                <a:lnTo>
                  <a:pt x="15" y="62"/>
                </a:lnTo>
                <a:lnTo>
                  <a:pt x="13" y="82"/>
                </a:lnTo>
                <a:lnTo>
                  <a:pt x="11" y="107"/>
                </a:lnTo>
                <a:lnTo>
                  <a:pt x="8" y="134"/>
                </a:lnTo>
                <a:lnTo>
                  <a:pt x="6" y="163"/>
                </a:lnTo>
                <a:lnTo>
                  <a:pt x="4" y="194"/>
                </a:lnTo>
                <a:lnTo>
                  <a:pt x="2" y="226"/>
                </a:lnTo>
                <a:lnTo>
                  <a:pt x="0" y="258"/>
                </a:lnTo>
                <a:lnTo>
                  <a:pt x="0" y="290"/>
                </a:lnTo>
                <a:lnTo>
                  <a:pt x="0" y="321"/>
                </a:lnTo>
                <a:lnTo>
                  <a:pt x="1" y="350"/>
                </a:lnTo>
                <a:lnTo>
                  <a:pt x="3" y="378"/>
                </a:lnTo>
                <a:lnTo>
                  <a:pt x="7" y="402"/>
                </a:lnTo>
                <a:lnTo>
                  <a:pt x="12" y="422"/>
                </a:lnTo>
                <a:lnTo>
                  <a:pt x="19" y="439"/>
                </a:lnTo>
                <a:lnTo>
                  <a:pt x="28" y="452"/>
                </a:lnTo>
                <a:lnTo>
                  <a:pt x="40" y="462"/>
                </a:lnTo>
                <a:lnTo>
                  <a:pt x="55" y="469"/>
                </a:lnTo>
                <a:lnTo>
                  <a:pt x="71" y="475"/>
                </a:lnTo>
                <a:lnTo>
                  <a:pt x="88" y="478"/>
                </a:lnTo>
                <a:lnTo>
                  <a:pt x="107" y="480"/>
                </a:lnTo>
                <a:lnTo>
                  <a:pt x="126" y="481"/>
                </a:lnTo>
                <a:lnTo>
                  <a:pt x="145" y="480"/>
                </a:lnTo>
                <a:lnTo>
                  <a:pt x="164" y="479"/>
                </a:lnTo>
                <a:lnTo>
                  <a:pt x="183" y="478"/>
                </a:lnTo>
                <a:lnTo>
                  <a:pt x="201" y="476"/>
                </a:lnTo>
                <a:lnTo>
                  <a:pt x="217" y="474"/>
                </a:lnTo>
                <a:lnTo>
                  <a:pt x="231" y="473"/>
                </a:lnTo>
                <a:lnTo>
                  <a:pt x="243" y="472"/>
                </a:lnTo>
                <a:lnTo>
                  <a:pt x="252" y="473"/>
                </a:lnTo>
              </a:path>
            </a:pathLst>
          </a:custGeom>
          <a:noFill/>
          <a:ln w="32004" cap="rnd">
            <a:solidFill>
              <a:srgbClr val="D5822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th"/>
          <p:cNvSpPr/>
          <p:nvPr/>
        </p:nvSpPr>
        <p:spPr>
          <a:xfrm>
            <a:off x="5394960" y="1170432"/>
            <a:ext cx="2313432" cy="4361688"/>
          </a:xfrm>
          <a:custGeom>
            <a:avLst/>
            <a:gdLst/>
            <a:ahLst/>
            <a:cxnLst/>
            <a:rect l="l" t="t" r="r" b="b"/>
            <a:pathLst>
              <a:path w="253" h="477">
                <a:moveTo>
                  <a:pt x="40" y="22"/>
                </a:moveTo>
                <a:lnTo>
                  <a:pt x="46" y="21"/>
                </a:lnTo>
                <a:lnTo>
                  <a:pt x="53" y="20"/>
                </a:lnTo>
                <a:lnTo>
                  <a:pt x="62" y="19"/>
                </a:lnTo>
                <a:lnTo>
                  <a:pt x="71" y="17"/>
                </a:lnTo>
                <a:lnTo>
                  <a:pt x="82" y="15"/>
                </a:lnTo>
                <a:lnTo>
                  <a:pt x="93" y="14"/>
                </a:lnTo>
                <a:lnTo>
                  <a:pt x="105" y="12"/>
                </a:lnTo>
                <a:lnTo>
                  <a:pt x="117" y="10"/>
                </a:lnTo>
                <a:lnTo>
                  <a:pt x="129" y="8"/>
                </a:lnTo>
                <a:lnTo>
                  <a:pt x="141" y="7"/>
                </a:lnTo>
                <a:lnTo>
                  <a:pt x="152" y="6"/>
                </a:lnTo>
                <a:lnTo>
                  <a:pt x="162" y="5"/>
                </a:lnTo>
                <a:lnTo>
                  <a:pt x="172" y="4"/>
                </a:lnTo>
                <a:lnTo>
                  <a:pt x="181" y="4"/>
                </a:lnTo>
                <a:lnTo>
                  <a:pt x="188" y="5"/>
                </a:lnTo>
                <a:lnTo>
                  <a:pt x="194" y="5"/>
                </a:lnTo>
                <a:lnTo>
                  <a:pt x="200" y="5"/>
                </a:lnTo>
                <a:lnTo>
                  <a:pt x="205" y="4"/>
                </a:lnTo>
                <a:lnTo>
                  <a:pt x="209" y="3"/>
                </a:lnTo>
                <a:lnTo>
                  <a:pt x="213" y="2"/>
                </a:lnTo>
                <a:lnTo>
                  <a:pt x="216" y="1"/>
                </a:lnTo>
                <a:lnTo>
                  <a:pt x="219" y="0"/>
                </a:lnTo>
                <a:lnTo>
                  <a:pt x="222" y="0"/>
                </a:lnTo>
                <a:lnTo>
                  <a:pt x="225" y="2"/>
                </a:lnTo>
                <a:lnTo>
                  <a:pt x="227" y="4"/>
                </a:lnTo>
                <a:lnTo>
                  <a:pt x="229" y="9"/>
                </a:lnTo>
                <a:lnTo>
                  <a:pt x="230" y="15"/>
                </a:lnTo>
                <a:lnTo>
                  <a:pt x="232" y="23"/>
                </a:lnTo>
                <a:lnTo>
                  <a:pt x="233" y="33"/>
                </a:lnTo>
                <a:lnTo>
                  <a:pt x="235" y="46"/>
                </a:lnTo>
                <a:lnTo>
                  <a:pt x="237" y="63"/>
                </a:lnTo>
                <a:lnTo>
                  <a:pt x="239" y="83"/>
                </a:lnTo>
                <a:lnTo>
                  <a:pt x="241" y="107"/>
                </a:lnTo>
                <a:lnTo>
                  <a:pt x="244" y="134"/>
                </a:lnTo>
                <a:lnTo>
                  <a:pt x="247" y="163"/>
                </a:lnTo>
                <a:lnTo>
                  <a:pt x="249" y="193"/>
                </a:lnTo>
                <a:lnTo>
                  <a:pt x="251" y="224"/>
                </a:lnTo>
                <a:lnTo>
                  <a:pt x="252" y="256"/>
                </a:lnTo>
                <a:lnTo>
                  <a:pt x="253" y="287"/>
                </a:lnTo>
                <a:lnTo>
                  <a:pt x="253" y="318"/>
                </a:lnTo>
                <a:lnTo>
                  <a:pt x="251" y="347"/>
                </a:lnTo>
                <a:lnTo>
                  <a:pt x="249" y="373"/>
                </a:lnTo>
                <a:lnTo>
                  <a:pt x="245" y="397"/>
                </a:lnTo>
                <a:lnTo>
                  <a:pt x="240" y="418"/>
                </a:lnTo>
                <a:lnTo>
                  <a:pt x="233" y="434"/>
                </a:lnTo>
                <a:lnTo>
                  <a:pt x="224" y="447"/>
                </a:lnTo>
                <a:lnTo>
                  <a:pt x="212" y="457"/>
                </a:lnTo>
                <a:lnTo>
                  <a:pt x="197" y="464"/>
                </a:lnTo>
                <a:lnTo>
                  <a:pt x="181" y="470"/>
                </a:lnTo>
                <a:lnTo>
                  <a:pt x="164" y="474"/>
                </a:lnTo>
                <a:lnTo>
                  <a:pt x="145" y="476"/>
                </a:lnTo>
                <a:lnTo>
                  <a:pt x="126" y="477"/>
                </a:lnTo>
                <a:lnTo>
                  <a:pt x="107" y="477"/>
                </a:lnTo>
                <a:lnTo>
                  <a:pt x="88" y="476"/>
                </a:lnTo>
                <a:lnTo>
                  <a:pt x="69" y="474"/>
                </a:lnTo>
                <a:lnTo>
                  <a:pt x="51" y="473"/>
                </a:lnTo>
                <a:lnTo>
                  <a:pt x="35" y="472"/>
                </a:lnTo>
                <a:lnTo>
                  <a:pt x="21" y="471"/>
                </a:lnTo>
                <a:lnTo>
                  <a:pt x="9" y="470"/>
                </a:lnTo>
                <a:lnTo>
                  <a:pt x="0" y="471"/>
                </a:lnTo>
              </a:path>
            </a:pathLst>
          </a:custGeom>
          <a:noFill/>
          <a:ln w="32004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lternating electric field"/>
          <p:cNvSpPr txBox="1"/>
          <p:nvPr/>
        </p:nvSpPr>
        <p:spPr>
          <a:xfrm>
            <a:off x="3248522" y="4910328"/>
            <a:ext cx="2877384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637284"/>
                </a:solidFill>
                <a:latin typeface="Arial"/>
              </a:defRPr>
            </a:pPr>
            <a:r>
              <a:t>Alternating electric field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rch–anion contacts"/>
          <p:cNvSpPr txBox="1"/>
          <p:nvPr/>
        </p:nvSpPr>
        <p:spPr>
          <a:xfrm>
            <a:off x="365760" y="155448"/>
            <a:ext cx="3826796" cy="5431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592" b="1">
                <a:solidFill>
                  <a:srgbClr val="223043"/>
                </a:solidFill>
                <a:latin typeface="Arial"/>
              </a:defRPr>
            </a:pPr>
            <a:r>
              <a:t>Starch–anion contacts</a:t>
            </a:r>
          </a:p>
        </p:txBody>
      </p:sp>
      <p:sp>
        <p:nvSpPr>
          <p:cNvPr id="3" name="Qualitative schematic • not to scale"/>
          <p:cNvSpPr txBox="1"/>
          <p:nvPr/>
        </p:nvSpPr>
        <p:spPr>
          <a:xfrm>
            <a:off x="365760" y="621792"/>
            <a:ext cx="4205050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637284"/>
                </a:solidFill>
                <a:latin typeface="Arial"/>
              </a:defRPr>
            </a:pPr>
            <a:r>
              <a:t>Qualitative schematic • not to scale</a:t>
            </a:r>
          </a:p>
        </p:txBody>
      </p:sp>
      <p:sp>
        <p:nvSpPr>
          <p:cNvPr id="70" name="ellipse"/>
          <p:cNvSpPr/>
          <p:nvPr/>
        </p:nvSpPr>
        <p:spPr>
          <a:xfrm>
            <a:off x="850392" y="1170432"/>
            <a:ext cx="859536" cy="676656"/>
          </a:xfrm>
          <a:prstGeom prst="ellipse">
            <a:avLst/>
          </a:prstGeom>
          <a:solidFill>
            <a:srgbClr val="EFF9F7"/>
          </a:solidFill>
          <a:ln w="23774" cap="rnd">
            <a:solidFill>
              <a:srgbClr val="087F7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l−"/>
          <p:cNvSpPr txBox="1"/>
          <p:nvPr/>
        </p:nvSpPr>
        <p:spPr>
          <a:xfrm>
            <a:off x="1033932" y="1307592"/>
            <a:ext cx="772260" cy="5129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448" b="1">
                <a:solidFill>
                  <a:srgbClr val="087F78"/>
                </a:solidFill>
                <a:latin typeface="Arial"/>
              </a:defRPr>
            </a:pPr>
            <a:r>
              <a:t>Cl−</a:t>
            </a:r>
          </a:p>
        </p:txBody>
      </p:sp>
      <p:sp>
        <p:nvSpPr>
          <p:cNvPr id="72" name="Chloride"/>
          <p:cNvSpPr txBox="1"/>
          <p:nvPr/>
        </p:nvSpPr>
        <p:spPr>
          <a:xfrm>
            <a:off x="803412" y="1892807"/>
            <a:ext cx="1183922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637284"/>
                </a:solidFill>
                <a:latin typeface="Arial"/>
              </a:defRPr>
            </a:pPr>
            <a:r>
              <a:t>Chloride</a:t>
            </a:r>
          </a:p>
        </p:txBody>
      </p:sp>
      <p:sp>
        <p:nvSpPr>
          <p:cNvPr id="81" name="Acetate"/>
          <p:cNvSpPr txBox="1"/>
          <p:nvPr/>
        </p:nvSpPr>
        <p:spPr>
          <a:xfrm>
            <a:off x="7255987" y="749808"/>
            <a:ext cx="1098662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637284"/>
                </a:solidFill>
                <a:latin typeface="Arial"/>
              </a:defRPr>
            </a:pPr>
            <a:r>
              <a:t>Acetate</a:t>
            </a:r>
          </a:p>
        </p:txBody>
      </p:sp>
      <p:sp>
        <p:nvSpPr>
          <p:cNvPr id="82" name="path"/>
          <p:cNvSpPr/>
          <p:nvPr/>
        </p:nvSpPr>
        <p:spPr>
          <a:xfrm>
            <a:off x="1700784" y="1636776"/>
            <a:ext cx="402336" cy="658368"/>
          </a:xfrm>
          <a:custGeom>
            <a:avLst/>
            <a:gdLst/>
            <a:ahLst/>
            <a:cxnLst/>
            <a:rect l="l" t="t" r="r" b="b"/>
            <a:pathLst>
              <a:path w="44" h="72">
                <a:moveTo>
                  <a:pt x="44" y="72"/>
                </a:moveTo>
                <a:lnTo>
                  <a:pt x="0" y="0"/>
                </a:lnTo>
              </a:path>
            </a:pathLst>
          </a:custGeom>
          <a:noFill/>
          <a:ln w="25603" cap="rnd">
            <a:solidFill>
              <a:srgbClr val="BE596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path"/>
          <p:cNvSpPr/>
          <p:nvPr/>
        </p:nvSpPr>
        <p:spPr>
          <a:xfrm>
            <a:off x="5843016" y="1280160"/>
            <a:ext cx="1709928" cy="969264"/>
          </a:xfrm>
          <a:custGeom>
            <a:avLst/>
            <a:gdLst/>
            <a:ahLst/>
            <a:cxnLst/>
            <a:rect l="l" t="t" r="r" b="b"/>
            <a:pathLst>
              <a:path w="187" h="106">
                <a:moveTo>
                  <a:pt x="0" y="106"/>
                </a:moveTo>
                <a:lnTo>
                  <a:pt x="187" y="0"/>
                </a:lnTo>
              </a:path>
            </a:pathLst>
          </a:custGeom>
          <a:noFill/>
          <a:ln w="25603" cap="rnd">
            <a:solidFill>
              <a:srgbClr val="BE596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llipse"/>
          <p:cNvSpPr/>
          <p:nvPr/>
        </p:nvSpPr>
        <p:spPr>
          <a:xfrm>
            <a:off x="850392" y="5029200"/>
            <a:ext cx="548640" cy="548640"/>
          </a:xfrm>
          <a:prstGeom prst="ellipse">
            <a:avLst/>
          </a:prstGeom>
          <a:solidFill>
            <a:srgbClr val="FFF8EE"/>
          </a:solidFill>
          <a:ln w="25603" cap="rnd">
            <a:solidFill>
              <a:srgbClr val="D5822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+"/>
          <p:cNvSpPr txBox="1"/>
          <p:nvPr/>
        </p:nvSpPr>
        <p:spPr>
          <a:xfrm>
            <a:off x="1044612" y="5120640"/>
            <a:ext cx="407086" cy="4526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160" b="1">
                <a:solidFill>
                  <a:srgbClr val="D58228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86" name="ellipse"/>
          <p:cNvSpPr/>
          <p:nvPr/>
        </p:nvSpPr>
        <p:spPr>
          <a:xfrm>
            <a:off x="7726679" y="4983480"/>
            <a:ext cx="548640" cy="548640"/>
          </a:xfrm>
          <a:prstGeom prst="ellipse">
            <a:avLst/>
          </a:prstGeom>
          <a:solidFill>
            <a:srgbClr val="FFF8EE"/>
          </a:solidFill>
          <a:ln w="25603" cap="rnd">
            <a:solidFill>
              <a:srgbClr val="D5822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+"/>
          <p:cNvSpPr txBox="1"/>
          <p:nvPr/>
        </p:nvSpPr>
        <p:spPr>
          <a:xfrm>
            <a:off x="7920900" y="5074920"/>
            <a:ext cx="407086" cy="4526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160" b="1">
                <a:solidFill>
                  <a:srgbClr val="D58228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88" name="Glucan connectivity; stereochemistry omitted"/>
          <p:cNvSpPr txBox="1"/>
          <p:nvPr/>
        </p:nvSpPr>
        <p:spPr>
          <a:xfrm>
            <a:off x="2031995" y="5340096"/>
            <a:ext cx="5310438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637284"/>
                </a:solidFill>
                <a:latin typeface="Arial"/>
              </a:defRPr>
            </a:pPr>
            <a:r>
              <a:t>Glucan connectivity; stereochemistry omitted</a:t>
            </a:r>
          </a:p>
        </p:txBody>
      </p:sp>
      <p:sp>
        <p:nvSpPr>
          <p:cNvPr id="89" name="path"/>
          <p:cNvSpPr/>
          <p:nvPr/>
        </p:nvSpPr>
        <p:spPr>
          <a:xfrm>
            <a:off x="640080" y="6044184"/>
            <a:ext cx="530352" cy="0"/>
          </a:xfrm>
          <a:custGeom>
            <a:avLst/>
            <a:gdLst/>
            <a:ahLst/>
            <a:cxnLst/>
            <a:rect l="l" t="t" r="r" b="b"/>
            <a:pathLst>
              <a:path w="58" h="0">
                <a:moveTo>
                  <a:pt x="0" y="0"/>
                </a:moveTo>
                <a:lnTo>
                  <a:pt x="58" y="0"/>
                </a:lnTo>
              </a:path>
            </a:pathLst>
          </a:custGeom>
          <a:noFill/>
          <a:ln w="25603" cap="rnd">
            <a:solidFill>
              <a:srgbClr val="BE596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roposed H-bond contact"/>
          <p:cNvSpPr txBox="1"/>
          <p:nvPr/>
        </p:nvSpPr>
        <p:spPr>
          <a:xfrm>
            <a:off x="1325880" y="5879592"/>
            <a:ext cx="3133916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223043"/>
                </a:solidFill>
                <a:latin typeface="Arial"/>
              </a:defRPr>
            </a:pPr>
            <a:r>
              <a:t>Proposed H-bond contact</a:t>
            </a:r>
          </a:p>
        </p:txBody>
      </p:sp>
      <p:sp>
        <p:nvSpPr>
          <p:cNvPr id="91" name="ellipse"/>
          <p:cNvSpPr/>
          <p:nvPr/>
        </p:nvSpPr>
        <p:spPr>
          <a:xfrm>
            <a:off x="5824728" y="5824728"/>
            <a:ext cx="420624" cy="420624"/>
          </a:xfrm>
          <a:prstGeom prst="ellipse">
            <a:avLst/>
          </a:prstGeom>
          <a:solidFill>
            <a:srgbClr val="FFF8EE"/>
          </a:solidFill>
          <a:ln w="25603" cap="rnd">
            <a:solidFill>
              <a:srgbClr val="D5822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+"/>
          <p:cNvSpPr txBox="1"/>
          <p:nvPr/>
        </p:nvSpPr>
        <p:spPr>
          <a:xfrm>
            <a:off x="5954940" y="5852160"/>
            <a:ext cx="407086" cy="4526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160" b="1">
                <a:solidFill>
                  <a:srgbClr val="D58228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93" name="IL cation"/>
          <p:cNvSpPr txBox="1"/>
          <p:nvPr/>
        </p:nvSpPr>
        <p:spPr>
          <a:xfrm>
            <a:off x="6419088" y="5879592"/>
            <a:ext cx="1198299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223043"/>
                </a:solidFill>
                <a:latin typeface="Arial"/>
              </a:defRPr>
            </a:pPr>
            <a:r>
              <a:t>IL cation</a:t>
            </a:r>
          </a:p>
        </p:txBody>
      </p:sp>
      <p:grpSp>
        <p:nvGrpSpPr>
          <p:cNvPr id="94" name="glucan_connectivity — editable vector group"/>
          <p:cNvGrpSpPr/>
          <p:nvPr/>
        </p:nvGrpSpPr>
        <p:grpSpPr>
          <a:xfrm>
            <a:off x="1672437" y="2163470"/>
            <a:ext cx="6066318" cy="3012033"/>
            <a:chOff x="1672437" y="2163470"/>
            <a:chExt cx="6066318" cy="3012033"/>
          </a:xfrm>
        </p:grpSpPr>
        <p:sp>
          <p:nvSpPr>
            <p:cNvPr id="4" name="glucan_connectivity"/>
            <p:cNvSpPr/>
            <p:nvPr/>
          </p:nvSpPr>
          <p:spPr>
            <a:xfrm>
              <a:off x="2423160" y="2432304"/>
              <a:ext cx="356616" cy="201168"/>
            </a:xfrm>
            <a:custGeom>
              <a:avLst/>
              <a:gdLst/>
              <a:ahLst/>
              <a:cxnLst/>
              <a:rect l="l" t="t" r="r" b="b"/>
              <a:pathLst>
                <a:path w="39" h="22">
                  <a:moveTo>
                    <a:pt x="0" y="0"/>
                  </a:moveTo>
                  <a:lnTo>
                    <a:pt x="39" y="22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glucan_connectivity"/>
            <p:cNvSpPr/>
            <p:nvPr/>
          </p:nvSpPr>
          <p:spPr>
            <a:xfrm>
              <a:off x="2779776" y="2633472"/>
              <a:ext cx="18288" cy="502920"/>
            </a:xfrm>
            <a:custGeom>
              <a:avLst/>
              <a:gdLst/>
              <a:ahLst/>
              <a:cxnLst/>
              <a:rect l="l" t="t" r="r" b="b"/>
              <a:pathLst>
                <a:path w="2" h="55">
                  <a:moveTo>
                    <a:pt x="0" y="0"/>
                  </a:moveTo>
                  <a:lnTo>
                    <a:pt x="2" y="55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glucan_connectivity"/>
            <p:cNvSpPr/>
            <p:nvPr/>
          </p:nvSpPr>
          <p:spPr>
            <a:xfrm>
              <a:off x="2798064" y="3136392"/>
              <a:ext cx="347472" cy="192024"/>
            </a:xfrm>
            <a:custGeom>
              <a:avLst/>
              <a:gdLst/>
              <a:ahLst/>
              <a:cxnLst/>
              <a:rect l="l" t="t" r="r" b="b"/>
              <a:pathLst>
                <a:path w="38" h="21">
                  <a:moveTo>
                    <a:pt x="0" y="0"/>
                  </a:moveTo>
                  <a:lnTo>
                    <a:pt x="38" y="21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glucan_connectivity"/>
            <p:cNvSpPr/>
            <p:nvPr/>
          </p:nvSpPr>
          <p:spPr>
            <a:xfrm>
              <a:off x="3246120" y="3520440"/>
              <a:ext cx="9144" cy="365760"/>
            </a:xfrm>
            <a:custGeom>
              <a:avLst/>
              <a:gdLst/>
              <a:ahLst/>
              <a:cxnLst/>
              <a:rect l="l" t="t" r="r" b="b"/>
              <a:pathLst>
                <a:path w="1" h="40">
                  <a:moveTo>
                    <a:pt x="0" y="0"/>
                  </a:moveTo>
                  <a:lnTo>
                    <a:pt x="1" y="4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glucan_connectivity"/>
            <p:cNvSpPr/>
            <p:nvPr/>
          </p:nvSpPr>
          <p:spPr>
            <a:xfrm>
              <a:off x="2816352" y="3886200"/>
              <a:ext cx="438912" cy="265176"/>
            </a:xfrm>
            <a:custGeom>
              <a:avLst/>
              <a:gdLst/>
              <a:ahLst/>
              <a:cxnLst/>
              <a:rect l="l" t="t" r="r" b="b"/>
              <a:pathLst>
                <a:path w="48" h="29">
                  <a:moveTo>
                    <a:pt x="48" y="0"/>
                  </a:moveTo>
                  <a:lnTo>
                    <a:pt x="0" y="29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glucan_connectivity"/>
            <p:cNvSpPr/>
            <p:nvPr/>
          </p:nvSpPr>
          <p:spPr>
            <a:xfrm>
              <a:off x="2816352" y="4151376"/>
              <a:ext cx="18288" cy="420624"/>
            </a:xfrm>
            <a:custGeom>
              <a:avLst/>
              <a:gdLst/>
              <a:ahLst/>
              <a:cxnLst/>
              <a:rect l="l" t="t" r="r" b="b"/>
              <a:pathLst>
                <a:path w="2" h="46">
                  <a:moveTo>
                    <a:pt x="0" y="0"/>
                  </a:moveTo>
                  <a:lnTo>
                    <a:pt x="2" y="46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glucan_connectivity"/>
            <p:cNvSpPr/>
            <p:nvPr/>
          </p:nvSpPr>
          <p:spPr>
            <a:xfrm>
              <a:off x="2377440" y="3913632"/>
              <a:ext cx="438912" cy="237744"/>
            </a:xfrm>
            <a:custGeom>
              <a:avLst/>
              <a:gdLst/>
              <a:ahLst/>
              <a:cxnLst/>
              <a:rect l="l" t="t" r="r" b="b"/>
              <a:pathLst>
                <a:path w="48" h="26">
                  <a:moveTo>
                    <a:pt x="48" y="26"/>
                  </a:moveTo>
                  <a:lnTo>
                    <a:pt x="0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glucan_connectivity"/>
            <p:cNvSpPr/>
            <p:nvPr/>
          </p:nvSpPr>
          <p:spPr>
            <a:xfrm>
              <a:off x="2029968" y="3913632"/>
              <a:ext cx="347472" cy="210312"/>
            </a:xfrm>
            <a:custGeom>
              <a:avLst/>
              <a:gdLst/>
              <a:ahLst/>
              <a:cxnLst/>
              <a:rect l="l" t="t" r="r" b="b"/>
              <a:pathLst>
                <a:path w="38" h="23">
                  <a:moveTo>
                    <a:pt x="38" y="0"/>
                  </a:moveTo>
                  <a:lnTo>
                    <a:pt x="0" y="23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glucan_connectivity"/>
            <p:cNvSpPr/>
            <p:nvPr/>
          </p:nvSpPr>
          <p:spPr>
            <a:xfrm>
              <a:off x="2359152" y="3401568"/>
              <a:ext cx="18288" cy="512064"/>
            </a:xfrm>
            <a:custGeom>
              <a:avLst/>
              <a:gdLst/>
              <a:ahLst/>
              <a:cxnLst/>
              <a:rect l="l" t="t" r="r" b="b"/>
              <a:pathLst>
                <a:path w="2" h="56">
                  <a:moveTo>
                    <a:pt x="2" y="56"/>
                  </a:moveTo>
                  <a:lnTo>
                    <a:pt x="0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glucan_connectivity"/>
            <p:cNvSpPr/>
            <p:nvPr/>
          </p:nvSpPr>
          <p:spPr>
            <a:xfrm>
              <a:off x="2002536" y="3209544"/>
              <a:ext cx="356616" cy="192024"/>
            </a:xfrm>
            <a:custGeom>
              <a:avLst/>
              <a:gdLst/>
              <a:ahLst/>
              <a:cxnLst/>
              <a:rect l="l" t="t" r="r" b="b"/>
              <a:pathLst>
                <a:path w="39" h="21">
                  <a:moveTo>
                    <a:pt x="39" y="21"/>
                  </a:moveTo>
                  <a:lnTo>
                    <a:pt x="0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glucan_connectivity"/>
            <p:cNvSpPr/>
            <p:nvPr/>
          </p:nvSpPr>
          <p:spPr>
            <a:xfrm>
              <a:off x="2359152" y="3136392"/>
              <a:ext cx="438912" cy="265176"/>
            </a:xfrm>
            <a:custGeom>
              <a:avLst/>
              <a:gdLst/>
              <a:ahLst/>
              <a:cxnLst/>
              <a:rect l="l" t="t" r="r" b="b"/>
              <a:pathLst>
                <a:path w="48" h="29">
                  <a:moveTo>
                    <a:pt x="0" y="29"/>
                  </a:moveTo>
                  <a:lnTo>
                    <a:pt x="48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glucan_connectivity"/>
            <p:cNvSpPr/>
            <p:nvPr/>
          </p:nvSpPr>
          <p:spPr>
            <a:xfrm>
              <a:off x="4251960" y="4617720"/>
              <a:ext cx="347472" cy="210312"/>
            </a:xfrm>
            <a:custGeom>
              <a:avLst/>
              <a:gdLst/>
              <a:ahLst/>
              <a:cxnLst/>
              <a:rect l="l" t="t" r="r" b="b"/>
              <a:pathLst>
                <a:path w="38" h="23">
                  <a:moveTo>
                    <a:pt x="0" y="23"/>
                  </a:moveTo>
                  <a:lnTo>
                    <a:pt x="38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glucan_connectivity"/>
            <p:cNvSpPr/>
            <p:nvPr/>
          </p:nvSpPr>
          <p:spPr>
            <a:xfrm>
              <a:off x="4581144" y="4105656"/>
              <a:ext cx="18288" cy="512064"/>
            </a:xfrm>
            <a:custGeom>
              <a:avLst/>
              <a:gdLst/>
              <a:ahLst/>
              <a:cxnLst/>
              <a:rect l="l" t="t" r="r" b="b"/>
              <a:pathLst>
                <a:path w="2" h="56">
                  <a:moveTo>
                    <a:pt x="2" y="56"/>
                  </a:moveTo>
                  <a:lnTo>
                    <a:pt x="0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glucan_connectivity"/>
            <p:cNvSpPr/>
            <p:nvPr/>
          </p:nvSpPr>
          <p:spPr>
            <a:xfrm>
              <a:off x="4581144" y="3895344"/>
              <a:ext cx="338328" cy="210312"/>
            </a:xfrm>
            <a:custGeom>
              <a:avLst/>
              <a:gdLst/>
              <a:ahLst/>
              <a:cxnLst/>
              <a:rect l="l" t="t" r="r" b="b"/>
              <a:pathLst>
                <a:path w="37" h="23">
                  <a:moveTo>
                    <a:pt x="0" y="23"/>
                  </a:moveTo>
                  <a:lnTo>
                    <a:pt x="37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glucan_connectivity"/>
            <p:cNvSpPr/>
            <p:nvPr/>
          </p:nvSpPr>
          <p:spPr>
            <a:xfrm>
              <a:off x="5001768" y="3328416"/>
              <a:ext cx="9144" cy="420624"/>
            </a:xfrm>
            <a:custGeom>
              <a:avLst/>
              <a:gdLst/>
              <a:ahLst/>
              <a:cxnLst/>
              <a:rect l="l" t="t" r="r" b="b"/>
              <a:pathLst>
                <a:path w="1" h="46">
                  <a:moveTo>
                    <a:pt x="1" y="46"/>
                  </a:moveTo>
                  <a:lnTo>
                    <a:pt x="0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glucan_connectivity"/>
            <p:cNvSpPr/>
            <p:nvPr/>
          </p:nvSpPr>
          <p:spPr>
            <a:xfrm>
              <a:off x="4553712" y="3090672"/>
              <a:ext cx="448056" cy="237744"/>
            </a:xfrm>
            <a:custGeom>
              <a:avLst/>
              <a:gdLst/>
              <a:ahLst/>
              <a:cxnLst/>
              <a:rect l="l" t="t" r="r" b="b"/>
              <a:pathLst>
                <a:path w="49" h="26">
                  <a:moveTo>
                    <a:pt x="49" y="26"/>
                  </a:moveTo>
                  <a:lnTo>
                    <a:pt x="0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glucan_connectivity"/>
            <p:cNvSpPr/>
            <p:nvPr/>
          </p:nvSpPr>
          <p:spPr>
            <a:xfrm>
              <a:off x="4544568" y="2724912"/>
              <a:ext cx="9144" cy="365760"/>
            </a:xfrm>
            <a:custGeom>
              <a:avLst/>
              <a:gdLst/>
              <a:ahLst/>
              <a:cxnLst/>
              <a:rect l="l" t="t" r="r" b="b"/>
              <a:pathLst>
                <a:path w="1" h="40">
                  <a:moveTo>
                    <a:pt x="1" y="40"/>
                  </a:moveTo>
                  <a:lnTo>
                    <a:pt x="0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glucan_connectivity"/>
            <p:cNvSpPr/>
            <p:nvPr/>
          </p:nvSpPr>
          <p:spPr>
            <a:xfrm>
              <a:off x="4123944" y="3090672"/>
              <a:ext cx="429768" cy="265176"/>
            </a:xfrm>
            <a:custGeom>
              <a:avLst/>
              <a:gdLst/>
              <a:ahLst/>
              <a:cxnLst/>
              <a:rect l="l" t="t" r="r" b="b"/>
              <a:pathLst>
                <a:path w="47" h="29">
                  <a:moveTo>
                    <a:pt x="47" y="0"/>
                  </a:moveTo>
                  <a:lnTo>
                    <a:pt x="0" y="29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glucan_connectivity"/>
            <p:cNvSpPr/>
            <p:nvPr/>
          </p:nvSpPr>
          <p:spPr>
            <a:xfrm>
              <a:off x="3767328" y="3163824"/>
              <a:ext cx="356616" cy="192024"/>
            </a:xfrm>
            <a:custGeom>
              <a:avLst/>
              <a:gdLst/>
              <a:ahLst/>
              <a:cxnLst/>
              <a:rect l="l" t="t" r="r" b="b"/>
              <a:pathLst>
                <a:path w="39" h="21">
                  <a:moveTo>
                    <a:pt x="39" y="21"/>
                  </a:moveTo>
                  <a:lnTo>
                    <a:pt x="0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glucan_connectivity"/>
            <p:cNvSpPr/>
            <p:nvPr/>
          </p:nvSpPr>
          <p:spPr>
            <a:xfrm>
              <a:off x="4123944" y="3355848"/>
              <a:ext cx="9144" cy="512064"/>
            </a:xfrm>
            <a:custGeom>
              <a:avLst/>
              <a:gdLst/>
              <a:ahLst/>
              <a:cxnLst/>
              <a:rect l="l" t="t" r="r" b="b"/>
              <a:pathLst>
                <a:path w="1" h="56">
                  <a:moveTo>
                    <a:pt x="0" y="0"/>
                  </a:moveTo>
                  <a:lnTo>
                    <a:pt x="1" y="56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glucan_connectivity"/>
            <p:cNvSpPr/>
            <p:nvPr/>
          </p:nvSpPr>
          <p:spPr>
            <a:xfrm>
              <a:off x="3794760" y="3867912"/>
              <a:ext cx="338328" cy="201168"/>
            </a:xfrm>
            <a:custGeom>
              <a:avLst/>
              <a:gdLst/>
              <a:ahLst/>
              <a:cxnLst/>
              <a:rect l="l" t="t" r="r" b="b"/>
              <a:pathLst>
                <a:path w="37" h="22">
                  <a:moveTo>
                    <a:pt x="37" y="0"/>
                  </a:moveTo>
                  <a:lnTo>
                    <a:pt x="0" y="22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glucan_connectivity"/>
            <p:cNvSpPr/>
            <p:nvPr/>
          </p:nvSpPr>
          <p:spPr>
            <a:xfrm>
              <a:off x="4133088" y="3867912"/>
              <a:ext cx="448056" cy="237744"/>
            </a:xfrm>
            <a:custGeom>
              <a:avLst/>
              <a:gdLst/>
              <a:ahLst/>
              <a:cxnLst/>
              <a:rect l="l" t="t" r="r" b="b"/>
              <a:pathLst>
                <a:path w="49" h="26">
                  <a:moveTo>
                    <a:pt x="0" y="0"/>
                  </a:moveTo>
                  <a:lnTo>
                    <a:pt x="49" y="26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glucan_connectivity"/>
            <p:cNvSpPr/>
            <p:nvPr/>
          </p:nvSpPr>
          <p:spPr>
            <a:xfrm>
              <a:off x="5943600" y="2340864"/>
              <a:ext cx="356616" cy="192024"/>
            </a:xfrm>
            <a:custGeom>
              <a:avLst/>
              <a:gdLst/>
              <a:ahLst/>
              <a:cxnLst/>
              <a:rect l="l" t="t" r="r" b="b"/>
              <a:pathLst>
                <a:path w="39" h="21">
                  <a:moveTo>
                    <a:pt x="0" y="0"/>
                  </a:moveTo>
                  <a:lnTo>
                    <a:pt x="39" y="21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glucan_connectivity"/>
            <p:cNvSpPr/>
            <p:nvPr/>
          </p:nvSpPr>
          <p:spPr>
            <a:xfrm>
              <a:off x="6300216" y="2532888"/>
              <a:ext cx="18288" cy="512064"/>
            </a:xfrm>
            <a:custGeom>
              <a:avLst/>
              <a:gdLst/>
              <a:ahLst/>
              <a:cxnLst/>
              <a:rect l="l" t="t" r="r" b="b"/>
              <a:pathLst>
                <a:path w="2" h="56">
                  <a:moveTo>
                    <a:pt x="0" y="0"/>
                  </a:moveTo>
                  <a:lnTo>
                    <a:pt x="2" y="56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glucan_connectivity"/>
            <p:cNvSpPr/>
            <p:nvPr/>
          </p:nvSpPr>
          <p:spPr>
            <a:xfrm>
              <a:off x="6318504" y="3044952"/>
              <a:ext cx="347472" cy="192024"/>
            </a:xfrm>
            <a:custGeom>
              <a:avLst/>
              <a:gdLst/>
              <a:ahLst/>
              <a:cxnLst/>
              <a:rect l="l" t="t" r="r" b="b"/>
              <a:pathLst>
                <a:path w="38" h="21">
                  <a:moveTo>
                    <a:pt x="0" y="0"/>
                  </a:moveTo>
                  <a:lnTo>
                    <a:pt x="38" y="21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glucan_connectivity"/>
            <p:cNvSpPr/>
            <p:nvPr/>
          </p:nvSpPr>
          <p:spPr>
            <a:xfrm>
              <a:off x="6766560" y="3429000"/>
              <a:ext cx="9144" cy="365760"/>
            </a:xfrm>
            <a:custGeom>
              <a:avLst/>
              <a:gdLst/>
              <a:ahLst/>
              <a:cxnLst/>
              <a:rect l="l" t="t" r="r" b="b"/>
              <a:pathLst>
                <a:path w="1" h="40">
                  <a:moveTo>
                    <a:pt x="0" y="0"/>
                  </a:moveTo>
                  <a:lnTo>
                    <a:pt x="1" y="4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glucan_connectivity"/>
            <p:cNvSpPr/>
            <p:nvPr/>
          </p:nvSpPr>
          <p:spPr>
            <a:xfrm>
              <a:off x="6775704" y="3794760"/>
              <a:ext cx="356616" cy="192024"/>
            </a:xfrm>
            <a:custGeom>
              <a:avLst/>
              <a:gdLst/>
              <a:ahLst/>
              <a:cxnLst/>
              <a:rect l="l" t="t" r="r" b="b"/>
              <a:pathLst>
                <a:path w="39" h="21">
                  <a:moveTo>
                    <a:pt x="0" y="0"/>
                  </a:moveTo>
                  <a:lnTo>
                    <a:pt x="39" y="21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glucan_connectivity"/>
            <p:cNvSpPr/>
            <p:nvPr/>
          </p:nvSpPr>
          <p:spPr>
            <a:xfrm>
              <a:off x="6345936" y="3794760"/>
              <a:ext cx="429768" cy="265176"/>
            </a:xfrm>
            <a:custGeom>
              <a:avLst/>
              <a:gdLst/>
              <a:ahLst/>
              <a:cxnLst/>
              <a:rect l="l" t="t" r="r" b="b"/>
              <a:pathLst>
                <a:path w="47" h="29">
                  <a:moveTo>
                    <a:pt x="47" y="0"/>
                  </a:moveTo>
                  <a:lnTo>
                    <a:pt x="0" y="29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glucan_connectivity"/>
            <p:cNvSpPr/>
            <p:nvPr/>
          </p:nvSpPr>
          <p:spPr>
            <a:xfrm>
              <a:off x="6345936" y="4059936"/>
              <a:ext cx="9144" cy="411480"/>
            </a:xfrm>
            <a:custGeom>
              <a:avLst/>
              <a:gdLst/>
              <a:ahLst/>
              <a:cxnLst/>
              <a:rect l="l" t="t" r="r" b="b"/>
              <a:pathLst>
                <a:path w="1" h="45">
                  <a:moveTo>
                    <a:pt x="0" y="0"/>
                  </a:moveTo>
                  <a:lnTo>
                    <a:pt x="1" y="45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glucan_connectivity"/>
            <p:cNvSpPr/>
            <p:nvPr/>
          </p:nvSpPr>
          <p:spPr>
            <a:xfrm>
              <a:off x="5897880" y="3813048"/>
              <a:ext cx="448056" cy="246888"/>
            </a:xfrm>
            <a:custGeom>
              <a:avLst/>
              <a:gdLst/>
              <a:ahLst/>
              <a:cxnLst/>
              <a:rect l="l" t="t" r="r" b="b"/>
              <a:pathLst>
                <a:path w="49" h="27">
                  <a:moveTo>
                    <a:pt x="49" y="27"/>
                  </a:moveTo>
                  <a:lnTo>
                    <a:pt x="0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glucan_connectivity"/>
            <p:cNvSpPr/>
            <p:nvPr/>
          </p:nvSpPr>
          <p:spPr>
            <a:xfrm>
              <a:off x="5559552" y="3813048"/>
              <a:ext cx="338328" cy="210312"/>
            </a:xfrm>
            <a:custGeom>
              <a:avLst/>
              <a:gdLst/>
              <a:ahLst/>
              <a:cxnLst/>
              <a:rect l="l" t="t" r="r" b="b"/>
              <a:pathLst>
                <a:path w="37" h="23">
                  <a:moveTo>
                    <a:pt x="37" y="0"/>
                  </a:moveTo>
                  <a:lnTo>
                    <a:pt x="0" y="23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glucan_connectivity"/>
            <p:cNvSpPr/>
            <p:nvPr/>
          </p:nvSpPr>
          <p:spPr>
            <a:xfrm>
              <a:off x="5879592" y="3310128"/>
              <a:ext cx="18288" cy="502920"/>
            </a:xfrm>
            <a:custGeom>
              <a:avLst/>
              <a:gdLst/>
              <a:ahLst/>
              <a:cxnLst/>
              <a:rect l="l" t="t" r="r" b="b"/>
              <a:pathLst>
                <a:path w="2" h="55">
                  <a:moveTo>
                    <a:pt x="2" y="55"/>
                  </a:moveTo>
                  <a:lnTo>
                    <a:pt x="0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glucan_connectivity"/>
            <p:cNvSpPr/>
            <p:nvPr/>
          </p:nvSpPr>
          <p:spPr>
            <a:xfrm>
              <a:off x="5532120" y="3118104"/>
              <a:ext cx="347472" cy="192024"/>
            </a:xfrm>
            <a:custGeom>
              <a:avLst/>
              <a:gdLst/>
              <a:ahLst/>
              <a:cxnLst/>
              <a:rect l="l" t="t" r="r" b="b"/>
              <a:pathLst>
                <a:path w="38" h="21">
                  <a:moveTo>
                    <a:pt x="38" y="21"/>
                  </a:moveTo>
                  <a:lnTo>
                    <a:pt x="0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glucan_connectivity"/>
            <p:cNvSpPr/>
            <p:nvPr/>
          </p:nvSpPr>
          <p:spPr>
            <a:xfrm>
              <a:off x="5879592" y="3044952"/>
              <a:ext cx="438912" cy="265176"/>
            </a:xfrm>
            <a:custGeom>
              <a:avLst/>
              <a:gdLst/>
              <a:ahLst/>
              <a:cxnLst/>
              <a:rect l="l" t="t" r="r" b="b"/>
              <a:pathLst>
                <a:path w="48" h="29">
                  <a:moveTo>
                    <a:pt x="0" y="29"/>
                  </a:moveTo>
                  <a:lnTo>
                    <a:pt x="48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glucan_connectivity"/>
            <p:cNvSpPr/>
            <p:nvPr/>
          </p:nvSpPr>
          <p:spPr>
            <a:xfrm>
              <a:off x="3255264" y="3886200"/>
              <a:ext cx="356616" cy="192024"/>
            </a:xfrm>
            <a:custGeom>
              <a:avLst/>
              <a:gdLst/>
              <a:ahLst/>
              <a:cxnLst/>
              <a:rect l="l" t="t" r="r" b="b"/>
              <a:pathLst>
                <a:path w="39" h="21">
                  <a:moveTo>
                    <a:pt x="0" y="0"/>
                  </a:moveTo>
                  <a:lnTo>
                    <a:pt x="39" y="21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glucan_connectivity"/>
            <p:cNvSpPr/>
            <p:nvPr/>
          </p:nvSpPr>
          <p:spPr>
            <a:xfrm>
              <a:off x="5001768" y="3127248"/>
              <a:ext cx="338328" cy="201168"/>
            </a:xfrm>
            <a:custGeom>
              <a:avLst/>
              <a:gdLst/>
              <a:ahLst/>
              <a:cxnLst/>
              <a:rect l="l" t="t" r="r" b="b"/>
              <a:pathLst>
                <a:path w="37" h="22">
                  <a:moveTo>
                    <a:pt x="0" y="22"/>
                  </a:moveTo>
                  <a:lnTo>
                    <a:pt x="37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glucan_connectivity"/>
            <p:cNvSpPr/>
            <p:nvPr/>
          </p:nvSpPr>
          <p:spPr>
            <a:xfrm>
              <a:off x="2761488" y="2615184"/>
              <a:ext cx="18288" cy="36576"/>
            </a:xfrm>
            <a:custGeom>
              <a:avLst/>
              <a:gdLst/>
              <a:ahLst/>
              <a:cxnLst/>
              <a:rect l="l" t="t" r="r" b="b"/>
              <a:pathLst>
                <a:path w="2" h="4">
                  <a:moveTo>
                    <a:pt x="0" y="0"/>
                  </a:moveTo>
                  <a:lnTo>
                    <a:pt x="2" y="2"/>
                  </a:lnTo>
                  <a:lnTo>
                    <a:pt x="2" y="4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glucan_connectivity"/>
            <p:cNvSpPr/>
            <p:nvPr/>
          </p:nvSpPr>
          <p:spPr>
            <a:xfrm>
              <a:off x="4581144" y="4590288"/>
              <a:ext cx="18288" cy="36576"/>
            </a:xfrm>
            <a:custGeom>
              <a:avLst/>
              <a:gdLst/>
              <a:ahLst/>
              <a:cxnLst/>
              <a:rect l="l" t="t" r="r" b="b"/>
              <a:pathLst>
                <a:path w="2" h="4">
                  <a:moveTo>
                    <a:pt x="0" y="4"/>
                  </a:move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glucan_connectivity"/>
            <p:cNvSpPr/>
            <p:nvPr/>
          </p:nvSpPr>
          <p:spPr>
            <a:xfrm>
              <a:off x="6281928" y="2523744"/>
              <a:ext cx="18288" cy="36576"/>
            </a:xfrm>
            <a:custGeom>
              <a:avLst/>
              <a:gdLst/>
              <a:ahLst/>
              <a:cxnLst/>
              <a:rect l="l" t="t" r="r" b="b"/>
              <a:pathLst>
                <a:path w="2" h="4">
                  <a:moveTo>
                    <a:pt x="0" y="0"/>
                  </a:moveTo>
                  <a:lnTo>
                    <a:pt x="2" y="1"/>
                  </a:lnTo>
                  <a:lnTo>
                    <a:pt x="2" y="4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H"/>
            <p:cNvSpPr txBox="1"/>
            <p:nvPr/>
          </p:nvSpPr>
          <p:spPr>
            <a:xfrm>
              <a:off x="2092147" y="2258568"/>
              <a:ext cx="415326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H</a:t>
              </a:r>
            </a:p>
          </p:txBody>
        </p:sp>
        <p:sp>
          <p:nvSpPr>
            <p:cNvPr id="44" name="O"/>
            <p:cNvSpPr txBox="1"/>
            <p:nvPr/>
          </p:nvSpPr>
          <p:spPr>
            <a:xfrm>
              <a:off x="2255824" y="2258568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45" name="O"/>
            <p:cNvSpPr txBox="1"/>
            <p:nvPr/>
          </p:nvSpPr>
          <p:spPr>
            <a:xfrm>
              <a:off x="3163824" y="3251606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46" name="O"/>
            <p:cNvSpPr txBox="1"/>
            <p:nvPr/>
          </p:nvSpPr>
          <p:spPr>
            <a:xfrm>
              <a:off x="2757830" y="4534509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47" name="H"/>
            <p:cNvSpPr txBox="1"/>
            <p:nvPr/>
          </p:nvSpPr>
          <p:spPr>
            <a:xfrm>
              <a:off x="2934309" y="4534509"/>
              <a:ext cx="415326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H</a:t>
              </a:r>
            </a:p>
          </p:txBody>
        </p:sp>
        <p:sp>
          <p:nvSpPr>
            <p:cNvPr id="48" name="H"/>
            <p:cNvSpPr txBox="1"/>
            <p:nvPr/>
          </p:nvSpPr>
          <p:spPr>
            <a:xfrm>
              <a:off x="1699869" y="4049877"/>
              <a:ext cx="415326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H</a:t>
              </a:r>
            </a:p>
          </p:txBody>
        </p:sp>
        <p:sp>
          <p:nvSpPr>
            <p:cNvPr id="49" name="O"/>
            <p:cNvSpPr txBox="1"/>
            <p:nvPr/>
          </p:nvSpPr>
          <p:spPr>
            <a:xfrm>
              <a:off x="1863547" y="4049877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50" name="H"/>
            <p:cNvSpPr txBox="1"/>
            <p:nvPr/>
          </p:nvSpPr>
          <p:spPr>
            <a:xfrm>
              <a:off x="1672437" y="3033064"/>
              <a:ext cx="415326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H</a:t>
              </a:r>
            </a:p>
          </p:txBody>
        </p:sp>
        <p:sp>
          <p:nvSpPr>
            <p:cNvPr id="51" name="O"/>
            <p:cNvSpPr txBox="1"/>
            <p:nvPr/>
          </p:nvSpPr>
          <p:spPr>
            <a:xfrm>
              <a:off x="1836115" y="3033064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52" name="H"/>
            <p:cNvSpPr txBox="1"/>
            <p:nvPr/>
          </p:nvSpPr>
          <p:spPr>
            <a:xfrm>
              <a:off x="3921861" y="4753051"/>
              <a:ext cx="415326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H</a:t>
              </a:r>
            </a:p>
          </p:txBody>
        </p:sp>
        <p:sp>
          <p:nvSpPr>
            <p:cNvPr id="53" name="O"/>
            <p:cNvSpPr txBox="1"/>
            <p:nvPr/>
          </p:nvSpPr>
          <p:spPr>
            <a:xfrm>
              <a:off x="4085539" y="4753051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54" name="O"/>
            <p:cNvSpPr txBox="1"/>
            <p:nvPr/>
          </p:nvSpPr>
          <p:spPr>
            <a:xfrm>
              <a:off x="4938674" y="3712463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55" name="O"/>
            <p:cNvSpPr txBox="1"/>
            <p:nvPr/>
          </p:nvSpPr>
          <p:spPr>
            <a:xfrm>
              <a:off x="4464100" y="2453335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56" name="H"/>
            <p:cNvSpPr txBox="1"/>
            <p:nvPr/>
          </p:nvSpPr>
          <p:spPr>
            <a:xfrm>
              <a:off x="4640580" y="2453335"/>
              <a:ext cx="415326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H</a:t>
              </a:r>
            </a:p>
          </p:txBody>
        </p:sp>
        <p:sp>
          <p:nvSpPr>
            <p:cNvPr id="57" name="H"/>
            <p:cNvSpPr txBox="1"/>
            <p:nvPr/>
          </p:nvSpPr>
          <p:spPr>
            <a:xfrm>
              <a:off x="3433572" y="2985516"/>
              <a:ext cx="415326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H</a:t>
              </a:r>
            </a:p>
          </p:txBody>
        </p:sp>
        <p:sp>
          <p:nvSpPr>
            <p:cNvPr id="58" name="O"/>
            <p:cNvSpPr txBox="1"/>
            <p:nvPr/>
          </p:nvSpPr>
          <p:spPr>
            <a:xfrm>
              <a:off x="3597249" y="2985516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59" name="O"/>
            <p:cNvSpPr txBox="1"/>
            <p:nvPr/>
          </p:nvSpPr>
          <p:spPr>
            <a:xfrm>
              <a:off x="3624681" y="4002328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60" name="H"/>
            <p:cNvSpPr txBox="1"/>
            <p:nvPr/>
          </p:nvSpPr>
          <p:spPr>
            <a:xfrm>
              <a:off x="5614416" y="2163470"/>
              <a:ext cx="415326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H</a:t>
              </a:r>
            </a:p>
          </p:txBody>
        </p:sp>
        <p:sp>
          <p:nvSpPr>
            <p:cNvPr id="61" name="O"/>
            <p:cNvSpPr txBox="1"/>
            <p:nvPr/>
          </p:nvSpPr>
          <p:spPr>
            <a:xfrm>
              <a:off x="5778093" y="2163470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62" name="O"/>
            <p:cNvSpPr txBox="1"/>
            <p:nvPr/>
          </p:nvSpPr>
          <p:spPr>
            <a:xfrm>
              <a:off x="6686092" y="3156508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63" name="O"/>
            <p:cNvSpPr txBox="1"/>
            <p:nvPr/>
          </p:nvSpPr>
          <p:spPr>
            <a:xfrm>
              <a:off x="7146950" y="3907231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64" name="H"/>
            <p:cNvSpPr txBox="1"/>
            <p:nvPr/>
          </p:nvSpPr>
          <p:spPr>
            <a:xfrm>
              <a:off x="7323429" y="3907231"/>
              <a:ext cx="415326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H</a:t>
              </a:r>
            </a:p>
          </p:txBody>
        </p:sp>
        <p:sp>
          <p:nvSpPr>
            <p:cNvPr id="65" name="O"/>
            <p:cNvSpPr txBox="1"/>
            <p:nvPr/>
          </p:nvSpPr>
          <p:spPr>
            <a:xfrm>
              <a:off x="6280099" y="4439412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66" name="H"/>
            <p:cNvSpPr txBox="1"/>
            <p:nvPr/>
          </p:nvSpPr>
          <p:spPr>
            <a:xfrm>
              <a:off x="6456578" y="4439412"/>
              <a:ext cx="415326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H</a:t>
              </a:r>
            </a:p>
          </p:txBody>
        </p:sp>
        <p:sp>
          <p:nvSpPr>
            <p:cNvPr id="67" name="H"/>
            <p:cNvSpPr txBox="1"/>
            <p:nvPr/>
          </p:nvSpPr>
          <p:spPr>
            <a:xfrm>
              <a:off x="5222138" y="3954780"/>
              <a:ext cx="415326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H</a:t>
              </a:r>
            </a:p>
          </p:txBody>
        </p:sp>
        <p:sp>
          <p:nvSpPr>
            <p:cNvPr id="68" name="O"/>
            <p:cNvSpPr txBox="1"/>
            <p:nvPr/>
          </p:nvSpPr>
          <p:spPr>
            <a:xfrm>
              <a:off x="5385816" y="3954780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69" name="O"/>
            <p:cNvSpPr txBox="1"/>
            <p:nvPr/>
          </p:nvSpPr>
          <p:spPr>
            <a:xfrm>
              <a:off x="5358384" y="2937967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</p:grpSp>
      <p:grpSp>
        <p:nvGrpSpPr>
          <p:cNvPr id="95" name="acetate — editable vector group"/>
          <p:cNvGrpSpPr/>
          <p:nvPr/>
        </p:nvGrpSpPr>
        <p:grpSpPr>
          <a:xfrm>
            <a:off x="7150608" y="1061618"/>
            <a:ext cx="1430845" cy="1367027"/>
            <a:chOff x="7150608" y="1061618"/>
            <a:chExt cx="1430845" cy="1367027"/>
          </a:xfrm>
        </p:grpSpPr>
        <p:sp>
          <p:nvSpPr>
            <p:cNvPr id="73" name="acetate"/>
            <p:cNvSpPr/>
            <p:nvPr/>
          </p:nvSpPr>
          <p:spPr>
            <a:xfrm>
              <a:off x="7150608" y="1819656"/>
              <a:ext cx="539496" cy="310896"/>
            </a:xfrm>
            <a:custGeom>
              <a:avLst/>
              <a:gdLst/>
              <a:ahLst/>
              <a:cxnLst/>
              <a:rect l="l" t="t" r="r" b="b"/>
              <a:pathLst>
                <a:path w="59" h="34">
                  <a:moveTo>
                    <a:pt x="0" y="34"/>
                  </a:moveTo>
                  <a:lnTo>
                    <a:pt x="59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acetate"/>
            <p:cNvSpPr/>
            <p:nvPr/>
          </p:nvSpPr>
          <p:spPr>
            <a:xfrm>
              <a:off x="7644384" y="1847088"/>
              <a:ext cx="466344" cy="274320"/>
            </a:xfrm>
            <a:custGeom>
              <a:avLst/>
              <a:gdLst/>
              <a:ahLst/>
              <a:cxnLst/>
              <a:rect l="l" t="t" r="r" b="b"/>
              <a:pathLst>
                <a:path w="51" h="30">
                  <a:moveTo>
                    <a:pt x="0" y="0"/>
                  </a:moveTo>
                  <a:lnTo>
                    <a:pt x="51" y="3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acetate"/>
            <p:cNvSpPr/>
            <p:nvPr/>
          </p:nvSpPr>
          <p:spPr>
            <a:xfrm>
              <a:off x="7690104" y="1773936"/>
              <a:ext cx="466344" cy="265176"/>
            </a:xfrm>
            <a:custGeom>
              <a:avLst/>
              <a:gdLst/>
              <a:ahLst/>
              <a:cxnLst/>
              <a:rect l="l" t="t" r="r" b="b"/>
              <a:pathLst>
                <a:path w="51" h="29">
                  <a:moveTo>
                    <a:pt x="0" y="0"/>
                  </a:moveTo>
                  <a:lnTo>
                    <a:pt x="51" y="29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acetate"/>
            <p:cNvSpPr/>
            <p:nvPr/>
          </p:nvSpPr>
          <p:spPr>
            <a:xfrm>
              <a:off x="7690104" y="1353312"/>
              <a:ext cx="0" cy="466344"/>
            </a:xfrm>
            <a:custGeom>
              <a:avLst/>
              <a:gdLst/>
              <a:ahLst/>
              <a:cxnLst/>
              <a:rect l="l" t="t" r="r" b="b"/>
              <a:pathLst>
                <a:path w="0" h="51">
                  <a:moveTo>
                    <a:pt x="0" y="51"/>
                  </a:moveTo>
                  <a:lnTo>
                    <a:pt x="0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acetate"/>
            <p:cNvSpPr/>
            <p:nvPr/>
          </p:nvSpPr>
          <p:spPr>
            <a:xfrm>
              <a:off x="7662672" y="1801368"/>
              <a:ext cx="27432" cy="36576"/>
            </a:xfrm>
            <a:custGeom>
              <a:avLst/>
              <a:gdLst/>
              <a:ahLst/>
              <a:cxnLst/>
              <a:rect l="l" t="t" r="r" b="b"/>
              <a:pathLst>
                <a:path w="3" h="4">
                  <a:moveTo>
                    <a:pt x="0" y="4"/>
                  </a:moveTo>
                  <a:lnTo>
                    <a:pt x="3" y="2"/>
                  </a:lnTo>
                  <a:lnTo>
                    <a:pt x="3" y="0"/>
                  </a:lnTo>
                </a:path>
              </a:pathLst>
            </a:custGeom>
            <a:noFill/>
            <a:ln w="23774" cap="rnd">
              <a:solidFill>
                <a:srgbClr val="22304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"/>
            <p:cNvSpPr txBox="1"/>
            <p:nvPr/>
          </p:nvSpPr>
          <p:spPr>
            <a:xfrm>
              <a:off x="8151875" y="2006193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79" name="O"/>
            <p:cNvSpPr txBox="1"/>
            <p:nvPr/>
          </p:nvSpPr>
          <p:spPr>
            <a:xfrm>
              <a:off x="7612379" y="1072591"/>
              <a:ext cx="429578" cy="42245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016" b="0">
                  <a:solidFill>
                    <a:srgbClr val="223043"/>
                  </a:solidFill>
                  <a:latin typeface="Arial"/>
                </a:defRPr>
              </a:pPr>
              <a:r>
                <a:t>O</a:t>
              </a:r>
            </a:p>
          </p:txBody>
        </p:sp>
        <p:sp>
          <p:nvSpPr>
            <p:cNvPr id="80" name="-"/>
            <p:cNvSpPr txBox="1"/>
            <p:nvPr/>
          </p:nvSpPr>
          <p:spPr>
            <a:xfrm>
              <a:off x="7788859" y="1061618"/>
              <a:ext cx="202943" cy="27157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296" b="0">
                  <a:solidFill>
                    <a:srgbClr val="223043"/>
                  </a:solidFill>
                  <a:latin typeface="Arial"/>
                </a:defRPr>
              </a:pPr>
              <a:r>
                <a:t>-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rdered starch arrangement"/>
          <p:cNvSpPr txBox="1"/>
          <p:nvPr/>
        </p:nvSpPr>
        <p:spPr>
          <a:xfrm>
            <a:off x="365760" y="155448"/>
            <a:ext cx="4741856" cy="5431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592" b="1">
                <a:solidFill>
                  <a:srgbClr val="223043"/>
                </a:solidFill>
                <a:latin typeface="Arial"/>
              </a:defRPr>
            </a:pPr>
            <a:r>
              <a:t>Ordered starch arrangement</a:t>
            </a:r>
          </a:p>
        </p:txBody>
      </p:sp>
      <p:sp>
        <p:nvSpPr>
          <p:cNvPr id="3" name="Qualitative schematic • not to scale"/>
          <p:cNvSpPr txBox="1"/>
          <p:nvPr/>
        </p:nvSpPr>
        <p:spPr>
          <a:xfrm>
            <a:off x="365760" y="621792"/>
            <a:ext cx="4205050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637284"/>
                </a:solidFill>
                <a:latin typeface="Arial"/>
              </a:defRPr>
            </a:pPr>
            <a:r>
              <a:t>Qualitative schematic • not to scale</a:t>
            </a:r>
          </a:p>
        </p:txBody>
      </p:sp>
      <p:sp>
        <p:nvSpPr>
          <p:cNvPr id="4" name="ellipse"/>
          <p:cNvSpPr/>
          <p:nvPr/>
        </p:nvSpPr>
        <p:spPr>
          <a:xfrm>
            <a:off x="685800" y="1408176"/>
            <a:ext cx="7772400" cy="3538728"/>
          </a:xfrm>
          <a:prstGeom prst="ellipse">
            <a:avLst/>
          </a:prstGeom>
          <a:solidFill>
            <a:srgbClr val="F8FBFE"/>
          </a:solidFill>
          <a:ln w="18288" cap="rnd">
            <a:solidFill>
              <a:srgbClr val="CAD6DF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th"/>
          <p:cNvSpPr/>
          <p:nvPr/>
        </p:nvSpPr>
        <p:spPr>
          <a:xfrm>
            <a:off x="2240280" y="2468880"/>
            <a:ext cx="0" cy="1234440"/>
          </a:xfrm>
          <a:custGeom>
            <a:avLst/>
            <a:gdLst/>
            <a:ahLst/>
            <a:cxnLst/>
            <a:rect l="l" t="t" r="r" b="b"/>
            <a:pathLst>
              <a:path w="0" h="135">
                <a:moveTo>
                  <a:pt x="0" y="0"/>
                </a:moveTo>
                <a:lnTo>
                  <a:pt x="0" y="135"/>
                </a:lnTo>
              </a:path>
            </a:pathLst>
          </a:custGeom>
          <a:noFill/>
          <a:ln w="25603" cap="rnd">
            <a:solidFill>
              <a:srgbClr val="BE596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th"/>
          <p:cNvSpPr/>
          <p:nvPr/>
        </p:nvSpPr>
        <p:spPr>
          <a:xfrm>
            <a:off x="3703320" y="2404872"/>
            <a:ext cx="0" cy="1362456"/>
          </a:xfrm>
          <a:custGeom>
            <a:avLst/>
            <a:gdLst/>
            <a:ahLst/>
            <a:cxnLst/>
            <a:rect l="l" t="t" r="r" b="b"/>
            <a:pathLst>
              <a:path w="0" h="149">
                <a:moveTo>
                  <a:pt x="0" y="0"/>
                </a:moveTo>
                <a:lnTo>
                  <a:pt x="0" y="149"/>
                </a:lnTo>
              </a:path>
            </a:pathLst>
          </a:custGeom>
          <a:noFill/>
          <a:ln w="25603" cap="rnd">
            <a:solidFill>
              <a:srgbClr val="BE596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th"/>
          <p:cNvSpPr/>
          <p:nvPr/>
        </p:nvSpPr>
        <p:spPr>
          <a:xfrm>
            <a:off x="5166360" y="2414016"/>
            <a:ext cx="0" cy="1344168"/>
          </a:xfrm>
          <a:custGeom>
            <a:avLst/>
            <a:gdLst/>
            <a:ahLst/>
            <a:cxnLst/>
            <a:rect l="l" t="t" r="r" b="b"/>
            <a:pathLst>
              <a:path w="0" h="147">
                <a:moveTo>
                  <a:pt x="0" y="0"/>
                </a:moveTo>
                <a:lnTo>
                  <a:pt x="0" y="147"/>
                </a:lnTo>
              </a:path>
            </a:pathLst>
          </a:custGeom>
          <a:noFill/>
          <a:ln w="25603" cap="rnd">
            <a:solidFill>
              <a:srgbClr val="BE596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th"/>
          <p:cNvSpPr/>
          <p:nvPr/>
        </p:nvSpPr>
        <p:spPr>
          <a:xfrm>
            <a:off x="6629400" y="2487168"/>
            <a:ext cx="0" cy="1197864"/>
          </a:xfrm>
          <a:custGeom>
            <a:avLst/>
            <a:gdLst/>
            <a:ahLst/>
            <a:cxnLst/>
            <a:rect l="l" t="t" r="r" b="b"/>
            <a:pathLst>
              <a:path w="0" h="131">
                <a:moveTo>
                  <a:pt x="0" y="0"/>
                </a:moveTo>
                <a:lnTo>
                  <a:pt x="0" y="131"/>
                </a:lnTo>
              </a:path>
            </a:pathLst>
          </a:custGeom>
          <a:noFill/>
          <a:ln w="25603" cap="rnd">
            <a:solidFill>
              <a:srgbClr val="BE596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th"/>
          <p:cNvSpPr/>
          <p:nvPr/>
        </p:nvSpPr>
        <p:spPr>
          <a:xfrm>
            <a:off x="1325880" y="2167128"/>
            <a:ext cx="6492240" cy="402336"/>
          </a:xfrm>
          <a:custGeom>
            <a:avLst/>
            <a:gdLst/>
            <a:ahLst/>
            <a:cxnLst/>
            <a:rect l="l" t="t" r="r" b="b"/>
            <a:pathLst>
              <a:path w="710" h="44">
                <a:moveTo>
                  <a:pt x="0" y="22"/>
                </a:moveTo>
                <a:lnTo>
                  <a:pt x="7" y="28"/>
                </a:lnTo>
                <a:lnTo>
                  <a:pt x="14" y="33"/>
                </a:lnTo>
                <a:lnTo>
                  <a:pt x="21" y="38"/>
                </a:lnTo>
                <a:lnTo>
                  <a:pt x="28" y="41"/>
                </a:lnTo>
                <a:lnTo>
                  <a:pt x="35" y="43"/>
                </a:lnTo>
                <a:lnTo>
                  <a:pt x="43" y="44"/>
                </a:lnTo>
                <a:lnTo>
                  <a:pt x="50" y="43"/>
                </a:lnTo>
                <a:lnTo>
                  <a:pt x="57" y="41"/>
                </a:lnTo>
                <a:lnTo>
                  <a:pt x="64" y="38"/>
                </a:lnTo>
                <a:lnTo>
                  <a:pt x="71" y="33"/>
                </a:lnTo>
                <a:lnTo>
                  <a:pt x="78" y="28"/>
                </a:lnTo>
                <a:lnTo>
                  <a:pt x="85" y="22"/>
                </a:lnTo>
                <a:lnTo>
                  <a:pt x="92" y="16"/>
                </a:lnTo>
                <a:lnTo>
                  <a:pt x="99" y="11"/>
                </a:lnTo>
                <a:lnTo>
                  <a:pt x="107" y="6"/>
                </a:lnTo>
                <a:lnTo>
                  <a:pt x="114" y="3"/>
                </a:lnTo>
                <a:lnTo>
                  <a:pt x="121" y="1"/>
                </a:lnTo>
                <a:lnTo>
                  <a:pt x="128" y="0"/>
                </a:lnTo>
                <a:lnTo>
                  <a:pt x="135" y="1"/>
                </a:lnTo>
                <a:lnTo>
                  <a:pt x="142" y="3"/>
                </a:lnTo>
                <a:lnTo>
                  <a:pt x="149" y="6"/>
                </a:lnTo>
                <a:lnTo>
                  <a:pt x="156" y="11"/>
                </a:lnTo>
                <a:lnTo>
                  <a:pt x="163" y="16"/>
                </a:lnTo>
                <a:lnTo>
                  <a:pt x="170" y="22"/>
                </a:lnTo>
                <a:lnTo>
                  <a:pt x="177" y="28"/>
                </a:lnTo>
                <a:lnTo>
                  <a:pt x="185" y="33"/>
                </a:lnTo>
                <a:lnTo>
                  <a:pt x="192" y="38"/>
                </a:lnTo>
                <a:lnTo>
                  <a:pt x="199" y="41"/>
                </a:lnTo>
                <a:lnTo>
                  <a:pt x="206" y="43"/>
                </a:lnTo>
                <a:lnTo>
                  <a:pt x="213" y="44"/>
                </a:lnTo>
                <a:lnTo>
                  <a:pt x="220" y="43"/>
                </a:lnTo>
                <a:lnTo>
                  <a:pt x="227" y="41"/>
                </a:lnTo>
                <a:lnTo>
                  <a:pt x="234" y="38"/>
                </a:lnTo>
                <a:lnTo>
                  <a:pt x="241" y="33"/>
                </a:lnTo>
                <a:lnTo>
                  <a:pt x="249" y="28"/>
                </a:lnTo>
                <a:lnTo>
                  <a:pt x="256" y="22"/>
                </a:lnTo>
                <a:lnTo>
                  <a:pt x="263" y="16"/>
                </a:lnTo>
                <a:lnTo>
                  <a:pt x="270" y="11"/>
                </a:lnTo>
                <a:lnTo>
                  <a:pt x="277" y="6"/>
                </a:lnTo>
                <a:lnTo>
                  <a:pt x="284" y="3"/>
                </a:lnTo>
                <a:lnTo>
                  <a:pt x="291" y="1"/>
                </a:lnTo>
                <a:lnTo>
                  <a:pt x="298" y="0"/>
                </a:lnTo>
                <a:lnTo>
                  <a:pt x="305" y="1"/>
                </a:lnTo>
                <a:lnTo>
                  <a:pt x="312" y="3"/>
                </a:lnTo>
                <a:lnTo>
                  <a:pt x="319" y="6"/>
                </a:lnTo>
                <a:lnTo>
                  <a:pt x="327" y="11"/>
                </a:lnTo>
                <a:lnTo>
                  <a:pt x="334" y="16"/>
                </a:lnTo>
                <a:lnTo>
                  <a:pt x="341" y="22"/>
                </a:lnTo>
                <a:lnTo>
                  <a:pt x="348" y="28"/>
                </a:lnTo>
                <a:lnTo>
                  <a:pt x="355" y="33"/>
                </a:lnTo>
                <a:lnTo>
                  <a:pt x="362" y="38"/>
                </a:lnTo>
                <a:lnTo>
                  <a:pt x="369" y="41"/>
                </a:lnTo>
                <a:lnTo>
                  <a:pt x="376" y="43"/>
                </a:lnTo>
                <a:lnTo>
                  <a:pt x="383" y="44"/>
                </a:lnTo>
                <a:lnTo>
                  <a:pt x="391" y="43"/>
                </a:lnTo>
                <a:lnTo>
                  <a:pt x="398" y="41"/>
                </a:lnTo>
                <a:lnTo>
                  <a:pt x="405" y="38"/>
                </a:lnTo>
                <a:lnTo>
                  <a:pt x="412" y="33"/>
                </a:lnTo>
                <a:lnTo>
                  <a:pt x="419" y="28"/>
                </a:lnTo>
                <a:lnTo>
                  <a:pt x="426" y="22"/>
                </a:lnTo>
                <a:lnTo>
                  <a:pt x="433" y="16"/>
                </a:lnTo>
                <a:lnTo>
                  <a:pt x="440" y="11"/>
                </a:lnTo>
                <a:lnTo>
                  <a:pt x="447" y="6"/>
                </a:lnTo>
                <a:lnTo>
                  <a:pt x="454" y="3"/>
                </a:lnTo>
                <a:lnTo>
                  <a:pt x="461" y="1"/>
                </a:lnTo>
                <a:lnTo>
                  <a:pt x="469" y="0"/>
                </a:lnTo>
                <a:lnTo>
                  <a:pt x="476" y="1"/>
                </a:lnTo>
                <a:lnTo>
                  <a:pt x="483" y="3"/>
                </a:lnTo>
                <a:lnTo>
                  <a:pt x="490" y="6"/>
                </a:lnTo>
                <a:lnTo>
                  <a:pt x="497" y="11"/>
                </a:lnTo>
                <a:lnTo>
                  <a:pt x="504" y="16"/>
                </a:lnTo>
                <a:lnTo>
                  <a:pt x="511" y="22"/>
                </a:lnTo>
                <a:lnTo>
                  <a:pt x="518" y="28"/>
                </a:lnTo>
                <a:lnTo>
                  <a:pt x="525" y="33"/>
                </a:lnTo>
                <a:lnTo>
                  <a:pt x="533" y="38"/>
                </a:lnTo>
                <a:lnTo>
                  <a:pt x="540" y="41"/>
                </a:lnTo>
                <a:lnTo>
                  <a:pt x="547" y="43"/>
                </a:lnTo>
                <a:lnTo>
                  <a:pt x="554" y="44"/>
                </a:lnTo>
                <a:lnTo>
                  <a:pt x="561" y="43"/>
                </a:lnTo>
                <a:lnTo>
                  <a:pt x="568" y="41"/>
                </a:lnTo>
                <a:lnTo>
                  <a:pt x="575" y="38"/>
                </a:lnTo>
                <a:lnTo>
                  <a:pt x="582" y="33"/>
                </a:lnTo>
                <a:lnTo>
                  <a:pt x="589" y="28"/>
                </a:lnTo>
                <a:lnTo>
                  <a:pt x="596" y="22"/>
                </a:lnTo>
                <a:lnTo>
                  <a:pt x="603" y="16"/>
                </a:lnTo>
                <a:lnTo>
                  <a:pt x="611" y="11"/>
                </a:lnTo>
                <a:lnTo>
                  <a:pt x="618" y="6"/>
                </a:lnTo>
                <a:lnTo>
                  <a:pt x="625" y="3"/>
                </a:lnTo>
                <a:lnTo>
                  <a:pt x="632" y="1"/>
                </a:lnTo>
                <a:lnTo>
                  <a:pt x="639" y="0"/>
                </a:lnTo>
                <a:lnTo>
                  <a:pt x="646" y="1"/>
                </a:lnTo>
                <a:lnTo>
                  <a:pt x="653" y="3"/>
                </a:lnTo>
                <a:lnTo>
                  <a:pt x="660" y="6"/>
                </a:lnTo>
                <a:lnTo>
                  <a:pt x="667" y="11"/>
                </a:lnTo>
                <a:lnTo>
                  <a:pt x="675" y="16"/>
                </a:lnTo>
                <a:lnTo>
                  <a:pt x="682" y="22"/>
                </a:lnTo>
                <a:lnTo>
                  <a:pt x="689" y="28"/>
                </a:lnTo>
                <a:lnTo>
                  <a:pt x="696" y="33"/>
                </a:lnTo>
                <a:lnTo>
                  <a:pt x="703" y="38"/>
                </a:lnTo>
                <a:lnTo>
                  <a:pt x="710" y="41"/>
                </a:lnTo>
              </a:path>
            </a:pathLst>
          </a:custGeom>
          <a:noFill/>
          <a:ln w="45719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llipse"/>
          <p:cNvSpPr/>
          <p:nvPr/>
        </p:nvSpPr>
        <p:spPr>
          <a:xfrm>
            <a:off x="1284732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llipse"/>
          <p:cNvSpPr/>
          <p:nvPr/>
        </p:nvSpPr>
        <p:spPr>
          <a:xfrm>
            <a:off x="1674266" y="252831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llipse"/>
          <p:cNvSpPr/>
          <p:nvPr/>
        </p:nvSpPr>
        <p:spPr>
          <a:xfrm>
            <a:off x="2063800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llipse"/>
          <p:cNvSpPr/>
          <p:nvPr/>
        </p:nvSpPr>
        <p:spPr>
          <a:xfrm>
            <a:off x="2453335" y="2125980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llipse"/>
          <p:cNvSpPr/>
          <p:nvPr/>
        </p:nvSpPr>
        <p:spPr>
          <a:xfrm>
            <a:off x="2842869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llipse"/>
          <p:cNvSpPr/>
          <p:nvPr/>
        </p:nvSpPr>
        <p:spPr>
          <a:xfrm>
            <a:off x="3232404" y="252831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llipse"/>
          <p:cNvSpPr/>
          <p:nvPr/>
        </p:nvSpPr>
        <p:spPr>
          <a:xfrm>
            <a:off x="3621938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llipse"/>
          <p:cNvSpPr/>
          <p:nvPr/>
        </p:nvSpPr>
        <p:spPr>
          <a:xfrm>
            <a:off x="4011472" y="2125980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llipse"/>
          <p:cNvSpPr/>
          <p:nvPr/>
        </p:nvSpPr>
        <p:spPr>
          <a:xfrm>
            <a:off x="4401007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llipse"/>
          <p:cNvSpPr/>
          <p:nvPr/>
        </p:nvSpPr>
        <p:spPr>
          <a:xfrm>
            <a:off x="4790541" y="252831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llipse"/>
          <p:cNvSpPr/>
          <p:nvPr/>
        </p:nvSpPr>
        <p:spPr>
          <a:xfrm>
            <a:off x="5180076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llipse"/>
          <p:cNvSpPr/>
          <p:nvPr/>
        </p:nvSpPr>
        <p:spPr>
          <a:xfrm>
            <a:off x="5569610" y="2125980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llipse"/>
          <p:cNvSpPr/>
          <p:nvPr/>
        </p:nvSpPr>
        <p:spPr>
          <a:xfrm>
            <a:off x="5959144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llipse"/>
          <p:cNvSpPr/>
          <p:nvPr/>
        </p:nvSpPr>
        <p:spPr>
          <a:xfrm>
            <a:off x="6348679" y="252831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llipse"/>
          <p:cNvSpPr/>
          <p:nvPr/>
        </p:nvSpPr>
        <p:spPr>
          <a:xfrm>
            <a:off x="6738213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llipse"/>
          <p:cNvSpPr/>
          <p:nvPr/>
        </p:nvSpPr>
        <p:spPr>
          <a:xfrm>
            <a:off x="7127748" y="2125980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llipse"/>
          <p:cNvSpPr/>
          <p:nvPr/>
        </p:nvSpPr>
        <p:spPr>
          <a:xfrm>
            <a:off x="7517282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th"/>
          <p:cNvSpPr/>
          <p:nvPr/>
        </p:nvSpPr>
        <p:spPr>
          <a:xfrm>
            <a:off x="1325880" y="2167128"/>
            <a:ext cx="6492240" cy="402336"/>
          </a:xfrm>
          <a:custGeom>
            <a:avLst/>
            <a:gdLst/>
            <a:ahLst/>
            <a:cxnLst/>
            <a:rect l="l" t="t" r="r" b="b"/>
            <a:pathLst>
              <a:path w="710" h="44">
                <a:moveTo>
                  <a:pt x="0" y="22"/>
                </a:moveTo>
                <a:lnTo>
                  <a:pt x="7" y="16"/>
                </a:lnTo>
                <a:lnTo>
                  <a:pt x="14" y="11"/>
                </a:lnTo>
                <a:lnTo>
                  <a:pt x="21" y="6"/>
                </a:lnTo>
                <a:lnTo>
                  <a:pt x="28" y="3"/>
                </a:lnTo>
                <a:lnTo>
                  <a:pt x="35" y="1"/>
                </a:lnTo>
                <a:lnTo>
                  <a:pt x="43" y="0"/>
                </a:lnTo>
                <a:lnTo>
                  <a:pt x="50" y="1"/>
                </a:lnTo>
                <a:lnTo>
                  <a:pt x="57" y="3"/>
                </a:lnTo>
                <a:lnTo>
                  <a:pt x="64" y="6"/>
                </a:lnTo>
                <a:lnTo>
                  <a:pt x="71" y="11"/>
                </a:lnTo>
                <a:lnTo>
                  <a:pt x="78" y="16"/>
                </a:lnTo>
                <a:lnTo>
                  <a:pt x="85" y="22"/>
                </a:lnTo>
                <a:lnTo>
                  <a:pt x="92" y="28"/>
                </a:lnTo>
                <a:lnTo>
                  <a:pt x="99" y="33"/>
                </a:lnTo>
                <a:lnTo>
                  <a:pt x="107" y="38"/>
                </a:lnTo>
                <a:lnTo>
                  <a:pt x="114" y="41"/>
                </a:lnTo>
                <a:lnTo>
                  <a:pt x="121" y="43"/>
                </a:lnTo>
                <a:lnTo>
                  <a:pt x="128" y="44"/>
                </a:lnTo>
                <a:lnTo>
                  <a:pt x="135" y="43"/>
                </a:lnTo>
                <a:lnTo>
                  <a:pt x="142" y="41"/>
                </a:lnTo>
                <a:lnTo>
                  <a:pt x="149" y="38"/>
                </a:lnTo>
                <a:lnTo>
                  <a:pt x="156" y="33"/>
                </a:lnTo>
                <a:lnTo>
                  <a:pt x="163" y="28"/>
                </a:lnTo>
                <a:lnTo>
                  <a:pt x="170" y="22"/>
                </a:lnTo>
                <a:lnTo>
                  <a:pt x="177" y="16"/>
                </a:lnTo>
                <a:lnTo>
                  <a:pt x="185" y="11"/>
                </a:lnTo>
                <a:lnTo>
                  <a:pt x="192" y="6"/>
                </a:lnTo>
                <a:lnTo>
                  <a:pt x="199" y="3"/>
                </a:lnTo>
                <a:lnTo>
                  <a:pt x="206" y="1"/>
                </a:lnTo>
                <a:lnTo>
                  <a:pt x="213" y="0"/>
                </a:lnTo>
                <a:lnTo>
                  <a:pt x="220" y="1"/>
                </a:lnTo>
                <a:lnTo>
                  <a:pt x="227" y="3"/>
                </a:lnTo>
                <a:lnTo>
                  <a:pt x="234" y="6"/>
                </a:lnTo>
                <a:lnTo>
                  <a:pt x="241" y="11"/>
                </a:lnTo>
                <a:lnTo>
                  <a:pt x="249" y="16"/>
                </a:lnTo>
                <a:lnTo>
                  <a:pt x="256" y="22"/>
                </a:lnTo>
                <a:lnTo>
                  <a:pt x="263" y="28"/>
                </a:lnTo>
                <a:lnTo>
                  <a:pt x="270" y="33"/>
                </a:lnTo>
                <a:lnTo>
                  <a:pt x="277" y="38"/>
                </a:lnTo>
                <a:lnTo>
                  <a:pt x="284" y="41"/>
                </a:lnTo>
                <a:lnTo>
                  <a:pt x="291" y="43"/>
                </a:lnTo>
                <a:lnTo>
                  <a:pt x="298" y="44"/>
                </a:lnTo>
                <a:lnTo>
                  <a:pt x="305" y="43"/>
                </a:lnTo>
                <a:lnTo>
                  <a:pt x="312" y="41"/>
                </a:lnTo>
                <a:lnTo>
                  <a:pt x="319" y="38"/>
                </a:lnTo>
                <a:lnTo>
                  <a:pt x="327" y="33"/>
                </a:lnTo>
                <a:lnTo>
                  <a:pt x="334" y="28"/>
                </a:lnTo>
                <a:lnTo>
                  <a:pt x="341" y="22"/>
                </a:lnTo>
                <a:lnTo>
                  <a:pt x="348" y="16"/>
                </a:lnTo>
                <a:lnTo>
                  <a:pt x="355" y="11"/>
                </a:lnTo>
                <a:lnTo>
                  <a:pt x="362" y="6"/>
                </a:lnTo>
                <a:lnTo>
                  <a:pt x="369" y="3"/>
                </a:lnTo>
                <a:lnTo>
                  <a:pt x="376" y="1"/>
                </a:lnTo>
                <a:lnTo>
                  <a:pt x="383" y="0"/>
                </a:lnTo>
                <a:lnTo>
                  <a:pt x="391" y="1"/>
                </a:lnTo>
                <a:lnTo>
                  <a:pt x="398" y="3"/>
                </a:lnTo>
                <a:lnTo>
                  <a:pt x="405" y="6"/>
                </a:lnTo>
                <a:lnTo>
                  <a:pt x="412" y="11"/>
                </a:lnTo>
                <a:lnTo>
                  <a:pt x="419" y="16"/>
                </a:lnTo>
                <a:lnTo>
                  <a:pt x="426" y="22"/>
                </a:lnTo>
                <a:lnTo>
                  <a:pt x="433" y="28"/>
                </a:lnTo>
                <a:lnTo>
                  <a:pt x="440" y="33"/>
                </a:lnTo>
                <a:lnTo>
                  <a:pt x="447" y="38"/>
                </a:lnTo>
                <a:lnTo>
                  <a:pt x="454" y="41"/>
                </a:lnTo>
                <a:lnTo>
                  <a:pt x="461" y="43"/>
                </a:lnTo>
                <a:lnTo>
                  <a:pt x="469" y="44"/>
                </a:lnTo>
                <a:lnTo>
                  <a:pt x="476" y="43"/>
                </a:lnTo>
                <a:lnTo>
                  <a:pt x="483" y="41"/>
                </a:lnTo>
                <a:lnTo>
                  <a:pt x="490" y="38"/>
                </a:lnTo>
                <a:lnTo>
                  <a:pt x="497" y="33"/>
                </a:lnTo>
                <a:lnTo>
                  <a:pt x="504" y="28"/>
                </a:lnTo>
                <a:lnTo>
                  <a:pt x="511" y="22"/>
                </a:lnTo>
                <a:lnTo>
                  <a:pt x="518" y="16"/>
                </a:lnTo>
                <a:lnTo>
                  <a:pt x="525" y="11"/>
                </a:lnTo>
                <a:lnTo>
                  <a:pt x="533" y="6"/>
                </a:lnTo>
                <a:lnTo>
                  <a:pt x="540" y="3"/>
                </a:lnTo>
                <a:lnTo>
                  <a:pt x="547" y="1"/>
                </a:lnTo>
                <a:lnTo>
                  <a:pt x="554" y="0"/>
                </a:lnTo>
                <a:lnTo>
                  <a:pt x="561" y="1"/>
                </a:lnTo>
                <a:lnTo>
                  <a:pt x="568" y="3"/>
                </a:lnTo>
                <a:lnTo>
                  <a:pt x="575" y="6"/>
                </a:lnTo>
                <a:lnTo>
                  <a:pt x="582" y="11"/>
                </a:lnTo>
                <a:lnTo>
                  <a:pt x="589" y="16"/>
                </a:lnTo>
                <a:lnTo>
                  <a:pt x="596" y="22"/>
                </a:lnTo>
                <a:lnTo>
                  <a:pt x="603" y="28"/>
                </a:lnTo>
                <a:lnTo>
                  <a:pt x="611" y="33"/>
                </a:lnTo>
                <a:lnTo>
                  <a:pt x="618" y="38"/>
                </a:lnTo>
                <a:lnTo>
                  <a:pt x="625" y="41"/>
                </a:lnTo>
                <a:lnTo>
                  <a:pt x="632" y="43"/>
                </a:lnTo>
                <a:lnTo>
                  <a:pt x="639" y="44"/>
                </a:lnTo>
                <a:lnTo>
                  <a:pt x="646" y="43"/>
                </a:lnTo>
                <a:lnTo>
                  <a:pt x="653" y="41"/>
                </a:lnTo>
                <a:lnTo>
                  <a:pt x="660" y="38"/>
                </a:lnTo>
                <a:lnTo>
                  <a:pt x="667" y="33"/>
                </a:lnTo>
                <a:lnTo>
                  <a:pt x="675" y="28"/>
                </a:lnTo>
                <a:lnTo>
                  <a:pt x="682" y="22"/>
                </a:lnTo>
                <a:lnTo>
                  <a:pt x="689" y="16"/>
                </a:lnTo>
                <a:lnTo>
                  <a:pt x="696" y="11"/>
                </a:lnTo>
                <a:lnTo>
                  <a:pt x="703" y="6"/>
                </a:lnTo>
                <a:lnTo>
                  <a:pt x="710" y="3"/>
                </a:lnTo>
              </a:path>
            </a:pathLst>
          </a:custGeom>
          <a:noFill/>
          <a:ln w="45719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llipse"/>
          <p:cNvSpPr/>
          <p:nvPr/>
        </p:nvSpPr>
        <p:spPr>
          <a:xfrm>
            <a:off x="1284732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llipse"/>
          <p:cNvSpPr/>
          <p:nvPr/>
        </p:nvSpPr>
        <p:spPr>
          <a:xfrm>
            <a:off x="1674266" y="2125980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llipse"/>
          <p:cNvSpPr/>
          <p:nvPr/>
        </p:nvSpPr>
        <p:spPr>
          <a:xfrm>
            <a:off x="2063800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llipse"/>
          <p:cNvSpPr/>
          <p:nvPr/>
        </p:nvSpPr>
        <p:spPr>
          <a:xfrm>
            <a:off x="2453335" y="252831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llipse"/>
          <p:cNvSpPr/>
          <p:nvPr/>
        </p:nvSpPr>
        <p:spPr>
          <a:xfrm>
            <a:off x="2842869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llipse"/>
          <p:cNvSpPr/>
          <p:nvPr/>
        </p:nvSpPr>
        <p:spPr>
          <a:xfrm>
            <a:off x="3232404" y="2125980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llipse"/>
          <p:cNvSpPr/>
          <p:nvPr/>
        </p:nvSpPr>
        <p:spPr>
          <a:xfrm>
            <a:off x="3621938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llipse"/>
          <p:cNvSpPr/>
          <p:nvPr/>
        </p:nvSpPr>
        <p:spPr>
          <a:xfrm>
            <a:off x="4011472" y="252831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llipse"/>
          <p:cNvSpPr/>
          <p:nvPr/>
        </p:nvSpPr>
        <p:spPr>
          <a:xfrm>
            <a:off x="4401007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llipse"/>
          <p:cNvSpPr/>
          <p:nvPr/>
        </p:nvSpPr>
        <p:spPr>
          <a:xfrm>
            <a:off x="4790541" y="2125980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llipse"/>
          <p:cNvSpPr/>
          <p:nvPr/>
        </p:nvSpPr>
        <p:spPr>
          <a:xfrm>
            <a:off x="5180076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llipse"/>
          <p:cNvSpPr/>
          <p:nvPr/>
        </p:nvSpPr>
        <p:spPr>
          <a:xfrm>
            <a:off x="5569610" y="252831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llipse"/>
          <p:cNvSpPr/>
          <p:nvPr/>
        </p:nvSpPr>
        <p:spPr>
          <a:xfrm>
            <a:off x="5959144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llipse"/>
          <p:cNvSpPr/>
          <p:nvPr/>
        </p:nvSpPr>
        <p:spPr>
          <a:xfrm>
            <a:off x="6348679" y="2125980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llipse"/>
          <p:cNvSpPr/>
          <p:nvPr/>
        </p:nvSpPr>
        <p:spPr>
          <a:xfrm>
            <a:off x="6738213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llipse"/>
          <p:cNvSpPr/>
          <p:nvPr/>
        </p:nvSpPr>
        <p:spPr>
          <a:xfrm>
            <a:off x="7127748" y="252831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llipse"/>
          <p:cNvSpPr/>
          <p:nvPr/>
        </p:nvSpPr>
        <p:spPr>
          <a:xfrm>
            <a:off x="7517282" y="232714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th"/>
          <p:cNvSpPr/>
          <p:nvPr/>
        </p:nvSpPr>
        <p:spPr>
          <a:xfrm>
            <a:off x="1325880" y="3602736"/>
            <a:ext cx="6492240" cy="402336"/>
          </a:xfrm>
          <a:custGeom>
            <a:avLst/>
            <a:gdLst/>
            <a:ahLst/>
            <a:cxnLst/>
            <a:rect l="l" t="t" r="r" b="b"/>
            <a:pathLst>
              <a:path w="710" h="44">
                <a:moveTo>
                  <a:pt x="0" y="22"/>
                </a:moveTo>
                <a:lnTo>
                  <a:pt x="7" y="28"/>
                </a:lnTo>
                <a:lnTo>
                  <a:pt x="14" y="33"/>
                </a:lnTo>
                <a:lnTo>
                  <a:pt x="21" y="38"/>
                </a:lnTo>
                <a:lnTo>
                  <a:pt x="28" y="41"/>
                </a:lnTo>
                <a:lnTo>
                  <a:pt x="35" y="43"/>
                </a:lnTo>
                <a:lnTo>
                  <a:pt x="43" y="44"/>
                </a:lnTo>
                <a:lnTo>
                  <a:pt x="50" y="43"/>
                </a:lnTo>
                <a:lnTo>
                  <a:pt x="57" y="41"/>
                </a:lnTo>
                <a:lnTo>
                  <a:pt x="64" y="38"/>
                </a:lnTo>
                <a:lnTo>
                  <a:pt x="71" y="33"/>
                </a:lnTo>
                <a:lnTo>
                  <a:pt x="78" y="28"/>
                </a:lnTo>
                <a:lnTo>
                  <a:pt x="85" y="22"/>
                </a:lnTo>
                <a:lnTo>
                  <a:pt x="92" y="16"/>
                </a:lnTo>
                <a:lnTo>
                  <a:pt x="99" y="11"/>
                </a:lnTo>
                <a:lnTo>
                  <a:pt x="107" y="6"/>
                </a:lnTo>
                <a:lnTo>
                  <a:pt x="114" y="3"/>
                </a:lnTo>
                <a:lnTo>
                  <a:pt x="121" y="1"/>
                </a:lnTo>
                <a:lnTo>
                  <a:pt x="128" y="0"/>
                </a:lnTo>
                <a:lnTo>
                  <a:pt x="135" y="1"/>
                </a:lnTo>
                <a:lnTo>
                  <a:pt x="142" y="3"/>
                </a:lnTo>
                <a:lnTo>
                  <a:pt x="149" y="6"/>
                </a:lnTo>
                <a:lnTo>
                  <a:pt x="156" y="11"/>
                </a:lnTo>
                <a:lnTo>
                  <a:pt x="163" y="16"/>
                </a:lnTo>
                <a:lnTo>
                  <a:pt x="170" y="22"/>
                </a:lnTo>
                <a:lnTo>
                  <a:pt x="177" y="28"/>
                </a:lnTo>
                <a:lnTo>
                  <a:pt x="185" y="33"/>
                </a:lnTo>
                <a:lnTo>
                  <a:pt x="192" y="38"/>
                </a:lnTo>
                <a:lnTo>
                  <a:pt x="199" y="41"/>
                </a:lnTo>
                <a:lnTo>
                  <a:pt x="206" y="43"/>
                </a:lnTo>
                <a:lnTo>
                  <a:pt x="213" y="44"/>
                </a:lnTo>
                <a:lnTo>
                  <a:pt x="220" y="43"/>
                </a:lnTo>
                <a:lnTo>
                  <a:pt x="227" y="41"/>
                </a:lnTo>
                <a:lnTo>
                  <a:pt x="234" y="38"/>
                </a:lnTo>
                <a:lnTo>
                  <a:pt x="241" y="33"/>
                </a:lnTo>
                <a:lnTo>
                  <a:pt x="249" y="28"/>
                </a:lnTo>
                <a:lnTo>
                  <a:pt x="256" y="22"/>
                </a:lnTo>
                <a:lnTo>
                  <a:pt x="263" y="16"/>
                </a:lnTo>
                <a:lnTo>
                  <a:pt x="270" y="11"/>
                </a:lnTo>
                <a:lnTo>
                  <a:pt x="277" y="6"/>
                </a:lnTo>
                <a:lnTo>
                  <a:pt x="284" y="3"/>
                </a:lnTo>
                <a:lnTo>
                  <a:pt x="291" y="1"/>
                </a:lnTo>
                <a:lnTo>
                  <a:pt x="298" y="0"/>
                </a:lnTo>
                <a:lnTo>
                  <a:pt x="305" y="1"/>
                </a:lnTo>
                <a:lnTo>
                  <a:pt x="312" y="3"/>
                </a:lnTo>
                <a:lnTo>
                  <a:pt x="319" y="6"/>
                </a:lnTo>
                <a:lnTo>
                  <a:pt x="327" y="11"/>
                </a:lnTo>
                <a:lnTo>
                  <a:pt x="334" y="16"/>
                </a:lnTo>
                <a:lnTo>
                  <a:pt x="341" y="22"/>
                </a:lnTo>
                <a:lnTo>
                  <a:pt x="348" y="28"/>
                </a:lnTo>
                <a:lnTo>
                  <a:pt x="355" y="33"/>
                </a:lnTo>
                <a:lnTo>
                  <a:pt x="362" y="38"/>
                </a:lnTo>
                <a:lnTo>
                  <a:pt x="369" y="41"/>
                </a:lnTo>
                <a:lnTo>
                  <a:pt x="376" y="43"/>
                </a:lnTo>
                <a:lnTo>
                  <a:pt x="383" y="44"/>
                </a:lnTo>
                <a:lnTo>
                  <a:pt x="391" y="43"/>
                </a:lnTo>
                <a:lnTo>
                  <a:pt x="398" y="41"/>
                </a:lnTo>
                <a:lnTo>
                  <a:pt x="405" y="38"/>
                </a:lnTo>
                <a:lnTo>
                  <a:pt x="412" y="33"/>
                </a:lnTo>
                <a:lnTo>
                  <a:pt x="419" y="28"/>
                </a:lnTo>
                <a:lnTo>
                  <a:pt x="426" y="22"/>
                </a:lnTo>
                <a:lnTo>
                  <a:pt x="433" y="16"/>
                </a:lnTo>
                <a:lnTo>
                  <a:pt x="440" y="11"/>
                </a:lnTo>
                <a:lnTo>
                  <a:pt x="447" y="6"/>
                </a:lnTo>
                <a:lnTo>
                  <a:pt x="454" y="3"/>
                </a:lnTo>
                <a:lnTo>
                  <a:pt x="461" y="1"/>
                </a:lnTo>
                <a:lnTo>
                  <a:pt x="469" y="0"/>
                </a:lnTo>
                <a:lnTo>
                  <a:pt x="476" y="1"/>
                </a:lnTo>
                <a:lnTo>
                  <a:pt x="483" y="3"/>
                </a:lnTo>
                <a:lnTo>
                  <a:pt x="490" y="6"/>
                </a:lnTo>
                <a:lnTo>
                  <a:pt x="497" y="11"/>
                </a:lnTo>
                <a:lnTo>
                  <a:pt x="504" y="16"/>
                </a:lnTo>
                <a:lnTo>
                  <a:pt x="511" y="22"/>
                </a:lnTo>
                <a:lnTo>
                  <a:pt x="518" y="28"/>
                </a:lnTo>
                <a:lnTo>
                  <a:pt x="525" y="33"/>
                </a:lnTo>
                <a:lnTo>
                  <a:pt x="533" y="38"/>
                </a:lnTo>
                <a:lnTo>
                  <a:pt x="540" y="41"/>
                </a:lnTo>
                <a:lnTo>
                  <a:pt x="547" y="43"/>
                </a:lnTo>
                <a:lnTo>
                  <a:pt x="554" y="44"/>
                </a:lnTo>
                <a:lnTo>
                  <a:pt x="561" y="43"/>
                </a:lnTo>
                <a:lnTo>
                  <a:pt x="568" y="41"/>
                </a:lnTo>
                <a:lnTo>
                  <a:pt x="575" y="38"/>
                </a:lnTo>
                <a:lnTo>
                  <a:pt x="582" y="33"/>
                </a:lnTo>
                <a:lnTo>
                  <a:pt x="589" y="28"/>
                </a:lnTo>
                <a:lnTo>
                  <a:pt x="596" y="22"/>
                </a:lnTo>
                <a:lnTo>
                  <a:pt x="603" y="16"/>
                </a:lnTo>
                <a:lnTo>
                  <a:pt x="611" y="11"/>
                </a:lnTo>
                <a:lnTo>
                  <a:pt x="618" y="6"/>
                </a:lnTo>
                <a:lnTo>
                  <a:pt x="625" y="3"/>
                </a:lnTo>
                <a:lnTo>
                  <a:pt x="632" y="1"/>
                </a:lnTo>
                <a:lnTo>
                  <a:pt x="639" y="0"/>
                </a:lnTo>
                <a:lnTo>
                  <a:pt x="646" y="1"/>
                </a:lnTo>
                <a:lnTo>
                  <a:pt x="653" y="3"/>
                </a:lnTo>
                <a:lnTo>
                  <a:pt x="660" y="6"/>
                </a:lnTo>
                <a:lnTo>
                  <a:pt x="667" y="11"/>
                </a:lnTo>
                <a:lnTo>
                  <a:pt x="675" y="16"/>
                </a:lnTo>
                <a:lnTo>
                  <a:pt x="682" y="22"/>
                </a:lnTo>
                <a:lnTo>
                  <a:pt x="689" y="28"/>
                </a:lnTo>
                <a:lnTo>
                  <a:pt x="696" y="33"/>
                </a:lnTo>
                <a:lnTo>
                  <a:pt x="703" y="38"/>
                </a:lnTo>
                <a:lnTo>
                  <a:pt x="710" y="41"/>
                </a:lnTo>
              </a:path>
            </a:pathLst>
          </a:custGeom>
          <a:noFill/>
          <a:ln w="45719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llipse"/>
          <p:cNvSpPr/>
          <p:nvPr/>
        </p:nvSpPr>
        <p:spPr>
          <a:xfrm>
            <a:off x="1284732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llipse"/>
          <p:cNvSpPr/>
          <p:nvPr/>
        </p:nvSpPr>
        <p:spPr>
          <a:xfrm>
            <a:off x="1674266" y="3963924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llipse"/>
          <p:cNvSpPr/>
          <p:nvPr/>
        </p:nvSpPr>
        <p:spPr>
          <a:xfrm>
            <a:off x="2063800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llipse"/>
          <p:cNvSpPr/>
          <p:nvPr/>
        </p:nvSpPr>
        <p:spPr>
          <a:xfrm>
            <a:off x="2453335" y="356158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llipse"/>
          <p:cNvSpPr/>
          <p:nvPr/>
        </p:nvSpPr>
        <p:spPr>
          <a:xfrm>
            <a:off x="2842869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llipse"/>
          <p:cNvSpPr/>
          <p:nvPr/>
        </p:nvSpPr>
        <p:spPr>
          <a:xfrm>
            <a:off x="3232404" y="3963924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llipse"/>
          <p:cNvSpPr/>
          <p:nvPr/>
        </p:nvSpPr>
        <p:spPr>
          <a:xfrm>
            <a:off x="3621938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llipse"/>
          <p:cNvSpPr/>
          <p:nvPr/>
        </p:nvSpPr>
        <p:spPr>
          <a:xfrm>
            <a:off x="4011472" y="356158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llipse"/>
          <p:cNvSpPr/>
          <p:nvPr/>
        </p:nvSpPr>
        <p:spPr>
          <a:xfrm>
            <a:off x="4401007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llipse"/>
          <p:cNvSpPr/>
          <p:nvPr/>
        </p:nvSpPr>
        <p:spPr>
          <a:xfrm>
            <a:off x="4790541" y="3963924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llipse"/>
          <p:cNvSpPr/>
          <p:nvPr/>
        </p:nvSpPr>
        <p:spPr>
          <a:xfrm>
            <a:off x="5180076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llipse"/>
          <p:cNvSpPr/>
          <p:nvPr/>
        </p:nvSpPr>
        <p:spPr>
          <a:xfrm>
            <a:off x="5569610" y="356158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llipse"/>
          <p:cNvSpPr/>
          <p:nvPr/>
        </p:nvSpPr>
        <p:spPr>
          <a:xfrm>
            <a:off x="5959144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llipse"/>
          <p:cNvSpPr/>
          <p:nvPr/>
        </p:nvSpPr>
        <p:spPr>
          <a:xfrm>
            <a:off x="6348679" y="3963924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llipse"/>
          <p:cNvSpPr/>
          <p:nvPr/>
        </p:nvSpPr>
        <p:spPr>
          <a:xfrm>
            <a:off x="6738213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llipse"/>
          <p:cNvSpPr/>
          <p:nvPr/>
        </p:nvSpPr>
        <p:spPr>
          <a:xfrm>
            <a:off x="7127748" y="356158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llipse"/>
          <p:cNvSpPr/>
          <p:nvPr/>
        </p:nvSpPr>
        <p:spPr>
          <a:xfrm>
            <a:off x="7517282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ath"/>
          <p:cNvSpPr/>
          <p:nvPr/>
        </p:nvSpPr>
        <p:spPr>
          <a:xfrm>
            <a:off x="1325880" y="3602736"/>
            <a:ext cx="6492240" cy="402336"/>
          </a:xfrm>
          <a:custGeom>
            <a:avLst/>
            <a:gdLst/>
            <a:ahLst/>
            <a:cxnLst/>
            <a:rect l="l" t="t" r="r" b="b"/>
            <a:pathLst>
              <a:path w="710" h="44">
                <a:moveTo>
                  <a:pt x="0" y="22"/>
                </a:moveTo>
                <a:lnTo>
                  <a:pt x="7" y="16"/>
                </a:lnTo>
                <a:lnTo>
                  <a:pt x="14" y="11"/>
                </a:lnTo>
                <a:lnTo>
                  <a:pt x="21" y="6"/>
                </a:lnTo>
                <a:lnTo>
                  <a:pt x="28" y="3"/>
                </a:lnTo>
                <a:lnTo>
                  <a:pt x="35" y="1"/>
                </a:lnTo>
                <a:lnTo>
                  <a:pt x="43" y="0"/>
                </a:lnTo>
                <a:lnTo>
                  <a:pt x="50" y="1"/>
                </a:lnTo>
                <a:lnTo>
                  <a:pt x="57" y="3"/>
                </a:lnTo>
                <a:lnTo>
                  <a:pt x="64" y="6"/>
                </a:lnTo>
                <a:lnTo>
                  <a:pt x="71" y="11"/>
                </a:lnTo>
                <a:lnTo>
                  <a:pt x="78" y="16"/>
                </a:lnTo>
                <a:lnTo>
                  <a:pt x="85" y="22"/>
                </a:lnTo>
                <a:lnTo>
                  <a:pt x="92" y="28"/>
                </a:lnTo>
                <a:lnTo>
                  <a:pt x="99" y="33"/>
                </a:lnTo>
                <a:lnTo>
                  <a:pt x="107" y="38"/>
                </a:lnTo>
                <a:lnTo>
                  <a:pt x="114" y="41"/>
                </a:lnTo>
                <a:lnTo>
                  <a:pt x="121" y="43"/>
                </a:lnTo>
                <a:lnTo>
                  <a:pt x="128" y="44"/>
                </a:lnTo>
                <a:lnTo>
                  <a:pt x="135" y="43"/>
                </a:lnTo>
                <a:lnTo>
                  <a:pt x="142" y="41"/>
                </a:lnTo>
                <a:lnTo>
                  <a:pt x="149" y="38"/>
                </a:lnTo>
                <a:lnTo>
                  <a:pt x="156" y="33"/>
                </a:lnTo>
                <a:lnTo>
                  <a:pt x="163" y="28"/>
                </a:lnTo>
                <a:lnTo>
                  <a:pt x="170" y="22"/>
                </a:lnTo>
                <a:lnTo>
                  <a:pt x="177" y="16"/>
                </a:lnTo>
                <a:lnTo>
                  <a:pt x="185" y="11"/>
                </a:lnTo>
                <a:lnTo>
                  <a:pt x="192" y="6"/>
                </a:lnTo>
                <a:lnTo>
                  <a:pt x="199" y="3"/>
                </a:lnTo>
                <a:lnTo>
                  <a:pt x="206" y="1"/>
                </a:lnTo>
                <a:lnTo>
                  <a:pt x="213" y="0"/>
                </a:lnTo>
                <a:lnTo>
                  <a:pt x="220" y="1"/>
                </a:lnTo>
                <a:lnTo>
                  <a:pt x="227" y="3"/>
                </a:lnTo>
                <a:lnTo>
                  <a:pt x="234" y="6"/>
                </a:lnTo>
                <a:lnTo>
                  <a:pt x="241" y="11"/>
                </a:lnTo>
                <a:lnTo>
                  <a:pt x="249" y="16"/>
                </a:lnTo>
                <a:lnTo>
                  <a:pt x="256" y="22"/>
                </a:lnTo>
                <a:lnTo>
                  <a:pt x="263" y="28"/>
                </a:lnTo>
                <a:lnTo>
                  <a:pt x="270" y="33"/>
                </a:lnTo>
                <a:lnTo>
                  <a:pt x="277" y="38"/>
                </a:lnTo>
                <a:lnTo>
                  <a:pt x="284" y="41"/>
                </a:lnTo>
                <a:lnTo>
                  <a:pt x="291" y="43"/>
                </a:lnTo>
                <a:lnTo>
                  <a:pt x="298" y="44"/>
                </a:lnTo>
                <a:lnTo>
                  <a:pt x="305" y="43"/>
                </a:lnTo>
                <a:lnTo>
                  <a:pt x="312" y="41"/>
                </a:lnTo>
                <a:lnTo>
                  <a:pt x="319" y="38"/>
                </a:lnTo>
                <a:lnTo>
                  <a:pt x="327" y="33"/>
                </a:lnTo>
                <a:lnTo>
                  <a:pt x="334" y="28"/>
                </a:lnTo>
                <a:lnTo>
                  <a:pt x="341" y="22"/>
                </a:lnTo>
                <a:lnTo>
                  <a:pt x="348" y="16"/>
                </a:lnTo>
                <a:lnTo>
                  <a:pt x="355" y="11"/>
                </a:lnTo>
                <a:lnTo>
                  <a:pt x="362" y="6"/>
                </a:lnTo>
                <a:lnTo>
                  <a:pt x="369" y="3"/>
                </a:lnTo>
                <a:lnTo>
                  <a:pt x="376" y="1"/>
                </a:lnTo>
                <a:lnTo>
                  <a:pt x="383" y="0"/>
                </a:lnTo>
                <a:lnTo>
                  <a:pt x="391" y="1"/>
                </a:lnTo>
                <a:lnTo>
                  <a:pt x="398" y="3"/>
                </a:lnTo>
                <a:lnTo>
                  <a:pt x="405" y="6"/>
                </a:lnTo>
                <a:lnTo>
                  <a:pt x="412" y="11"/>
                </a:lnTo>
                <a:lnTo>
                  <a:pt x="419" y="16"/>
                </a:lnTo>
                <a:lnTo>
                  <a:pt x="426" y="22"/>
                </a:lnTo>
                <a:lnTo>
                  <a:pt x="433" y="28"/>
                </a:lnTo>
                <a:lnTo>
                  <a:pt x="440" y="33"/>
                </a:lnTo>
                <a:lnTo>
                  <a:pt x="447" y="38"/>
                </a:lnTo>
                <a:lnTo>
                  <a:pt x="454" y="41"/>
                </a:lnTo>
                <a:lnTo>
                  <a:pt x="461" y="43"/>
                </a:lnTo>
                <a:lnTo>
                  <a:pt x="469" y="44"/>
                </a:lnTo>
                <a:lnTo>
                  <a:pt x="476" y="43"/>
                </a:lnTo>
                <a:lnTo>
                  <a:pt x="483" y="41"/>
                </a:lnTo>
                <a:lnTo>
                  <a:pt x="490" y="38"/>
                </a:lnTo>
                <a:lnTo>
                  <a:pt x="497" y="33"/>
                </a:lnTo>
                <a:lnTo>
                  <a:pt x="504" y="28"/>
                </a:lnTo>
                <a:lnTo>
                  <a:pt x="511" y="22"/>
                </a:lnTo>
                <a:lnTo>
                  <a:pt x="518" y="16"/>
                </a:lnTo>
                <a:lnTo>
                  <a:pt x="525" y="11"/>
                </a:lnTo>
                <a:lnTo>
                  <a:pt x="533" y="6"/>
                </a:lnTo>
                <a:lnTo>
                  <a:pt x="540" y="3"/>
                </a:lnTo>
                <a:lnTo>
                  <a:pt x="547" y="1"/>
                </a:lnTo>
                <a:lnTo>
                  <a:pt x="554" y="0"/>
                </a:lnTo>
                <a:lnTo>
                  <a:pt x="561" y="1"/>
                </a:lnTo>
                <a:lnTo>
                  <a:pt x="568" y="3"/>
                </a:lnTo>
                <a:lnTo>
                  <a:pt x="575" y="6"/>
                </a:lnTo>
                <a:lnTo>
                  <a:pt x="582" y="11"/>
                </a:lnTo>
                <a:lnTo>
                  <a:pt x="589" y="16"/>
                </a:lnTo>
                <a:lnTo>
                  <a:pt x="596" y="22"/>
                </a:lnTo>
                <a:lnTo>
                  <a:pt x="603" y="28"/>
                </a:lnTo>
                <a:lnTo>
                  <a:pt x="611" y="33"/>
                </a:lnTo>
                <a:lnTo>
                  <a:pt x="618" y="38"/>
                </a:lnTo>
                <a:lnTo>
                  <a:pt x="625" y="41"/>
                </a:lnTo>
                <a:lnTo>
                  <a:pt x="632" y="43"/>
                </a:lnTo>
                <a:lnTo>
                  <a:pt x="639" y="44"/>
                </a:lnTo>
                <a:lnTo>
                  <a:pt x="646" y="43"/>
                </a:lnTo>
                <a:lnTo>
                  <a:pt x="653" y="41"/>
                </a:lnTo>
                <a:lnTo>
                  <a:pt x="660" y="38"/>
                </a:lnTo>
                <a:lnTo>
                  <a:pt x="667" y="33"/>
                </a:lnTo>
                <a:lnTo>
                  <a:pt x="675" y="28"/>
                </a:lnTo>
                <a:lnTo>
                  <a:pt x="682" y="22"/>
                </a:lnTo>
                <a:lnTo>
                  <a:pt x="689" y="16"/>
                </a:lnTo>
                <a:lnTo>
                  <a:pt x="696" y="11"/>
                </a:lnTo>
                <a:lnTo>
                  <a:pt x="703" y="6"/>
                </a:lnTo>
                <a:lnTo>
                  <a:pt x="710" y="3"/>
                </a:lnTo>
              </a:path>
            </a:pathLst>
          </a:custGeom>
          <a:noFill/>
          <a:ln w="45719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llipse"/>
          <p:cNvSpPr/>
          <p:nvPr/>
        </p:nvSpPr>
        <p:spPr>
          <a:xfrm>
            <a:off x="1284732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llipse"/>
          <p:cNvSpPr/>
          <p:nvPr/>
        </p:nvSpPr>
        <p:spPr>
          <a:xfrm>
            <a:off x="1674266" y="356158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llipse"/>
          <p:cNvSpPr/>
          <p:nvPr/>
        </p:nvSpPr>
        <p:spPr>
          <a:xfrm>
            <a:off x="2063800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llipse"/>
          <p:cNvSpPr/>
          <p:nvPr/>
        </p:nvSpPr>
        <p:spPr>
          <a:xfrm>
            <a:off x="2453335" y="3963924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llipse"/>
          <p:cNvSpPr/>
          <p:nvPr/>
        </p:nvSpPr>
        <p:spPr>
          <a:xfrm>
            <a:off x="2842869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llipse"/>
          <p:cNvSpPr/>
          <p:nvPr/>
        </p:nvSpPr>
        <p:spPr>
          <a:xfrm>
            <a:off x="3232404" y="356158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llipse"/>
          <p:cNvSpPr/>
          <p:nvPr/>
        </p:nvSpPr>
        <p:spPr>
          <a:xfrm>
            <a:off x="3621938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llipse"/>
          <p:cNvSpPr/>
          <p:nvPr/>
        </p:nvSpPr>
        <p:spPr>
          <a:xfrm>
            <a:off x="4011472" y="3963924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llipse"/>
          <p:cNvSpPr/>
          <p:nvPr/>
        </p:nvSpPr>
        <p:spPr>
          <a:xfrm>
            <a:off x="4401007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llipse"/>
          <p:cNvSpPr/>
          <p:nvPr/>
        </p:nvSpPr>
        <p:spPr>
          <a:xfrm>
            <a:off x="4790541" y="356158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llipse"/>
          <p:cNvSpPr/>
          <p:nvPr/>
        </p:nvSpPr>
        <p:spPr>
          <a:xfrm>
            <a:off x="5180076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llipse"/>
          <p:cNvSpPr/>
          <p:nvPr/>
        </p:nvSpPr>
        <p:spPr>
          <a:xfrm>
            <a:off x="5569610" y="3963924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llipse"/>
          <p:cNvSpPr/>
          <p:nvPr/>
        </p:nvSpPr>
        <p:spPr>
          <a:xfrm>
            <a:off x="5959144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llipse"/>
          <p:cNvSpPr/>
          <p:nvPr/>
        </p:nvSpPr>
        <p:spPr>
          <a:xfrm>
            <a:off x="6348679" y="3561588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llipse"/>
          <p:cNvSpPr/>
          <p:nvPr/>
        </p:nvSpPr>
        <p:spPr>
          <a:xfrm>
            <a:off x="6738213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llipse"/>
          <p:cNvSpPr/>
          <p:nvPr/>
        </p:nvSpPr>
        <p:spPr>
          <a:xfrm>
            <a:off x="7127748" y="3963924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llipse"/>
          <p:cNvSpPr/>
          <p:nvPr/>
        </p:nvSpPr>
        <p:spPr>
          <a:xfrm>
            <a:off x="7517282" y="3762756"/>
            <a:ext cx="82296" cy="82296"/>
          </a:xfrm>
          <a:prstGeom prst="ellipse">
            <a:avLst/>
          </a:prstGeom>
          <a:solidFill>
            <a:srgbClr val="FFFFFF"/>
          </a:solidFill>
          <a:ln w="18288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Paired glucan chains: conceptual double helices"/>
          <p:cNvSpPr txBox="1"/>
          <p:nvPr/>
        </p:nvSpPr>
        <p:spPr>
          <a:xfrm>
            <a:off x="1839158" y="5111496"/>
            <a:ext cx="5696111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223043"/>
                </a:solidFill>
                <a:latin typeface="Arial"/>
              </a:defRPr>
            </a:pPr>
            <a:r>
              <a:t>Paired glucan chains: conceptual double helices</a:t>
            </a:r>
          </a:p>
        </p:txBody>
      </p:sp>
      <p:sp>
        <p:nvSpPr>
          <p:cNvPr id="82" name="path"/>
          <p:cNvSpPr/>
          <p:nvPr/>
        </p:nvSpPr>
        <p:spPr>
          <a:xfrm>
            <a:off x="1335024" y="5843016"/>
            <a:ext cx="576072" cy="0"/>
          </a:xfrm>
          <a:custGeom>
            <a:avLst/>
            <a:gdLst/>
            <a:ahLst/>
            <a:cxnLst/>
            <a:rect l="l" t="t" r="r" b="b"/>
            <a:pathLst>
              <a:path w="63" h="0">
                <a:moveTo>
                  <a:pt x="0" y="0"/>
                </a:moveTo>
                <a:lnTo>
                  <a:pt x="63" y="0"/>
                </a:lnTo>
              </a:path>
            </a:pathLst>
          </a:custGeom>
          <a:noFill/>
          <a:ln w="25603" cap="rnd">
            <a:solidFill>
              <a:srgbClr val="BE596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Proposed intermolecular contacts"/>
          <p:cNvSpPr txBox="1"/>
          <p:nvPr/>
        </p:nvSpPr>
        <p:spPr>
          <a:xfrm>
            <a:off x="2121408" y="5678424"/>
            <a:ext cx="4030153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223043"/>
                </a:solidFill>
                <a:latin typeface="Arial"/>
              </a:defRPr>
            </a:pPr>
            <a:r>
              <a:t>Proposed intermolecular contacts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sordered starch / ion arrangement"/>
          <p:cNvSpPr txBox="1"/>
          <p:nvPr/>
        </p:nvSpPr>
        <p:spPr>
          <a:xfrm>
            <a:off x="365760" y="155448"/>
            <a:ext cx="5967135" cy="5431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592" b="1">
                <a:solidFill>
                  <a:srgbClr val="223043"/>
                </a:solidFill>
                <a:latin typeface="Arial"/>
              </a:defRPr>
            </a:pPr>
            <a:r>
              <a:t>Disordered starch / ion arrangement</a:t>
            </a:r>
          </a:p>
        </p:txBody>
      </p:sp>
      <p:sp>
        <p:nvSpPr>
          <p:cNvPr id="3" name="Qualitative schematic • not to scale"/>
          <p:cNvSpPr txBox="1"/>
          <p:nvPr/>
        </p:nvSpPr>
        <p:spPr>
          <a:xfrm>
            <a:off x="365760" y="621792"/>
            <a:ext cx="4205050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637284"/>
                </a:solidFill>
                <a:latin typeface="Arial"/>
              </a:defRPr>
            </a:pPr>
            <a:r>
              <a:t>Qualitative schematic • not to scale</a:t>
            </a:r>
          </a:p>
        </p:txBody>
      </p:sp>
      <p:sp>
        <p:nvSpPr>
          <p:cNvPr id="4" name="ellipse"/>
          <p:cNvSpPr/>
          <p:nvPr/>
        </p:nvSpPr>
        <p:spPr>
          <a:xfrm>
            <a:off x="640080" y="1380744"/>
            <a:ext cx="7863840" cy="3703320"/>
          </a:xfrm>
          <a:prstGeom prst="ellipse">
            <a:avLst/>
          </a:prstGeom>
          <a:solidFill>
            <a:srgbClr val="FBFCFE"/>
          </a:solidFill>
          <a:ln w="18288" cap="rnd">
            <a:solidFill>
              <a:srgbClr val="CAD6DF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th"/>
          <p:cNvSpPr/>
          <p:nvPr/>
        </p:nvSpPr>
        <p:spPr>
          <a:xfrm>
            <a:off x="1188720" y="2194560"/>
            <a:ext cx="2752344" cy="320040"/>
          </a:xfrm>
          <a:custGeom>
            <a:avLst/>
            <a:gdLst/>
            <a:ahLst/>
            <a:cxnLst/>
            <a:rect l="l" t="t" r="r" b="b"/>
            <a:pathLst>
              <a:path w="301" h="35">
                <a:moveTo>
                  <a:pt x="0" y="35"/>
                </a:moveTo>
                <a:lnTo>
                  <a:pt x="2" y="34"/>
                </a:lnTo>
                <a:lnTo>
                  <a:pt x="5" y="32"/>
                </a:lnTo>
                <a:lnTo>
                  <a:pt x="8" y="29"/>
                </a:lnTo>
                <a:lnTo>
                  <a:pt x="12" y="26"/>
                </a:lnTo>
                <a:lnTo>
                  <a:pt x="16" y="24"/>
                </a:lnTo>
                <a:lnTo>
                  <a:pt x="20" y="20"/>
                </a:lnTo>
                <a:lnTo>
                  <a:pt x="24" y="17"/>
                </a:lnTo>
                <a:lnTo>
                  <a:pt x="29" y="14"/>
                </a:lnTo>
                <a:lnTo>
                  <a:pt x="34" y="11"/>
                </a:lnTo>
                <a:lnTo>
                  <a:pt x="39" y="8"/>
                </a:lnTo>
                <a:lnTo>
                  <a:pt x="43" y="6"/>
                </a:lnTo>
                <a:lnTo>
                  <a:pt x="48" y="3"/>
                </a:lnTo>
                <a:lnTo>
                  <a:pt x="53" y="2"/>
                </a:lnTo>
                <a:lnTo>
                  <a:pt x="58" y="1"/>
                </a:lnTo>
                <a:lnTo>
                  <a:pt x="63" y="0"/>
                </a:lnTo>
                <a:lnTo>
                  <a:pt x="68" y="0"/>
                </a:lnTo>
                <a:lnTo>
                  <a:pt x="73" y="1"/>
                </a:lnTo>
                <a:lnTo>
                  <a:pt x="77" y="3"/>
                </a:lnTo>
                <a:lnTo>
                  <a:pt x="82" y="5"/>
                </a:lnTo>
                <a:lnTo>
                  <a:pt x="87" y="7"/>
                </a:lnTo>
                <a:lnTo>
                  <a:pt x="93" y="10"/>
                </a:lnTo>
                <a:lnTo>
                  <a:pt x="98" y="13"/>
                </a:lnTo>
                <a:lnTo>
                  <a:pt x="103" y="16"/>
                </a:lnTo>
                <a:lnTo>
                  <a:pt x="108" y="19"/>
                </a:lnTo>
                <a:lnTo>
                  <a:pt x="114" y="22"/>
                </a:lnTo>
                <a:lnTo>
                  <a:pt x="119" y="25"/>
                </a:lnTo>
                <a:lnTo>
                  <a:pt x="124" y="27"/>
                </a:lnTo>
                <a:lnTo>
                  <a:pt x="130" y="29"/>
                </a:lnTo>
                <a:lnTo>
                  <a:pt x="135" y="30"/>
                </a:lnTo>
                <a:lnTo>
                  <a:pt x="141" y="30"/>
                </a:lnTo>
                <a:lnTo>
                  <a:pt x="147" y="30"/>
                </a:lnTo>
                <a:lnTo>
                  <a:pt x="153" y="29"/>
                </a:lnTo>
                <a:lnTo>
                  <a:pt x="159" y="27"/>
                </a:lnTo>
                <a:lnTo>
                  <a:pt x="165" y="25"/>
                </a:lnTo>
                <a:lnTo>
                  <a:pt x="171" y="23"/>
                </a:lnTo>
                <a:lnTo>
                  <a:pt x="177" y="20"/>
                </a:lnTo>
                <a:lnTo>
                  <a:pt x="183" y="17"/>
                </a:lnTo>
                <a:lnTo>
                  <a:pt x="190" y="14"/>
                </a:lnTo>
                <a:lnTo>
                  <a:pt x="196" y="11"/>
                </a:lnTo>
                <a:lnTo>
                  <a:pt x="202" y="9"/>
                </a:lnTo>
                <a:lnTo>
                  <a:pt x="208" y="6"/>
                </a:lnTo>
                <a:lnTo>
                  <a:pt x="214" y="4"/>
                </a:lnTo>
                <a:lnTo>
                  <a:pt x="220" y="2"/>
                </a:lnTo>
                <a:lnTo>
                  <a:pt x="226" y="1"/>
                </a:lnTo>
                <a:lnTo>
                  <a:pt x="231" y="0"/>
                </a:lnTo>
                <a:lnTo>
                  <a:pt x="236" y="0"/>
                </a:lnTo>
                <a:lnTo>
                  <a:pt x="242" y="0"/>
                </a:lnTo>
                <a:lnTo>
                  <a:pt x="247" y="1"/>
                </a:lnTo>
                <a:lnTo>
                  <a:pt x="253" y="2"/>
                </a:lnTo>
                <a:lnTo>
                  <a:pt x="258" y="3"/>
                </a:lnTo>
                <a:lnTo>
                  <a:pt x="264" y="5"/>
                </a:lnTo>
                <a:lnTo>
                  <a:pt x="269" y="6"/>
                </a:lnTo>
                <a:lnTo>
                  <a:pt x="274" y="8"/>
                </a:lnTo>
                <a:lnTo>
                  <a:pt x="279" y="10"/>
                </a:lnTo>
                <a:lnTo>
                  <a:pt x="284" y="12"/>
                </a:lnTo>
                <a:lnTo>
                  <a:pt x="288" y="13"/>
                </a:lnTo>
                <a:lnTo>
                  <a:pt x="292" y="15"/>
                </a:lnTo>
                <a:lnTo>
                  <a:pt x="295" y="16"/>
                </a:lnTo>
                <a:lnTo>
                  <a:pt x="298" y="17"/>
                </a:lnTo>
                <a:lnTo>
                  <a:pt x="301" y="18"/>
                </a:lnTo>
              </a:path>
            </a:pathLst>
          </a:custGeom>
          <a:noFill/>
          <a:ln w="43891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th"/>
          <p:cNvSpPr/>
          <p:nvPr/>
        </p:nvSpPr>
        <p:spPr>
          <a:xfrm>
            <a:off x="3840480" y="1883664"/>
            <a:ext cx="3968496" cy="585216"/>
          </a:xfrm>
          <a:custGeom>
            <a:avLst/>
            <a:gdLst/>
            <a:ahLst/>
            <a:cxnLst/>
            <a:rect l="l" t="t" r="r" b="b"/>
            <a:pathLst>
              <a:path w="434" h="64">
                <a:moveTo>
                  <a:pt x="0" y="0"/>
                </a:moveTo>
                <a:lnTo>
                  <a:pt x="3" y="1"/>
                </a:lnTo>
                <a:lnTo>
                  <a:pt x="6" y="3"/>
                </a:lnTo>
                <a:lnTo>
                  <a:pt x="10" y="4"/>
                </a:lnTo>
                <a:lnTo>
                  <a:pt x="14" y="6"/>
                </a:lnTo>
                <a:lnTo>
                  <a:pt x="19" y="9"/>
                </a:lnTo>
                <a:lnTo>
                  <a:pt x="23" y="11"/>
                </a:lnTo>
                <a:lnTo>
                  <a:pt x="29" y="13"/>
                </a:lnTo>
                <a:lnTo>
                  <a:pt x="34" y="16"/>
                </a:lnTo>
                <a:lnTo>
                  <a:pt x="40" y="18"/>
                </a:lnTo>
                <a:lnTo>
                  <a:pt x="45" y="20"/>
                </a:lnTo>
                <a:lnTo>
                  <a:pt x="51" y="22"/>
                </a:lnTo>
                <a:lnTo>
                  <a:pt x="57" y="24"/>
                </a:lnTo>
                <a:lnTo>
                  <a:pt x="62" y="25"/>
                </a:lnTo>
                <a:lnTo>
                  <a:pt x="68" y="26"/>
                </a:lnTo>
                <a:lnTo>
                  <a:pt x="73" y="26"/>
                </a:lnTo>
                <a:lnTo>
                  <a:pt x="78" y="26"/>
                </a:lnTo>
                <a:lnTo>
                  <a:pt x="84" y="25"/>
                </a:lnTo>
                <a:lnTo>
                  <a:pt x="89" y="24"/>
                </a:lnTo>
                <a:lnTo>
                  <a:pt x="94" y="22"/>
                </a:lnTo>
                <a:lnTo>
                  <a:pt x="100" y="20"/>
                </a:lnTo>
                <a:lnTo>
                  <a:pt x="105" y="17"/>
                </a:lnTo>
                <a:lnTo>
                  <a:pt x="111" y="15"/>
                </a:lnTo>
                <a:lnTo>
                  <a:pt x="116" y="13"/>
                </a:lnTo>
                <a:lnTo>
                  <a:pt x="122" y="10"/>
                </a:lnTo>
                <a:lnTo>
                  <a:pt x="128" y="8"/>
                </a:lnTo>
                <a:lnTo>
                  <a:pt x="133" y="6"/>
                </a:lnTo>
                <a:lnTo>
                  <a:pt x="139" y="4"/>
                </a:lnTo>
                <a:lnTo>
                  <a:pt x="145" y="3"/>
                </a:lnTo>
                <a:lnTo>
                  <a:pt x="150" y="3"/>
                </a:lnTo>
                <a:lnTo>
                  <a:pt x="156" y="3"/>
                </a:lnTo>
                <a:lnTo>
                  <a:pt x="162" y="4"/>
                </a:lnTo>
                <a:lnTo>
                  <a:pt x="167" y="6"/>
                </a:lnTo>
                <a:lnTo>
                  <a:pt x="173" y="8"/>
                </a:lnTo>
                <a:lnTo>
                  <a:pt x="179" y="10"/>
                </a:lnTo>
                <a:lnTo>
                  <a:pt x="185" y="14"/>
                </a:lnTo>
                <a:lnTo>
                  <a:pt x="190" y="17"/>
                </a:lnTo>
                <a:lnTo>
                  <a:pt x="196" y="21"/>
                </a:lnTo>
                <a:lnTo>
                  <a:pt x="202" y="24"/>
                </a:lnTo>
                <a:lnTo>
                  <a:pt x="208" y="28"/>
                </a:lnTo>
                <a:lnTo>
                  <a:pt x="214" y="31"/>
                </a:lnTo>
                <a:lnTo>
                  <a:pt x="219" y="34"/>
                </a:lnTo>
                <a:lnTo>
                  <a:pt x="225" y="37"/>
                </a:lnTo>
                <a:lnTo>
                  <a:pt x="231" y="39"/>
                </a:lnTo>
                <a:lnTo>
                  <a:pt x="237" y="40"/>
                </a:lnTo>
                <a:lnTo>
                  <a:pt x="243" y="41"/>
                </a:lnTo>
                <a:lnTo>
                  <a:pt x="249" y="41"/>
                </a:lnTo>
                <a:lnTo>
                  <a:pt x="255" y="40"/>
                </a:lnTo>
                <a:lnTo>
                  <a:pt x="261" y="38"/>
                </a:lnTo>
                <a:lnTo>
                  <a:pt x="267" y="36"/>
                </a:lnTo>
                <a:lnTo>
                  <a:pt x="273" y="34"/>
                </a:lnTo>
                <a:lnTo>
                  <a:pt x="279" y="31"/>
                </a:lnTo>
                <a:lnTo>
                  <a:pt x="285" y="28"/>
                </a:lnTo>
                <a:lnTo>
                  <a:pt x="291" y="25"/>
                </a:lnTo>
                <a:lnTo>
                  <a:pt x="297" y="22"/>
                </a:lnTo>
                <a:lnTo>
                  <a:pt x="303" y="19"/>
                </a:lnTo>
                <a:lnTo>
                  <a:pt x="309" y="17"/>
                </a:lnTo>
                <a:lnTo>
                  <a:pt x="315" y="15"/>
                </a:lnTo>
                <a:lnTo>
                  <a:pt x="321" y="13"/>
                </a:lnTo>
                <a:lnTo>
                  <a:pt x="328" y="13"/>
                </a:lnTo>
                <a:lnTo>
                  <a:pt x="334" y="13"/>
                </a:lnTo>
                <a:lnTo>
                  <a:pt x="341" y="14"/>
                </a:lnTo>
                <a:lnTo>
                  <a:pt x="348" y="16"/>
                </a:lnTo>
                <a:lnTo>
                  <a:pt x="355" y="19"/>
                </a:lnTo>
                <a:lnTo>
                  <a:pt x="363" y="22"/>
                </a:lnTo>
                <a:lnTo>
                  <a:pt x="370" y="26"/>
                </a:lnTo>
                <a:lnTo>
                  <a:pt x="378" y="30"/>
                </a:lnTo>
                <a:lnTo>
                  <a:pt x="386" y="35"/>
                </a:lnTo>
                <a:lnTo>
                  <a:pt x="393" y="39"/>
                </a:lnTo>
                <a:lnTo>
                  <a:pt x="401" y="43"/>
                </a:lnTo>
                <a:lnTo>
                  <a:pt x="408" y="48"/>
                </a:lnTo>
                <a:lnTo>
                  <a:pt x="414" y="52"/>
                </a:lnTo>
                <a:lnTo>
                  <a:pt x="420" y="56"/>
                </a:lnTo>
                <a:lnTo>
                  <a:pt x="426" y="59"/>
                </a:lnTo>
                <a:lnTo>
                  <a:pt x="430" y="62"/>
                </a:lnTo>
                <a:lnTo>
                  <a:pt x="434" y="64"/>
                </a:lnTo>
              </a:path>
            </a:pathLst>
          </a:custGeom>
          <a:noFill/>
          <a:ln w="43891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th"/>
          <p:cNvSpPr/>
          <p:nvPr/>
        </p:nvSpPr>
        <p:spPr>
          <a:xfrm>
            <a:off x="1143000" y="2907792"/>
            <a:ext cx="3182112" cy="411480"/>
          </a:xfrm>
          <a:custGeom>
            <a:avLst/>
            <a:gdLst/>
            <a:ahLst/>
            <a:cxnLst/>
            <a:rect l="l" t="t" r="r" b="b"/>
            <a:pathLst>
              <a:path w="348" h="45">
                <a:moveTo>
                  <a:pt x="0" y="45"/>
                </a:moveTo>
                <a:lnTo>
                  <a:pt x="3" y="44"/>
                </a:lnTo>
                <a:lnTo>
                  <a:pt x="7" y="42"/>
                </a:lnTo>
                <a:lnTo>
                  <a:pt x="12" y="40"/>
                </a:lnTo>
                <a:lnTo>
                  <a:pt x="17" y="38"/>
                </a:lnTo>
                <a:lnTo>
                  <a:pt x="23" y="36"/>
                </a:lnTo>
                <a:lnTo>
                  <a:pt x="29" y="34"/>
                </a:lnTo>
                <a:lnTo>
                  <a:pt x="35" y="31"/>
                </a:lnTo>
                <a:lnTo>
                  <a:pt x="41" y="29"/>
                </a:lnTo>
                <a:lnTo>
                  <a:pt x="48" y="26"/>
                </a:lnTo>
                <a:lnTo>
                  <a:pt x="55" y="24"/>
                </a:lnTo>
                <a:lnTo>
                  <a:pt x="62" y="22"/>
                </a:lnTo>
                <a:lnTo>
                  <a:pt x="68" y="20"/>
                </a:lnTo>
                <a:lnTo>
                  <a:pt x="75" y="19"/>
                </a:lnTo>
                <a:lnTo>
                  <a:pt x="81" y="18"/>
                </a:lnTo>
                <a:lnTo>
                  <a:pt x="87" y="17"/>
                </a:lnTo>
                <a:lnTo>
                  <a:pt x="93" y="17"/>
                </a:lnTo>
                <a:lnTo>
                  <a:pt x="98" y="18"/>
                </a:lnTo>
                <a:lnTo>
                  <a:pt x="104" y="19"/>
                </a:lnTo>
                <a:lnTo>
                  <a:pt x="110" y="20"/>
                </a:lnTo>
                <a:lnTo>
                  <a:pt x="115" y="22"/>
                </a:lnTo>
                <a:lnTo>
                  <a:pt x="121" y="24"/>
                </a:lnTo>
                <a:lnTo>
                  <a:pt x="127" y="26"/>
                </a:lnTo>
                <a:lnTo>
                  <a:pt x="132" y="28"/>
                </a:lnTo>
                <a:lnTo>
                  <a:pt x="138" y="30"/>
                </a:lnTo>
                <a:lnTo>
                  <a:pt x="144" y="32"/>
                </a:lnTo>
                <a:lnTo>
                  <a:pt x="149" y="34"/>
                </a:lnTo>
                <a:lnTo>
                  <a:pt x="155" y="35"/>
                </a:lnTo>
                <a:lnTo>
                  <a:pt x="161" y="36"/>
                </a:lnTo>
                <a:lnTo>
                  <a:pt x="167" y="36"/>
                </a:lnTo>
                <a:lnTo>
                  <a:pt x="173" y="36"/>
                </a:lnTo>
                <a:lnTo>
                  <a:pt x="179" y="35"/>
                </a:lnTo>
                <a:lnTo>
                  <a:pt x="185" y="33"/>
                </a:lnTo>
                <a:lnTo>
                  <a:pt x="192" y="31"/>
                </a:lnTo>
                <a:lnTo>
                  <a:pt x="198" y="29"/>
                </a:lnTo>
                <a:lnTo>
                  <a:pt x="205" y="26"/>
                </a:lnTo>
                <a:lnTo>
                  <a:pt x="211" y="22"/>
                </a:lnTo>
                <a:lnTo>
                  <a:pt x="218" y="19"/>
                </a:lnTo>
                <a:lnTo>
                  <a:pt x="225" y="15"/>
                </a:lnTo>
                <a:lnTo>
                  <a:pt x="231" y="12"/>
                </a:lnTo>
                <a:lnTo>
                  <a:pt x="238" y="9"/>
                </a:lnTo>
                <a:lnTo>
                  <a:pt x="244" y="6"/>
                </a:lnTo>
                <a:lnTo>
                  <a:pt x="251" y="4"/>
                </a:lnTo>
                <a:lnTo>
                  <a:pt x="257" y="2"/>
                </a:lnTo>
                <a:lnTo>
                  <a:pt x="263" y="1"/>
                </a:lnTo>
                <a:lnTo>
                  <a:pt x="269" y="0"/>
                </a:lnTo>
                <a:lnTo>
                  <a:pt x="275" y="0"/>
                </a:lnTo>
                <a:lnTo>
                  <a:pt x="281" y="1"/>
                </a:lnTo>
                <a:lnTo>
                  <a:pt x="287" y="3"/>
                </a:lnTo>
                <a:lnTo>
                  <a:pt x="293" y="4"/>
                </a:lnTo>
                <a:lnTo>
                  <a:pt x="300" y="7"/>
                </a:lnTo>
                <a:lnTo>
                  <a:pt x="306" y="9"/>
                </a:lnTo>
                <a:lnTo>
                  <a:pt x="312" y="12"/>
                </a:lnTo>
                <a:lnTo>
                  <a:pt x="317" y="15"/>
                </a:lnTo>
                <a:lnTo>
                  <a:pt x="323" y="18"/>
                </a:lnTo>
                <a:lnTo>
                  <a:pt x="328" y="21"/>
                </a:lnTo>
                <a:lnTo>
                  <a:pt x="333" y="24"/>
                </a:lnTo>
                <a:lnTo>
                  <a:pt x="338" y="27"/>
                </a:lnTo>
                <a:lnTo>
                  <a:pt x="342" y="29"/>
                </a:lnTo>
                <a:lnTo>
                  <a:pt x="345" y="31"/>
                </a:lnTo>
                <a:lnTo>
                  <a:pt x="348" y="32"/>
                </a:lnTo>
              </a:path>
            </a:pathLst>
          </a:custGeom>
          <a:noFill/>
          <a:ln w="43891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th"/>
          <p:cNvSpPr/>
          <p:nvPr/>
        </p:nvSpPr>
        <p:spPr>
          <a:xfrm>
            <a:off x="4407408" y="3008376"/>
            <a:ext cx="3648456" cy="301752"/>
          </a:xfrm>
          <a:custGeom>
            <a:avLst/>
            <a:gdLst/>
            <a:ahLst/>
            <a:cxnLst/>
            <a:rect l="l" t="t" r="r" b="b"/>
            <a:pathLst>
              <a:path w="399" h="33">
                <a:moveTo>
                  <a:pt x="0" y="27"/>
                </a:moveTo>
                <a:lnTo>
                  <a:pt x="3" y="26"/>
                </a:lnTo>
                <a:lnTo>
                  <a:pt x="6" y="25"/>
                </a:lnTo>
                <a:lnTo>
                  <a:pt x="10" y="23"/>
                </a:lnTo>
                <a:lnTo>
                  <a:pt x="14" y="21"/>
                </a:lnTo>
                <a:lnTo>
                  <a:pt x="19" y="19"/>
                </a:lnTo>
                <a:lnTo>
                  <a:pt x="24" y="17"/>
                </a:lnTo>
                <a:lnTo>
                  <a:pt x="29" y="15"/>
                </a:lnTo>
                <a:lnTo>
                  <a:pt x="35" y="13"/>
                </a:lnTo>
                <a:lnTo>
                  <a:pt x="40" y="11"/>
                </a:lnTo>
                <a:lnTo>
                  <a:pt x="46" y="9"/>
                </a:lnTo>
                <a:lnTo>
                  <a:pt x="52" y="7"/>
                </a:lnTo>
                <a:lnTo>
                  <a:pt x="58" y="6"/>
                </a:lnTo>
                <a:lnTo>
                  <a:pt x="64" y="5"/>
                </a:lnTo>
                <a:lnTo>
                  <a:pt x="69" y="4"/>
                </a:lnTo>
                <a:lnTo>
                  <a:pt x="75" y="4"/>
                </a:lnTo>
                <a:lnTo>
                  <a:pt x="81" y="5"/>
                </a:lnTo>
                <a:lnTo>
                  <a:pt x="87" y="6"/>
                </a:lnTo>
                <a:lnTo>
                  <a:pt x="93" y="7"/>
                </a:lnTo>
                <a:lnTo>
                  <a:pt x="99" y="10"/>
                </a:lnTo>
                <a:lnTo>
                  <a:pt x="105" y="12"/>
                </a:lnTo>
                <a:lnTo>
                  <a:pt x="111" y="15"/>
                </a:lnTo>
                <a:lnTo>
                  <a:pt x="118" y="18"/>
                </a:lnTo>
                <a:lnTo>
                  <a:pt x="124" y="21"/>
                </a:lnTo>
                <a:lnTo>
                  <a:pt x="130" y="23"/>
                </a:lnTo>
                <a:lnTo>
                  <a:pt x="137" y="26"/>
                </a:lnTo>
                <a:lnTo>
                  <a:pt x="143" y="28"/>
                </a:lnTo>
                <a:lnTo>
                  <a:pt x="149" y="30"/>
                </a:lnTo>
                <a:lnTo>
                  <a:pt x="155" y="32"/>
                </a:lnTo>
                <a:lnTo>
                  <a:pt x="161" y="33"/>
                </a:lnTo>
                <a:lnTo>
                  <a:pt x="167" y="33"/>
                </a:lnTo>
                <a:lnTo>
                  <a:pt x="173" y="32"/>
                </a:lnTo>
                <a:lnTo>
                  <a:pt x="178" y="31"/>
                </a:lnTo>
                <a:lnTo>
                  <a:pt x="183" y="29"/>
                </a:lnTo>
                <a:lnTo>
                  <a:pt x="187" y="27"/>
                </a:lnTo>
                <a:lnTo>
                  <a:pt x="192" y="24"/>
                </a:lnTo>
                <a:lnTo>
                  <a:pt x="196" y="21"/>
                </a:lnTo>
                <a:lnTo>
                  <a:pt x="201" y="18"/>
                </a:lnTo>
                <a:lnTo>
                  <a:pt x="206" y="15"/>
                </a:lnTo>
                <a:lnTo>
                  <a:pt x="210" y="12"/>
                </a:lnTo>
                <a:lnTo>
                  <a:pt x="215" y="9"/>
                </a:lnTo>
                <a:lnTo>
                  <a:pt x="221" y="6"/>
                </a:lnTo>
                <a:lnTo>
                  <a:pt x="227" y="3"/>
                </a:lnTo>
                <a:lnTo>
                  <a:pt x="233" y="2"/>
                </a:lnTo>
                <a:lnTo>
                  <a:pt x="240" y="0"/>
                </a:lnTo>
                <a:lnTo>
                  <a:pt x="247" y="0"/>
                </a:lnTo>
                <a:lnTo>
                  <a:pt x="255" y="0"/>
                </a:lnTo>
                <a:lnTo>
                  <a:pt x="265" y="1"/>
                </a:lnTo>
                <a:lnTo>
                  <a:pt x="275" y="3"/>
                </a:lnTo>
                <a:lnTo>
                  <a:pt x="286" y="4"/>
                </a:lnTo>
                <a:lnTo>
                  <a:pt x="298" y="7"/>
                </a:lnTo>
                <a:lnTo>
                  <a:pt x="310" y="9"/>
                </a:lnTo>
                <a:lnTo>
                  <a:pt x="322" y="12"/>
                </a:lnTo>
                <a:lnTo>
                  <a:pt x="334" y="15"/>
                </a:lnTo>
                <a:lnTo>
                  <a:pt x="346" y="18"/>
                </a:lnTo>
                <a:lnTo>
                  <a:pt x="357" y="21"/>
                </a:lnTo>
                <a:lnTo>
                  <a:pt x="367" y="23"/>
                </a:lnTo>
                <a:lnTo>
                  <a:pt x="377" y="26"/>
                </a:lnTo>
                <a:lnTo>
                  <a:pt x="386" y="28"/>
                </a:lnTo>
                <a:lnTo>
                  <a:pt x="393" y="30"/>
                </a:lnTo>
                <a:lnTo>
                  <a:pt x="399" y="31"/>
                </a:lnTo>
              </a:path>
            </a:pathLst>
          </a:custGeom>
          <a:noFill/>
          <a:ln w="43891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th"/>
          <p:cNvSpPr/>
          <p:nvPr/>
        </p:nvSpPr>
        <p:spPr>
          <a:xfrm>
            <a:off x="1298448" y="3749040"/>
            <a:ext cx="2331720" cy="438912"/>
          </a:xfrm>
          <a:custGeom>
            <a:avLst/>
            <a:gdLst/>
            <a:ahLst/>
            <a:cxnLst/>
            <a:rect l="l" t="t" r="r" b="b"/>
            <a:pathLst>
              <a:path w="255" h="48">
                <a:moveTo>
                  <a:pt x="0" y="48"/>
                </a:moveTo>
                <a:lnTo>
                  <a:pt x="3" y="47"/>
                </a:lnTo>
                <a:lnTo>
                  <a:pt x="8" y="45"/>
                </a:lnTo>
                <a:lnTo>
                  <a:pt x="13" y="43"/>
                </a:lnTo>
                <a:lnTo>
                  <a:pt x="18" y="40"/>
                </a:lnTo>
                <a:lnTo>
                  <a:pt x="24" y="37"/>
                </a:lnTo>
                <a:lnTo>
                  <a:pt x="30" y="34"/>
                </a:lnTo>
                <a:lnTo>
                  <a:pt x="37" y="32"/>
                </a:lnTo>
                <a:lnTo>
                  <a:pt x="44" y="29"/>
                </a:lnTo>
                <a:lnTo>
                  <a:pt x="51" y="26"/>
                </a:lnTo>
                <a:lnTo>
                  <a:pt x="58" y="23"/>
                </a:lnTo>
                <a:lnTo>
                  <a:pt x="65" y="21"/>
                </a:lnTo>
                <a:lnTo>
                  <a:pt x="72" y="19"/>
                </a:lnTo>
                <a:lnTo>
                  <a:pt x="79" y="17"/>
                </a:lnTo>
                <a:lnTo>
                  <a:pt x="86" y="16"/>
                </a:lnTo>
                <a:lnTo>
                  <a:pt x="92" y="15"/>
                </a:lnTo>
                <a:lnTo>
                  <a:pt x="98" y="15"/>
                </a:lnTo>
                <a:lnTo>
                  <a:pt x="104" y="16"/>
                </a:lnTo>
                <a:lnTo>
                  <a:pt x="110" y="17"/>
                </a:lnTo>
                <a:lnTo>
                  <a:pt x="116" y="19"/>
                </a:lnTo>
                <a:lnTo>
                  <a:pt x="122" y="21"/>
                </a:lnTo>
                <a:lnTo>
                  <a:pt x="128" y="23"/>
                </a:lnTo>
                <a:lnTo>
                  <a:pt x="134" y="26"/>
                </a:lnTo>
                <a:lnTo>
                  <a:pt x="140" y="28"/>
                </a:lnTo>
                <a:lnTo>
                  <a:pt x="146" y="31"/>
                </a:lnTo>
                <a:lnTo>
                  <a:pt x="152" y="33"/>
                </a:lnTo>
                <a:lnTo>
                  <a:pt x="158" y="35"/>
                </a:lnTo>
                <a:lnTo>
                  <a:pt x="163" y="36"/>
                </a:lnTo>
                <a:lnTo>
                  <a:pt x="169" y="38"/>
                </a:lnTo>
                <a:lnTo>
                  <a:pt x="175" y="38"/>
                </a:lnTo>
                <a:lnTo>
                  <a:pt x="180" y="38"/>
                </a:lnTo>
                <a:lnTo>
                  <a:pt x="186" y="37"/>
                </a:lnTo>
                <a:lnTo>
                  <a:pt x="191" y="36"/>
                </a:lnTo>
                <a:lnTo>
                  <a:pt x="197" y="34"/>
                </a:lnTo>
                <a:lnTo>
                  <a:pt x="203" y="31"/>
                </a:lnTo>
                <a:lnTo>
                  <a:pt x="209" y="28"/>
                </a:lnTo>
                <a:lnTo>
                  <a:pt x="215" y="25"/>
                </a:lnTo>
                <a:lnTo>
                  <a:pt x="220" y="22"/>
                </a:lnTo>
                <a:lnTo>
                  <a:pt x="226" y="19"/>
                </a:lnTo>
                <a:lnTo>
                  <a:pt x="231" y="15"/>
                </a:lnTo>
                <a:lnTo>
                  <a:pt x="236" y="12"/>
                </a:lnTo>
                <a:lnTo>
                  <a:pt x="241" y="9"/>
                </a:lnTo>
                <a:lnTo>
                  <a:pt x="245" y="6"/>
                </a:lnTo>
                <a:lnTo>
                  <a:pt x="249" y="4"/>
                </a:lnTo>
                <a:lnTo>
                  <a:pt x="252" y="2"/>
                </a:lnTo>
                <a:lnTo>
                  <a:pt x="255" y="0"/>
                </a:lnTo>
              </a:path>
            </a:pathLst>
          </a:custGeom>
          <a:noFill/>
          <a:ln w="43891" cap="rnd">
            <a:solidFill>
              <a:srgbClr val="2369A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th"/>
          <p:cNvSpPr/>
          <p:nvPr/>
        </p:nvSpPr>
        <p:spPr>
          <a:xfrm>
            <a:off x="4187952" y="3986784"/>
            <a:ext cx="3630168" cy="320040"/>
          </a:xfrm>
          <a:custGeom>
            <a:avLst/>
            <a:gdLst/>
            <a:ahLst/>
            <a:cxnLst/>
            <a:rect l="l" t="t" r="r" b="b"/>
            <a:pathLst>
              <a:path w="397" h="35">
                <a:moveTo>
                  <a:pt x="0" y="20"/>
                </a:moveTo>
                <a:lnTo>
                  <a:pt x="3" y="19"/>
                </a:lnTo>
                <a:lnTo>
                  <a:pt x="7" y="18"/>
                </a:lnTo>
                <a:lnTo>
                  <a:pt x="12" y="16"/>
                </a:lnTo>
                <a:lnTo>
                  <a:pt x="17" y="15"/>
                </a:lnTo>
                <a:lnTo>
                  <a:pt x="22" y="13"/>
                </a:lnTo>
                <a:lnTo>
                  <a:pt x="28" y="11"/>
                </a:lnTo>
                <a:lnTo>
                  <a:pt x="34" y="9"/>
                </a:lnTo>
                <a:lnTo>
                  <a:pt x="40" y="7"/>
                </a:lnTo>
                <a:lnTo>
                  <a:pt x="47" y="5"/>
                </a:lnTo>
                <a:lnTo>
                  <a:pt x="53" y="3"/>
                </a:lnTo>
                <a:lnTo>
                  <a:pt x="60" y="2"/>
                </a:lnTo>
                <a:lnTo>
                  <a:pt x="66" y="1"/>
                </a:lnTo>
                <a:lnTo>
                  <a:pt x="72" y="0"/>
                </a:lnTo>
                <a:lnTo>
                  <a:pt x="78" y="0"/>
                </a:lnTo>
                <a:lnTo>
                  <a:pt x="83" y="0"/>
                </a:lnTo>
                <a:lnTo>
                  <a:pt x="88" y="1"/>
                </a:lnTo>
                <a:lnTo>
                  <a:pt x="93" y="2"/>
                </a:lnTo>
                <a:lnTo>
                  <a:pt x="97" y="5"/>
                </a:lnTo>
                <a:lnTo>
                  <a:pt x="101" y="7"/>
                </a:lnTo>
                <a:lnTo>
                  <a:pt x="106" y="10"/>
                </a:lnTo>
                <a:lnTo>
                  <a:pt x="110" y="13"/>
                </a:lnTo>
                <a:lnTo>
                  <a:pt x="114" y="17"/>
                </a:lnTo>
                <a:lnTo>
                  <a:pt x="118" y="20"/>
                </a:lnTo>
                <a:lnTo>
                  <a:pt x="122" y="23"/>
                </a:lnTo>
                <a:lnTo>
                  <a:pt x="127" y="26"/>
                </a:lnTo>
                <a:lnTo>
                  <a:pt x="131" y="29"/>
                </a:lnTo>
                <a:lnTo>
                  <a:pt x="136" y="31"/>
                </a:lnTo>
                <a:lnTo>
                  <a:pt x="141" y="33"/>
                </a:lnTo>
                <a:lnTo>
                  <a:pt x="146" y="35"/>
                </a:lnTo>
                <a:lnTo>
                  <a:pt x="152" y="35"/>
                </a:lnTo>
                <a:lnTo>
                  <a:pt x="158" y="35"/>
                </a:lnTo>
                <a:lnTo>
                  <a:pt x="164" y="34"/>
                </a:lnTo>
                <a:lnTo>
                  <a:pt x="170" y="32"/>
                </a:lnTo>
                <a:lnTo>
                  <a:pt x="177" y="30"/>
                </a:lnTo>
                <a:lnTo>
                  <a:pt x="183" y="27"/>
                </a:lnTo>
                <a:lnTo>
                  <a:pt x="190" y="24"/>
                </a:lnTo>
                <a:lnTo>
                  <a:pt x="197" y="21"/>
                </a:lnTo>
                <a:lnTo>
                  <a:pt x="204" y="18"/>
                </a:lnTo>
                <a:lnTo>
                  <a:pt x="211" y="15"/>
                </a:lnTo>
                <a:lnTo>
                  <a:pt x="218" y="12"/>
                </a:lnTo>
                <a:lnTo>
                  <a:pt x="226" y="9"/>
                </a:lnTo>
                <a:lnTo>
                  <a:pt x="233" y="6"/>
                </a:lnTo>
                <a:lnTo>
                  <a:pt x="241" y="4"/>
                </a:lnTo>
                <a:lnTo>
                  <a:pt x="249" y="3"/>
                </a:lnTo>
                <a:lnTo>
                  <a:pt x="257" y="2"/>
                </a:lnTo>
                <a:lnTo>
                  <a:pt x="266" y="2"/>
                </a:lnTo>
                <a:lnTo>
                  <a:pt x="275" y="2"/>
                </a:lnTo>
                <a:lnTo>
                  <a:pt x="285" y="3"/>
                </a:lnTo>
                <a:lnTo>
                  <a:pt x="295" y="4"/>
                </a:lnTo>
                <a:lnTo>
                  <a:pt x="306" y="5"/>
                </a:lnTo>
                <a:lnTo>
                  <a:pt x="317" y="6"/>
                </a:lnTo>
                <a:lnTo>
                  <a:pt x="328" y="8"/>
                </a:lnTo>
                <a:lnTo>
                  <a:pt x="339" y="10"/>
                </a:lnTo>
                <a:lnTo>
                  <a:pt x="349" y="12"/>
                </a:lnTo>
                <a:lnTo>
                  <a:pt x="359" y="13"/>
                </a:lnTo>
                <a:lnTo>
                  <a:pt x="369" y="15"/>
                </a:lnTo>
                <a:lnTo>
                  <a:pt x="377" y="17"/>
                </a:lnTo>
                <a:lnTo>
                  <a:pt x="385" y="18"/>
                </a:lnTo>
                <a:lnTo>
                  <a:pt x="392" y="19"/>
                </a:lnTo>
                <a:lnTo>
                  <a:pt x="397" y="20"/>
                </a:lnTo>
              </a:path>
            </a:pathLst>
          </a:custGeom>
          <a:noFill/>
          <a:ln w="43891" cap="rnd">
            <a:solidFill>
              <a:srgbClr val="80B7D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th"/>
          <p:cNvSpPr/>
          <p:nvPr/>
        </p:nvSpPr>
        <p:spPr>
          <a:xfrm>
            <a:off x="2551176" y="2459736"/>
            <a:ext cx="0" cy="768096"/>
          </a:xfrm>
          <a:custGeom>
            <a:avLst/>
            <a:gdLst/>
            <a:ahLst/>
            <a:cxnLst/>
            <a:rect l="l" t="t" r="r" b="b"/>
            <a:pathLst>
              <a:path w="0" h="84">
                <a:moveTo>
                  <a:pt x="0" y="0"/>
                </a:moveTo>
                <a:lnTo>
                  <a:pt x="0" y="84"/>
                </a:lnTo>
              </a:path>
            </a:pathLst>
          </a:custGeom>
          <a:noFill/>
          <a:ln w="25603" cap="rnd">
            <a:solidFill>
              <a:srgbClr val="BE596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th"/>
          <p:cNvSpPr/>
          <p:nvPr/>
        </p:nvSpPr>
        <p:spPr>
          <a:xfrm>
            <a:off x="5751576" y="2139696"/>
            <a:ext cx="0" cy="1143000"/>
          </a:xfrm>
          <a:custGeom>
            <a:avLst/>
            <a:gdLst/>
            <a:ahLst/>
            <a:cxnLst/>
            <a:rect l="l" t="t" r="r" b="b"/>
            <a:pathLst>
              <a:path w="0" h="125">
                <a:moveTo>
                  <a:pt x="0" y="0"/>
                </a:moveTo>
                <a:lnTo>
                  <a:pt x="0" y="125"/>
                </a:lnTo>
              </a:path>
            </a:pathLst>
          </a:custGeom>
          <a:noFill/>
          <a:ln w="25603" cap="rnd">
            <a:solidFill>
              <a:srgbClr val="BE596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th"/>
          <p:cNvSpPr/>
          <p:nvPr/>
        </p:nvSpPr>
        <p:spPr>
          <a:xfrm>
            <a:off x="6592824" y="3017520"/>
            <a:ext cx="0" cy="987552"/>
          </a:xfrm>
          <a:custGeom>
            <a:avLst/>
            <a:gdLst/>
            <a:ahLst/>
            <a:cxnLst/>
            <a:rect l="l" t="t" r="r" b="b"/>
            <a:pathLst>
              <a:path w="0" h="108">
                <a:moveTo>
                  <a:pt x="0" y="0"/>
                </a:moveTo>
                <a:lnTo>
                  <a:pt x="0" y="108"/>
                </a:lnTo>
              </a:path>
            </a:pathLst>
          </a:custGeom>
          <a:noFill/>
          <a:ln w="25603" cap="rnd">
            <a:solidFill>
              <a:srgbClr val="BE596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llipse"/>
          <p:cNvSpPr/>
          <p:nvPr/>
        </p:nvSpPr>
        <p:spPr>
          <a:xfrm>
            <a:off x="2057400" y="2505456"/>
            <a:ext cx="548640" cy="548640"/>
          </a:xfrm>
          <a:prstGeom prst="ellipse">
            <a:avLst/>
          </a:prstGeom>
          <a:solidFill>
            <a:srgbClr val="EFF9F7"/>
          </a:solidFill>
          <a:ln w="25603" cap="rnd">
            <a:solidFill>
              <a:srgbClr val="087F7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−"/>
          <p:cNvSpPr txBox="1"/>
          <p:nvPr/>
        </p:nvSpPr>
        <p:spPr>
          <a:xfrm>
            <a:off x="2251620" y="2596896"/>
            <a:ext cx="407086" cy="4526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160" b="1">
                <a:solidFill>
                  <a:srgbClr val="087F78"/>
                </a:solidFill>
                <a:latin typeface="Arial"/>
              </a:defRPr>
            </a:pPr>
            <a:r>
              <a:t>−</a:t>
            </a:r>
          </a:p>
        </p:txBody>
      </p:sp>
      <p:sp>
        <p:nvSpPr>
          <p:cNvPr id="16" name="ellipse"/>
          <p:cNvSpPr/>
          <p:nvPr/>
        </p:nvSpPr>
        <p:spPr>
          <a:xfrm>
            <a:off x="4636008" y="2295144"/>
            <a:ext cx="548640" cy="548640"/>
          </a:xfrm>
          <a:prstGeom prst="ellipse">
            <a:avLst/>
          </a:prstGeom>
          <a:solidFill>
            <a:srgbClr val="FFF8EE"/>
          </a:solidFill>
          <a:ln w="25603" cap="rnd">
            <a:solidFill>
              <a:srgbClr val="D5822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+"/>
          <p:cNvSpPr txBox="1"/>
          <p:nvPr/>
        </p:nvSpPr>
        <p:spPr>
          <a:xfrm>
            <a:off x="4830228" y="2386584"/>
            <a:ext cx="407086" cy="4526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160" b="1">
                <a:solidFill>
                  <a:srgbClr val="D58228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8" name="ellipse"/>
          <p:cNvSpPr/>
          <p:nvPr/>
        </p:nvSpPr>
        <p:spPr>
          <a:xfrm>
            <a:off x="6647688" y="2377440"/>
            <a:ext cx="548640" cy="548640"/>
          </a:xfrm>
          <a:prstGeom prst="ellipse">
            <a:avLst/>
          </a:prstGeom>
          <a:solidFill>
            <a:srgbClr val="EFF9F7"/>
          </a:solidFill>
          <a:ln w="25603" cap="rnd">
            <a:solidFill>
              <a:srgbClr val="087F7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−"/>
          <p:cNvSpPr txBox="1"/>
          <p:nvPr/>
        </p:nvSpPr>
        <p:spPr>
          <a:xfrm>
            <a:off x="6841908" y="2468880"/>
            <a:ext cx="407086" cy="4526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160" b="1">
                <a:solidFill>
                  <a:srgbClr val="087F78"/>
                </a:solidFill>
                <a:latin typeface="Arial"/>
              </a:defRPr>
            </a:pPr>
            <a:r>
              <a:t>−</a:t>
            </a:r>
          </a:p>
        </p:txBody>
      </p:sp>
      <p:sp>
        <p:nvSpPr>
          <p:cNvPr id="20" name="ellipse"/>
          <p:cNvSpPr/>
          <p:nvPr/>
        </p:nvSpPr>
        <p:spPr>
          <a:xfrm>
            <a:off x="2825496" y="3529584"/>
            <a:ext cx="548640" cy="548640"/>
          </a:xfrm>
          <a:prstGeom prst="ellipse">
            <a:avLst/>
          </a:prstGeom>
          <a:solidFill>
            <a:srgbClr val="FFF8EE"/>
          </a:solidFill>
          <a:ln w="25603" cap="rnd">
            <a:solidFill>
              <a:srgbClr val="D5822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+"/>
          <p:cNvSpPr txBox="1"/>
          <p:nvPr/>
        </p:nvSpPr>
        <p:spPr>
          <a:xfrm>
            <a:off x="3019716" y="3621024"/>
            <a:ext cx="407086" cy="4526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160" b="1">
                <a:solidFill>
                  <a:srgbClr val="D58228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22" name="ellipse"/>
          <p:cNvSpPr/>
          <p:nvPr/>
        </p:nvSpPr>
        <p:spPr>
          <a:xfrm>
            <a:off x="5202936" y="3429000"/>
            <a:ext cx="548640" cy="548640"/>
          </a:xfrm>
          <a:prstGeom prst="ellipse">
            <a:avLst/>
          </a:prstGeom>
          <a:solidFill>
            <a:srgbClr val="EFF9F7"/>
          </a:solidFill>
          <a:ln w="25603" cap="rnd">
            <a:solidFill>
              <a:srgbClr val="087F7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−"/>
          <p:cNvSpPr txBox="1"/>
          <p:nvPr/>
        </p:nvSpPr>
        <p:spPr>
          <a:xfrm>
            <a:off x="5397156" y="3520440"/>
            <a:ext cx="407086" cy="4526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160" b="1">
                <a:solidFill>
                  <a:srgbClr val="087F78"/>
                </a:solidFill>
                <a:latin typeface="Arial"/>
              </a:defRPr>
            </a:pPr>
            <a:r>
              <a:t>−</a:t>
            </a:r>
          </a:p>
        </p:txBody>
      </p:sp>
      <p:sp>
        <p:nvSpPr>
          <p:cNvPr id="24" name="Illustrative chain separation and ion association"/>
          <p:cNvSpPr txBox="1"/>
          <p:nvPr/>
        </p:nvSpPr>
        <p:spPr>
          <a:xfrm>
            <a:off x="1889164" y="5166360"/>
            <a:ext cx="5596099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223043"/>
                </a:solidFill>
                <a:latin typeface="Arial"/>
              </a:defRPr>
            </a:pPr>
            <a:r>
              <a:t>Illustrative chain separation and ion association</a:t>
            </a:r>
          </a:p>
        </p:txBody>
      </p:sp>
      <p:sp>
        <p:nvSpPr>
          <p:cNvPr id="25" name="ellipse"/>
          <p:cNvSpPr/>
          <p:nvPr/>
        </p:nvSpPr>
        <p:spPr>
          <a:xfrm>
            <a:off x="1115568" y="5760720"/>
            <a:ext cx="420624" cy="420624"/>
          </a:xfrm>
          <a:prstGeom prst="ellipse">
            <a:avLst/>
          </a:prstGeom>
          <a:solidFill>
            <a:srgbClr val="FFF8EE"/>
          </a:solidFill>
          <a:ln w="25603" cap="rnd">
            <a:solidFill>
              <a:srgbClr val="D5822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+"/>
          <p:cNvSpPr txBox="1"/>
          <p:nvPr/>
        </p:nvSpPr>
        <p:spPr>
          <a:xfrm>
            <a:off x="1245780" y="5788152"/>
            <a:ext cx="407086" cy="4526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160" b="1">
                <a:solidFill>
                  <a:srgbClr val="D58228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27" name="IL cation"/>
          <p:cNvSpPr txBox="1"/>
          <p:nvPr/>
        </p:nvSpPr>
        <p:spPr>
          <a:xfrm>
            <a:off x="1691640" y="5815584"/>
            <a:ext cx="1198299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223043"/>
                </a:solidFill>
                <a:latin typeface="Arial"/>
              </a:defRPr>
            </a:pPr>
            <a:r>
              <a:t>IL cation</a:t>
            </a:r>
          </a:p>
        </p:txBody>
      </p:sp>
      <p:sp>
        <p:nvSpPr>
          <p:cNvPr id="28" name="ellipse"/>
          <p:cNvSpPr/>
          <p:nvPr/>
        </p:nvSpPr>
        <p:spPr>
          <a:xfrm>
            <a:off x="3694176" y="5760720"/>
            <a:ext cx="420624" cy="420624"/>
          </a:xfrm>
          <a:prstGeom prst="ellipse">
            <a:avLst/>
          </a:prstGeom>
          <a:solidFill>
            <a:srgbClr val="EFF9F7"/>
          </a:solidFill>
          <a:ln w="25603" cap="rnd">
            <a:solidFill>
              <a:srgbClr val="087F7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−"/>
          <p:cNvSpPr txBox="1"/>
          <p:nvPr/>
        </p:nvSpPr>
        <p:spPr>
          <a:xfrm>
            <a:off x="3824388" y="5788152"/>
            <a:ext cx="407086" cy="4526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160" b="1">
                <a:solidFill>
                  <a:srgbClr val="087F78"/>
                </a:solidFill>
                <a:latin typeface="Arial"/>
              </a:defRPr>
            </a:pPr>
            <a:r>
              <a:t>−</a:t>
            </a:r>
          </a:p>
        </p:txBody>
      </p:sp>
      <p:sp>
        <p:nvSpPr>
          <p:cNvPr id="30" name="IL anion"/>
          <p:cNvSpPr txBox="1"/>
          <p:nvPr/>
        </p:nvSpPr>
        <p:spPr>
          <a:xfrm>
            <a:off x="4270248" y="5815584"/>
            <a:ext cx="1141542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223043"/>
                </a:solidFill>
                <a:latin typeface="Arial"/>
              </a:defRPr>
            </a:pPr>
            <a:r>
              <a:t>IL anion</a:t>
            </a:r>
          </a:p>
        </p:txBody>
      </p:sp>
      <p:sp>
        <p:nvSpPr>
          <p:cNvPr id="31" name="path"/>
          <p:cNvSpPr/>
          <p:nvPr/>
        </p:nvSpPr>
        <p:spPr>
          <a:xfrm>
            <a:off x="6473952" y="5961888"/>
            <a:ext cx="466344" cy="0"/>
          </a:xfrm>
          <a:custGeom>
            <a:avLst/>
            <a:gdLst/>
            <a:ahLst/>
            <a:cxnLst/>
            <a:rect l="l" t="t" r="r" b="b"/>
            <a:pathLst>
              <a:path w="51" h="0">
                <a:moveTo>
                  <a:pt x="0" y="0"/>
                </a:moveTo>
                <a:lnTo>
                  <a:pt x="51" y="0"/>
                </a:lnTo>
              </a:path>
            </a:pathLst>
          </a:custGeom>
          <a:noFill/>
          <a:ln w="25603" cap="rnd">
            <a:solidFill>
              <a:srgbClr val="BE596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ntact"/>
          <p:cNvSpPr txBox="1"/>
          <p:nvPr/>
        </p:nvSpPr>
        <p:spPr>
          <a:xfrm>
            <a:off x="7150608" y="5815584"/>
            <a:ext cx="1112789" cy="422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16" b="0">
                <a:solidFill>
                  <a:srgbClr val="223043"/>
                </a:solidFill>
                <a:latin typeface="Arial"/>
              </a:defRPr>
            </a:pPr>
            <a:r>
              <a:t>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qualitative starch / ionic-liquid schematics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