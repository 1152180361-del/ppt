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7" cy="86045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户提供的目录截图复刻。页码、标题、编号、栏目标题、英文副标题、项目列表、图标、图标圆底及三个浅色栏目框均为原生可编辑对象。第一栏分子背景及底部校园图像由图像工具按参考截图复刻，并分别保存为可替换图片；不是原图像素。原图页码3/9与所有文案均按截图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88767" cy="8604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3/9"/>
          <p:cNvSpPr txBox="1"/>
          <p:nvPr/>
        </p:nvSpPr>
        <p:spPr>
          <a:xfrm>
            <a:off x="374904" y="201168"/>
            <a:ext cx="676656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003D9F"/>
                </a:solidFill>
                <a:latin typeface="Noto Sans CJK SC"/>
              </a:defRPr>
            </a:pPr>
            <a:r>
              <a:rPr>
                <a:ea typeface="Noto Sans CJK SC"/>
              </a:rPr>
              <a:t>3/9</a:t>
            </a:r>
          </a:p>
        </p:txBody>
      </p:sp>
      <p:sp>
        <p:nvSpPr>
          <p:cNvPr id="4" name="目录"/>
          <p:cNvSpPr txBox="1"/>
          <p:nvPr/>
        </p:nvSpPr>
        <p:spPr>
          <a:xfrm>
            <a:off x="1225296" y="246888"/>
            <a:ext cx="1645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03D9F"/>
                </a:solidFill>
                <a:latin typeface="Noto Sans CJK SC"/>
              </a:defRPr>
            </a:pPr>
            <a:r>
              <a:rPr>
                <a:ea typeface="Noto Sans CJK SC"/>
              </a:rPr>
              <a:t>目录</a:t>
            </a:r>
          </a:p>
        </p:txBody>
      </p:sp>
      <p:sp>
        <p:nvSpPr>
          <p:cNvPr id="5" name="BIO · AI · DRUG DISCOVERY"/>
          <p:cNvSpPr txBox="1"/>
          <p:nvPr/>
        </p:nvSpPr>
        <p:spPr>
          <a:xfrm>
            <a:off x="11256264" y="493776"/>
            <a:ext cx="3675887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5B8FD2"/>
                </a:solidFill>
                <a:latin typeface="Noto Sans CJK SC"/>
              </a:defRPr>
            </a:pPr>
            <a:r>
              <a:rPr spc="210">
                <a:ea typeface="Noto Sans CJK SC"/>
              </a:rPr>
              <a:t>BIO · AI · DRUG DISCOVERY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" y="969264"/>
            <a:ext cx="14438376" cy="45720"/>
          </a:xfrm>
          <a:prstGeom prst="rect">
            <a:avLst/>
          </a:prstGeom>
          <a:solidFill>
            <a:srgbClr val="003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目录栏目 01 容器"/>
          <p:cNvSpPr/>
          <p:nvPr/>
        </p:nvSpPr>
        <p:spPr>
          <a:xfrm>
            <a:off x="420624" y="1289304"/>
            <a:ext cx="3456432" cy="5724144"/>
          </a:xfrm>
          <a:prstGeom prst="roundRect">
            <a:avLst>
              <a:gd name="adj" fmla="val 2500"/>
            </a:avLst>
          </a:prstGeom>
          <a:solidFill>
            <a:srgbClr val="F6FBFF"/>
          </a:solidFill>
          <a:ln w="6985">
            <a:solidFill>
              <a:srgbClr val="A8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目录栏目 02 容器"/>
          <p:cNvSpPr/>
          <p:nvPr/>
        </p:nvSpPr>
        <p:spPr>
          <a:xfrm>
            <a:off x="4050791" y="1289304"/>
            <a:ext cx="3483864" cy="5724144"/>
          </a:xfrm>
          <a:prstGeom prst="roundRect">
            <a:avLst>
              <a:gd name="adj" fmla="val 2500"/>
            </a:avLst>
          </a:prstGeom>
          <a:ln w="6985">
            <a:solidFill>
              <a:srgbClr val="A8D8FF"/>
            </a:solidFill>
          </a:ln>
          <a:gradFill>
            <a:gsLst>
              <a:gs pos="0">
                <a:srgbClr val="EAF5FF"/>
              </a:gs>
              <a:gs pos="100000">
                <a:srgbClr val="FFFFFF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目录栏目 03 容器"/>
          <p:cNvSpPr/>
          <p:nvPr/>
        </p:nvSpPr>
        <p:spPr>
          <a:xfrm>
            <a:off x="7717536" y="1289304"/>
            <a:ext cx="3520440" cy="5724144"/>
          </a:xfrm>
          <a:prstGeom prst="roundRect">
            <a:avLst>
              <a:gd name="adj" fmla="val 2500"/>
            </a:avLst>
          </a:prstGeom>
          <a:ln w="6985">
            <a:solidFill>
              <a:srgbClr val="A8D8FF"/>
            </a:solidFill>
          </a:ln>
          <a:gradFill>
            <a:gsLst>
              <a:gs pos="0">
                <a:srgbClr val="EAF5FF"/>
              </a:gs>
              <a:gs pos="100000">
                <a:srgbClr val="FFFFFF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目录栏目 04 容器"/>
          <p:cNvSpPr/>
          <p:nvPr/>
        </p:nvSpPr>
        <p:spPr>
          <a:xfrm>
            <a:off x="11430000" y="1289304"/>
            <a:ext cx="3438144" cy="5724144"/>
          </a:xfrm>
          <a:prstGeom prst="roundRect">
            <a:avLst>
              <a:gd name="adj" fmla="val 2500"/>
            </a:avLst>
          </a:prstGeom>
          <a:ln w="6985">
            <a:solidFill>
              <a:srgbClr val="A8D8FF"/>
            </a:solidFill>
          </a:ln>
          <a:gradFill>
            <a:gsLst>
              <a:gs pos="0">
                <a:srgbClr val="EAF5FF"/>
              </a:gs>
              <a:gs pos="100000">
                <a:srgbClr val="FFFFFF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目录_分子背景（参考图复刻，可替换）" descr="目录_分子背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280160"/>
            <a:ext cx="3456432" cy="5733288"/>
          </a:xfrm>
          <a:prstGeom prst="rect">
            <a:avLst/>
          </a:prstGeom>
        </p:spPr>
      </p:pic>
      <p:pic>
        <p:nvPicPr>
          <p:cNvPr id="12" name="目录_校园全景（参考图复刻，可替换）" descr="目录_校园全景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20256"/>
            <a:ext cx="15288767" cy="1984248"/>
          </a:xfrm>
          <a:prstGeom prst="rect">
            <a:avLst/>
          </a:prstGeom>
        </p:spPr>
      </p:pic>
      <p:sp>
        <p:nvSpPr>
          <p:cNvPr id="13" name="01"/>
          <p:cNvSpPr txBox="1"/>
          <p:nvPr/>
        </p:nvSpPr>
        <p:spPr>
          <a:xfrm>
            <a:off x="1417320" y="1508760"/>
            <a:ext cx="146304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14" name="栏目 01 图标圆底"/>
          <p:cNvSpPr/>
          <p:nvPr/>
        </p:nvSpPr>
        <p:spPr>
          <a:xfrm>
            <a:off x="1435608" y="2432304"/>
            <a:ext cx="1426464" cy="1408176"/>
          </a:xfrm>
          <a:prstGeom prst="ellipse">
            <a:avLst/>
          </a:prstGeom>
          <a:solidFill>
            <a:srgbClr val="22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02"/>
          <p:cNvSpPr txBox="1"/>
          <p:nvPr/>
        </p:nvSpPr>
        <p:spPr>
          <a:xfrm>
            <a:off x="5084064" y="1508760"/>
            <a:ext cx="146304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003D9F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16" name="栏目 02 图标圆底"/>
          <p:cNvSpPr/>
          <p:nvPr/>
        </p:nvSpPr>
        <p:spPr>
          <a:xfrm>
            <a:off x="5102352" y="2432304"/>
            <a:ext cx="1426464" cy="1408176"/>
          </a:xfrm>
          <a:prstGeom prst="ellipse">
            <a:avLst/>
          </a:prstGeom>
          <a:solidFill>
            <a:srgbClr val="E3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03"/>
          <p:cNvSpPr txBox="1"/>
          <p:nvPr/>
        </p:nvSpPr>
        <p:spPr>
          <a:xfrm>
            <a:off x="8741664" y="1508760"/>
            <a:ext cx="146304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003D9F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18" name="栏目 03 图标圆底"/>
          <p:cNvSpPr/>
          <p:nvPr/>
        </p:nvSpPr>
        <p:spPr>
          <a:xfrm>
            <a:off x="8759952" y="2432304"/>
            <a:ext cx="1426464" cy="1408176"/>
          </a:xfrm>
          <a:prstGeom prst="ellipse">
            <a:avLst/>
          </a:prstGeom>
          <a:solidFill>
            <a:srgbClr val="E1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04"/>
          <p:cNvSpPr txBox="1"/>
          <p:nvPr/>
        </p:nvSpPr>
        <p:spPr>
          <a:xfrm>
            <a:off x="12444984" y="1508760"/>
            <a:ext cx="146304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003D9F"/>
                </a:solidFill>
                <a:latin typeface="Noto Sans CJK SC"/>
              </a:defRPr>
            </a:pPr>
            <a:r>
              <a:rPr>
                <a:ea typeface="Noto Sans CJK SC"/>
              </a:rPr>
              <a:t>04</a:t>
            </a:r>
          </a:p>
        </p:txBody>
      </p:sp>
      <p:sp>
        <p:nvSpPr>
          <p:cNvPr id="20" name="栏目 04 图标圆底"/>
          <p:cNvSpPr/>
          <p:nvPr/>
        </p:nvSpPr>
        <p:spPr>
          <a:xfrm>
            <a:off x="12463272" y="2432304"/>
            <a:ext cx="1426464" cy="1408176"/>
          </a:xfrm>
          <a:prstGeom prst="ellipse">
            <a:avLst/>
          </a:prstGeom>
          <a:solidFill>
            <a:srgbClr val="E3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个人简介图标：头部"/>
          <p:cNvSpPr/>
          <p:nvPr/>
        </p:nvSpPr>
        <p:spPr>
          <a:xfrm>
            <a:off x="1938528" y="276148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个人简介图标：肩部"/>
          <p:cNvSpPr/>
          <p:nvPr/>
        </p:nvSpPr>
        <p:spPr>
          <a:xfrm>
            <a:off x="1801368" y="3136392"/>
            <a:ext cx="621792" cy="320040"/>
          </a:xfrm>
          <a:custGeom>
            <a:avLst/>
            <a:gdLst/>
            <a:ahLst/>
            <a:cxnLst/>
            <a:rect l="l" t="t" r="r" b="b"/>
            <a:pathLst>
              <a:path w="68" h="35">
                <a:moveTo>
                  <a:pt x="0" y="35"/>
                </a:moveTo>
                <a:lnTo>
                  <a:pt x="0" y="30"/>
                </a:lnTo>
                <a:lnTo>
                  <a:pt x="0" y="34"/>
                </a:lnTo>
                <a:lnTo>
                  <a:pt x="1" y="28"/>
                </a:lnTo>
                <a:lnTo>
                  <a:pt x="2" y="22"/>
                </a:lnTo>
                <a:lnTo>
                  <a:pt x="5" y="17"/>
                </a:lnTo>
                <a:lnTo>
                  <a:pt x="8" y="12"/>
                </a:lnTo>
                <a:lnTo>
                  <a:pt x="12" y="8"/>
                </a:lnTo>
                <a:lnTo>
                  <a:pt x="17" y="5"/>
                </a:lnTo>
                <a:lnTo>
                  <a:pt x="22" y="2"/>
                </a:lnTo>
                <a:lnTo>
                  <a:pt x="28" y="1"/>
                </a:lnTo>
                <a:lnTo>
                  <a:pt x="34" y="0"/>
                </a:lnTo>
                <a:lnTo>
                  <a:pt x="40" y="1"/>
                </a:lnTo>
                <a:lnTo>
                  <a:pt x="46" y="2"/>
                </a:lnTo>
                <a:lnTo>
                  <a:pt x="51" y="5"/>
                </a:lnTo>
                <a:lnTo>
                  <a:pt x="56" y="8"/>
                </a:lnTo>
                <a:lnTo>
                  <a:pt x="60" y="12"/>
                </a:lnTo>
                <a:lnTo>
                  <a:pt x="63" y="17"/>
                </a:lnTo>
                <a:lnTo>
                  <a:pt x="66" y="22"/>
                </a:lnTo>
                <a:lnTo>
                  <a:pt x="67" y="28"/>
                </a:lnTo>
                <a:lnTo>
                  <a:pt x="68" y="34"/>
                </a:lnTo>
                <a:lnTo>
                  <a:pt x="68" y="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项目图标：烧瓶轮廓"/>
          <p:cNvSpPr/>
          <p:nvPr/>
        </p:nvSpPr>
        <p:spPr>
          <a:xfrm>
            <a:off x="5495544" y="2798064"/>
            <a:ext cx="621792" cy="667512"/>
          </a:xfrm>
          <a:custGeom>
            <a:avLst/>
            <a:gdLst/>
            <a:ahLst/>
            <a:cxnLst/>
            <a:rect l="l" t="t" r="r" b="b"/>
            <a:pathLst>
              <a:path w="68" h="73">
                <a:moveTo>
                  <a:pt x="23" y="0"/>
                </a:moveTo>
                <a:lnTo>
                  <a:pt x="47" y="0"/>
                </a:lnTo>
                <a:lnTo>
                  <a:pt x="47" y="25"/>
                </a:lnTo>
                <a:lnTo>
                  <a:pt x="68" y="65"/>
                </a:lnTo>
                <a:lnTo>
                  <a:pt x="68" y="69"/>
                </a:lnTo>
                <a:lnTo>
                  <a:pt x="64" y="73"/>
                </a:lnTo>
                <a:lnTo>
                  <a:pt x="4" y="73"/>
                </a:lnTo>
                <a:lnTo>
                  <a:pt x="0" y="69"/>
                </a:lnTo>
                <a:lnTo>
                  <a:pt x="0" y="65"/>
                </a:lnTo>
                <a:lnTo>
                  <a:pt x="23" y="25"/>
                </a:lnTo>
                <a:close/>
              </a:path>
            </a:pathLst>
          </a:custGeom>
          <a:noFill/>
          <a:ln w="53340">
            <a:solidFill>
              <a:srgbClr val="003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50992" y="2752344"/>
            <a:ext cx="338328" cy="82296"/>
          </a:xfrm>
          <a:prstGeom prst="roundRect">
            <a:avLst>
              <a:gd name="adj" fmla="val 45000"/>
            </a:avLst>
          </a:prstGeom>
          <a:solidFill>
            <a:srgbClr val="003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15000" y="3273552"/>
            <a:ext cx="210312" cy="91440"/>
          </a:xfrm>
          <a:prstGeom prst="roundRect">
            <a:avLst>
              <a:gd name="adj" fmla="val 30000"/>
            </a:avLst>
          </a:prstGeom>
          <a:solidFill>
            <a:srgbClr val="003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88152" y="3209544"/>
            <a:ext cx="64008" cy="109728"/>
          </a:xfrm>
          <a:prstGeom prst="rect">
            <a:avLst/>
          </a:prstGeom>
          <a:solidFill>
            <a:srgbClr val="003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工程图标：八齿齿轮"/>
          <p:cNvSpPr/>
          <p:nvPr/>
        </p:nvSpPr>
        <p:spPr>
          <a:xfrm>
            <a:off x="9116568" y="2761488"/>
            <a:ext cx="713232" cy="713232"/>
          </a:xfrm>
          <a:custGeom>
            <a:avLst/>
            <a:gdLst/>
            <a:ahLst/>
            <a:cxnLst/>
            <a:rect l="l" t="t" r="r" b="b"/>
            <a:pathLst>
              <a:path w="78" h="78">
                <a:moveTo>
                  <a:pt x="30" y="10"/>
                </a:moveTo>
                <a:lnTo>
                  <a:pt x="32" y="0"/>
                </a:lnTo>
                <a:lnTo>
                  <a:pt x="46" y="0"/>
                </a:lnTo>
                <a:lnTo>
                  <a:pt x="48" y="10"/>
                </a:lnTo>
                <a:lnTo>
                  <a:pt x="53" y="12"/>
                </a:lnTo>
                <a:lnTo>
                  <a:pt x="62" y="6"/>
                </a:lnTo>
                <a:lnTo>
                  <a:pt x="72" y="16"/>
                </a:lnTo>
                <a:lnTo>
                  <a:pt x="66" y="25"/>
                </a:lnTo>
                <a:lnTo>
                  <a:pt x="68" y="30"/>
                </a:lnTo>
                <a:lnTo>
                  <a:pt x="78" y="32"/>
                </a:lnTo>
                <a:lnTo>
                  <a:pt x="78" y="46"/>
                </a:lnTo>
                <a:lnTo>
                  <a:pt x="68" y="48"/>
                </a:lnTo>
                <a:lnTo>
                  <a:pt x="66" y="53"/>
                </a:lnTo>
                <a:lnTo>
                  <a:pt x="72" y="62"/>
                </a:lnTo>
                <a:lnTo>
                  <a:pt x="62" y="72"/>
                </a:lnTo>
                <a:lnTo>
                  <a:pt x="53" y="66"/>
                </a:lnTo>
                <a:lnTo>
                  <a:pt x="48" y="68"/>
                </a:lnTo>
                <a:lnTo>
                  <a:pt x="46" y="78"/>
                </a:lnTo>
                <a:lnTo>
                  <a:pt x="32" y="78"/>
                </a:lnTo>
                <a:lnTo>
                  <a:pt x="30" y="68"/>
                </a:lnTo>
                <a:lnTo>
                  <a:pt x="25" y="66"/>
                </a:lnTo>
                <a:lnTo>
                  <a:pt x="16" y="72"/>
                </a:lnTo>
                <a:lnTo>
                  <a:pt x="6" y="62"/>
                </a:lnTo>
                <a:lnTo>
                  <a:pt x="12" y="53"/>
                </a:lnTo>
                <a:lnTo>
                  <a:pt x="10" y="48"/>
                </a:lnTo>
                <a:lnTo>
                  <a:pt x="0" y="46"/>
                </a:lnTo>
                <a:lnTo>
                  <a:pt x="0" y="32"/>
                </a:lnTo>
                <a:lnTo>
                  <a:pt x="10" y="30"/>
                </a:lnTo>
                <a:lnTo>
                  <a:pt x="12" y="25"/>
                </a:lnTo>
                <a:lnTo>
                  <a:pt x="6" y="16"/>
                </a:lnTo>
                <a:lnTo>
                  <a:pt x="16" y="6"/>
                </a:lnTo>
                <a:lnTo>
                  <a:pt x="25" y="12"/>
                </a:lnTo>
                <a:close/>
              </a:path>
            </a:pathLst>
          </a:custGeom>
          <a:solidFill>
            <a:srgbClr val="003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齿轮中心孔"/>
          <p:cNvSpPr/>
          <p:nvPr/>
        </p:nvSpPr>
        <p:spPr>
          <a:xfrm>
            <a:off x="9317736" y="2971800"/>
            <a:ext cx="310896" cy="310896"/>
          </a:xfrm>
          <a:prstGeom prst="ellipse">
            <a:avLst/>
          </a:prstGeom>
          <a:solidFill>
            <a:srgbClr val="E1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2874752" y="3282696"/>
            <a:ext cx="118872" cy="182880"/>
          </a:xfrm>
          <a:prstGeom prst="roundRect">
            <a:avLst>
              <a:gd name="adj" fmla="val 22000"/>
            </a:avLst>
          </a:prstGeom>
          <a:solidFill>
            <a:srgbClr val="003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3039344" y="3182112"/>
            <a:ext cx="118872" cy="283464"/>
          </a:xfrm>
          <a:prstGeom prst="roundRect">
            <a:avLst>
              <a:gd name="adj" fmla="val 22000"/>
            </a:avLst>
          </a:prstGeom>
          <a:solidFill>
            <a:srgbClr val="003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3203936" y="3063240"/>
            <a:ext cx="118872" cy="402336"/>
          </a:xfrm>
          <a:prstGeom prst="roundRect">
            <a:avLst>
              <a:gd name="adj" fmla="val 22000"/>
            </a:avLst>
          </a:prstGeom>
          <a:solidFill>
            <a:srgbClr val="003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368528" y="2944368"/>
            <a:ext cx="118872" cy="521207"/>
          </a:xfrm>
          <a:prstGeom prst="roundRect">
            <a:avLst>
              <a:gd name="adj" fmla="val 22000"/>
            </a:avLst>
          </a:prstGeom>
          <a:solidFill>
            <a:srgbClr val="003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2893040" y="2779776"/>
            <a:ext cx="512064" cy="384048"/>
          </a:xfrm>
          <a:custGeom>
            <a:avLst/>
            <a:gdLst/>
            <a:ahLst/>
            <a:cxnLst/>
            <a:rect l="l" t="t" r="r" b="b"/>
            <a:pathLst>
              <a:path w="56" h="42">
                <a:moveTo>
                  <a:pt x="0" y="42"/>
                </a:moveTo>
                <a:lnTo>
                  <a:pt x="12" y="36"/>
                </a:lnTo>
                <a:lnTo>
                  <a:pt x="26" y="26"/>
                </a:lnTo>
                <a:lnTo>
                  <a:pt x="40" y="13"/>
                </a:lnTo>
                <a:lnTo>
                  <a:pt x="56" y="0"/>
                </a:lnTo>
              </a:path>
            </a:pathLst>
          </a:custGeom>
          <a:noFill/>
          <a:ln w="35560">
            <a:solidFill>
              <a:srgbClr val="003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展望图标：趋势箭头"/>
          <p:cNvSpPr/>
          <p:nvPr/>
        </p:nvSpPr>
        <p:spPr>
          <a:xfrm>
            <a:off x="13304520" y="2743200"/>
            <a:ext cx="155448" cy="146304"/>
          </a:xfrm>
          <a:custGeom>
            <a:avLst/>
            <a:gdLst/>
            <a:ahLst/>
            <a:cxnLst/>
            <a:rect l="l" t="t" r="r" b="b"/>
            <a:pathLst>
              <a:path w="17" h="16">
                <a:moveTo>
                  <a:pt x="0" y="2"/>
                </a:moveTo>
                <a:lnTo>
                  <a:pt x="17" y="0"/>
                </a:lnTo>
                <a:lnTo>
                  <a:pt x="14" y="16"/>
                </a:lnTo>
                <a:close/>
              </a:path>
            </a:pathLst>
          </a:custGeom>
          <a:solidFill>
            <a:srgbClr val="003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个人简介"/>
          <p:cNvSpPr txBox="1"/>
          <p:nvPr/>
        </p:nvSpPr>
        <p:spPr>
          <a:xfrm>
            <a:off x="530352" y="3950208"/>
            <a:ext cx="3236976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个人简介</a:t>
            </a:r>
          </a:p>
        </p:txBody>
      </p:sp>
      <p:sp>
        <p:nvSpPr>
          <p:cNvPr id="36" name="ABOUT ME"/>
          <p:cNvSpPr txBox="1"/>
          <p:nvPr/>
        </p:nvSpPr>
        <p:spPr>
          <a:xfrm>
            <a:off x="512064" y="4489704"/>
            <a:ext cx="32735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Noto Sans CJK SC"/>
              </a:defRPr>
            </a:pPr>
            <a:r>
              <a:rPr spc="130">
                <a:ea typeface="Noto Sans CJK SC"/>
              </a:rPr>
              <a:t>ABOUT ME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664208" y="4873752"/>
            <a:ext cx="969264" cy="0"/>
          </a:xfrm>
          <a:prstGeom prst="line">
            <a:avLst/>
          </a:prstGeom>
          <a:ln w="12700">
            <a:solidFill>
              <a:srgbClr val="72A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I驱动生物医药项目"/>
          <p:cNvSpPr txBox="1"/>
          <p:nvPr/>
        </p:nvSpPr>
        <p:spPr>
          <a:xfrm>
            <a:off x="4160520" y="3931920"/>
            <a:ext cx="3264408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003D9F"/>
                </a:solidFill>
                <a:latin typeface="Noto Sans CJK SC"/>
              </a:defRPr>
            </a:pPr>
            <a:r>
              <a:rPr>
                <a:ea typeface="Noto Sans CJK SC"/>
              </a:rPr>
              <a:t>AI驱动生物医药项目</a:t>
            </a:r>
          </a:p>
        </p:txBody>
      </p:sp>
      <p:sp>
        <p:nvSpPr>
          <p:cNvPr id="39" name="PROJECTS"/>
          <p:cNvSpPr txBox="1"/>
          <p:nvPr/>
        </p:nvSpPr>
        <p:spPr>
          <a:xfrm>
            <a:off x="4142232" y="4489704"/>
            <a:ext cx="330098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81A9DF"/>
                </a:solidFill>
                <a:latin typeface="Noto Sans CJK SC"/>
              </a:defRPr>
            </a:pPr>
            <a:r>
              <a:rPr spc="130">
                <a:ea typeface="Noto Sans CJK SC"/>
              </a:rPr>
              <a:t>PROJECTS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30952" y="4846320"/>
            <a:ext cx="969264" cy="0"/>
          </a:xfrm>
          <a:prstGeom prst="line">
            <a:avLst/>
          </a:prstGeom>
          <a:ln w="12700">
            <a:solidFill>
              <a:srgbClr val="0752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算法与工程能力"/>
          <p:cNvSpPr txBox="1"/>
          <p:nvPr/>
        </p:nvSpPr>
        <p:spPr>
          <a:xfrm>
            <a:off x="7827264" y="3931920"/>
            <a:ext cx="3300984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003D9F"/>
                </a:solidFill>
                <a:latin typeface="Noto Sans CJK SC"/>
              </a:defRPr>
            </a:pPr>
            <a:r>
              <a:rPr>
                <a:ea typeface="Noto Sans CJK SC"/>
              </a:rPr>
              <a:t>算法与工程能力</a:t>
            </a:r>
          </a:p>
        </p:txBody>
      </p:sp>
      <p:sp>
        <p:nvSpPr>
          <p:cNvPr id="42" name="TECHNICAL SKILLS"/>
          <p:cNvSpPr txBox="1"/>
          <p:nvPr/>
        </p:nvSpPr>
        <p:spPr>
          <a:xfrm>
            <a:off x="7808975" y="4489704"/>
            <a:ext cx="33375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81A9DF"/>
                </a:solidFill>
                <a:latin typeface="Noto Sans CJK SC"/>
              </a:defRPr>
            </a:pPr>
            <a:r>
              <a:rPr spc="130">
                <a:ea typeface="Noto Sans CJK SC"/>
              </a:rPr>
              <a:t>TECHNICAL SKILLS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988552" y="4846320"/>
            <a:ext cx="969264" cy="0"/>
          </a:xfrm>
          <a:prstGeom prst="line">
            <a:avLst/>
          </a:prstGeom>
          <a:ln w="12700">
            <a:solidFill>
              <a:srgbClr val="0752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个人优势与展望"/>
          <p:cNvSpPr txBox="1"/>
          <p:nvPr/>
        </p:nvSpPr>
        <p:spPr>
          <a:xfrm>
            <a:off x="11539728" y="3931920"/>
            <a:ext cx="3218688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003D9F"/>
                </a:solidFill>
                <a:latin typeface="Noto Sans CJK SC"/>
              </a:defRPr>
            </a:pPr>
            <a:r>
              <a:rPr>
                <a:ea typeface="Noto Sans CJK SC"/>
              </a:rPr>
              <a:t>个人优势与展望</a:t>
            </a:r>
          </a:p>
        </p:txBody>
      </p:sp>
      <p:sp>
        <p:nvSpPr>
          <p:cNvPr id="45" name="CONCLUSION &amp; OUTLOOK"/>
          <p:cNvSpPr txBox="1"/>
          <p:nvPr/>
        </p:nvSpPr>
        <p:spPr>
          <a:xfrm>
            <a:off x="11521440" y="4489704"/>
            <a:ext cx="325526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60" b="0">
                <a:solidFill>
                  <a:srgbClr val="81A9DF"/>
                </a:solidFill>
                <a:latin typeface="Noto Sans CJK SC"/>
              </a:defRPr>
            </a:pPr>
            <a:r>
              <a:rPr>
                <a:ea typeface="Noto Sans CJK SC"/>
              </a:rPr>
              <a:t>CONCLUSION &amp; OUTLOOK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2691872" y="4846320"/>
            <a:ext cx="969264" cy="0"/>
          </a:xfrm>
          <a:prstGeom prst="line">
            <a:avLst/>
          </a:prstGeom>
          <a:ln w="12700">
            <a:solidFill>
              <a:srgbClr val="0752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042415" y="5248656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研究方向"/>
          <p:cNvSpPr txBox="1"/>
          <p:nvPr/>
        </p:nvSpPr>
        <p:spPr>
          <a:xfrm>
            <a:off x="1499616" y="5138928"/>
            <a:ext cx="225856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研究方向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2415" y="5705856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技术背景"/>
          <p:cNvSpPr txBox="1"/>
          <p:nvPr/>
        </p:nvSpPr>
        <p:spPr>
          <a:xfrm>
            <a:off x="1499616" y="5596128"/>
            <a:ext cx="225856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技术背景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2415" y="6163056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求职方向"/>
          <p:cNvSpPr txBox="1"/>
          <p:nvPr/>
        </p:nvSpPr>
        <p:spPr>
          <a:xfrm>
            <a:off x="1499616" y="6053328"/>
            <a:ext cx="225856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求职方向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7408" y="5193792"/>
            <a:ext cx="137160" cy="137160"/>
          </a:xfrm>
          <a:prstGeom prst="rect">
            <a:avLst/>
          </a:prstGeom>
          <a:solidFill>
            <a:srgbClr val="003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AI辅助蛋白设计与改造"/>
          <p:cNvSpPr txBox="1"/>
          <p:nvPr/>
        </p:nvSpPr>
        <p:spPr>
          <a:xfrm>
            <a:off x="4828032" y="5084064"/>
            <a:ext cx="2587752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30" b="0">
                <a:solidFill>
                  <a:srgbClr val="354766"/>
                </a:solidFill>
                <a:latin typeface="Noto Sans CJK SC"/>
              </a:defRPr>
            </a:pPr>
            <a:r>
              <a:rPr>
                <a:ea typeface="Noto Sans CJK SC"/>
              </a:rPr>
              <a:t>AI辅助蛋白设计与改造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07408" y="5632704"/>
            <a:ext cx="137160" cy="137160"/>
          </a:xfrm>
          <a:prstGeom prst="rect">
            <a:avLst/>
          </a:prstGeom>
          <a:solidFill>
            <a:srgbClr val="003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结构生成与优化"/>
          <p:cNvSpPr txBox="1"/>
          <p:nvPr/>
        </p:nvSpPr>
        <p:spPr>
          <a:xfrm>
            <a:off x="4828032" y="5522976"/>
            <a:ext cx="2587752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30" b="0">
                <a:solidFill>
                  <a:srgbClr val="354766"/>
                </a:solidFill>
                <a:latin typeface="Noto Sans CJK SC"/>
              </a:defRPr>
            </a:pPr>
            <a:r>
              <a:rPr>
                <a:ea typeface="Noto Sans CJK SC"/>
              </a:rPr>
              <a:t>结构生成与优化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07408" y="6071616"/>
            <a:ext cx="137160" cy="137160"/>
          </a:xfrm>
          <a:prstGeom prst="rect">
            <a:avLst/>
          </a:prstGeom>
          <a:solidFill>
            <a:srgbClr val="003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AI药物发现与Agent系统"/>
          <p:cNvSpPr txBox="1"/>
          <p:nvPr/>
        </p:nvSpPr>
        <p:spPr>
          <a:xfrm>
            <a:off x="4828032" y="5961888"/>
            <a:ext cx="2587752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89" b="0">
                <a:solidFill>
                  <a:srgbClr val="354766"/>
                </a:solidFill>
                <a:latin typeface="Noto Sans CJK SC"/>
              </a:defRPr>
            </a:pPr>
            <a:r>
              <a:rPr>
                <a:ea typeface="Noto Sans CJK SC"/>
              </a:rPr>
              <a:t>AI药物发现与Agent系统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47888" y="5193792"/>
            <a:ext cx="137160" cy="137160"/>
          </a:xfrm>
          <a:prstGeom prst="rect">
            <a:avLst/>
          </a:prstGeom>
          <a:solidFill>
            <a:srgbClr val="003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机器学习与深度学习"/>
          <p:cNvSpPr txBox="1"/>
          <p:nvPr/>
        </p:nvSpPr>
        <p:spPr>
          <a:xfrm>
            <a:off x="8668512" y="5084064"/>
            <a:ext cx="2450592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30" b="0">
                <a:solidFill>
                  <a:srgbClr val="354766"/>
                </a:solidFill>
                <a:latin typeface="Noto Sans CJK SC"/>
              </a:defRPr>
            </a:pPr>
            <a:r>
              <a:rPr>
                <a:ea typeface="Noto Sans CJK SC"/>
              </a:rPr>
              <a:t>机器学习与深度学习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47888" y="5614416"/>
            <a:ext cx="137160" cy="137160"/>
          </a:xfrm>
          <a:prstGeom prst="rect">
            <a:avLst/>
          </a:prstGeom>
          <a:solidFill>
            <a:srgbClr val="003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蛋白结构计算与建模"/>
          <p:cNvSpPr txBox="1"/>
          <p:nvPr/>
        </p:nvSpPr>
        <p:spPr>
          <a:xfrm>
            <a:off x="8668512" y="5504688"/>
            <a:ext cx="2450592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30" b="0">
                <a:solidFill>
                  <a:srgbClr val="354766"/>
                </a:solidFill>
                <a:latin typeface="Noto Sans CJK SC"/>
              </a:defRPr>
            </a:pPr>
            <a:r>
              <a:rPr>
                <a:ea typeface="Noto Sans CJK SC"/>
              </a:rPr>
              <a:t>蛋白结构计算与建模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47888" y="6035040"/>
            <a:ext cx="137160" cy="137160"/>
          </a:xfrm>
          <a:prstGeom prst="rect">
            <a:avLst/>
          </a:prstGeom>
          <a:solidFill>
            <a:srgbClr val="003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算法实现与工程化"/>
          <p:cNvSpPr txBox="1"/>
          <p:nvPr/>
        </p:nvSpPr>
        <p:spPr>
          <a:xfrm>
            <a:off x="8668512" y="5925312"/>
            <a:ext cx="2450592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30" b="0">
                <a:solidFill>
                  <a:srgbClr val="354766"/>
                </a:solidFill>
                <a:latin typeface="Noto Sans CJK SC"/>
              </a:defRPr>
            </a:pPr>
            <a:r>
              <a:rPr>
                <a:ea typeface="Noto Sans CJK SC"/>
              </a:rPr>
              <a:t>算法实现与工程化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47888" y="6455664"/>
            <a:ext cx="137160" cy="137160"/>
          </a:xfrm>
          <a:prstGeom prst="rect">
            <a:avLst/>
          </a:prstGeom>
          <a:solidFill>
            <a:srgbClr val="003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大模型与AI Agent应用"/>
          <p:cNvSpPr txBox="1"/>
          <p:nvPr/>
        </p:nvSpPr>
        <p:spPr>
          <a:xfrm>
            <a:off x="8668512" y="6345936"/>
            <a:ext cx="2450592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89" b="0">
                <a:solidFill>
                  <a:srgbClr val="354766"/>
                </a:solidFill>
                <a:latin typeface="Noto Sans CJK SC"/>
              </a:defRPr>
            </a:pPr>
            <a:r>
              <a:rPr>
                <a:ea typeface="Noto Sans CJK SC"/>
              </a:rPr>
              <a:t>大模型与AI Agent应用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024360" y="5193792"/>
            <a:ext cx="137160" cy="137160"/>
          </a:xfrm>
          <a:prstGeom prst="rect">
            <a:avLst/>
          </a:prstGeom>
          <a:solidFill>
            <a:srgbClr val="003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项目收获与能力提升"/>
          <p:cNvSpPr txBox="1"/>
          <p:nvPr/>
        </p:nvSpPr>
        <p:spPr>
          <a:xfrm>
            <a:off x="12444984" y="5084064"/>
            <a:ext cx="230428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30" b="0">
                <a:solidFill>
                  <a:srgbClr val="354766"/>
                </a:solidFill>
                <a:latin typeface="Noto Sans CJK SC"/>
              </a:defRPr>
            </a:pPr>
            <a:r>
              <a:rPr>
                <a:ea typeface="Noto Sans CJK SC"/>
              </a:rPr>
              <a:t>项目收获与能力提升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024360" y="5614416"/>
            <a:ext cx="137160" cy="137160"/>
          </a:xfrm>
          <a:prstGeom prst="rect">
            <a:avLst/>
          </a:prstGeom>
          <a:solidFill>
            <a:srgbClr val="003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岗位匹配"/>
          <p:cNvSpPr txBox="1"/>
          <p:nvPr/>
        </p:nvSpPr>
        <p:spPr>
          <a:xfrm>
            <a:off x="12444984" y="5504688"/>
            <a:ext cx="230428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30" b="0">
                <a:solidFill>
                  <a:srgbClr val="354766"/>
                </a:solidFill>
                <a:latin typeface="Noto Sans CJK SC"/>
              </a:defRPr>
            </a:pPr>
            <a:r>
              <a:rPr>
                <a:ea typeface="Noto Sans CJK SC"/>
              </a:rPr>
              <a:t>岗位匹配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024360" y="6035040"/>
            <a:ext cx="137160" cy="137160"/>
          </a:xfrm>
          <a:prstGeom prst="rect">
            <a:avLst/>
          </a:prstGeom>
          <a:solidFill>
            <a:srgbClr val="003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未来发展方向"/>
          <p:cNvSpPr txBox="1"/>
          <p:nvPr/>
        </p:nvSpPr>
        <p:spPr>
          <a:xfrm>
            <a:off x="12444984" y="5925312"/>
            <a:ext cx="230428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30" b="0">
                <a:solidFill>
                  <a:srgbClr val="354766"/>
                </a:solidFill>
                <a:latin typeface="Noto Sans CJK SC"/>
              </a:defRPr>
            </a:pPr>
            <a:r>
              <a:rPr>
                <a:ea typeface="Noto Sans CJK SC"/>
              </a:rPr>
              <a:t>未来发展方向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2024360" y="6455664"/>
            <a:ext cx="137160" cy="137160"/>
          </a:xfrm>
          <a:prstGeom prst="rect">
            <a:avLst/>
          </a:prstGeom>
          <a:solidFill>
            <a:srgbClr val="003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Q &amp; A"/>
          <p:cNvSpPr txBox="1"/>
          <p:nvPr/>
        </p:nvSpPr>
        <p:spPr>
          <a:xfrm>
            <a:off x="12444984" y="6345936"/>
            <a:ext cx="2304288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30" b="0">
                <a:solidFill>
                  <a:srgbClr val="354766"/>
                </a:solidFill>
                <a:latin typeface="Noto Sans CJK SC"/>
              </a:defRPr>
            </a:pPr>
            <a:r>
              <a:rPr>
                <a:ea typeface="Noto Sans CJK SC"/>
              </a:rPr>
              <a:t>Q &amp; A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0" y="8229600"/>
            <a:ext cx="15288767" cy="0"/>
          </a:xfrm>
          <a:prstGeom prst="line">
            <a:avLst/>
          </a:prstGeom>
          <a:ln w="6985">
            <a:solidFill>
              <a:srgbClr val="5D9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37744" y="8394192"/>
            <a:ext cx="3877056" cy="0"/>
          </a:xfrm>
          <a:prstGeom prst="line">
            <a:avLst/>
          </a:prstGeom>
          <a:ln w="8255">
            <a:solidFill>
              <a:srgbClr val="1B77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972800" y="8394192"/>
            <a:ext cx="4078224" cy="0"/>
          </a:xfrm>
          <a:prstGeom prst="line">
            <a:avLst/>
          </a:prstGeom>
          <a:ln w="8255">
            <a:solidFill>
              <a:srgbClr val="1B77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OM BIOLOGY TO BETTER MEDICINES"/>
          <p:cNvSpPr txBox="1"/>
          <p:nvPr/>
        </p:nvSpPr>
        <p:spPr>
          <a:xfrm>
            <a:off x="4315968" y="8220456"/>
            <a:ext cx="649224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80" b="0">
                <a:solidFill>
                  <a:srgbClr val="0754A8"/>
                </a:solidFill>
                <a:latin typeface="Noto Sans CJK SC"/>
              </a:defRPr>
            </a:pPr>
            <a:r>
              <a:rPr spc="360">
                <a:ea typeface="Noto Sans CJK SC"/>
              </a:rPr>
              <a:t>FROM BIOLOGY TO BETTER MEDICINES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生物医药算法工程师面试目录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