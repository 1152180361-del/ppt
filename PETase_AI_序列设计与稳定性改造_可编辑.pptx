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给出的PETase截图重建。所有文字、结果数值、面板、流程箭头、编号、标签、曲线坐标及图例均为原生可编辑对象。蛋白结构及曲线是AI按参考截图外观复刻的可替换图片，不是原图像素。曲线未恢复原始轨迹或数据点，不能用于定量读取或作为原始模拟证据。WT 1.892 Å、C4 1.346 Å、B8 1.287 Å、C5Y 0.911 Å及Q182M/D186N/N212S/S214Y/N241L按截图录入，未做外部科学核验。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88767" cy="8604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/9"/>
          <p:cNvSpPr txBox="1"/>
          <p:nvPr/>
        </p:nvSpPr>
        <p:spPr>
          <a:xfrm>
            <a:off x="301752" y="45720"/>
            <a:ext cx="70408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5/9</a:t>
            </a:r>
          </a:p>
        </p:txBody>
      </p:sp>
      <p:sp>
        <p:nvSpPr>
          <p:cNvPr id="4" name="项目二： PETase 塑料降解酶 AI辅助序列设计与稳定性改造"/>
          <p:cNvSpPr txBox="1"/>
          <p:nvPr/>
        </p:nvSpPr>
        <p:spPr>
          <a:xfrm>
            <a:off x="1133856" y="9144"/>
            <a:ext cx="12179808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项目二： PETase 塑料降解酶 AI辅助序列设计与稳定性改造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1752" y="694944"/>
            <a:ext cx="14712696" cy="0"/>
          </a:xfrm>
          <a:prstGeom prst="line">
            <a:avLst/>
          </a:prstGeom>
          <a:ln w="10160">
            <a:solidFill>
              <a:srgbClr val="078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01752" y="850392"/>
            <a:ext cx="8046720" cy="466344"/>
          </a:xfrm>
          <a:prstGeom prst="roundRect">
            <a:avLst>
              <a:gd name="adj" fmla="val 11000"/>
            </a:avLst>
          </a:prstGeom>
          <a:ln>
            <a:noFill/>
          </a:ln>
          <a:gradFill>
            <a:gsLst>
              <a:gs pos="0">
                <a:srgbClr val="DDF1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950976"/>
            <a:ext cx="118872" cy="301752"/>
          </a:xfrm>
          <a:prstGeom prst="roundRect">
            <a:avLst>
              <a:gd name="adj" fmla="val 23000"/>
            </a:avLst>
          </a:prstGeom>
          <a:ln>
            <a:noFill/>
          </a:ln>
          <a:gradFill>
            <a:gsLst>
              <a:gs pos="0">
                <a:srgbClr val="00C0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研究背景与目标"/>
          <p:cNvSpPr txBox="1"/>
          <p:nvPr/>
        </p:nvSpPr>
        <p:spPr>
          <a:xfrm>
            <a:off x="941832" y="859536"/>
            <a:ext cx="706831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研究背景与目标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36192"/>
            <a:ext cx="146304" cy="13716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ETase 能够降解聚对苯二甲酸乙二醇酯（PET），在塑料回收与环境治理领域具有重要应 用价值。"/>
          <p:cNvSpPr txBox="1"/>
          <p:nvPr/>
        </p:nvSpPr>
        <p:spPr>
          <a:xfrm>
            <a:off x="1014984" y="1417320"/>
            <a:ext cx="1027785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91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PETase 能够降解聚对苯二甲酸乙二醇酯（PET），在塑料回收与环境治理领域具有重要应</a:t>
            </a:r>
          </a:p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91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用价值。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49424"/>
            <a:ext cx="146304" cy="13716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基于生成式模型进行序列设计，并通过结构预测与分子动力学模拟评估稳定性与催化位点构 象，获得兼具活性与稳定性的优选序列。"/>
          <p:cNvSpPr txBox="1"/>
          <p:nvPr/>
        </p:nvSpPr>
        <p:spPr>
          <a:xfrm>
            <a:off x="1014984" y="2130552"/>
            <a:ext cx="1027785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88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基于生成式模型进行序列设计，并通过结构预测与分子动力学模拟评估稳定性与催化位点构</a:t>
            </a:r>
          </a:p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88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象，获得兼具活性与稳定性的优选序列。</a:t>
            </a:r>
          </a:p>
        </p:txBody>
      </p:sp>
      <p:pic>
        <p:nvPicPr>
          <p:cNvPr id="13" name="PETase_表面结构（参考图复刻）" descr="PETase_表面结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456" y="402336"/>
            <a:ext cx="2770632" cy="2734056"/>
          </a:xfrm>
          <a:prstGeom prst="rect">
            <a:avLst/>
          </a:prstGeom>
        </p:spPr>
      </p:pic>
      <p:sp>
        <p:nvSpPr>
          <p:cNvPr id="14" name="PETase"/>
          <p:cNvSpPr txBox="1"/>
          <p:nvPr/>
        </p:nvSpPr>
        <p:spPr>
          <a:xfrm>
            <a:off x="13706856" y="2596896"/>
            <a:ext cx="1435608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PETase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" y="2880360"/>
            <a:ext cx="8046720" cy="466344"/>
          </a:xfrm>
          <a:prstGeom prst="roundRect">
            <a:avLst>
              <a:gd name="adj" fmla="val 11000"/>
            </a:avLst>
          </a:prstGeom>
          <a:ln>
            <a:noFill/>
          </a:ln>
          <a:gradFill>
            <a:gsLst>
              <a:gs pos="0">
                <a:srgbClr val="DDF1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2980944"/>
            <a:ext cx="118872" cy="301752"/>
          </a:xfrm>
          <a:prstGeom prst="roundRect">
            <a:avLst>
              <a:gd name="adj" fmla="val 23000"/>
            </a:avLst>
          </a:prstGeom>
          <a:ln>
            <a:noFill/>
          </a:ln>
          <a:gradFill>
            <a:gsLst>
              <a:gs pos="0">
                <a:srgbClr val="00C0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技术流程"/>
          <p:cNvSpPr txBox="1"/>
          <p:nvPr/>
        </p:nvSpPr>
        <p:spPr>
          <a:xfrm>
            <a:off x="941832" y="2889504"/>
            <a:ext cx="706831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技术流程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" y="3337560"/>
            <a:ext cx="3675887" cy="2679192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8255">
            <a:solidFill>
              <a:srgbClr val="BB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1752" y="3337560"/>
            <a:ext cx="3675887" cy="594360"/>
          </a:xfrm>
          <a:prstGeom prst="roundRect">
            <a:avLst>
              <a:gd name="adj" fmla="val 3500"/>
            </a:avLst>
          </a:prstGeom>
          <a:ln>
            <a:noFill/>
          </a:ln>
          <a:gradFill>
            <a:gsLst>
              <a:gs pos="0">
                <a:srgbClr val="E6F5FF"/>
              </a:gs>
              <a:gs pos="100000">
                <a:srgbClr val="F5FC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344" y="3429000"/>
            <a:ext cx="329184" cy="320040"/>
          </a:xfrm>
          <a:prstGeom prst="roundRect">
            <a:avLst>
              <a:gd name="adj" fmla="val 15000"/>
            </a:avLst>
          </a:prstGeom>
          <a:ln>
            <a:noFill/>
          </a:ln>
          <a:gradFill>
            <a:gsLst>
              <a:gs pos="0">
                <a:srgbClr val="02BB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1"/>
          <p:cNvSpPr txBox="1"/>
          <p:nvPr/>
        </p:nvSpPr>
        <p:spPr>
          <a:xfrm>
            <a:off x="466344" y="3429000"/>
            <a:ext cx="32918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</a:t>
            </a:r>
          </a:p>
        </p:txBody>
      </p:sp>
      <p:sp>
        <p:nvSpPr>
          <p:cNvPr id="22" name="ProteinMPNN 序列设计"/>
          <p:cNvSpPr txBox="1"/>
          <p:nvPr/>
        </p:nvSpPr>
        <p:spPr>
          <a:xfrm>
            <a:off x="896112" y="3374136"/>
            <a:ext cx="2962656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83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ProteinMPNN</a:t>
            </a:r>
          </a:p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83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序列设计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3337560"/>
            <a:ext cx="3044952" cy="2679192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8255">
            <a:solidFill>
              <a:srgbClr val="BB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14800" y="3337560"/>
            <a:ext cx="3044952" cy="594360"/>
          </a:xfrm>
          <a:prstGeom prst="roundRect">
            <a:avLst>
              <a:gd name="adj" fmla="val 3500"/>
            </a:avLst>
          </a:prstGeom>
          <a:ln>
            <a:noFill/>
          </a:ln>
          <a:gradFill>
            <a:gsLst>
              <a:gs pos="0">
                <a:srgbClr val="E6F5FF"/>
              </a:gs>
              <a:gs pos="100000">
                <a:srgbClr val="F5FC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79392" y="3429000"/>
            <a:ext cx="329184" cy="320040"/>
          </a:xfrm>
          <a:prstGeom prst="roundRect">
            <a:avLst>
              <a:gd name="adj" fmla="val 15000"/>
            </a:avLst>
          </a:prstGeom>
          <a:ln>
            <a:noFill/>
          </a:ln>
          <a:gradFill>
            <a:gsLst>
              <a:gs pos="0">
                <a:srgbClr val="02BB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2"/>
          <p:cNvSpPr txBox="1"/>
          <p:nvPr/>
        </p:nvSpPr>
        <p:spPr>
          <a:xfrm>
            <a:off x="4279392" y="3429000"/>
            <a:ext cx="32918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</a:t>
            </a:r>
          </a:p>
        </p:txBody>
      </p:sp>
      <p:sp>
        <p:nvSpPr>
          <p:cNvPr id="27" name="ESM-2 序列筛选"/>
          <p:cNvSpPr txBox="1"/>
          <p:nvPr/>
        </p:nvSpPr>
        <p:spPr>
          <a:xfrm>
            <a:off x="4709160" y="3374136"/>
            <a:ext cx="2331720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83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ESM-2</a:t>
            </a:r>
          </a:p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83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序列筛选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87768" y="3337560"/>
            <a:ext cx="3392424" cy="2679192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8255">
            <a:solidFill>
              <a:srgbClr val="BB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87768" y="3337560"/>
            <a:ext cx="3392424" cy="594360"/>
          </a:xfrm>
          <a:prstGeom prst="roundRect">
            <a:avLst>
              <a:gd name="adj" fmla="val 3500"/>
            </a:avLst>
          </a:prstGeom>
          <a:ln>
            <a:noFill/>
          </a:ln>
          <a:gradFill>
            <a:gsLst>
              <a:gs pos="0">
                <a:srgbClr val="E6F5FF"/>
              </a:gs>
              <a:gs pos="100000">
                <a:srgbClr val="F5FC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52360" y="3429000"/>
            <a:ext cx="329184" cy="320040"/>
          </a:xfrm>
          <a:prstGeom prst="roundRect">
            <a:avLst>
              <a:gd name="adj" fmla="val 15000"/>
            </a:avLst>
          </a:prstGeom>
          <a:ln>
            <a:noFill/>
          </a:ln>
          <a:gradFill>
            <a:gsLst>
              <a:gs pos="0">
                <a:srgbClr val="02BB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3"/>
          <p:cNvSpPr txBox="1"/>
          <p:nvPr/>
        </p:nvSpPr>
        <p:spPr>
          <a:xfrm>
            <a:off x="7452360" y="3429000"/>
            <a:ext cx="32918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3</a:t>
            </a:r>
          </a:p>
        </p:txBody>
      </p:sp>
      <p:sp>
        <p:nvSpPr>
          <p:cNvPr id="32" name="AlphaFold2 / ColabFold 结构预测"/>
          <p:cNvSpPr txBox="1"/>
          <p:nvPr/>
        </p:nvSpPr>
        <p:spPr>
          <a:xfrm>
            <a:off x="7882127" y="3374136"/>
            <a:ext cx="2679192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83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AlphaFold2 / ColabFold</a:t>
            </a:r>
          </a:p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83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结构预测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63072" y="3337560"/>
            <a:ext cx="4151376" cy="2679192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8255">
            <a:solidFill>
              <a:srgbClr val="BB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863072" y="3337560"/>
            <a:ext cx="4151376" cy="594360"/>
          </a:xfrm>
          <a:prstGeom prst="roundRect">
            <a:avLst>
              <a:gd name="adj" fmla="val 3500"/>
            </a:avLst>
          </a:prstGeom>
          <a:ln>
            <a:noFill/>
          </a:ln>
          <a:gradFill>
            <a:gsLst>
              <a:gs pos="0">
                <a:srgbClr val="E6F5FF"/>
              </a:gs>
              <a:gs pos="100000">
                <a:srgbClr val="F5FC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027664" y="3429000"/>
            <a:ext cx="329184" cy="320040"/>
          </a:xfrm>
          <a:prstGeom prst="roundRect">
            <a:avLst>
              <a:gd name="adj" fmla="val 15000"/>
            </a:avLst>
          </a:prstGeom>
          <a:ln>
            <a:noFill/>
          </a:ln>
          <a:gradFill>
            <a:gsLst>
              <a:gs pos="0">
                <a:srgbClr val="02BB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4"/>
          <p:cNvSpPr txBox="1"/>
          <p:nvPr/>
        </p:nvSpPr>
        <p:spPr>
          <a:xfrm>
            <a:off x="11027664" y="3429000"/>
            <a:ext cx="32918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4</a:t>
            </a:r>
          </a:p>
        </p:txBody>
      </p:sp>
      <p:sp>
        <p:nvSpPr>
          <p:cNvPr id="37" name="Molecular Dynamics 稳定性评估"/>
          <p:cNvSpPr txBox="1"/>
          <p:nvPr/>
        </p:nvSpPr>
        <p:spPr>
          <a:xfrm>
            <a:off x="11457432" y="3374136"/>
            <a:ext cx="3438144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83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Molecular Dynamics</a:t>
            </a:r>
          </a:p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83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稳定性评估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822191" y="4361688"/>
            <a:ext cx="502920" cy="530352"/>
          </a:xfrm>
          <a:prstGeom prst="rightArrow">
            <a:avLst/>
          </a:prstGeom>
          <a:ln>
            <a:noFill/>
          </a:ln>
          <a:gradFill>
            <a:gsLst>
              <a:gs pos="0">
                <a:srgbClr val="E6F4FF"/>
              </a:gs>
              <a:gs pos="100000">
                <a:srgbClr val="003BC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6995160" y="4361688"/>
            <a:ext cx="502920" cy="530352"/>
          </a:xfrm>
          <a:prstGeom prst="rightArrow">
            <a:avLst/>
          </a:prstGeom>
          <a:ln>
            <a:noFill/>
          </a:ln>
          <a:gradFill>
            <a:gsLst>
              <a:gs pos="0">
                <a:srgbClr val="E6F4FF"/>
              </a:gs>
              <a:gs pos="100000">
                <a:srgbClr val="003BC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10515600" y="4361688"/>
            <a:ext cx="502920" cy="530352"/>
          </a:xfrm>
          <a:prstGeom prst="rightArrow">
            <a:avLst/>
          </a:prstGeom>
          <a:ln>
            <a:noFill/>
          </a:ln>
          <a:gradFill>
            <a:gsLst>
              <a:gs pos="0">
                <a:srgbClr val="E6F4FF"/>
              </a:gs>
              <a:gs pos="100000">
                <a:srgbClr val="003BC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ETase_序列设计口袋（参考图复刻）" descr="PETase_序列设计口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986784"/>
            <a:ext cx="1527048" cy="1197864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2688336" y="4023360"/>
            <a:ext cx="77724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255">
            <a:solidFill>
              <a:srgbClr val="72B8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&gt; seq_1 &gt; seq_2 &gt; seq_3 ... &gt; seq_n"/>
          <p:cNvSpPr txBox="1"/>
          <p:nvPr/>
        </p:nvSpPr>
        <p:spPr>
          <a:xfrm>
            <a:off x="2770632" y="4032504"/>
            <a:ext cx="704088" cy="1115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&gt; seq_1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&gt; seq_2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&gt; seq_3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...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&gt; seq_n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295144" y="4507992"/>
            <a:ext cx="301752" cy="155448"/>
          </a:xfrm>
          <a:prstGeom prst="rightArrow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0664" y="5294376"/>
            <a:ext cx="91440" cy="9144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基于结构条件的序列生成"/>
          <p:cNvSpPr txBox="1"/>
          <p:nvPr/>
        </p:nvSpPr>
        <p:spPr>
          <a:xfrm>
            <a:off x="987552" y="5230368"/>
            <a:ext cx="292608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基于结构条件的序列生成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" y="5532120"/>
            <a:ext cx="91440" cy="9144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生成多样化候选序列"/>
          <p:cNvSpPr txBox="1"/>
          <p:nvPr/>
        </p:nvSpPr>
        <p:spPr>
          <a:xfrm>
            <a:off x="987552" y="5468112"/>
            <a:ext cx="292608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生成多样化候选序列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" y="5769864"/>
            <a:ext cx="91440" cy="9144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重点优化活性口袋周围位点"/>
          <p:cNvSpPr txBox="1"/>
          <p:nvPr/>
        </p:nvSpPr>
        <p:spPr>
          <a:xfrm>
            <a:off x="987552" y="5705856"/>
            <a:ext cx="292608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重点优化活性口袋周围位点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91456" y="4142232"/>
            <a:ext cx="1874519" cy="502920"/>
          </a:xfrm>
          <a:prstGeom prst="roundRect">
            <a:avLst>
              <a:gd name="adj" fmla="val 14000"/>
            </a:avLst>
          </a:prstGeom>
          <a:ln w="8255">
            <a:solidFill>
              <a:srgbClr val="7993FF"/>
            </a:solidFill>
          </a:ln>
          <a:gradFill>
            <a:gsLst>
              <a:gs pos="0">
                <a:srgbClr val="F1F5FF"/>
              </a:gs>
              <a:gs pos="100000">
                <a:srgbClr val="D8E3F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SM-2"/>
          <p:cNvSpPr txBox="1"/>
          <p:nvPr/>
        </p:nvSpPr>
        <p:spPr>
          <a:xfrm>
            <a:off x="4873752" y="4178808"/>
            <a:ext cx="1709928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ESM-2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72584" y="4937760"/>
            <a:ext cx="91440" cy="9144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评估序列可行性"/>
          <p:cNvSpPr txBox="1"/>
          <p:nvPr/>
        </p:nvSpPr>
        <p:spPr>
          <a:xfrm>
            <a:off x="4919472" y="4873752"/>
            <a:ext cx="200253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评估序列可行性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72584" y="5175504"/>
            <a:ext cx="91440" cy="9144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计算序列相似性"/>
          <p:cNvSpPr txBox="1"/>
          <p:nvPr/>
        </p:nvSpPr>
        <p:spPr>
          <a:xfrm>
            <a:off x="4919472" y="5111496"/>
            <a:ext cx="200253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计算序列相似性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72584" y="5413248"/>
            <a:ext cx="91440" cy="9144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筛选高潜力候选序列"/>
          <p:cNvSpPr txBox="1"/>
          <p:nvPr/>
        </p:nvSpPr>
        <p:spPr>
          <a:xfrm>
            <a:off x="4919472" y="5349240"/>
            <a:ext cx="200253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筛选高潜力候选序列</a:t>
            </a:r>
          </a:p>
        </p:txBody>
      </p:sp>
      <p:pic>
        <p:nvPicPr>
          <p:cNvPr id="59" name="PETase_结构预测彩虹图（参考图复刻）" descr="PETase_结构预测彩虹图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950208"/>
            <a:ext cx="2075688" cy="123444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7927848" y="5294376"/>
            <a:ext cx="91440" cy="9144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预测三维结构"/>
          <p:cNvSpPr txBox="1"/>
          <p:nvPr/>
        </p:nvSpPr>
        <p:spPr>
          <a:xfrm>
            <a:off x="8174736" y="5230368"/>
            <a:ext cx="232257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预测三维结构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27848" y="5532120"/>
            <a:ext cx="91440" cy="9144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分析催化位点构象"/>
          <p:cNvSpPr txBox="1"/>
          <p:nvPr/>
        </p:nvSpPr>
        <p:spPr>
          <a:xfrm>
            <a:off x="8174736" y="5468112"/>
            <a:ext cx="232257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分析催化位点构象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27848" y="5769864"/>
            <a:ext cx="91440" cy="9144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筛选优质结构模型"/>
          <p:cNvSpPr txBox="1"/>
          <p:nvPr/>
        </p:nvSpPr>
        <p:spPr>
          <a:xfrm>
            <a:off x="8174736" y="5705856"/>
            <a:ext cx="232257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筛选优质结构模型</a:t>
            </a:r>
          </a:p>
        </p:txBody>
      </p:sp>
      <p:pic>
        <p:nvPicPr>
          <p:cNvPr id="66" name="PETase_RMSD曲线外观复刻（参考图复刻）" descr="PETase_RMSD曲线外观复刻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4096512"/>
            <a:ext cx="2487168" cy="804672"/>
          </a:xfrm>
          <a:prstGeom prst="rect">
            <a:avLst/>
          </a:prstGeom>
        </p:spPr>
      </p:pic>
      <p:cxnSp>
        <p:nvCxnSpPr>
          <p:cNvPr id="67" name="Connector 66"/>
          <p:cNvCxnSpPr/>
          <p:nvPr/>
        </p:nvCxnSpPr>
        <p:spPr>
          <a:xfrm>
            <a:off x="11667744" y="4023360"/>
            <a:ext cx="2514600" cy="0"/>
          </a:xfrm>
          <a:prstGeom prst="line">
            <a:avLst/>
          </a:prstGeom>
          <a:ln w="889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667744" y="4919472"/>
            <a:ext cx="2514600" cy="0"/>
          </a:xfrm>
          <a:prstGeom prst="line">
            <a:avLst/>
          </a:prstGeom>
          <a:ln w="889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667744" y="4023360"/>
            <a:ext cx="0" cy="896112"/>
          </a:xfrm>
          <a:prstGeom prst="line">
            <a:avLst/>
          </a:prstGeom>
          <a:ln w="889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4182344" y="4023360"/>
            <a:ext cx="0" cy="896112"/>
          </a:xfrm>
          <a:prstGeom prst="line">
            <a:avLst/>
          </a:prstGeom>
          <a:ln w="889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1631168" y="4919472"/>
            <a:ext cx="36576" cy="0"/>
          </a:xfrm>
          <a:prstGeom prst="line">
            <a:avLst/>
          </a:prstGeom>
          <a:ln w="762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0"/>
          <p:cNvSpPr txBox="1"/>
          <p:nvPr/>
        </p:nvSpPr>
        <p:spPr>
          <a:xfrm>
            <a:off x="11411712" y="4846320"/>
            <a:ext cx="1828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0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631168" y="4695444"/>
            <a:ext cx="36576" cy="0"/>
          </a:xfrm>
          <a:prstGeom prst="line">
            <a:avLst/>
          </a:prstGeom>
          <a:ln w="762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1"/>
          <p:cNvSpPr txBox="1"/>
          <p:nvPr/>
        </p:nvSpPr>
        <p:spPr>
          <a:xfrm>
            <a:off x="11411712" y="4622292"/>
            <a:ext cx="1828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1631168" y="4471416"/>
            <a:ext cx="36576" cy="0"/>
          </a:xfrm>
          <a:prstGeom prst="line">
            <a:avLst/>
          </a:prstGeom>
          <a:ln w="762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2"/>
          <p:cNvSpPr txBox="1"/>
          <p:nvPr/>
        </p:nvSpPr>
        <p:spPr>
          <a:xfrm>
            <a:off x="11411712" y="4398264"/>
            <a:ext cx="1828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1631168" y="4247388"/>
            <a:ext cx="36576" cy="0"/>
          </a:xfrm>
          <a:prstGeom prst="line">
            <a:avLst/>
          </a:prstGeom>
          <a:ln w="762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3"/>
          <p:cNvSpPr txBox="1"/>
          <p:nvPr/>
        </p:nvSpPr>
        <p:spPr>
          <a:xfrm>
            <a:off x="11411712" y="4174236"/>
            <a:ext cx="1828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3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1631168" y="4023360"/>
            <a:ext cx="36576" cy="0"/>
          </a:xfrm>
          <a:prstGeom prst="line">
            <a:avLst/>
          </a:prstGeom>
          <a:ln w="762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4"/>
          <p:cNvSpPr txBox="1"/>
          <p:nvPr/>
        </p:nvSpPr>
        <p:spPr>
          <a:xfrm>
            <a:off x="11411712" y="3950208"/>
            <a:ext cx="1828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4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1667744" y="4919472"/>
            <a:ext cx="0" cy="36576"/>
          </a:xfrm>
          <a:prstGeom prst="line">
            <a:avLst/>
          </a:prstGeom>
          <a:ln w="762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0"/>
          <p:cNvSpPr txBox="1"/>
          <p:nvPr/>
        </p:nvSpPr>
        <p:spPr>
          <a:xfrm>
            <a:off x="11530584" y="4946904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2170664" y="4919472"/>
            <a:ext cx="0" cy="36576"/>
          </a:xfrm>
          <a:prstGeom prst="line">
            <a:avLst/>
          </a:prstGeom>
          <a:ln w="762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20"/>
          <p:cNvSpPr txBox="1"/>
          <p:nvPr/>
        </p:nvSpPr>
        <p:spPr>
          <a:xfrm>
            <a:off x="12033504" y="4946904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20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2673584" y="4919472"/>
            <a:ext cx="0" cy="36576"/>
          </a:xfrm>
          <a:prstGeom prst="line">
            <a:avLst/>
          </a:prstGeom>
          <a:ln w="762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40"/>
          <p:cNvSpPr txBox="1"/>
          <p:nvPr/>
        </p:nvSpPr>
        <p:spPr>
          <a:xfrm>
            <a:off x="12536424" y="4946904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40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3176504" y="4919472"/>
            <a:ext cx="0" cy="36576"/>
          </a:xfrm>
          <a:prstGeom prst="line">
            <a:avLst/>
          </a:prstGeom>
          <a:ln w="762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60"/>
          <p:cNvSpPr txBox="1"/>
          <p:nvPr/>
        </p:nvSpPr>
        <p:spPr>
          <a:xfrm>
            <a:off x="13039344" y="4946904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60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3679424" y="4919472"/>
            <a:ext cx="0" cy="36576"/>
          </a:xfrm>
          <a:prstGeom prst="line">
            <a:avLst/>
          </a:prstGeom>
          <a:ln w="762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80"/>
          <p:cNvSpPr txBox="1"/>
          <p:nvPr/>
        </p:nvSpPr>
        <p:spPr>
          <a:xfrm>
            <a:off x="13542264" y="4946904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80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4182344" y="4919472"/>
            <a:ext cx="0" cy="36576"/>
          </a:xfrm>
          <a:prstGeom prst="line">
            <a:avLst/>
          </a:prstGeom>
          <a:ln w="7620">
            <a:solidFill>
              <a:srgbClr val="101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100"/>
          <p:cNvSpPr txBox="1"/>
          <p:nvPr/>
        </p:nvSpPr>
        <p:spPr>
          <a:xfrm>
            <a:off x="14045184" y="4946904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100</a:t>
            </a:r>
          </a:p>
        </p:txBody>
      </p:sp>
      <p:sp>
        <p:nvSpPr>
          <p:cNvPr id="93" name="RMSD (Å)"/>
          <p:cNvSpPr txBox="1"/>
          <p:nvPr/>
        </p:nvSpPr>
        <p:spPr>
          <a:xfrm rot="16200000">
            <a:off x="11000232" y="4379976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RMSD (Å)</a:t>
            </a:r>
          </a:p>
        </p:txBody>
      </p:sp>
      <p:sp>
        <p:nvSpPr>
          <p:cNvPr id="94" name="Time (ns)"/>
          <p:cNvSpPr txBox="1"/>
          <p:nvPr/>
        </p:nvSpPr>
        <p:spPr>
          <a:xfrm>
            <a:off x="12344400" y="5074920"/>
            <a:ext cx="121615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Time (ns)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4374368" y="4151376"/>
            <a:ext cx="128016" cy="82296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WT"/>
          <p:cNvSpPr txBox="1"/>
          <p:nvPr/>
        </p:nvSpPr>
        <p:spPr>
          <a:xfrm>
            <a:off x="14584680" y="4087368"/>
            <a:ext cx="42062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WT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4374368" y="4361688"/>
            <a:ext cx="128016" cy="82296"/>
          </a:xfrm>
          <a:prstGeom prst="rect">
            <a:avLst/>
          </a:prstGeom>
          <a:solidFill>
            <a:srgbClr val="0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4"/>
          <p:cNvSpPr txBox="1"/>
          <p:nvPr/>
        </p:nvSpPr>
        <p:spPr>
          <a:xfrm>
            <a:off x="14584680" y="4297680"/>
            <a:ext cx="42062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C4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374368" y="4572000"/>
            <a:ext cx="128016" cy="82296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B8"/>
          <p:cNvSpPr txBox="1"/>
          <p:nvPr/>
        </p:nvSpPr>
        <p:spPr>
          <a:xfrm>
            <a:off x="14584680" y="4507992"/>
            <a:ext cx="42062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B8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4374368" y="4782312"/>
            <a:ext cx="128016" cy="82296"/>
          </a:xfrm>
          <a:prstGeom prst="rect">
            <a:avLst/>
          </a:prstGeom>
          <a:solidFill>
            <a:srgbClr val="F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5Y"/>
          <p:cNvSpPr txBox="1"/>
          <p:nvPr/>
        </p:nvSpPr>
        <p:spPr>
          <a:xfrm>
            <a:off x="14584680" y="4718304"/>
            <a:ext cx="42062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C5Y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256264" y="5321808"/>
            <a:ext cx="91440" cy="9144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4 个体系 100 ns 分子动力学模拟"/>
          <p:cNvSpPr txBox="1"/>
          <p:nvPr/>
        </p:nvSpPr>
        <p:spPr>
          <a:xfrm>
            <a:off x="11503152" y="5257800"/>
            <a:ext cx="333756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4 个体系 100 ns 分子动力学模拟</a:t>
            </a:r>
          </a:p>
        </p:txBody>
      </p:sp>
      <p:sp>
        <p:nvSpPr>
          <p:cNvPr id="105" name="(WT、C4、B8、C5Y)"/>
          <p:cNvSpPr txBox="1"/>
          <p:nvPr/>
        </p:nvSpPr>
        <p:spPr>
          <a:xfrm>
            <a:off x="11548872" y="5486400"/>
            <a:ext cx="331927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(WT、C4、B8、C5Y)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256264" y="5797296"/>
            <a:ext cx="91440" cy="91440"/>
          </a:xfrm>
          <a:prstGeom prst="rect">
            <a:avLst/>
          </a:prstGeom>
          <a:solidFill>
            <a:srgbClr val="003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评估结构稳定性与催化位点构象"/>
          <p:cNvSpPr txBox="1"/>
          <p:nvPr/>
        </p:nvSpPr>
        <p:spPr>
          <a:xfrm>
            <a:off x="11503152" y="5733288"/>
            <a:ext cx="333756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评估结构稳定性与催化位点构象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01752" y="6035040"/>
            <a:ext cx="3685032" cy="466344"/>
          </a:xfrm>
          <a:prstGeom prst="roundRect">
            <a:avLst>
              <a:gd name="adj" fmla="val 11000"/>
            </a:avLst>
          </a:prstGeom>
          <a:ln>
            <a:noFill/>
          </a:ln>
          <a:gradFill>
            <a:gsLst>
              <a:gs pos="0">
                <a:srgbClr val="DDF1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530352" y="6135624"/>
            <a:ext cx="118872" cy="301752"/>
          </a:xfrm>
          <a:prstGeom prst="roundRect">
            <a:avLst>
              <a:gd name="adj" fmla="val 23000"/>
            </a:avLst>
          </a:prstGeom>
          <a:ln>
            <a:noFill/>
          </a:ln>
          <a:gradFill>
            <a:gsLst>
              <a:gs pos="0">
                <a:srgbClr val="00C0FF"/>
              </a:gs>
              <a:gs pos="100000">
                <a:srgbClr val="003BB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关键结果"/>
          <p:cNvSpPr txBox="1"/>
          <p:nvPr/>
        </p:nvSpPr>
        <p:spPr>
          <a:xfrm>
            <a:off x="941832" y="6044184"/>
            <a:ext cx="2706624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关键结果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01752" y="6510528"/>
            <a:ext cx="3685032" cy="17922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BB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4 × 100 ns"/>
          <p:cNvSpPr txBox="1"/>
          <p:nvPr/>
        </p:nvSpPr>
        <p:spPr>
          <a:xfrm>
            <a:off x="768096" y="6675120"/>
            <a:ext cx="2834640" cy="585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4 × 100 ns</a:t>
            </a:r>
          </a:p>
        </p:txBody>
      </p:sp>
      <p:sp>
        <p:nvSpPr>
          <p:cNvPr id="113" name="分子动力学模拟"/>
          <p:cNvSpPr txBox="1"/>
          <p:nvPr/>
        </p:nvSpPr>
        <p:spPr>
          <a:xfrm>
            <a:off x="722376" y="7287768"/>
            <a:ext cx="2944368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分子动力学模拟</a:t>
            </a:r>
          </a:p>
        </p:txBody>
      </p:sp>
      <p:sp>
        <p:nvSpPr>
          <p:cNvPr id="114" name="WT、C4、B8、C5Y"/>
          <p:cNvSpPr txBox="1"/>
          <p:nvPr/>
        </p:nvSpPr>
        <p:spPr>
          <a:xfrm>
            <a:off x="685800" y="7735824"/>
            <a:ext cx="299008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WT、C4、B8、C5Y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123944" y="6227064"/>
            <a:ext cx="6839712" cy="20756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255">
            <a:solidFill>
              <a:srgbClr val="BB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4123944" y="6227064"/>
            <a:ext cx="6839712" cy="411480"/>
          </a:xfrm>
          <a:prstGeom prst="roundRect">
            <a:avLst>
              <a:gd name="adj" fmla="val 8000"/>
            </a:avLst>
          </a:prstGeom>
          <a:ln>
            <a:noFill/>
          </a:ln>
          <a:gradFill>
            <a:gsLst>
              <a:gs pos="0">
                <a:srgbClr val="E4F3FF"/>
              </a:gs>
              <a:gs pos="100000">
                <a:srgbClr val="DCEB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4 个体系稳定性比较（Mean Cα RMSD）"/>
          <p:cNvSpPr txBox="1"/>
          <p:nvPr/>
        </p:nvSpPr>
        <p:spPr>
          <a:xfrm>
            <a:off x="4251960" y="6263640"/>
            <a:ext cx="658368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8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4 个体系稳定性比较（Mean Cα RMSD）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443984" y="6693408"/>
            <a:ext cx="1106424" cy="274320"/>
          </a:xfrm>
          <a:prstGeom prst="roundRect">
            <a:avLst>
              <a:gd name="adj" fmla="val 15000"/>
            </a:avLst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WT"/>
          <p:cNvSpPr txBox="1"/>
          <p:nvPr/>
        </p:nvSpPr>
        <p:spPr>
          <a:xfrm>
            <a:off x="4462272" y="6675120"/>
            <a:ext cx="10698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39" b="1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WT</a:t>
            </a:r>
          </a:p>
        </p:txBody>
      </p:sp>
      <p:pic>
        <p:nvPicPr>
          <p:cNvPr id="120" name="PETase_WT_结构缩略图（参考图复刻）" descr="PETase_WT_结构缩略图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7050024"/>
            <a:ext cx="886968" cy="822960"/>
          </a:xfrm>
          <a:prstGeom prst="rect">
            <a:avLst/>
          </a:prstGeom>
        </p:spPr>
      </p:pic>
      <p:sp>
        <p:nvSpPr>
          <p:cNvPr id="121" name="1.892 Å"/>
          <p:cNvSpPr txBox="1"/>
          <p:nvPr/>
        </p:nvSpPr>
        <p:spPr>
          <a:xfrm>
            <a:off x="4407408" y="7918704"/>
            <a:ext cx="1179576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39" b="1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1.892 Å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6016752" y="6684264"/>
            <a:ext cx="0" cy="1554480"/>
          </a:xfrm>
          <a:prstGeom prst="line">
            <a:avLst/>
          </a:prstGeom>
          <a:ln w="9525">
            <a:solidFill>
              <a:srgbClr val="D5E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6144768" y="6693408"/>
            <a:ext cx="1106424" cy="274320"/>
          </a:xfrm>
          <a:prstGeom prst="roundRect">
            <a:avLst>
              <a:gd name="adj" fmla="val 15000"/>
            </a:avLst>
          </a:prstGeom>
          <a:solidFill>
            <a:srgbClr val="00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C4"/>
          <p:cNvSpPr txBox="1"/>
          <p:nvPr/>
        </p:nvSpPr>
        <p:spPr>
          <a:xfrm>
            <a:off x="6163056" y="6675120"/>
            <a:ext cx="10698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39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C4</a:t>
            </a:r>
          </a:p>
        </p:txBody>
      </p:sp>
      <p:pic>
        <p:nvPicPr>
          <p:cNvPr id="125" name="PETase_C4_结构缩略图（参考图复刻）" descr="PETase_C4_结构缩略图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7050024"/>
            <a:ext cx="886968" cy="822960"/>
          </a:xfrm>
          <a:prstGeom prst="rect">
            <a:avLst/>
          </a:prstGeom>
        </p:spPr>
      </p:pic>
      <p:sp>
        <p:nvSpPr>
          <p:cNvPr id="126" name="1.346 Å"/>
          <p:cNvSpPr txBox="1"/>
          <p:nvPr/>
        </p:nvSpPr>
        <p:spPr>
          <a:xfrm>
            <a:off x="6108192" y="7918704"/>
            <a:ext cx="1179576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39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1.346 Å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7717536" y="6684264"/>
            <a:ext cx="0" cy="1554480"/>
          </a:xfrm>
          <a:prstGeom prst="line">
            <a:avLst/>
          </a:prstGeom>
          <a:ln w="9525">
            <a:solidFill>
              <a:srgbClr val="D5E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7845552" y="6693408"/>
            <a:ext cx="1106424" cy="274320"/>
          </a:xfrm>
          <a:prstGeom prst="roundRect">
            <a:avLst>
              <a:gd name="adj" fmla="val 15000"/>
            </a:avLst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B8"/>
          <p:cNvSpPr txBox="1"/>
          <p:nvPr/>
        </p:nvSpPr>
        <p:spPr>
          <a:xfrm>
            <a:off x="7863840" y="6675120"/>
            <a:ext cx="10698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39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B8</a:t>
            </a:r>
          </a:p>
        </p:txBody>
      </p:sp>
      <p:pic>
        <p:nvPicPr>
          <p:cNvPr id="130" name="PETase_B8_结构缩略图（参考图复刻）" descr="PETase_B8_结构缩略图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6136" y="7050024"/>
            <a:ext cx="886968" cy="822960"/>
          </a:xfrm>
          <a:prstGeom prst="rect">
            <a:avLst/>
          </a:prstGeom>
        </p:spPr>
      </p:pic>
      <p:sp>
        <p:nvSpPr>
          <p:cNvPr id="131" name="1.287 Å"/>
          <p:cNvSpPr txBox="1"/>
          <p:nvPr/>
        </p:nvSpPr>
        <p:spPr>
          <a:xfrm>
            <a:off x="7808975" y="7918704"/>
            <a:ext cx="1179576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39" b="1">
                <a:solidFill>
                  <a:srgbClr val="A65300"/>
                </a:solidFill>
                <a:latin typeface="Noto Sans CJK SC"/>
              </a:defRPr>
            </a:pPr>
            <a:r>
              <a:rPr>
                <a:ea typeface="Noto Sans CJK SC"/>
              </a:rPr>
              <a:t>1.287 Å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9418320" y="6684264"/>
            <a:ext cx="0" cy="1554480"/>
          </a:xfrm>
          <a:prstGeom prst="line">
            <a:avLst/>
          </a:prstGeom>
          <a:ln w="9525">
            <a:solidFill>
              <a:srgbClr val="D5E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9546336" y="6693408"/>
            <a:ext cx="1106424" cy="274320"/>
          </a:xfrm>
          <a:prstGeom prst="roundRect">
            <a:avLst>
              <a:gd name="adj" fmla="val 15000"/>
            </a:avLst>
          </a:prstGeom>
          <a:solidFill>
            <a:srgbClr val="F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5Y"/>
          <p:cNvSpPr txBox="1"/>
          <p:nvPr/>
        </p:nvSpPr>
        <p:spPr>
          <a:xfrm>
            <a:off x="9564624" y="6675120"/>
            <a:ext cx="10698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39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C5Y</a:t>
            </a:r>
          </a:p>
        </p:txBody>
      </p:sp>
      <p:pic>
        <p:nvPicPr>
          <p:cNvPr id="135" name="PETase_C5Y_结构缩略图（参考图复刻）" descr="PETase_C5Y_结构缩略图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6920" y="7050024"/>
            <a:ext cx="886968" cy="822960"/>
          </a:xfrm>
          <a:prstGeom prst="rect">
            <a:avLst/>
          </a:prstGeom>
        </p:spPr>
      </p:pic>
      <p:sp>
        <p:nvSpPr>
          <p:cNvPr id="136" name="0.911 Å"/>
          <p:cNvSpPr txBox="1"/>
          <p:nvPr/>
        </p:nvSpPr>
        <p:spPr>
          <a:xfrm>
            <a:off x="9509760" y="7918704"/>
            <a:ext cx="1179576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39" b="1">
                <a:solidFill>
                  <a:srgbClr val="ED0010"/>
                </a:solidFill>
                <a:latin typeface="Noto Sans CJK SC"/>
              </a:defRPr>
            </a:pPr>
            <a:r>
              <a:rPr>
                <a:ea typeface="Noto Sans CJK SC"/>
              </a:rPr>
              <a:t>0.911 Å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1292840" y="6227064"/>
            <a:ext cx="3721608" cy="722376"/>
          </a:xfrm>
          <a:prstGeom prst="roundRect">
            <a:avLst>
              <a:gd name="adj" fmla="val 9000"/>
            </a:avLst>
          </a:prstGeom>
          <a:ln>
            <a:noFill/>
          </a:ln>
          <a:gradFill>
            <a:gsLst>
              <a:gs pos="0">
                <a:srgbClr val="E5F3FF"/>
              </a:gs>
              <a:gs pos="100000">
                <a:srgbClr val="E0F2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C5Y design variant"/>
          <p:cNvSpPr txBox="1"/>
          <p:nvPr/>
        </p:nvSpPr>
        <p:spPr>
          <a:xfrm>
            <a:off x="11393424" y="6272784"/>
            <a:ext cx="3520440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8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C5Y design variant</a:t>
            </a:r>
          </a:p>
        </p:txBody>
      </p:sp>
      <p:sp>
        <p:nvSpPr>
          <p:cNvPr id="139" name="Q182M / D186N / N212S / S214Y / N241L"/>
          <p:cNvSpPr txBox="1"/>
          <p:nvPr/>
        </p:nvSpPr>
        <p:spPr>
          <a:xfrm>
            <a:off x="11402568" y="6638544"/>
            <a:ext cx="350215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Q182M / D186N / N212S / S214Y / N241L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1292840" y="7050024"/>
            <a:ext cx="3721608" cy="12527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255">
            <a:solidFill>
              <a:srgbClr val="BB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11439144" y="7086600"/>
            <a:ext cx="3447288" cy="1161288"/>
          </a:xfrm>
          <a:prstGeom prst="roundRect">
            <a:avLst>
              <a:gd name="adj" fmla="val 8000"/>
            </a:avLst>
          </a:prstGeom>
          <a:ln>
            <a:noFill/>
          </a:ln>
          <a:gradFill>
            <a:gsLst>
              <a:gs pos="0">
                <a:srgbClr val="E3EEFF"/>
              </a:gs>
              <a:gs pos="100000">
                <a:srgbClr val="D9E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Mean Cα RMSD"/>
          <p:cNvSpPr txBox="1"/>
          <p:nvPr/>
        </p:nvSpPr>
        <p:spPr>
          <a:xfrm>
            <a:off x="11576304" y="7114032"/>
            <a:ext cx="3172968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3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Mean Cα RMSD</a:t>
            </a:r>
          </a:p>
        </p:txBody>
      </p:sp>
      <p:sp>
        <p:nvSpPr>
          <p:cNvPr id="143" name="0.911 Å"/>
          <p:cNvSpPr txBox="1"/>
          <p:nvPr/>
        </p:nvSpPr>
        <p:spPr>
          <a:xfrm>
            <a:off x="11795760" y="7388352"/>
            <a:ext cx="2715768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3BBB"/>
                </a:solidFill>
                <a:latin typeface="Noto Sans CJK SC"/>
              </a:defRPr>
            </a:pPr>
            <a:r>
              <a:rPr>
                <a:ea typeface="Noto Sans CJK SC"/>
              </a:rPr>
              <a:t>0.911 Å</a:t>
            </a:r>
          </a:p>
        </p:txBody>
      </p:sp>
      <p:sp>
        <p:nvSpPr>
          <p:cNvPr id="144" name="综合稳定性与活性位点构象表现最佳"/>
          <p:cNvSpPr txBox="1"/>
          <p:nvPr/>
        </p:nvSpPr>
        <p:spPr>
          <a:xfrm>
            <a:off x="11512296" y="7918704"/>
            <a:ext cx="3300984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101E46"/>
                </a:solidFill>
                <a:latin typeface="Noto Sans CJK SC"/>
              </a:defRPr>
            </a:pPr>
            <a:r>
              <a:rPr>
                <a:ea typeface="Noto Sans CJK SC"/>
              </a:rPr>
              <a:t>综合稳定性与活性位点构象表现最佳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PETase塑料降解酶AI辅助序列设计与稳定性改造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