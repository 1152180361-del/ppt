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546336" cy="1378000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用户给出的新版竖版示意图重建。标题、说明、离子/化学标签、公式、箭头、柱形/误差线/字母、淀粉颗粒及下方Lewis/阳离子骨架示意均为原生可编辑对象。MEF装置、左侧氢键化学放大图、有序双螺旋及无序链示意由AI按参考图复刻，为四张可替换图片，并非原图像素。柱形高度和误差线按截图外观位置描摹，未恢复或编造原始数值数据集。化学结构为参考图外观重绘，不是可解析化学结构文件。第三面板仍标B，Different anions polar、上下图例的用词及离子顺序均按原图保留，未做科学或语法修订。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546336" cy="13780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8872" y="155448"/>
            <a:ext cx="9226296" cy="3383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5240" cap="rnd">
            <a:solidFill>
              <a:srgbClr val="7C9FE5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28600" y="219456"/>
            <a:ext cx="420624" cy="420624"/>
          </a:xfrm>
          <a:prstGeom prst="ellipse">
            <a:avLst/>
          </a:prstGeom>
          <a:ln w="12700" cap="rnd">
            <a:solidFill>
              <a:srgbClr val="A2B9E7"/>
            </a:solidFill>
            <a:round/>
          </a:ln>
          <a:gradFill>
            <a:gsLst>
              <a:gs pos="0">
                <a:srgbClr val="6B9BDA"/>
              </a:gs>
              <a:gs pos="100000">
                <a:srgbClr val="285BA3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"/>
          <p:cNvSpPr txBox="1"/>
          <p:nvPr/>
        </p:nvSpPr>
        <p:spPr>
          <a:xfrm>
            <a:off x="228600" y="292608"/>
            <a:ext cx="420624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FFFF"/>
                </a:solidFill>
                <a:latin typeface="Times New Roman"/>
              </a:defRPr>
            </a:pPr>
            <a:r>
              <a:t>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" y="4261104"/>
            <a:ext cx="9226296" cy="3758184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5240" cap="rnd">
            <a:solidFill>
              <a:srgbClr val="7C9FE5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8600" y="4325112"/>
            <a:ext cx="420624" cy="420624"/>
          </a:xfrm>
          <a:prstGeom prst="ellipse">
            <a:avLst/>
          </a:prstGeom>
          <a:ln w="12700" cap="rnd">
            <a:solidFill>
              <a:srgbClr val="A2B9E7"/>
            </a:solidFill>
            <a:round/>
          </a:ln>
          <a:gradFill>
            <a:gsLst>
              <a:gs pos="0">
                <a:srgbClr val="6B9BDA"/>
              </a:gs>
              <a:gs pos="100000">
                <a:srgbClr val="285BA3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"/>
          <p:cNvSpPr txBox="1"/>
          <p:nvPr/>
        </p:nvSpPr>
        <p:spPr>
          <a:xfrm>
            <a:off x="228600" y="4398264"/>
            <a:ext cx="420624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FFFF"/>
                </a:solidFill>
                <a:latin typeface="Times New Roman"/>
              </a:defRPr>
            </a:pPr>
            <a:r>
              <a:t>B</a:t>
            </a:r>
          </a:p>
        </p:txBody>
      </p:sp>
      <p:sp>
        <p:nvSpPr>
          <p:cNvPr id="9" name="Starch structure disruption"/>
          <p:cNvSpPr txBox="1"/>
          <p:nvPr/>
        </p:nvSpPr>
        <p:spPr>
          <a:xfrm>
            <a:off x="713232" y="4389120"/>
            <a:ext cx="786384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70" b="1">
                <a:solidFill>
                  <a:srgbClr val="3A6DB4"/>
                </a:solidFill>
                <a:latin typeface="Times New Roman"/>
              </a:defRPr>
            </a:pPr>
            <a:r>
              <a:t>Starch structure disruption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" y="8604504"/>
            <a:ext cx="9226296" cy="4133087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5240" cap="rnd">
            <a:solidFill>
              <a:srgbClr val="7C9FE5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8600" y="8668512"/>
            <a:ext cx="420624" cy="420624"/>
          </a:xfrm>
          <a:prstGeom prst="ellipse">
            <a:avLst/>
          </a:prstGeom>
          <a:ln w="12700" cap="rnd">
            <a:solidFill>
              <a:srgbClr val="A2B9E7"/>
            </a:solidFill>
            <a:round/>
          </a:ln>
          <a:gradFill>
            <a:gsLst>
              <a:gs pos="0">
                <a:srgbClr val="6B9BDA"/>
              </a:gs>
              <a:gs pos="100000">
                <a:srgbClr val="285BA3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"/>
          <p:cNvSpPr txBox="1"/>
          <p:nvPr/>
        </p:nvSpPr>
        <p:spPr>
          <a:xfrm>
            <a:off x="228600" y="8741664"/>
            <a:ext cx="420624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FFFF"/>
                </a:solidFill>
                <a:latin typeface="Times New Roman"/>
              </a:defRPr>
            </a:pPr>
            <a:r>
              <a:t>B</a:t>
            </a:r>
          </a:p>
        </p:txBody>
      </p:sp>
      <p:sp>
        <p:nvSpPr>
          <p:cNvPr id="13" name="Electric field mass transfer"/>
          <p:cNvSpPr txBox="1"/>
          <p:nvPr/>
        </p:nvSpPr>
        <p:spPr>
          <a:xfrm>
            <a:off x="713232" y="8732520"/>
            <a:ext cx="786384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70" b="1">
                <a:solidFill>
                  <a:srgbClr val="3A6DB4"/>
                </a:solidFill>
                <a:latin typeface="Times New Roman"/>
              </a:defRPr>
            </a:pPr>
            <a:r>
              <a:t>Electric field mass transfer</a:t>
            </a:r>
          </a:p>
        </p:txBody>
      </p:sp>
      <p:sp>
        <p:nvSpPr>
          <p:cNvPr id="14" name="Electric current"/>
          <p:cNvSpPr txBox="1"/>
          <p:nvPr/>
        </p:nvSpPr>
        <p:spPr>
          <a:xfrm>
            <a:off x="749808" y="256032"/>
            <a:ext cx="1664208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70" b="1">
                <a:solidFill>
                  <a:srgbClr val="3A6DB4"/>
                </a:solidFill>
                <a:latin typeface="Times New Roman"/>
              </a:defRPr>
            </a:pPr>
            <a:r>
              <a:t>Electric current</a:t>
            </a:r>
          </a:p>
        </p:txBody>
      </p:sp>
      <p:sp>
        <p:nvSpPr>
          <p:cNvPr id="15" name="(Thermal effect)"/>
          <p:cNvSpPr txBox="1"/>
          <p:nvPr/>
        </p:nvSpPr>
        <p:spPr>
          <a:xfrm>
            <a:off x="2441448" y="256032"/>
            <a:ext cx="2039112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70" b="1">
                <a:solidFill>
                  <a:srgbClr val="F00000"/>
                </a:solidFill>
                <a:latin typeface="Times New Roman"/>
              </a:defRPr>
            </a:pPr>
            <a:r>
              <a:t>(Thermal effect)</a:t>
            </a:r>
          </a:p>
        </p:txBody>
      </p:sp>
      <p:pic>
        <p:nvPicPr>
          <p:cNvPr id="16" name="MEF_v2_装置（参考图复刻，可替换）" descr="MEF_v2_装置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86384"/>
            <a:ext cx="2450592" cy="2258568"/>
          </a:xfrm>
          <a:prstGeom prst="rect">
            <a:avLst/>
          </a:prstGeom>
        </p:spPr>
      </p:pic>
      <p:sp>
        <p:nvSpPr>
          <p:cNvPr id="17" name="4.8V 50Hz"/>
          <p:cNvSpPr txBox="1"/>
          <p:nvPr/>
        </p:nvSpPr>
        <p:spPr>
          <a:xfrm>
            <a:off x="713232" y="2459736"/>
            <a:ext cx="448056" cy="3566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220"/>
              </a:lnSpc>
              <a:spcBef>
                <a:spcPts val="0"/>
              </a:spcBef>
              <a:spcAft>
                <a:spcPts val="0"/>
              </a:spcAft>
              <a:defRPr sz="1010" b="1">
                <a:solidFill>
                  <a:srgbClr val="FFFFFF"/>
                </a:solidFill>
                <a:latin typeface="Times New Roman"/>
              </a:defRPr>
            </a:pPr>
            <a:r>
              <a:t>4.8V</a:t>
            </a:r>
          </a:p>
          <a:p>
            <a:pPr algn="ctr">
              <a:lnSpc>
                <a:spcPts val="1220"/>
              </a:lnSpc>
              <a:spcBef>
                <a:spcPts val="0"/>
              </a:spcBef>
              <a:spcAft>
                <a:spcPts val="0"/>
              </a:spcAft>
              <a:defRPr sz="1010" b="1">
                <a:solidFill>
                  <a:srgbClr val="FFFFFF"/>
                </a:solidFill>
                <a:latin typeface="Times New Roman"/>
              </a:defRPr>
            </a:pPr>
            <a:r>
              <a:t>50Hz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1316736" y="704088"/>
            <a:ext cx="1216152" cy="749808"/>
          </a:xfrm>
          <a:prstGeom prst="line">
            <a:avLst/>
          </a:prstGeom>
          <a:ln w="8255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316736" y="1499616"/>
            <a:ext cx="1243584" cy="374903"/>
          </a:xfrm>
          <a:prstGeom prst="line">
            <a:avLst/>
          </a:prstGeom>
          <a:ln w="8255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ight Arrow 19"/>
          <p:cNvSpPr/>
          <p:nvPr/>
        </p:nvSpPr>
        <p:spPr>
          <a:xfrm>
            <a:off x="4443984" y="1655064"/>
            <a:ext cx="950976" cy="310896"/>
          </a:xfrm>
          <a:prstGeom prst="rightArrow">
            <a:avLst/>
          </a:prstGeom>
          <a:ln>
            <a:noFill/>
          </a:ln>
          <a:gradFill>
            <a:gsLst>
              <a:gs pos="0">
                <a:srgbClr val="F8FBFF"/>
              </a:gs>
              <a:gs pos="100000">
                <a:srgbClr val="628DCD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947672" y="585216"/>
            <a:ext cx="3063240" cy="1408176"/>
          </a:xfrm>
          <a:prstGeom prst="ellipse">
            <a:avLst/>
          </a:prstGeom>
          <a:noFill/>
          <a:ln w="13970" cap="rnd">
            <a:solidFill>
              <a:srgbClr val="102B5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779776" y="932688"/>
            <a:ext cx="365760" cy="365760"/>
          </a:xfrm>
          <a:prstGeom prst="ellipse">
            <a:avLst/>
          </a:prstGeom>
          <a:ln w="8890" cap="rnd">
            <a:solidFill>
              <a:srgbClr val="3F8420"/>
            </a:solidFill>
            <a:round/>
          </a:ln>
          <a:gradFill>
            <a:gsLst>
              <a:gs pos="0">
                <a:srgbClr val="A4D65C"/>
              </a:gs>
              <a:gs pos="100000">
                <a:srgbClr val="388315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[Oac]⁻"/>
          <p:cNvSpPr txBox="1"/>
          <p:nvPr/>
        </p:nvSpPr>
        <p:spPr>
          <a:xfrm>
            <a:off x="2779776" y="1005840"/>
            <a:ext cx="365760" cy="2487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Times New Roman"/>
              </a:defRPr>
            </a:pPr>
            <a:r>
              <a:t>[Oac]⁻</a:t>
            </a:r>
          </a:p>
        </p:txBody>
      </p:sp>
      <p:sp>
        <p:nvSpPr>
          <p:cNvPr id="24" name="Oval 23"/>
          <p:cNvSpPr/>
          <p:nvPr/>
        </p:nvSpPr>
        <p:spPr>
          <a:xfrm>
            <a:off x="2542032" y="1399032"/>
            <a:ext cx="310896" cy="310896"/>
          </a:xfrm>
          <a:prstGeom prst="ellipse">
            <a:avLst/>
          </a:prstGeom>
          <a:ln w="8890" cap="rnd">
            <a:solidFill>
              <a:srgbClr val="3F8420"/>
            </a:solidFill>
            <a:round/>
          </a:ln>
          <a:gradFill>
            <a:gsLst>
              <a:gs pos="0">
                <a:srgbClr val="A4D65C"/>
              </a:gs>
              <a:gs pos="100000">
                <a:srgbClr val="388315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l⁻"/>
          <p:cNvSpPr txBox="1"/>
          <p:nvPr/>
        </p:nvSpPr>
        <p:spPr>
          <a:xfrm>
            <a:off x="2542032" y="1461211"/>
            <a:ext cx="310896" cy="2114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70" b="1">
                <a:solidFill>
                  <a:srgbClr val="FFFFFF"/>
                </a:solidFill>
                <a:latin typeface="Times New Roman"/>
              </a:defRPr>
            </a:pPr>
            <a:r>
              <a:t>Cl⁻</a:t>
            </a:r>
          </a:p>
        </p:txBody>
      </p:sp>
      <p:sp>
        <p:nvSpPr>
          <p:cNvPr id="26" name="Left Arrow 25"/>
          <p:cNvSpPr/>
          <p:nvPr/>
        </p:nvSpPr>
        <p:spPr>
          <a:xfrm>
            <a:off x="2221992" y="1069848"/>
            <a:ext cx="530352" cy="118872"/>
          </a:xfrm>
          <a:prstGeom prst="leftArrow">
            <a:avLst/>
          </a:prstGeom>
          <a:solidFill>
            <a:srgbClr val="72B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Left Arrow 26"/>
          <p:cNvSpPr/>
          <p:nvPr/>
        </p:nvSpPr>
        <p:spPr>
          <a:xfrm>
            <a:off x="2221992" y="1508760"/>
            <a:ext cx="310896" cy="109728"/>
          </a:xfrm>
          <a:prstGeom prst="leftArrow">
            <a:avLst/>
          </a:prstGeom>
          <a:solidFill>
            <a:srgbClr val="72B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255264" y="731520"/>
            <a:ext cx="594360" cy="320040"/>
          </a:xfrm>
          <a:prstGeom prst="roundRect">
            <a:avLst>
              <a:gd name="adj" fmla="val 14000"/>
            </a:avLst>
          </a:prstGeom>
          <a:ln w="10160" cap="rnd">
            <a:solidFill>
              <a:srgbClr val="A84400"/>
            </a:solidFill>
            <a:round/>
          </a:ln>
          <a:gradFill>
            <a:gsLst>
              <a:gs pos="0">
                <a:srgbClr val="FCA13A"/>
              </a:gs>
              <a:gs pos="100000">
                <a:srgbClr val="CD4C00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3319272" y="777240"/>
            <a:ext cx="466343" cy="0"/>
          </a:xfrm>
          <a:prstGeom prst="line">
            <a:avLst/>
          </a:prstGeom>
          <a:ln w="12700">
            <a:solidFill>
              <a:srgbClr val="FFB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[Amim]⁺"/>
          <p:cNvSpPr txBox="1"/>
          <p:nvPr/>
        </p:nvSpPr>
        <p:spPr>
          <a:xfrm>
            <a:off x="3264408" y="773125"/>
            <a:ext cx="57607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80" b="1">
                <a:solidFill>
                  <a:srgbClr val="FFFFFF"/>
                </a:solidFill>
                <a:latin typeface="Times New Roman"/>
              </a:defRPr>
            </a:pPr>
            <a:r>
              <a:t>[Amim]⁺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767328" y="1115568"/>
            <a:ext cx="676656" cy="320040"/>
          </a:xfrm>
          <a:prstGeom prst="roundRect">
            <a:avLst>
              <a:gd name="adj" fmla="val 14000"/>
            </a:avLst>
          </a:prstGeom>
          <a:ln w="10160" cap="rnd">
            <a:solidFill>
              <a:srgbClr val="A84400"/>
            </a:solidFill>
            <a:round/>
          </a:ln>
          <a:gradFill>
            <a:gsLst>
              <a:gs pos="0">
                <a:srgbClr val="FCA13A"/>
              </a:gs>
              <a:gs pos="100000">
                <a:srgbClr val="CD4C00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3831336" y="1161288"/>
            <a:ext cx="548640" cy="0"/>
          </a:xfrm>
          <a:prstGeom prst="line">
            <a:avLst/>
          </a:prstGeom>
          <a:ln w="12700">
            <a:solidFill>
              <a:srgbClr val="FFB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[Bmim]⁺"/>
          <p:cNvSpPr txBox="1"/>
          <p:nvPr/>
        </p:nvSpPr>
        <p:spPr>
          <a:xfrm>
            <a:off x="3776472" y="1157173"/>
            <a:ext cx="65836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70" b="1">
                <a:solidFill>
                  <a:srgbClr val="FFFFFF"/>
                </a:solidFill>
                <a:latin typeface="Times New Roman"/>
              </a:defRPr>
            </a:pPr>
            <a:r>
              <a:t>[Bmim]⁺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00400" y="1481328"/>
            <a:ext cx="548640" cy="320040"/>
          </a:xfrm>
          <a:prstGeom prst="roundRect">
            <a:avLst>
              <a:gd name="adj" fmla="val 14000"/>
            </a:avLst>
          </a:prstGeom>
          <a:ln w="10160" cap="rnd">
            <a:solidFill>
              <a:srgbClr val="A84400"/>
            </a:solidFill>
            <a:round/>
          </a:ln>
          <a:gradFill>
            <a:gsLst>
              <a:gs pos="0">
                <a:srgbClr val="FCA13A"/>
              </a:gs>
              <a:gs pos="100000">
                <a:srgbClr val="CD4C00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3264408" y="1527048"/>
            <a:ext cx="420624" cy="0"/>
          </a:xfrm>
          <a:prstGeom prst="line">
            <a:avLst/>
          </a:prstGeom>
          <a:ln w="12700">
            <a:solidFill>
              <a:srgbClr val="FFB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[Emim]⁺"/>
          <p:cNvSpPr txBox="1"/>
          <p:nvPr/>
        </p:nvSpPr>
        <p:spPr>
          <a:xfrm>
            <a:off x="3209544" y="1522933"/>
            <a:ext cx="53035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60" b="1">
                <a:solidFill>
                  <a:srgbClr val="FFFFFF"/>
                </a:solidFill>
                <a:latin typeface="Times New Roman"/>
              </a:defRPr>
            </a:pPr>
            <a:r>
              <a:t>[Emim]⁺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3867912" y="832104"/>
            <a:ext cx="411480" cy="128016"/>
          </a:xfrm>
          <a:prstGeom prst="rightArrow">
            <a:avLst/>
          </a:prstGeom>
          <a:solidFill>
            <a:srgbClr val="DE68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ight Arrow 37"/>
          <p:cNvSpPr/>
          <p:nvPr/>
        </p:nvSpPr>
        <p:spPr>
          <a:xfrm>
            <a:off x="4471416" y="1207008"/>
            <a:ext cx="484632" cy="128016"/>
          </a:xfrm>
          <a:prstGeom prst="rightArrow">
            <a:avLst/>
          </a:prstGeom>
          <a:solidFill>
            <a:srgbClr val="DE68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ight Arrow 38"/>
          <p:cNvSpPr/>
          <p:nvPr/>
        </p:nvSpPr>
        <p:spPr>
          <a:xfrm>
            <a:off x="3776472" y="1591056"/>
            <a:ext cx="246888" cy="109728"/>
          </a:xfrm>
          <a:prstGeom prst="rightArrow">
            <a:avLst/>
          </a:prstGeom>
          <a:solidFill>
            <a:srgbClr val="DE68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291840" y="2157984"/>
            <a:ext cx="145389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1590" cap="rnd">
            <a:solidFill>
              <a:srgbClr val="356ABC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Q=E²×σ"/>
          <p:cNvSpPr txBox="1"/>
          <p:nvPr/>
        </p:nvSpPr>
        <p:spPr>
          <a:xfrm>
            <a:off x="3429000" y="2258568"/>
            <a:ext cx="1207008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3A6DB4"/>
                </a:solidFill>
                <a:latin typeface="Times New Roman"/>
              </a:defRPr>
            </a:pPr>
            <a:r>
              <a:t>Q=E²×σ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688336" y="2834640"/>
            <a:ext cx="2926080" cy="62179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1430" cap="rnd">
            <a:solidFill>
              <a:srgbClr val="659AE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ight Arrow 42"/>
          <p:cNvSpPr/>
          <p:nvPr/>
        </p:nvSpPr>
        <p:spPr>
          <a:xfrm>
            <a:off x="2770632" y="2898648"/>
            <a:ext cx="393192" cy="118872"/>
          </a:xfrm>
          <a:prstGeom prst="rightArrow">
            <a:avLst/>
          </a:prstGeom>
          <a:solidFill>
            <a:srgbClr val="DE68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ight Arrow 43"/>
          <p:cNvSpPr/>
          <p:nvPr/>
        </p:nvSpPr>
        <p:spPr>
          <a:xfrm>
            <a:off x="2770632" y="3236976"/>
            <a:ext cx="393192" cy="118872"/>
          </a:xfrm>
          <a:prstGeom prst="rightArrow">
            <a:avLst/>
          </a:prstGeom>
          <a:solidFill>
            <a:srgbClr val="72B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Length of line represents velocity"/>
          <p:cNvSpPr txBox="1"/>
          <p:nvPr/>
        </p:nvSpPr>
        <p:spPr>
          <a:xfrm>
            <a:off x="3200400" y="2880360"/>
            <a:ext cx="2368296" cy="265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80" b="0">
                <a:solidFill>
                  <a:srgbClr val="101010"/>
                </a:solidFill>
                <a:latin typeface="Times New Roman"/>
              </a:defRPr>
            </a:pPr>
            <a:r>
              <a:t>Length of line represents velocity</a:t>
            </a:r>
          </a:p>
        </p:txBody>
      </p:sp>
      <p:sp>
        <p:nvSpPr>
          <p:cNvPr id="46" name="Length of line represents velocity"/>
          <p:cNvSpPr txBox="1"/>
          <p:nvPr/>
        </p:nvSpPr>
        <p:spPr>
          <a:xfrm>
            <a:off x="3200400" y="3182112"/>
            <a:ext cx="2368296" cy="265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80" b="0">
                <a:solidFill>
                  <a:srgbClr val="101010"/>
                </a:solidFill>
                <a:latin typeface="Times New Roman"/>
              </a:defRPr>
            </a:pPr>
            <a:r>
              <a:t>Length of line represents velocity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897880" y="594360"/>
            <a:ext cx="3291840" cy="0"/>
          </a:xfrm>
          <a:prstGeom prst="line">
            <a:avLst/>
          </a:prstGeom>
          <a:ln w="952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189720" y="594360"/>
            <a:ext cx="0" cy="1901952"/>
          </a:xfrm>
          <a:prstGeom prst="line">
            <a:avLst/>
          </a:prstGeom>
          <a:ln w="952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5897880" y="2496312"/>
            <a:ext cx="3291840" cy="0"/>
          </a:xfrm>
          <a:prstGeom prst="line">
            <a:avLst/>
          </a:prstGeom>
          <a:ln w="952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5897880" y="594360"/>
            <a:ext cx="0" cy="1901952"/>
          </a:xfrm>
          <a:prstGeom prst="line">
            <a:avLst/>
          </a:prstGeom>
          <a:ln w="952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5861304" y="2496312"/>
            <a:ext cx="36576" cy="0"/>
          </a:xfrm>
          <a:prstGeom prst="line">
            <a:avLst/>
          </a:prstGeom>
          <a:ln w="7620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0"/>
          <p:cNvSpPr txBox="1"/>
          <p:nvPr/>
        </p:nvSpPr>
        <p:spPr>
          <a:xfrm>
            <a:off x="5541264" y="2404872"/>
            <a:ext cx="28346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80" b="0">
                <a:solidFill>
                  <a:srgbClr val="101010"/>
                </a:solidFill>
                <a:latin typeface="Times New Roman"/>
              </a:defRPr>
            </a:pPr>
            <a:r>
              <a:t>0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5861304" y="2241586"/>
            <a:ext cx="36576" cy="0"/>
          </a:xfrm>
          <a:prstGeom prst="line">
            <a:avLst/>
          </a:prstGeom>
          <a:ln w="7620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50"/>
          <p:cNvSpPr txBox="1"/>
          <p:nvPr/>
        </p:nvSpPr>
        <p:spPr>
          <a:xfrm>
            <a:off x="5541264" y="2150146"/>
            <a:ext cx="28346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80" b="0">
                <a:solidFill>
                  <a:srgbClr val="101010"/>
                </a:solidFill>
                <a:latin typeface="Times New Roman"/>
              </a:defRPr>
            </a:pPr>
            <a:r>
              <a:t>50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5861304" y="1986860"/>
            <a:ext cx="36576" cy="0"/>
          </a:xfrm>
          <a:prstGeom prst="line">
            <a:avLst/>
          </a:prstGeom>
          <a:ln w="7620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100"/>
          <p:cNvSpPr txBox="1"/>
          <p:nvPr/>
        </p:nvSpPr>
        <p:spPr>
          <a:xfrm>
            <a:off x="5541264" y="1895420"/>
            <a:ext cx="28346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80" b="0">
                <a:solidFill>
                  <a:srgbClr val="101010"/>
                </a:solidFill>
                <a:latin typeface="Times New Roman"/>
              </a:defRPr>
            </a:pPr>
            <a:r>
              <a:t>100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5861304" y="1732134"/>
            <a:ext cx="36576" cy="0"/>
          </a:xfrm>
          <a:prstGeom prst="line">
            <a:avLst/>
          </a:prstGeom>
          <a:ln w="7620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150"/>
          <p:cNvSpPr txBox="1"/>
          <p:nvPr/>
        </p:nvSpPr>
        <p:spPr>
          <a:xfrm>
            <a:off x="5541264" y="1640694"/>
            <a:ext cx="28346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80" b="0">
                <a:solidFill>
                  <a:srgbClr val="101010"/>
                </a:solidFill>
                <a:latin typeface="Times New Roman"/>
              </a:defRPr>
            </a:pPr>
            <a:r>
              <a:t>150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5861304" y="1477409"/>
            <a:ext cx="36576" cy="0"/>
          </a:xfrm>
          <a:prstGeom prst="line">
            <a:avLst/>
          </a:prstGeom>
          <a:ln w="7620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200"/>
          <p:cNvSpPr txBox="1"/>
          <p:nvPr/>
        </p:nvSpPr>
        <p:spPr>
          <a:xfrm>
            <a:off x="5541264" y="1385969"/>
            <a:ext cx="28346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80" b="0">
                <a:solidFill>
                  <a:srgbClr val="101010"/>
                </a:solidFill>
                <a:latin typeface="Times New Roman"/>
              </a:defRPr>
            </a:pPr>
            <a:r>
              <a:t>200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5861304" y="1222683"/>
            <a:ext cx="36576" cy="0"/>
          </a:xfrm>
          <a:prstGeom prst="line">
            <a:avLst/>
          </a:prstGeom>
          <a:ln w="7620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250"/>
          <p:cNvSpPr txBox="1"/>
          <p:nvPr/>
        </p:nvSpPr>
        <p:spPr>
          <a:xfrm>
            <a:off x="5541264" y="1131243"/>
            <a:ext cx="28346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80" b="0">
                <a:solidFill>
                  <a:srgbClr val="101010"/>
                </a:solidFill>
                <a:latin typeface="Times New Roman"/>
              </a:defRPr>
            </a:pPr>
            <a:r>
              <a:t>250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5861304" y="967957"/>
            <a:ext cx="36576" cy="0"/>
          </a:xfrm>
          <a:prstGeom prst="line">
            <a:avLst/>
          </a:prstGeom>
          <a:ln w="7620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300"/>
          <p:cNvSpPr txBox="1"/>
          <p:nvPr/>
        </p:nvSpPr>
        <p:spPr>
          <a:xfrm>
            <a:off x="5541264" y="876517"/>
            <a:ext cx="28346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80" b="0">
                <a:solidFill>
                  <a:srgbClr val="101010"/>
                </a:solidFill>
                <a:latin typeface="Times New Roman"/>
              </a:defRPr>
            </a:pPr>
            <a:r>
              <a:t>300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5861304" y="713232"/>
            <a:ext cx="36576" cy="0"/>
          </a:xfrm>
          <a:prstGeom prst="line">
            <a:avLst/>
          </a:prstGeom>
          <a:ln w="7620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350"/>
          <p:cNvSpPr txBox="1"/>
          <p:nvPr/>
        </p:nvSpPr>
        <p:spPr>
          <a:xfrm>
            <a:off x="5541264" y="621792"/>
            <a:ext cx="28346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80" b="0">
                <a:solidFill>
                  <a:srgbClr val="101010"/>
                </a:solidFill>
                <a:latin typeface="Times New Roman"/>
              </a:defRPr>
            </a:pPr>
            <a:r>
              <a:t>350</a:t>
            </a:r>
          </a:p>
        </p:txBody>
      </p:sp>
      <p:sp>
        <p:nvSpPr>
          <p:cNvPr id="67" name="Electrical conductivity (mS/cm)"/>
          <p:cNvSpPr txBox="1"/>
          <p:nvPr/>
        </p:nvSpPr>
        <p:spPr>
          <a:xfrm rot="16200000">
            <a:off x="4334256" y="1417320"/>
            <a:ext cx="21945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80" b="0">
                <a:solidFill>
                  <a:srgbClr val="101010"/>
                </a:solidFill>
                <a:latin typeface="Times New Roman"/>
              </a:defRPr>
            </a:pPr>
            <a:r>
              <a:t>Electrical conductivity (mS/cm)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989320" y="621792"/>
            <a:ext cx="310896" cy="164592"/>
          </a:xfrm>
          <a:prstGeom prst="rect">
            <a:avLst/>
          </a:prstGeom>
          <a:solidFill>
            <a:srgbClr val="068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Water bath heating"/>
          <p:cNvSpPr txBox="1"/>
          <p:nvPr/>
        </p:nvSpPr>
        <p:spPr>
          <a:xfrm>
            <a:off x="6345936" y="603504"/>
            <a:ext cx="2240280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30" b="0">
                <a:solidFill>
                  <a:srgbClr val="101010"/>
                </a:solidFill>
                <a:latin typeface="Times New Roman"/>
              </a:defRPr>
            </a:pPr>
            <a:r>
              <a:t>Water bath heating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989320" y="804672"/>
            <a:ext cx="310896" cy="164592"/>
          </a:xfrm>
          <a:prstGeom prst="rect">
            <a:avLst/>
          </a:prstGeom>
          <a:solidFill>
            <a:srgbClr val="E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MEF"/>
          <p:cNvSpPr txBox="1"/>
          <p:nvPr/>
        </p:nvSpPr>
        <p:spPr>
          <a:xfrm>
            <a:off x="6345936" y="786384"/>
            <a:ext cx="868680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30" b="0">
                <a:solidFill>
                  <a:srgbClr val="101010"/>
                </a:solidFill>
                <a:latin typeface="Times New Roman"/>
              </a:defRPr>
            </a:pPr>
            <a:r>
              <a:t>MEF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062472" y="2313432"/>
            <a:ext cx="237744" cy="182880"/>
          </a:xfrm>
          <a:prstGeom prst="rect">
            <a:avLst/>
          </a:prstGeom>
          <a:solidFill>
            <a:srgbClr val="078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" name="Connector 72"/>
          <p:cNvCxnSpPr/>
          <p:nvPr/>
        </p:nvCxnSpPr>
        <p:spPr>
          <a:xfrm>
            <a:off x="6181344" y="2286000"/>
            <a:ext cx="0" cy="54864"/>
          </a:xfrm>
          <a:prstGeom prst="line">
            <a:avLst/>
          </a:prstGeom>
          <a:ln w="825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6153912" y="2286000"/>
            <a:ext cx="54864" cy="0"/>
          </a:xfrm>
          <a:prstGeom prst="line">
            <a:avLst/>
          </a:prstGeom>
          <a:ln w="825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h"/>
          <p:cNvSpPr txBox="1"/>
          <p:nvPr/>
        </p:nvSpPr>
        <p:spPr>
          <a:xfrm>
            <a:off x="6099048" y="2139696"/>
            <a:ext cx="164592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01010"/>
                </a:solidFill>
                <a:latin typeface="Times New Roman"/>
              </a:defRPr>
            </a:pPr>
            <a:r>
              <a:t>h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0216" y="2093976"/>
            <a:ext cx="237744" cy="402336"/>
          </a:xfrm>
          <a:prstGeom prst="rect">
            <a:avLst/>
          </a:prstGeom>
          <a:solidFill>
            <a:srgbClr val="E1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7" name="Connector 76"/>
          <p:cNvCxnSpPr/>
          <p:nvPr/>
        </p:nvCxnSpPr>
        <p:spPr>
          <a:xfrm>
            <a:off x="6419088" y="2066543"/>
            <a:ext cx="0" cy="54865"/>
          </a:xfrm>
          <a:prstGeom prst="line">
            <a:avLst/>
          </a:prstGeom>
          <a:ln w="825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6391656" y="2066543"/>
            <a:ext cx="54864" cy="0"/>
          </a:xfrm>
          <a:prstGeom prst="line">
            <a:avLst/>
          </a:prstGeom>
          <a:ln w="825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g"/>
          <p:cNvSpPr txBox="1"/>
          <p:nvPr/>
        </p:nvSpPr>
        <p:spPr>
          <a:xfrm>
            <a:off x="6336792" y="1920240"/>
            <a:ext cx="164592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01010"/>
                </a:solidFill>
                <a:latin typeface="Times New Roman"/>
              </a:defRPr>
            </a:pPr>
            <a:r>
              <a:t>g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885432" y="1901952"/>
            <a:ext cx="228600" cy="594360"/>
          </a:xfrm>
          <a:prstGeom prst="rect">
            <a:avLst/>
          </a:prstGeom>
          <a:solidFill>
            <a:srgbClr val="078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1" name="Connector 80"/>
          <p:cNvCxnSpPr/>
          <p:nvPr/>
        </p:nvCxnSpPr>
        <p:spPr>
          <a:xfrm>
            <a:off x="6999732" y="1874519"/>
            <a:ext cx="0" cy="54865"/>
          </a:xfrm>
          <a:prstGeom prst="line">
            <a:avLst/>
          </a:prstGeom>
          <a:ln w="825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6972300" y="1874519"/>
            <a:ext cx="54864" cy="0"/>
          </a:xfrm>
          <a:prstGeom prst="line">
            <a:avLst/>
          </a:prstGeom>
          <a:ln w="825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e"/>
          <p:cNvSpPr txBox="1"/>
          <p:nvPr/>
        </p:nvSpPr>
        <p:spPr>
          <a:xfrm>
            <a:off x="6917436" y="1728216"/>
            <a:ext cx="164592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01010"/>
                </a:solidFill>
                <a:latin typeface="Times New Roman"/>
              </a:defRPr>
            </a:pPr>
            <a:r>
              <a:t>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123176" y="1783080"/>
            <a:ext cx="237744" cy="713232"/>
          </a:xfrm>
          <a:prstGeom prst="rect">
            <a:avLst/>
          </a:prstGeom>
          <a:solidFill>
            <a:srgbClr val="E1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5" name="Connector 84"/>
          <p:cNvCxnSpPr/>
          <p:nvPr/>
        </p:nvCxnSpPr>
        <p:spPr>
          <a:xfrm>
            <a:off x="7242048" y="1755648"/>
            <a:ext cx="0" cy="54864"/>
          </a:xfrm>
          <a:prstGeom prst="line">
            <a:avLst/>
          </a:prstGeom>
          <a:ln w="825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7214616" y="1755648"/>
            <a:ext cx="54864" cy="0"/>
          </a:xfrm>
          <a:prstGeom prst="line">
            <a:avLst/>
          </a:prstGeom>
          <a:ln w="825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c"/>
          <p:cNvSpPr txBox="1"/>
          <p:nvPr/>
        </p:nvSpPr>
        <p:spPr>
          <a:xfrm>
            <a:off x="7159752" y="1609344"/>
            <a:ext cx="164592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01010"/>
                </a:solidFill>
                <a:latin typeface="Times New Roman"/>
              </a:defRPr>
            </a:pPr>
            <a:r>
              <a:t>c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699248" y="1975104"/>
            <a:ext cx="228600" cy="521207"/>
          </a:xfrm>
          <a:prstGeom prst="rect">
            <a:avLst/>
          </a:prstGeom>
          <a:solidFill>
            <a:srgbClr val="078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7813548" y="1947672"/>
            <a:ext cx="0" cy="54864"/>
          </a:xfrm>
          <a:prstGeom prst="line">
            <a:avLst/>
          </a:prstGeom>
          <a:ln w="825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7786116" y="1947672"/>
            <a:ext cx="54863" cy="0"/>
          </a:xfrm>
          <a:prstGeom prst="line">
            <a:avLst/>
          </a:prstGeom>
          <a:ln w="825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f"/>
          <p:cNvSpPr txBox="1"/>
          <p:nvPr/>
        </p:nvSpPr>
        <p:spPr>
          <a:xfrm>
            <a:off x="7731252" y="1801368"/>
            <a:ext cx="164592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01010"/>
                </a:solidFill>
                <a:latin typeface="Times New Roman"/>
              </a:defRPr>
            </a:pPr>
            <a:r>
              <a:t>f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946136" y="1417320"/>
            <a:ext cx="237744" cy="1078992"/>
          </a:xfrm>
          <a:prstGeom prst="rect">
            <a:avLst/>
          </a:prstGeom>
          <a:solidFill>
            <a:srgbClr val="E1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3" name="Connector 92"/>
          <p:cNvCxnSpPr/>
          <p:nvPr/>
        </p:nvCxnSpPr>
        <p:spPr>
          <a:xfrm>
            <a:off x="8065008" y="1389888"/>
            <a:ext cx="0" cy="54864"/>
          </a:xfrm>
          <a:prstGeom prst="line">
            <a:avLst/>
          </a:prstGeom>
          <a:ln w="825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037575" y="1389888"/>
            <a:ext cx="54865" cy="0"/>
          </a:xfrm>
          <a:prstGeom prst="line">
            <a:avLst/>
          </a:prstGeom>
          <a:ln w="825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b"/>
          <p:cNvSpPr txBox="1"/>
          <p:nvPr/>
        </p:nvSpPr>
        <p:spPr>
          <a:xfrm>
            <a:off x="7982712" y="1243584"/>
            <a:ext cx="164592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01010"/>
                </a:solidFill>
                <a:latin typeface="Times New Roman"/>
              </a:defRPr>
            </a:pPr>
            <a:r>
              <a:t>b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513064" y="1892807"/>
            <a:ext cx="228600" cy="603504"/>
          </a:xfrm>
          <a:prstGeom prst="rect">
            <a:avLst/>
          </a:prstGeom>
          <a:solidFill>
            <a:srgbClr val="078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7" name="Connector 96"/>
          <p:cNvCxnSpPr/>
          <p:nvPr/>
        </p:nvCxnSpPr>
        <p:spPr>
          <a:xfrm>
            <a:off x="8627364" y="1865376"/>
            <a:ext cx="0" cy="54864"/>
          </a:xfrm>
          <a:prstGeom prst="line">
            <a:avLst/>
          </a:prstGeom>
          <a:ln w="825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8599932" y="1865376"/>
            <a:ext cx="54864" cy="0"/>
          </a:xfrm>
          <a:prstGeom prst="line">
            <a:avLst/>
          </a:prstGeom>
          <a:ln w="825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d"/>
          <p:cNvSpPr txBox="1"/>
          <p:nvPr/>
        </p:nvSpPr>
        <p:spPr>
          <a:xfrm>
            <a:off x="8545068" y="1719072"/>
            <a:ext cx="164592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01010"/>
                </a:solidFill>
                <a:latin typeface="Times New Roman"/>
              </a:defRPr>
            </a:pPr>
            <a:r>
              <a:t>d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769096" y="804672"/>
            <a:ext cx="246888" cy="1691640"/>
          </a:xfrm>
          <a:prstGeom prst="rect">
            <a:avLst/>
          </a:prstGeom>
          <a:solidFill>
            <a:srgbClr val="E1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1" name="Connector 100"/>
          <p:cNvCxnSpPr/>
          <p:nvPr/>
        </p:nvCxnSpPr>
        <p:spPr>
          <a:xfrm>
            <a:off x="8892540" y="777240"/>
            <a:ext cx="0" cy="54864"/>
          </a:xfrm>
          <a:prstGeom prst="line">
            <a:avLst/>
          </a:prstGeom>
          <a:ln w="825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8865108" y="777240"/>
            <a:ext cx="54864" cy="0"/>
          </a:xfrm>
          <a:prstGeom prst="line">
            <a:avLst/>
          </a:prstGeom>
          <a:ln w="825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a"/>
          <p:cNvSpPr txBox="1"/>
          <p:nvPr/>
        </p:nvSpPr>
        <p:spPr>
          <a:xfrm>
            <a:off x="8810244" y="630936"/>
            <a:ext cx="164592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01010"/>
                </a:solidFill>
                <a:latin typeface="Times New Roman"/>
              </a:defRPr>
            </a:pPr>
            <a:r>
              <a:t>a</a:t>
            </a:r>
          </a:p>
        </p:txBody>
      </p:sp>
      <p:sp>
        <p:nvSpPr>
          <p:cNvPr id="104" name="[Bmim]Cl"/>
          <p:cNvSpPr txBox="1"/>
          <p:nvPr/>
        </p:nvSpPr>
        <p:spPr>
          <a:xfrm>
            <a:off x="5943600" y="2560320"/>
            <a:ext cx="804672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80" b="0">
                <a:solidFill>
                  <a:srgbClr val="101010"/>
                </a:solidFill>
                <a:latin typeface="Times New Roman"/>
              </a:defRPr>
            </a:pPr>
            <a:r>
              <a:t>[Bmim]Cl</a:t>
            </a:r>
          </a:p>
        </p:txBody>
      </p:sp>
      <p:sp>
        <p:nvSpPr>
          <p:cNvPr id="105" name="[Bmim]OAc"/>
          <p:cNvSpPr txBox="1"/>
          <p:nvPr/>
        </p:nvSpPr>
        <p:spPr>
          <a:xfrm>
            <a:off x="6729984" y="2560320"/>
            <a:ext cx="804672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80" b="0">
                <a:solidFill>
                  <a:srgbClr val="101010"/>
                </a:solidFill>
                <a:latin typeface="Times New Roman"/>
              </a:defRPr>
            </a:pPr>
            <a:r>
              <a:t>[Bmim]OAc</a:t>
            </a:r>
          </a:p>
        </p:txBody>
      </p:sp>
      <p:sp>
        <p:nvSpPr>
          <p:cNvPr id="106" name="[Amim]Cl"/>
          <p:cNvSpPr txBox="1"/>
          <p:nvPr/>
        </p:nvSpPr>
        <p:spPr>
          <a:xfrm>
            <a:off x="7571231" y="2560320"/>
            <a:ext cx="804672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80" b="0">
                <a:solidFill>
                  <a:srgbClr val="101010"/>
                </a:solidFill>
                <a:latin typeface="Times New Roman"/>
              </a:defRPr>
            </a:pPr>
            <a:r>
              <a:t>[Amim]Cl</a:t>
            </a:r>
          </a:p>
        </p:txBody>
      </p:sp>
      <p:sp>
        <p:nvSpPr>
          <p:cNvPr id="107" name="[Emim]Cl"/>
          <p:cNvSpPr txBox="1"/>
          <p:nvPr/>
        </p:nvSpPr>
        <p:spPr>
          <a:xfrm>
            <a:off x="8421624" y="2560320"/>
            <a:ext cx="804672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80" b="0">
                <a:solidFill>
                  <a:srgbClr val="101010"/>
                </a:solidFill>
                <a:latin typeface="Times New Roman"/>
              </a:defRPr>
            </a:pPr>
            <a:r>
              <a:t>[Emim]Cl</a:t>
            </a:r>
          </a:p>
        </p:txBody>
      </p:sp>
      <p:sp>
        <p:nvSpPr>
          <p:cNvPr id="108" name="Up Arrow 107"/>
          <p:cNvSpPr/>
          <p:nvPr/>
        </p:nvSpPr>
        <p:spPr>
          <a:xfrm>
            <a:off x="4288536" y="3566160"/>
            <a:ext cx="658368" cy="658368"/>
          </a:xfrm>
          <a:prstGeom prst="upArrow">
            <a:avLst/>
          </a:prstGeom>
          <a:ln>
            <a:noFill/>
          </a:ln>
          <a:gradFill>
            <a:gsLst>
              <a:gs pos="0">
                <a:srgbClr val="F7F7F7"/>
              </a:gs>
              <a:gs pos="100000">
                <a:srgbClr val="777777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Electrical conductivity"/>
          <p:cNvSpPr txBox="1"/>
          <p:nvPr/>
        </p:nvSpPr>
        <p:spPr>
          <a:xfrm>
            <a:off x="5020056" y="3813048"/>
            <a:ext cx="2670048" cy="3749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70" b="1">
                <a:solidFill>
                  <a:srgbClr val="101010"/>
                </a:solidFill>
                <a:latin typeface="Times New Roman"/>
              </a:defRPr>
            </a:pPr>
            <a:r>
              <a:t>Electrical conductivity</a:t>
            </a:r>
          </a:p>
        </p:txBody>
      </p:sp>
      <p:sp>
        <p:nvSpPr>
          <p:cNvPr id="110" name="Up Arrow 109"/>
          <p:cNvSpPr/>
          <p:nvPr/>
        </p:nvSpPr>
        <p:spPr>
          <a:xfrm>
            <a:off x="7589520" y="3685032"/>
            <a:ext cx="192024" cy="484632"/>
          </a:xfrm>
          <a:prstGeom prst="upArrow">
            <a:avLst/>
          </a:prstGeom>
          <a:solidFill>
            <a:srgbClr val="F4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ounded Rectangle 110"/>
          <p:cNvSpPr/>
          <p:nvPr/>
        </p:nvSpPr>
        <p:spPr>
          <a:xfrm>
            <a:off x="530352" y="5102352"/>
            <a:ext cx="237744" cy="1819656"/>
          </a:xfrm>
          <a:prstGeom prst="roundRect">
            <a:avLst>
              <a:gd name="adj" fmla="val 14000"/>
            </a:avLst>
          </a:prstGeom>
          <a:ln w="12700" cap="rnd">
            <a:solidFill>
              <a:srgbClr val="101010"/>
            </a:solidFill>
            <a:round/>
          </a:ln>
          <a:gradFill>
            <a:gsLst>
              <a:gs pos="0">
                <a:srgbClr val="ECECEC"/>
              </a:gs>
              <a:gs pos="100000">
                <a:srgbClr val="C5C5C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+"/>
          <p:cNvSpPr txBox="1"/>
          <p:nvPr/>
        </p:nvSpPr>
        <p:spPr>
          <a:xfrm>
            <a:off x="530352" y="5357103"/>
            <a:ext cx="237744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A5AAD"/>
                </a:solidFill>
                <a:latin typeface="Times New Roman"/>
              </a:defRPr>
            </a:pPr>
            <a:r>
              <a:t>+</a:t>
            </a:r>
          </a:p>
        </p:txBody>
      </p:sp>
      <p:sp>
        <p:nvSpPr>
          <p:cNvPr id="113" name="+"/>
          <p:cNvSpPr txBox="1"/>
          <p:nvPr/>
        </p:nvSpPr>
        <p:spPr>
          <a:xfrm>
            <a:off x="530352" y="5739231"/>
            <a:ext cx="237744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A5AAD"/>
                </a:solidFill>
                <a:latin typeface="Times New Roman"/>
              </a:defRPr>
            </a:pPr>
            <a:r>
              <a:t>+</a:t>
            </a:r>
          </a:p>
        </p:txBody>
      </p:sp>
      <p:sp>
        <p:nvSpPr>
          <p:cNvPr id="114" name="+"/>
          <p:cNvSpPr txBox="1"/>
          <p:nvPr/>
        </p:nvSpPr>
        <p:spPr>
          <a:xfrm>
            <a:off x="530352" y="6121359"/>
            <a:ext cx="237744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A5AAD"/>
                </a:solidFill>
                <a:latin typeface="Times New Roman"/>
              </a:defRPr>
            </a:pPr>
            <a:r>
              <a:t>+</a:t>
            </a:r>
          </a:p>
        </p:txBody>
      </p:sp>
      <p:sp>
        <p:nvSpPr>
          <p:cNvPr id="115" name="+"/>
          <p:cNvSpPr txBox="1"/>
          <p:nvPr/>
        </p:nvSpPr>
        <p:spPr>
          <a:xfrm>
            <a:off x="530352" y="6503487"/>
            <a:ext cx="237744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A5AAD"/>
                </a:solidFill>
                <a:latin typeface="Times New Roman"/>
              </a:defRPr>
            </a:pPr>
            <a:r>
              <a:t>+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3758184" y="5102352"/>
            <a:ext cx="246888" cy="1819656"/>
          </a:xfrm>
          <a:prstGeom prst="roundRect">
            <a:avLst>
              <a:gd name="adj" fmla="val 14000"/>
            </a:avLst>
          </a:prstGeom>
          <a:ln w="12700" cap="rnd">
            <a:solidFill>
              <a:srgbClr val="101010"/>
            </a:solidFill>
            <a:round/>
          </a:ln>
          <a:gradFill>
            <a:gsLst>
              <a:gs pos="0">
                <a:srgbClr val="ECECEC"/>
              </a:gs>
              <a:gs pos="100000">
                <a:srgbClr val="C5C5C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−"/>
          <p:cNvSpPr txBox="1"/>
          <p:nvPr/>
        </p:nvSpPr>
        <p:spPr>
          <a:xfrm>
            <a:off x="3758184" y="5357103"/>
            <a:ext cx="24688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A5AAD"/>
                </a:solidFill>
                <a:latin typeface="Times New Roman"/>
              </a:defRPr>
            </a:pPr>
            <a:r>
              <a:t>−</a:t>
            </a:r>
          </a:p>
        </p:txBody>
      </p:sp>
      <p:sp>
        <p:nvSpPr>
          <p:cNvPr id="118" name="−"/>
          <p:cNvSpPr txBox="1"/>
          <p:nvPr/>
        </p:nvSpPr>
        <p:spPr>
          <a:xfrm>
            <a:off x="3758184" y="5739231"/>
            <a:ext cx="24688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A5AAD"/>
                </a:solidFill>
                <a:latin typeface="Times New Roman"/>
              </a:defRPr>
            </a:pPr>
            <a:r>
              <a:t>−</a:t>
            </a:r>
          </a:p>
        </p:txBody>
      </p:sp>
      <p:sp>
        <p:nvSpPr>
          <p:cNvPr id="119" name="−"/>
          <p:cNvSpPr txBox="1"/>
          <p:nvPr/>
        </p:nvSpPr>
        <p:spPr>
          <a:xfrm>
            <a:off x="3758184" y="6121359"/>
            <a:ext cx="24688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A5AAD"/>
                </a:solidFill>
                <a:latin typeface="Times New Roman"/>
              </a:defRPr>
            </a:pPr>
            <a:r>
              <a:t>−</a:t>
            </a:r>
          </a:p>
        </p:txBody>
      </p:sp>
      <p:sp>
        <p:nvSpPr>
          <p:cNvPr id="120" name="−"/>
          <p:cNvSpPr txBox="1"/>
          <p:nvPr/>
        </p:nvSpPr>
        <p:spPr>
          <a:xfrm>
            <a:off x="3758184" y="6503487"/>
            <a:ext cx="24688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A5AAD"/>
                </a:solidFill>
                <a:latin typeface="Times New Roman"/>
              </a:defRPr>
            </a:pPr>
            <a:r>
              <a:t>−</a:t>
            </a:r>
          </a:p>
        </p:txBody>
      </p:sp>
      <p:sp>
        <p:nvSpPr>
          <p:cNvPr id="121" name="Oval 120"/>
          <p:cNvSpPr/>
          <p:nvPr/>
        </p:nvSpPr>
        <p:spPr>
          <a:xfrm>
            <a:off x="1335024" y="5184648"/>
            <a:ext cx="301752" cy="301752"/>
          </a:xfrm>
          <a:prstGeom prst="ellipse">
            <a:avLst/>
          </a:prstGeom>
          <a:ln w="8890" cap="rnd">
            <a:solidFill>
              <a:srgbClr val="3F8420"/>
            </a:solidFill>
            <a:round/>
          </a:ln>
          <a:gradFill>
            <a:gsLst>
              <a:gs pos="0">
                <a:srgbClr val="A4D65C"/>
              </a:gs>
              <a:gs pos="100000">
                <a:srgbClr val="388315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−"/>
          <p:cNvSpPr txBox="1"/>
          <p:nvPr/>
        </p:nvSpPr>
        <p:spPr>
          <a:xfrm>
            <a:off x="1335024" y="5244998"/>
            <a:ext cx="301752" cy="2051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Times New Roman"/>
              </a:defRPr>
            </a:pPr>
            <a:r>
              <a:t>−</a:t>
            </a:r>
          </a:p>
        </p:txBody>
      </p:sp>
      <p:sp>
        <p:nvSpPr>
          <p:cNvPr id="123" name="Oval 122"/>
          <p:cNvSpPr/>
          <p:nvPr/>
        </p:nvSpPr>
        <p:spPr>
          <a:xfrm>
            <a:off x="804672" y="5788152"/>
            <a:ext cx="301752" cy="301752"/>
          </a:xfrm>
          <a:prstGeom prst="ellipse">
            <a:avLst/>
          </a:prstGeom>
          <a:ln w="8890" cap="rnd">
            <a:solidFill>
              <a:srgbClr val="3F8420"/>
            </a:solidFill>
            <a:round/>
          </a:ln>
          <a:gradFill>
            <a:gsLst>
              <a:gs pos="0">
                <a:srgbClr val="A4D65C"/>
              </a:gs>
              <a:gs pos="100000">
                <a:srgbClr val="388315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−"/>
          <p:cNvSpPr txBox="1"/>
          <p:nvPr/>
        </p:nvSpPr>
        <p:spPr>
          <a:xfrm>
            <a:off x="804672" y="5848502"/>
            <a:ext cx="301752" cy="2051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Times New Roman"/>
              </a:defRPr>
            </a:pPr>
            <a:r>
              <a:t>−</a:t>
            </a:r>
          </a:p>
        </p:txBody>
      </p:sp>
      <p:sp>
        <p:nvSpPr>
          <p:cNvPr id="125" name="Oval 124"/>
          <p:cNvSpPr/>
          <p:nvPr/>
        </p:nvSpPr>
        <p:spPr>
          <a:xfrm>
            <a:off x="1042415" y="6364224"/>
            <a:ext cx="301752" cy="301752"/>
          </a:xfrm>
          <a:prstGeom prst="ellipse">
            <a:avLst/>
          </a:prstGeom>
          <a:ln w="8890" cap="rnd">
            <a:solidFill>
              <a:srgbClr val="3F8420"/>
            </a:solidFill>
            <a:round/>
          </a:ln>
          <a:gradFill>
            <a:gsLst>
              <a:gs pos="0">
                <a:srgbClr val="A4D65C"/>
              </a:gs>
              <a:gs pos="100000">
                <a:srgbClr val="388315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−"/>
          <p:cNvSpPr txBox="1"/>
          <p:nvPr/>
        </p:nvSpPr>
        <p:spPr>
          <a:xfrm>
            <a:off x="1042415" y="6424574"/>
            <a:ext cx="301752" cy="2051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Times New Roman"/>
              </a:defRPr>
            </a:pPr>
            <a:r>
              <a:t>−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2267712" y="5029200"/>
            <a:ext cx="393192" cy="310896"/>
          </a:xfrm>
          <a:prstGeom prst="roundRect">
            <a:avLst>
              <a:gd name="adj" fmla="val 14000"/>
            </a:avLst>
          </a:prstGeom>
          <a:ln w="10160" cap="rnd">
            <a:solidFill>
              <a:srgbClr val="A84400"/>
            </a:solidFill>
            <a:round/>
          </a:ln>
          <a:gradFill>
            <a:gsLst>
              <a:gs pos="0">
                <a:srgbClr val="FCA13A"/>
              </a:gs>
              <a:gs pos="100000">
                <a:srgbClr val="CD4C00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8" name="Connector 127"/>
          <p:cNvCxnSpPr/>
          <p:nvPr/>
        </p:nvCxnSpPr>
        <p:spPr>
          <a:xfrm>
            <a:off x="2331720" y="5074920"/>
            <a:ext cx="265176" cy="0"/>
          </a:xfrm>
          <a:prstGeom prst="line">
            <a:avLst/>
          </a:prstGeom>
          <a:ln w="12700">
            <a:solidFill>
              <a:srgbClr val="FFB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+"/>
          <p:cNvSpPr txBox="1"/>
          <p:nvPr/>
        </p:nvSpPr>
        <p:spPr>
          <a:xfrm>
            <a:off x="2276856" y="5069616"/>
            <a:ext cx="374904" cy="2487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Times New Roman"/>
              </a:defRPr>
            </a:pPr>
            <a:r>
              <a:t>+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3337560" y="5358384"/>
            <a:ext cx="374904" cy="310896"/>
          </a:xfrm>
          <a:prstGeom prst="roundRect">
            <a:avLst>
              <a:gd name="adj" fmla="val 14000"/>
            </a:avLst>
          </a:prstGeom>
          <a:ln w="10160" cap="rnd">
            <a:solidFill>
              <a:srgbClr val="A84400"/>
            </a:solidFill>
            <a:round/>
          </a:ln>
          <a:gradFill>
            <a:gsLst>
              <a:gs pos="0">
                <a:srgbClr val="FCA13A"/>
              </a:gs>
              <a:gs pos="100000">
                <a:srgbClr val="CD4C00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1" name="Connector 130"/>
          <p:cNvCxnSpPr/>
          <p:nvPr/>
        </p:nvCxnSpPr>
        <p:spPr>
          <a:xfrm>
            <a:off x="3401568" y="5404104"/>
            <a:ext cx="246888" cy="0"/>
          </a:xfrm>
          <a:prstGeom prst="line">
            <a:avLst/>
          </a:prstGeom>
          <a:ln w="12700">
            <a:solidFill>
              <a:srgbClr val="FFB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+"/>
          <p:cNvSpPr txBox="1"/>
          <p:nvPr/>
        </p:nvSpPr>
        <p:spPr>
          <a:xfrm>
            <a:off x="3346704" y="5398800"/>
            <a:ext cx="356616" cy="2487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Times New Roman"/>
              </a:defRPr>
            </a:pPr>
            <a:r>
              <a:t>+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2724912" y="5998464"/>
            <a:ext cx="365760" cy="320040"/>
          </a:xfrm>
          <a:prstGeom prst="roundRect">
            <a:avLst>
              <a:gd name="adj" fmla="val 14000"/>
            </a:avLst>
          </a:prstGeom>
          <a:ln w="10160" cap="rnd">
            <a:solidFill>
              <a:srgbClr val="A84400"/>
            </a:solidFill>
            <a:round/>
          </a:ln>
          <a:gradFill>
            <a:gsLst>
              <a:gs pos="0">
                <a:srgbClr val="FCA13A"/>
              </a:gs>
              <a:gs pos="100000">
                <a:srgbClr val="CD4C00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4" name="Connector 133"/>
          <p:cNvCxnSpPr/>
          <p:nvPr/>
        </p:nvCxnSpPr>
        <p:spPr>
          <a:xfrm>
            <a:off x="2788920" y="6044184"/>
            <a:ext cx="237744" cy="0"/>
          </a:xfrm>
          <a:prstGeom prst="line">
            <a:avLst/>
          </a:prstGeom>
          <a:ln w="12700">
            <a:solidFill>
              <a:srgbClr val="FFB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+"/>
          <p:cNvSpPr txBox="1"/>
          <p:nvPr/>
        </p:nvSpPr>
        <p:spPr>
          <a:xfrm>
            <a:off x="2734056" y="6040069"/>
            <a:ext cx="34747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Times New Roman"/>
              </a:defRPr>
            </a:pPr>
            <a:r>
              <a:t>+</a:t>
            </a:r>
          </a:p>
        </p:txBody>
      </p:sp>
      <p:cxnSp>
        <p:nvCxnSpPr>
          <p:cNvPr id="136" name="Connector 135"/>
          <p:cNvCxnSpPr/>
          <p:nvPr/>
        </p:nvCxnSpPr>
        <p:spPr>
          <a:xfrm flipH="1">
            <a:off x="804672" y="5532120"/>
            <a:ext cx="448056" cy="0"/>
          </a:xfrm>
          <a:prstGeom prst="line">
            <a:avLst/>
          </a:prstGeom>
          <a:ln w="12700">
            <a:solidFill>
              <a:srgbClr val="72B64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Freeform 136"/>
          <p:cNvSpPr/>
          <p:nvPr/>
        </p:nvSpPr>
        <p:spPr>
          <a:xfrm>
            <a:off x="804672" y="5486400"/>
            <a:ext cx="91440" cy="9144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0" y="5"/>
                </a:moveTo>
                <a:lnTo>
                  <a:pt x="10" y="10"/>
                </a:lnTo>
                <a:lnTo>
                  <a:pt x="10" y="0"/>
                </a:lnTo>
                <a:close/>
              </a:path>
            </a:pathLst>
          </a:custGeom>
          <a:solidFill>
            <a:srgbClr val="72B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8" name="Connector 137"/>
          <p:cNvCxnSpPr/>
          <p:nvPr/>
        </p:nvCxnSpPr>
        <p:spPr>
          <a:xfrm flipH="1">
            <a:off x="1133856" y="5998464"/>
            <a:ext cx="374904" cy="0"/>
          </a:xfrm>
          <a:prstGeom prst="line">
            <a:avLst/>
          </a:prstGeom>
          <a:ln w="12700">
            <a:solidFill>
              <a:srgbClr val="72B64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Freeform 138"/>
          <p:cNvSpPr/>
          <p:nvPr/>
        </p:nvSpPr>
        <p:spPr>
          <a:xfrm>
            <a:off x="1133856" y="5952744"/>
            <a:ext cx="91440" cy="9144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0" y="5"/>
                </a:moveTo>
                <a:lnTo>
                  <a:pt x="10" y="10"/>
                </a:lnTo>
                <a:lnTo>
                  <a:pt x="10" y="0"/>
                </a:lnTo>
                <a:close/>
              </a:path>
            </a:pathLst>
          </a:custGeom>
          <a:solidFill>
            <a:srgbClr val="72B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0" name="Connector 139"/>
          <p:cNvCxnSpPr/>
          <p:nvPr/>
        </p:nvCxnSpPr>
        <p:spPr>
          <a:xfrm>
            <a:off x="2734056" y="5266944"/>
            <a:ext cx="932688" cy="0"/>
          </a:xfrm>
          <a:prstGeom prst="line">
            <a:avLst/>
          </a:prstGeom>
          <a:ln w="12700">
            <a:solidFill>
              <a:srgbClr val="DE681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Freeform 140"/>
          <p:cNvSpPr/>
          <p:nvPr/>
        </p:nvSpPr>
        <p:spPr>
          <a:xfrm>
            <a:off x="3575304" y="5221224"/>
            <a:ext cx="91440" cy="9144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10" y="5"/>
                </a:moveTo>
                <a:lnTo>
                  <a:pt x="0" y="0"/>
                </a:lnTo>
                <a:lnTo>
                  <a:pt x="0" y="10"/>
                </a:lnTo>
                <a:close/>
              </a:path>
            </a:pathLst>
          </a:custGeom>
          <a:solidFill>
            <a:srgbClr val="DE68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2" name="Connector 141"/>
          <p:cNvCxnSpPr/>
          <p:nvPr/>
        </p:nvCxnSpPr>
        <p:spPr>
          <a:xfrm>
            <a:off x="2788920" y="5888736"/>
            <a:ext cx="877824" cy="0"/>
          </a:xfrm>
          <a:prstGeom prst="line">
            <a:avLst/>
          </a:prstGeom>
          <a:ln w="12700">
            <a:solidFill>
              <a:srgbClr val="DE681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Freeform 142"/>
          <p:cNvSpPr/>
          <p:nvPr/>
        </p:nvSpPr>
        <p:spPr>
          <a:xfrm>
            <a:off x="3575304" y="5843016"/>
            <a:ext cx="91440" cy="9144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10" y="5"/>
                </a:moveTo>
                <a:lnTo>
                  <a:pt x="0" y="0"/>
                </a:lnTo>
                <a:lnTo>
                  <a:pt x="0" y="10"/>
                </a:lnTo>
                <a:close/>
              </a:path>
            </a:pathLst>
          </a:custGeom>
          <a:solidFill>
            <a:srgbClr val="DE68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4" name="Connector 143"/>
          <p:cNvCxnSpPr/>
          <p:nvPr/>
        </p:nvCxnSpPr>
        <p:spPr>
          <a:xfrm>
            <a:off x="2734056" y="6455664"/>
            <a:ext cx="932688" cy="0"/>
          </a:xfrm>
          <a:prstGeom prst="line">
            <a:avLst/>
          </a:prstGeom>
          <a:ln w="12700">
            <a:solidFill>
              <a:srgbClr val="DE681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Freeform 144"/>
          <p:cNvSpPr/>
          <p:nvPr/>
        </p:nvSpPr>
        <p:spPr>
          <a:xfrm>
            <a:off x="3575304" y="6409944"/>
            <a:ext cx="91440" cy="9144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10" y="5"/>
                </a:moveTo>
                <a:lnTo>
                  <a:pt x="0" y="0"/>
                </a:lnTo>
                <a:lnTo>
                  <a:pt x="0" y="10"/>
                </a:lnTo>
                <a:close/>
              </a:path>
            </a:pathLst>
          </a:custGeom>
          <a:solidFill>
            <a:srgbClr val="DE68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58" name="Starch granule — editable vector group"/>
          <p:cNvGrpSpPr/>
          <p:nvPr/>
        </p:nvGrpSpPr>
        <p:grpSpPr>
          <a:xfrm>
            <a:off x="1563624" y="5550408"/>
            <a:ext cx="996696" cy="859536"/>
            <a:chOff x="1563624" y="5550408"/>
            <a:chExt cx="996696" cy="859536"/>
          </a:xfrm>
        </p:grpSpPr>
        <p:sp>
          <p:nvSpPr>
            <p:cNvPr id="146" name="Editable starch granule"/>
            <p:cNvSpPr/>
            <p:nvPr/>
          </p:nvSpPr>
          <p:spPr>
            <a:xfrm>
              <a:off x="1563624" y="5550408"/>
              <a:ext cx="996696" cy="859536"/>
            </a:xfrm>
            <a:prstGeom prst="ellipse">
              <a:avLst/>
            </a:prstGeom>
            <a:ln w="12458" cap="rnd">
              <a:solidFill>
                <a:srgbClr val="163769"/>
              </a:solidFill>
              <a:round/>
            </a:ln>
            <a:gradFill>
              <a:gsLst>
                <a:gs pos="0">
                  <a:srgbClr val="FFFFFF"/>
                </a:gs>
                <a:gs pos="100000">
                  <a:srgbClr val="F7FBFF"/>
                </a:gs>
              </a:gsLst>
              <a:lin ang="2700000" scaled="1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7" name="Freeform 146"/>
            <p:cNvSpPr/>
            <p:nvPr/>
          </p:nvSpPr>
          <p:spPr>
            <a:xfrm>
              <a:off x="1737360" y="5641848"/>
              <a:ext cx="274320" cy="292608"/>
            </a:xfrm>
            <a:custGeom>
              <a:avLst/>
              <a:gdLst/>
              <a:ahLst/>
              <a:cxnLst/>
              <a:rect l="l" t="t" r="r" b="b"/>
              <a:pathLst>
                <a:path w="30" h="32">
                  <a:moveTo>
                    <a:pt x="30" y="32"/>
                  </a:moveTo>
                  <a:lnTo>
                    <a:pt x="29" y="32"/>
                  </a:lnTo>
                  <a:lnTo>
                    <a:pt x="28" y="31"/>
                  </a:lnTo>
                  <a:lnTo>
                    <a:pt x="27" y="30"/>
                  </a:lnTo>
                  <a:lnTo>
                    <a:pt x="26" y="28"/>
                  </a:lnTo>
                  <a:lnTo>
                    <a:pt x="25" y="27"/>
                  </a:lnTo>
                  <a:lnTo>
                    <a:pt x="24" y="26"/>
                  </a:lnTo>
                  <a:lnTo>
                    <a:pt x="22" y="25"/>
                  </a:lnTo>
                  <a:lnTo>
                    <a:pt x="21" y="24"/>
                  </a:lnTo>
                  <a:lnTo>
                    <a:pt x="20" y="23"/>
                  </a:lnTo>
                  <a:lnTo>
                    <a:pt x="19" y="22"/>
                  </a:lnTo>
                  <a:lnTo>
                    <a:pt x="19" y="22"/>
                  </a:lnTo>
                  <a:lnTo>
                    <a:pt x="18" y="22"/>
                  </a:lnTo>
                  <a:lnTo>
                    <a:pt x="17" y="22"/>
                  </a:lnTo>
                  <a:lnTo>
                    <a:pt x="16" y="22"/>
                  </a:lnTo>
                  <a:lnTo>
                    <a:pt x="16" y="21"/>
                  </a:lnTo>
                  <a:lnTo>
                    <a:pt x="15" y="21"/>
                  </a:lnTo>
                  <a:lnTo>
                    <a:pt x="14" y="21"/>
                  </a:lnTo>
                  <a:lnTo>
                    <a:pt x="14" y="20"/>
                  </a:lnTo>
                  <a:lnTo>
                    <a:pt x="13" y="19"/>
                  </a:lnTo>
                  <a:lnTo>
                    <a:pt x="13" y="18"/>
                  </a:lnTo>
                  <a:lnTo>
                    <a:pt x="12" y="17"/>
                  </a:lnTo>
                  <a:lnTo>
                    <a:pt x="12" y="15"/>
                  </a:lnTo>
                  <a:lnTo>
                    <a:pt x="12" y="13"/>
                  </a:lnTo>
                  <a:lnTo>
                    <a:pt x="11" y="12"/>
                  </a:lnTo>
                  <a:lnTo>
                    <a:pt x="11" y="10"/>
                  </a:lnTo>
                  <a:lnTo>
                    <a:pt x="10" y="9"/>
                  </a:lnTo>
                  <a:lnTo>
                    <a:pt x="9" y="8"/>
                  </a:lnTo>
                  <a:lnTo>
                    <a:pt x="8" y="7"/>
                  </a:lnTo>
                  <a:lnTo>
                    <a:pt x="7" y="6"/>
                  </a:lnTo>
                  <a:lnTo>
                    <a:pt x="6" y="5"/>
                  </a:lnTo>
                  <a:lnTo>
                    <a:pt x="5" y="4"/>
                  </a:lnTo>
                  <a:lnTo>
                    <a:pt x="4" y="3"/>
                  </a:lnTo>
                  <a:lnTo>
                    <a:pt x="2" y="2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noFill/>
            <a:ln w="12458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8" name="Freeform 147"/>
            <p:cNvSpPr/>
            <p:nvPr/>
          </p:nvSpPr>
          <p:spPr>
            <a:xfrm>
              <a:off x="2020824" y="5605272"/>
              <a:ext cx="118872" cy="310896"/>
            </a:xfrm>
            <a:custGeom>
              <a:avLst/>
              <a:gdLst/>
              <a:ahLst/>
              <a:cxnLst/>
              <a:rect l="l" t="t" r="r" b="b"/>
              <a:pathLst>
                <a:path w="13" h="34">
                  <a:moveTo>
                    <a:pt x="0" y="34"/>
                  </a:moveTo>
                  <a:lnTo>
                    <a:pt x="1" y="34"/>
                  </a:lnTo>
                  <a:lnTo>
                    <a:pt x="1" y="33"/>
                  </a:lnTo>
                  <a:lnTo>
                    <a:pt x="2" y="32"/>
                  </a:lnTo>
                  <a:lnTo>
                    <a:pt x="3" y="31"/>
                  </a:lnTo>
                  <a:lnTo>
                    <a:pt x="4" y="30"/>
                  </a:lnTo>
                  <a:lnTo>
                    <a:pt x="5" y="29"/>
                  </a:lnTo>
                  <a:lnTo>
                    <a:pt x="6" y="27"/>
                  </a:lnTo>
                  <a:lnTo>
                    <a:pt x="7" y="26"/>
                  </a:lnTo>
                  <a:lnTo>
                    <a:pt x="8" y="25"/>
                  </a:lnTo>
                  <a:lnTo>
                    <a:pt x="9" y="24"/>
                  </a:lnTo>
                  <a:lnTo>
                    <a:pt x="9" y="23"/>
                  </a:lnTo>
                  <a:lnTo>
                    <a:pt x="10" y="21"/>
                  </a:lnTo>
                  <a:lnTo>
                    <a:pt x="11" y="20"/>
                  </a:lnTo>
                  <a:lnTo>
                    <a:pt x="11" y="18"/>
                  </a:lnTo>
                  <a:lnTo>
                    <a:pt x="12" y="17"/>
                  </a:lnTo>
                  <a:lnTo>
                    <a:pt x="12" y="16"/>
                  </a:lnTo>
                  <a:lnTo>
                    <a:pt x="13" y="14"/>
                  </a:lnTo>
                  <a:lnTo>
                    <a:pt x="13" y="13"/>
                  </a:lnTo>
                  <a:lnTo>
                    <a:pt x="13" y="11"/>
                  </a:lnTo>
                  <a:lnTo>
                    <a:pt x="13" y="10"/>
                  </a:lnTo>
                  <a:lnTo>
                    <a:pt x="13" y="8"/>
                  </a:lnTo>
                  <a:lnTo>
                    <a:pt x="13" y="6"/>
                  </a:lnTo>
                  <a:lnTo>
                    <a:pt x="13" y="5"/>
                  </a:lnTo>
                  <a:lnTo>
                    <a:pt x="13" y="3"/>
                  </a:lnTo>
                  <a:lnTo>
                    <a:pt x="12" y="2"/>
                  </a:lnTo>
                  <a:lnTo>
                    <a:pt x="12" y="1"/>
                  </a:lnTo>
                  <a:lnTo>
                    <a:pt x="12" y="0"/>
                  </a:lnTo>
                </a:path>
              </a:pathLst>
            </a:custGeom>
            <a:noFill/>
            <a:ln w="12458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9" name="Freeform 148"/>
            <p:cNvSpPr/>
            <p:nvPr/>
          </p:nvSpPr>
          <p:spPr>
            <a:xfrm>
              <a:off x="2020824" y="5779008"/>
              <a:ext cx="475488" cy="182880"/>
            </a:xfrm>
            <a:custGeom>
              <a:avLst/>
              <a:gdLst/>
              <a:ahLst/>
              <a:cxnLst/>
              <a:rect l="l" t="t" r="r" b="b"/>
              <a:pathLst>
                <a:path w="52" h="20">
                  <a:moveTo>
                    <a:pt x="0" y="20"/>
                  </a:moveTo>
                  <a:lnTo>
                    <a:pt x="1" y="20"/>
                  </a:lnTo>
                  <a:lnTo>
                    <a:pt x="3" y="19"/>
                  </a:lnTo>
                  <a:lnTo>
                    <a:pt x="5" y="18"/>
                  </a:lnTo>
                  <a:lnTo>
                    <a:pt x="7" y="17"/>
                  </a:lnTo>
                  <a:lnTo>
                    <a:pt x="10" y="16"/>
                  </a:lnTo>
                  <a:lnTo>
                    <a:pt x="12" y="15"/>
                  </a:lnTo>
                  <a:lnTo>
                    <a:pt x="14" y="15"/>
                  </a:lnTo>
                  <a:lnTo>
                    <a:pt x="17" y="14"/>
                  </a:lnTo>
                  <a:lnTo>
                    <a:pt x="19" y="14"/>
                  </a:lnTo>
                  <a:lnTo>
                    <a:pt x="20" y="13"/>
                  </a:lnTo>
                  <a:lnTo>
                    <a:pt x="22" y="13"/>
                  </a:lnTo>
                  <a:lnTo>
                    <a:pt x="24" y="13"/>
                  </a:lnTo>
                  <a:lnTo>
                    <a:pt x="25" y="14"/>
                  </a:lnTo>
                  <a:lnTo>
                    <a:pt x="27" y="14"/>
                  </a:lnTo>
                  <a:lnTo>
                    <a:pt x="28" y="14"/>
                  </a:lnTo>
                  <a:lnTo>
                    <a:pt x="30" y="14"/>
                  </a:lnTo>
                  <a:lnTo>
                    <a:pt x="31" y="14"/>
                  </a:lnTo>
                  <a:lnTo>
                    <a:pt x="33" y="14"/>
                  </a:lnTo>
                  <a:lnTo>
                    <a:pt x="34" y="13"/>
                  </a:lnTo>
                  <a:lnTo>
                    <a:pt x="36" y="12"/>
                  </a:lnTo>
                  <a:lnTo>
                    <a:pt x="38" y="12"/>
                  </a:lnTo>
                  <a:lnTo>
                    <a:pt x="39" y="11"/>
                  </a:lnTo>
                  <a:lnTo>
                    <a:pt x="41" y="10"/>
                  </a:lnTo>
                  <a:lnTo>
                    <a:pt x="42" y="9"/>
                  </a:lnTo>
                  <a:lnTo>
                    <a:pt x="43" y="8"/>
                  </a:lnTo>
                  <a:lnTo>
                    <a:pt x="45" y="7"/>
                  </a:lnTo>
                  <a:lnTo>
                    <a:pt x="46" y="6"/>
                  </a:lnTo>
                  <a:lnTo>
                    <a:pt x="47" y="5"/>
                  </a:lnTo>
                  <a:lnTo>
                    <a:pt x="48" y="5"/>
                  </a:lnTo>
                  <a:lnTo>
                    <a:pt x="49" y="4"/>
                  </a:lnTo>
                  <a:lnTo>
                    <a:pt x="50" y="3"/>
                  </a:lnTo>
                  <a:lnTo>
                    <a:pt x="50" y="2"/>
                  </a:lnTo>
                  <a:lnTo>
                    <a:pt x="51" y="2"/>
                  </a:lnTo>
                  <a:lnTo>
                    <a:pt x="52" y="1"/>
                  </a:lnTo>
                  <a:lnTo>
                    <a:pt x="52" y="1"/>
                  </a:lnTo>
                  <a:lnTo>
                    <a:pt x="52" y="0"/>
                  </a:lnTo>
                </a:path>
              </a:pathLst>
            </a:custGeom>
            <a:noFill/>
            <a:ln w="12458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0" name="Freeform 149"/>
            <p:cNvSpPr/>
            <p:nvPr/>
          </p:nvSpPr>
          <p:spPr>
            <a:xfrm>
              <a:off x="2039112" y="5989320"/>
              <a:ext cx="493776" cy="182880"/>
            </a:xfrm>
            <a:custGeom>
              <a:avLst/>
              <a:gdLst/>
              <a:ahLst/>
              <a:cxnLst/>
              <a:rect l="l" t="t" r="r" b="b"/>
              <a:pathLst>
                <a:path w="54" h="20">
                  <a:moveTo>
                    <a:pt x="0" y="0"/>
                  </a:moveTo>
                  <a:lnTo>
                    <a:pt x="1" y="1"/>
                  </a:lnTo>
                  <a:lnTo>
                    <a:pt x="3" y="2"/>
                  </a:lnTo>
                  <a:lnTo>
                    <a:pt x="4" y="3"/>
                  </a:lnTo>
                  <a:lnTo>
                    <a:pt x="6" y="4"/>
                  </a:lnTo>
                  <a:lnTo>
                    <a:pt x="8" y="5"/>
                  </a:lnTo>
                  <a:lnTo>
                    <a:pt x="9" y="6"/>
                  </a:lnTo>
                  <a:lnTo>
                    <a:pt x="11" y="7"/>
                  </a:lnTo>
                  <a:lnTo>
                    <a:pt x="13" y="8"/>
                  </a:lnTo>
                  <a:lnTo>
                    <a:pt x="14" y="9"/>
                  </a:lnTo>
                  <a:lnTo>
                    <a:pt x="16" y="10"/>
                  </a:lnTo>
                  <a:lnTo>
                    <a:pt x="17" y="11"/>
                  </a:lnTo>
                  <a:lnTo>
                    <a:pt x="18" y="11"/>
                  </a:lnTo>
                  <a:lnTo>
                    <a:pt x="20" y="12"/>
                  </a:lnTo>
                  <a:lnTo>
                    <a:pt x="21" y="12"/>
                  </a:lnTo>
                  <a:lnTo>
                    <a:pt x="22" y="12"/>
                  </a:lnTo>
                  <a:lnTo>
                    <a:pt x="23" y="13"/>
                  </a:lnTo>
                  <a:lnTo>
                    <a:pt x="25" y="13"/>
                  </a:lnTo>
                  <a:lnTo>
                    <a:pt x="26" y="13"/>
                  </a:lnTo>
                  <a:lnTo>
                    <a:pt x="28" y="13"/>
                  </a:lnTo>
                  <a:lnTo>
                    <a:pt x="30" y="13"/>
                  </a:lnTo>
                  <a:lnTo>
                    <a:pt x="32" y="13"/>
                  </a:lnTo>
                  <a:lnTo>
                    <a:pt x="34" y="13"/>
                  </a:lnTo>
                  <a:lnTo>
                    <a:pt x="36" y="12"/>
                  </a:lnTo>
                  <a:lnTo>
                    <a:pt x="38" y="12"/>
                  </a:lnTo>
                  <a:lnTo>
                    <a:pt x="40" y="12"/>
                  </a:lnTo>
                  <a:lnTo>
                    <a:pt x="42" y="12"/>
                  </a:lnTo>
                  <a:lnTo>
                    <a:pt x="44" y="12"/>
                  </a:lnTo>
                  <a:lnTo>
                    <a:pt x="45" y="13"/>
                  </a:lnTo>
                  <a:lnTo>
                    <a:pt x="47" y="13"/>
                  </a:lnTo>
                  <a:lnTo>
                    <a:pt x="48" y="14"/>
                  </a:lnTo>
                  <a:lnTo>
                    <a:pt x="49" y="15"/>
                  </a:lnTo>
                  <a:lnTo>
                    <a:pt x="50" y="16"/>
                  </a:lnTo>
                  <a:lnTo>
                    <a:pt x="51" y="17"/>
                  </a:lnTo>
                  <a:lnTo>
                    <a:pt x="52" y="18"/>
                  </a:lnTo>
                  <a:lnTo>
                    <a:pt x="53" y="19"/>
                  </a:lnTo>
                  <a:lnTo>
                    <a:pt x="54" y="20"/>
                  </a:lnTo>
                </a:path>
              </a:pathLst>
            </a:custGeom>
            <a:noFill/>
            <a:ln w="12458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" name="Freeform 150"/>
            <p:cNvSpPr/>
            <p:nvPr/>
          </p:nvSpPr>
          <p:spPr>
            <a:xfrm>
              <a:off x="1892808" y="6025896"/>
              <a:ext cx="128016" cy="338328"/>
            </a:xfrm>
            <a:custGeom>
              <a:avLst/>
              <a:gdLst/>
              <a:ahLst/>
              <a:cxnLst/>
              <a:rect l="l" t="t" r="r" b="b"/>
              <a:pathLst>
                <a:path w="14" h="37">
                  <a:moveTo>
                    <a:pt x="14" y="0"/>
                  </a:moveTo>
                  <a:lnTo>
                    <a:pt x="13" y="1"/>
                  </a:lnTo>
                  <a:lnTo>
                    <a:pt x="13" y="2"/>
                  </a:lnTo>
                  <a:lnTo>
                    <a:pt x="11" y="4"/>
                  </a:lnTo>
                  <a:lnTo>
                    <a:pt x="10" y="6"/>
                  </a:lnTo>
                  <a:lnTo>
                    <a:pt x="9" y="7"/>
                  </a:lnTo>
                  <a:lnTo>
                    <a:pt x="8" y="9"/>
                  </a:lnTo>
                  <a:lnTo>
                    <a:pt x="7" y="11"/>
                  </a:lnTo>
                  <a:lnTo>
                    <a:pt x="6" y="13"/>
                  </a:lnTo>
                  <a:lnTo>
                    <a:pt x="5" y="15"/>
                  </a:lnTo>
                  <a:lnTo>
                    <a:pt x="5" y="16"/>
                  </a:lnTo>
                  <a:lnTo>
                    <a:pt x="5" y="17"/>
                  </a:lnTo>
                  <a:lnTo>
                    <a:pt x="6" y="19"/>
                  </a:lnTo>
                  <a:lnTo>
                    <a:pt x="6" y="20"/>
                  </a:lnTo>
                  <a:lnTo>
                    <a:pt x="7" y="21"/>
                  </a:lnTo>
                  <a:lnTo>
                    <a:pt x="7" y="22"/>
                  </a:lnTo>
                  <a:lnTo>
                    <a:pt x="8" y="24"/>
                  </a:lnTo>
                  <a:lnTo>
                    <a:pt x="8" y="25"/>
                  </a:lnTo>
                  <a:lnTo>
                    <a:pt x="8" y="26"/>
                  </a:lnTo>
                  <a:lnTo>
                    <a:pt x="7" y="27"/>
                  </a:lnTo>
                  <a:lnTo>
                    <a:pt x="6" y="29"/>
                  </a:lnTo>
                  <a:lnTo>
                    <a:pt x="6" y="30"/>
                  </a:lnTo>
                  <a:lnTo>
                    <a:pt x="4" y="32"/>
                  </a:lnTo>
                  <a:lnTo>
                    <a:pt x="3" y="33"/>
                  </a:lnTo>
                  <a:lnTo>
                    <a:pt x="2" y="34"/>
                  </a:lnTo>
                  <a:lnTo>
                    <a:pt x="1" y="36"/>
                  </a:lnTo>
                  <a:lnTo>
                    <a:pt x="1" y="37"/>
                  </a:lnTo>
                  <a:lnTo>
                    <a:pt x="0" y="37"/>
                  </a:lnTo>
                </a:path>
              </a:pathLst>
            </a:custGeom>
            <a:noFill/>
            <a:ln w="12458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2" name="Freeform 151"/>
            <p:cNvSpPr/>
            <p:nvPr/>
          </p:nvSpPr>
          <p:spPr>
            <a:xfrm>
              <a:off x="1609344" y="5989320"/>
              <a:ext cx="384048" cy="128016"/>
            </a:xfrm>
            <a:custGeom>
              <a:avLst/>
              <a:gdLst/>
              <a:ahLst/>
              <a:cxnLst/>
              <a:rect l="l" t="t" r="r" b="b"/>
              <a:pathLst>
                <a:path w="42" h="14">
                  <a:moveTo>
                    <a:pt x="42" y="0"/>
                  </a:moveTo>
                  <a:lnTo>
                    <a:pt x="41" y="0"/>
                  </a:lnTo>
                  <a:lnTo>
                    <a:pt x="40" y="1"/>
                  </a:lnTo>
                  <a:lnTo>
                    <a:pt x="38" y="1"/>
                  </a:lnTo>
                  <a:lnTo>
                    <a:pt x="36" y="2"/>
                  </a:lnTo>
                  <a:lnTo>
                    <a:pt x="35" y="2"/>
                  </a:lnTo>
                  <a:lnTo>
                    <a:pt x="33" y="3"/>
                  </a:lnTo>
                  <a:lnTo>
                    <a:pt x="31" y="3"/>
                  </a:lnTo>
                  <a:lnTo>
                    <a:pt x="29" y="4"/>
                  </a:lnTo>
                  <a:lnTo>
                    <a:pt x="28" y="5"/>
                  </a:lnTo>
                  <a:lnTo>
                    <a:pt x="26" y="5"/>
                  </a:lnTo>
                  <a:lnTo>
                    <a:pt x="25" y="6"/>
                  </a:lnTo>
                  <a:lnTo>
                    <a:pt x="24" y="8"/>
                  </a:lnTo>
                  <a:lnTo>
                    <a:pt x="22" y="9"/>
                  </a:lnTo>
                  <a:lnTo>
                    <a:pt x="21" y="10"/>
                  </a:lnTo>
                  <a:lnTo>
                    <a:pt x="20" y="11"/>
                  </a:lnTo>
                  <a:lnTo>
                    <a:pt x="19" y="12"/>
                  </a:lnTo>
                  <a:lnTo>
                    <a:pt x="17" y="13"/>
                  </a:lnTo>
                  <a:lnTo>
                    <a:pt x="16" y="13"/>
                  </a:lnTo>
                  <a:lnTo>
                    <a:pt x="14" y="13"/>
                  </a:lnTo>
                  <a:lnTo>
                    <a:pt x="12" y="14"/>
                  </a:lnTo>
                  <a:lnTo>
                    <a:pt x="10" y="13"/>
                  </a:lnTo>
                  <a:lnTo>
                    <a:pt x="8" y="13"/>
                  </a:lnTo>
                  <a:lnTo>
                    <a:pt x="6" y="13"/>
                  </a:lnTo>
                  <a:lnTo>
                    <a:pt x="5" y="13"/>
                  </a:lnTo>
                  <a:lnTo>
                    <a:pt x="3" y="12"/>
                  </a:lnTo>
                  <a:lnTo>
                    <a:pt x="1" y="12"/>
                  </a:lnTo>
                  <a:lnTo>
                    <a:pt x="0" y="12"/>
                  </a:lnTo>
                </a:path>
              </a:pathLst>
            </a:custGeom>
            <a:noFill/>
            <a:ln w="12458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" name="Freeform 152"/>
            <p:cNvSpPr/>
            <p:nvPr/>
          </p:nvSpPr>
          <p:spPr>
            <a:xfrm>
              <a:off x="1700784" y="6099048"/>
              <a:ext cx="73152" cy="192024"/>
            </a:xfrm>
            <a:custGeom>
              <a:avLst/>
              <a:gdLst/>
              <a:ahLst/>
              <a:cxnLst/>
              <a:rect l="l" t="t" r="r" b="b"/>
              <a:pathLst>
                <a:path w="8" h="21">
                  <a:moveTo>
                    <a:pt x="8" y="0"/>
                  </a:moveTo>
                  <a:lnTo>
                    <a:pt x="8" y="1"/>
                  </a:lnTo>
                  <a:lnTo>
                    <a:pt x="8" y="2"/>
                  </a:lnTo>
                  <a:lnTo>
                    <a:pt x="8" y="4"/>
                  </a:lnTo>
                  <a:lnTo>
                    <a:pt x="8" y="5"/>
                  </a:lnTo>
                  <a:lnTo>
                    <a:pt x="8" y="7"/>
                  </a:lnTo>
                  <a:lnTo>
                    <a:pt x="8" y="9"/>
                  </a:lnTo>
                  <a:lnTo>
                    <a:pt x="8" y="11"/>
                  </a:lnTo>
                  <a:lnTo>
                    <a:pt x="8" y="12"/>
                  </a:lnTo>
                  <a:lnTo>
                    <a:pt x="8" y="13"/>
                  </a:lnTo>
                  <a:lnTo>
                    <a:pt x="7" y="14"/>
                  </a:lnTo>
                  <a:lnTo>
                    <a:pt x="7" y="16"/>
                  </a:lnTo>
                  <a:lnTo>
                    <a:pt x="6" y="17"/>
                  </a:lnTo>
                  <a:lnTo>
                    <a:pt x="5" y="17"/>
                  </a:lnTo>
                  <a:lnTo>
                    <a:pt x="4" y="18"/>
                  </a:lnTo>
                  <a:lnTo>
                    <a:pt x="3" y="19"/>
                  </a:lnTo>
                  <a:lnTo>
                    <a:pt x="2" y="20"/>
                  </a:lnTo>
                  <a:lnTo>
                    <a:pt x="1" y="20"/>
                  </a:lnTo>
                  <a:lnTo>
                    <a:pt x="0" y="21"/>
                  </a:lnTo>
                </a:path>
              </a:pathLst>
            </a:custGeom>
            <a:noFill/>
            <a:ln w="12458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" name="Freeform 153"/>
            <p:cNvSpPr/>
            <p:nvPr/>
          </p:nvSpPr>
          <p:spPr>
            <a:xfrm>
              <a:off x="2212848" y="5687568"/>
              <a:ext cx="100584" cy="219456"/>
            </a:xfrm>
            <a:custGeom>
              <a:avLst/>
              <a:gdLst/>
              <a:ahLst/>
              <a:cxnLst/>
              <a:rect l="l" t="t" r="r" b="b"/>
              <a:pathLst>
                <a:path w="11" h="24">
                  <a:moveTo>
                    <a:pt x="0" y="24"/>
                  </a:moveTo>
                  <a:lnTo>
                    <a:pt x="0" y="23"/>
                  </a:lnTo>
                  <a:lnTo>
                    <a:pt x="0" y="22"/>
                  </a:lnTo>
                  <a:lnTo>
                    <a:pt x="0" y="20"/>
                  </a:lnTo>
                  <a:lnTo>
                    <a:pt x="0" y="19"/>
                  </a:lnTo>
                  <a:lnTo>
                    <a:pt x="0" y="17"/>
                  </a:lnTo>
                  <a:lnTo>
                    <a:pt x="0" y="16"/>
                  </a:lnTo>
                  <a:lnTo>
                    <a:pt x="0" y="14"/>
                  </a:lnTo>
                  <a:lnTo>
                    <a:pt x="0" y="13"/>
                  </a:lnTo>
                  <a:lnTo>
                    <a:pt x="1" y="11"/>
                  </a:lnTo>
                  <a:lnTo>
                    <a:pt x="2" y="10"/>
                  </a:lnTo>
                  <a:lnTo>
                    <a:pt x="3" y="9"/>
                  </a:lnTo>
                  <a:lnTo>
                    <a:pt x="4" y="7"/>
                  </a:lnTo>
                  <a:lnTo>
                    <a:pt x="5" y="6"/>
                  </a:lnTo>
                  <a:lnTo>
                    <a:pt x="7" y="4"/>
                  </a:lnTo>
                  <a:lnTo>
                    <a:pt x="8" y="3"/>
                  </a:lnTo>
                  <a:lnTo>
                    <a:pt x="9" y="2"/>
                  </a:lnTo>
                  <a:lnTo>
                    <a:pt x="10" y="1"/>
                  </a:lnTo>
                  <a:lnTo>
                    <a:pt x="11" y="0"/>
                  </a:lnTo>
                </a:path>
              </a:pathLst>
            </a:custGeom>
            <a:noFill/>
            <a:ln w="12458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5" name="Freeform 154"/>
            <p:cNvSpPr/>
            <p:nvPr/>
          </p:nvSpPr>
          <p:spPr>
            <a:xfrm>
              <a:off x="2249424" y="6108192"/>
              <a:ext cx="73152" cy="228600"/>
            </a:xfrm>
            <a:custGeom>
              <a:avLst/>
              <a:gdLst/>
              <a:ahLst/>
              <a:cxnLst/>
              <a:rect l="l" t="t" r="r" b="b"/>
              <a:pathLst>
                <a:path w="8" h="25">
                  <a:moveTo>
                    <a:pt x="3" y="0"/>
                  </a:moveTo>
                  <a:lnTo>
                    <a:pt x="3" y="1"/>
                  </a:lnTo>
                  <a:lnTo>
                    <a:pt x="3" y="2"/>
                  </a:lnTo>
                  <a:lnTo>
                    <a:pt x="2" y="3"/>
                  </a:lnTo>
                  <a:lnTo>
                    <a:pt x="2" y="5"/>
                  </a:lnTo>
                  <a:lnTo>
                    <a:pt x="1" y="6"/>
                  </a:lnTo>
                  <a:lnTo>
                    <a:pt x="1" y="8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2"/>
                  </a:lnTo>
                  <a:lnTo>
                    <a:pt x="1" y="14"/>
                  </a:lnTo>
                  <a:lnTo>
                    <a:pt x="1" y="15"/>
                  </a:lnTo>
                  <a:lnTo>
                    <a:pt x="2" y="17"/>
                  </a:lnTo>
                  <a:lnTo>
                    <a:pt x="3" y="18"/>
                  </a:lnTo>
                  <a:lnTo>
                    <a:pt x="4" y="20"/>
                  </a:lnTo>
                  <a:lnTo>
                    <a:pt x="5" y="21"/>
                  </a:lnTo>
                  <a:lnTo>
                    <a:pt x="6" y="23"/>
                  </a:lnTo>
                  <a:lnTo>
                    <a:pt x="7" y="24"/>
                  </a:lnTo>
                  <a:lnTo>
                    <a:pt x="8" y="25"/>
                  </a:lnTo>
                </a:path>
              </a:pathLst>
            </a:custGeom>
            <a:noFill/>
            <a:ln w="12458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6" name="Freeform 155"/>
            <p:cNvSpPr/>
            <p:nvPr/>
          </p:nvSpPr>
          <p:spPr>
            <a:xfrm>
              <a:off x="1636776" y="5779008"/>
              <a:ext cx="228600" cy="64008"/>
            </a:xfrm>
            <a:custGeom>
              <a:avLst/>
              <a:gdLst/>
              <a:ahLst/>
              <a:cxnLst/>
              <a:rect l="l" t="t" r="r" b="b"/>
              <a:pathLst>
                <a:path w="25" h="7">
                  <a:moveTo>
                    <a:pt x="25" y="5"/>
                  </a:moveTo>
                  <a:lnTo>
                    <a:pt x="24" y="5"/>
                  </a:lnTo>
                  <a:lnTo>
                    <a:pt x="23" y="6"/>
                  </a:lnTo>
                  <a:lnTo>
                    <a:pt x="22" y="6"/>
                  </a:lnTo>
                  <a:lnTo>
                    <a:pt x="20" y="6"/>
                  </a:lnTo>
                  <a:lnTo>
                    <a:pt x="19" y="7"/>
                  </a:lnTo>
                  <a:lnTo>
                    <a:pt x="17" y="7"/>
                  </a:lnTo>
                  <a:lnTo>
                    <a:pt x="16" y="7"/>
                  </a:lnTo>
                  <a:lnTo>
                    <a:pt x="14" y="7"/>
                  </a:lnTo>
                  <a:lnTo>
                    <a:pt x="13" y="7"/>
                  </a:lnTo>
                  <a:lnTo>
                    <a:pt x="11" y="7"/>
                  </a:lnTo>
                  <a:lnTo>
                    <a:pt x="10" y="6"/>
                  </a:lnTo>
                  <a:lnTo>
                    <a:pt x="8" y="5"/>
                  </a:lnTo>
                  <a:lnTo>
                    <a:pt x="6" y="4"/>
                  </a:lnTo>
                  <a:lnTo>
                    <a:pt x="5" y="3"/>
                  </a:lnTo>
                  <a:lnTo>
                    <a:pt x="3" y="2"/>
                  </a:lnTo>
                  <a:lnTo>
                    <a:pt x="2" y="2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noFill/>
            <a:ln w="12458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" name="Oval 156"/>
            <p:cNvSpPr/>
            <p:nvPr/>
          </p:nvSpPr>
          <p:spPr>
            <a:xfrm>
              <a:off x="1563624" y="5550408"/>
              <a:ext cx="996696" cy="859536"/>
            </a:xfrm>
            <a:prstGeom prst="ellipse">
              <a:avLst/>
            </a:prstGeom>
            <a:noFill/>
            <a:ln w="12458" cap="rnd">
              <a:solidFill>
                <a:srgbClr val="163769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59" name="Connector 158"/>
          <p:cNvCxnSpPr/>
          <p:nvPr/>
        </p:nvCxnSpPr>
        <p:spPr>
          <a:xfrm flipH="1">
            <a:off x="987552" y="6400800"/>
            <a:ext cx="640080" cy="429768"/>
          </a:xfrm>
          <a:prstGeom prst="line">
            <a:avLst/>
          </a:prstGeom>
          <a:ln w="762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2322576" y="6409944"/>
            <a:ext cx="896112" cy="402336"/>
          </a:xfrm>
          <a:prstGeom prst="line">
            <a:avLst/>
          </a:prstGeom>
          <a:ln w="762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1" name="淀粉_v2_氢键化学结构放大（参考图复刻，可替换）" descr="淀粉_v2_氢键化学结构放大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6702552"/>
            <a:ext cx="2496312" cy="960120"/>
          </a:xfrm>
          <a:prstGeom prst="rect">
            <a:avLst/>
          </a:prstGeom>
        </p:spPr>
      </p:pic>
      <p:sp>
        <p:nvSpPr>
          <p:cNvPr id="162" name="Oval 161"/>
          <p:cNvSpPr/>
          <p:nvPr/>
        </p:nvSpPr>
        <p:spPr>
          <a:xfrm>
            <a:off x="740664" y="6601968"/>
            <a:ext cx="2761488" cy="1133856"/>
          </a:xfrm>
          <a:prstGeom prst="ellipse">
            <a:avLst/>
          </a:prstGeom>
          <a:noFill/>
          <a:ln w="7620" cap="rnd">
            <a:solidFill>
              <a:srgbClr val="333333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ounded Rectangle 162"/>
          <p:cNvSpPr/>
          <p:nvPr/>
        </p:nvSpPr>
        <p:spPr>
          <a:xfrm>
            <a:off x="3172968" y="6519672"/>
            <a:ext cx="365760" cy="320040"/>
          </a:xfrm>
          <a:prstGeom prst="roundRect">
            <a:avLst>
              <a:gd name="adj" fmla="val 14000"/>
            </a:avLst>
          </a:prstGeom>
          <a:ln w="10160" cap="rnd">
            <a:solidFill>
              <a:srgbClr val="A84400"/>
            </a:solidFill>
            <a:round/>
          </a:ln>
          <a:gradFill>
            <a:gsLst>
              <a:gs pos="0">
                <a:srgbClr val="FCA13A"/>
              </a:gs>
              <a:gs pos="100000">
                <a:srgbClr val="CD4C00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4" name="Connector 163"/>
          <p:cNvCxnSpPr/>
          <p:nvPr/>
        </p:nvCxnSpPr>
        <p:spPr>
          <a:xfrm>
            <a:off x="3236976" y="6565392"/>
            <a:ext cx="237744" cy="0"/>
          </a:xfrm>
          <a:prstGeom prst="line">
            <a:avLst/>
          </a:prstGeom>
          <a:ln w="12700">
            <a:solidFill>
              <a:srgbClr val="FFB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+"/>
          <p:cNvSpPr txBox="1"/>
          <p:nvPr/>
        </p:nvSpPr>
        <p:spPr>
          <a:xfrm>
            <a:off x="3182112" y="6561277"/>
            <a:ext cx="34747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Times New Roman"/>
              </a:defRPr>
            </a:pPr>
            <a:r>
              <a:t>+</a:t>
            </a:r>
          </a:p>
        </p:txBody>
      </p:sp>
      <p:sp>
        <p:nvSpPr>
          <p:cNvPr id="166" name="Native starch structure (ordered)"/>
          <p:cNvSpPr txBox="1"/>
          <p:nvPr/>
        </p:nvSpPr>
        <p:spPr>
          <a:xfrm>
            <a:off x="4288536" y="4562856"/>
            <a:ext cx="204825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A6DB4"/>
                </a:solidFill>
                <a:latin typeface="Times New Roman"/>
              </a:defRPr>
            </a:pPr>
            <a:r>
              <a:t>Native starch structure</a:t>
            </a:r>
          </a:p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A6DB4"/>
                </a:solidFill>
                <a:latin typeface="Times New Roman"/>
              </a:defRPr>
            </a:pPr>
            <a:r>
              <a:t>(ordered)</a:t>
            </a:r>
          </a:p>
        </p:txBody>
      </p:sp>
      <p:sp>
        <p:nvSpPr>
          <p:cNvPr id="167" name="Disrupted starch structure (disordered)"/>
          <p:cNvSpPr txBox="1"/>
          <p:nvPr/>
        </p:nvSpPr>
        <p:spPr>
          <a:xfrm>
            <a:off x="7040880" y="4562856"/>
            <a:ext cx="2258568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A6DB4"/>
                </a:solidFill>
                <a:latin typeface="Times New Roman"/>
              </a:defRPr>
            </a:pPr>
            <a:r>
              <a:t>Disrupted starch structure</a:t>
            </a:r>
          </a:p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A6DB4"/>
                </a:solidFill>
                <a:latin typeface="Times New Roman"/>
              </a:defRPr>
            </a:pPr>
            <a:r>
              <a:t>(disordered)</a:t>
            </a:r>
          </a:p>
        </p:txBody>
      </p:sp>
      <p:pic>
        <p:nvPicPr>
          <p:cNvPr id="168" name="淀粉_v2_有序双螺旋（参考图复刻，可替换）" descr="淀粉_v2_有序双螺旋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9432" y="5266944"/>
            <a:ext cx="1289304" cy="868680"/>
          </a:xfrm>
          <a:prstGeom prst="rect">
            <a:avLst/>
          </a:prstGeom>
        </p:spPr>
      </p:pic>
      <p:sp>
        <p:nvSpPr>
          <p:cNvPr id="169" name="Oval 168"/>
          <p:cNvSpPr/>
          <p:nvPr/>
        </p:nvSpPr>
        <p:spPr>
          <a:xfrm>
            <a:off x="4334256" y="5084064"/>
            <a:ext cx="1801368" cy="1307592"/>
          </a:xfrm>
          <a:prstGeom prst="ellipse">
            <a:avLst/>
          </a:prstGeom>
          <a:noFill/>
          <a:ln w="7620" cap="rnd">
            <a:solidFill>
              <a:srgbClr val="253E66"/>
            </a:solidFill>
            <a:prstDash val="dash"/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0" name="淀粉_v2_无序链与离子作用（参考图复刻，可替换）" descr="淀粉_v2_无序链与离子作用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5102352"/>
            <a:ext cx="1874519" cy="1271016"/>
          </a:xfrm>
          <a:prstGeom prst="rect">
            <a:avLst/>
          </a:prstGeom>
        </p:spPr>
      </p:pic>
      <p:sp>
        <p:nvSpPr>
          <p:cNvPr id="171" name="Oval 170"/>
          <p:cNvSpPr/>
          <p:nvPr/>
        </p:nvSpPr>
        <p:spPr>
          <a:xfrm>
            <a:off x="7260336" y="5065776"/>
            <a:ext cx="1956816" cy="1325880"/>
          </a:xfrm>
          <a:prstGeom prst="ellipse">
            <a:avLst/>
          </a:prstGeom>
          <a:noFill/>
          <a:ln w="7620" cap="rnd">
            <a:solidFill>
              <a:srgbClr val="253E66"/>
            </a:solidFill>
            <a:prstDash val="dash"/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2" name="Connector 171"/>
          <p:cNvCxnSpPr/>
          <p:nvPr/>
        </p:nvCxnSpPr>
        <p:spPr>
          <a:xfrm>
            <a:off x="4407408" y="6080760"/>
            <a:ext cx="182880" cy="576072"/>
          </a:xfrm>
          <a:prstGeom prst="line">
            <a:avLst/>
          </a:prstGeom>
          <a:ln w="7620">
            <a:solidFill>
              <a:srgbClr val="4545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H="1">
            <a:off x="5248656" y="6291072"/>
            <a:ext cx="484632" cy="365760"/>
          </a:xfrm>
          <a:prstGeom prst="line">
            <a:avLst/>
          </a:prstGeom>
          <a:ln w="7620">
            <a:solidFill>
              <a:srgbClr val="4545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6" name="Starch granule — editable vector group"/>
          <p:cNvGrpSpPr/>
          <p:nvPr/>
        </p:nvGrpSpPr>
        <p:grpSpPr>
          <a:xfrm>
            <a:off x="4480560" y="6473952"/>
            <a:ext cx="877824" cy="804672"/>
            <a:chOff x="4480560" y="6473952"/>
            <a:chExt cx="877824" cy="804672"/>
          </a:xfrm>
        </p:grpSpPr>
        <p:sp>
          <p:nvSpPr>
            <p:cNvPr id="174" name="Editable starch granule"/>
            <p:cNvSpPr/>
            <p:nvPr/>
          </p:nvSpPr>
          <p:spPr>
            <a:xfrm>
              <a:off x="4480560" y="6473952"/>
              <a:ext cx="877824" cy="804672"/>
            </a:xfrm>
            <a:prstGeom prst="ellipse">
              <a:avLst/>
            </a:prstGeom>
            <a:ln w="10972" cap="rnd">
              <a:solidFill>
                <a:srgbClr val="163769"/>
              </a:solidFill>
              <a:round/>
            </a:ln>
            <a:gradFill>
              <a:gsLst>
                <a:gs pos="0">
                  <a:srgbClr val="FFFFFF"/>
                </a:gs>
                <a:gs pos="100000">
                  <a:srgbClr val="F7FBFF"/>
                </a:gs>
              </a:gsLst>
              <a:lin ang="2700000" scaled="1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" name="Freeform 174"/>
            <p:cNvSpPr/>
            <p:nvPr/>
          </p:nvSpPr>
          <p:spPr>
            <a:xfrm>
              <a:off x="4965192" y="6565392"/>
              <a:ext cx="246888" cy="274320"/>
            </a:xfrm>
            <a:custGeom>
              <a:avLst/>
              <a:gdLst/>
              <a:ahLst/>
              <a:cxnLst/>
              <a:rect l="l" t="t" r="r" b="b"/>
              <a:pathLst>
                <a:path w="27" h="30">
                  <a:moveTo>
                    <a:pt x="0" y="30"/>
                  </a:moveTo>
                  <a:lnTo>
                    <a:pt x="0" y="29"/>
                  </a:lnTo>
                  <a:lnTo>
                    <a:pt x="1" y="28"/>
                  </a:lnTo>
                  <a:lnTo>
                    <a:pt x="2" y="27"/>
                  </a:lnTo>
                  <a:lnTo>
                    <a:pt x="3" y="26"/>
                  </a:lnTo>
                  <a:lnTo>
                    <a:pt x="4" y="25"/>
                  </a:lnTo>
                  <a:lnTo>
                    <a:pt x="5" y="24"/>
                  </a:lnTo>
                  <a:lnTo>
                    <a:pt x="7" y="23"/>
                  </a:lnTo>
                  <a:lnTo>
                    <a:pt x="8" y="22"/>
                  </a:lnTo>
                  <a:lnTo>
                    <a:pt x="8" y="21"/>
                  </a:lnTo>
                  <a:lnTo>
                    <a:pt x="9" y="20"/>
                  </a:lnTo>
                  <a:lnTo>
                    <a:pt x="10" y="20"/>
                  </a:lnTo>
                  <a:lnTo>
                    <a:pt x="11" y="20"/>
                  </a:lnTo>
                  <a:lnTo>
                    <a:pt x="11" y="20"/>
                  </a:lnTo>
                  <a:lnTo>
                    <a:pt x="12" y="20"/>
                  </a:lnTo>
                  <a:lnTo>
                    <a:pt x="13" y="19"/>
                  </a:lnTo>
                  <a:lnTo>
                    <a:pt x="13" y="19"/>
                  </a:lnTo>
                  <a:lnTo>
                    <a:pt x="14" y="19"/>
                  </a:lnTo>
                  <a:lnTo>
                    <a:pt x="14" y="18"/>
                  </a:lnTo>
                  <a:lnTo>
                    <a:pt x="15" y="17"/>
                  </a:lnTo>
                  <a:lnTo>
                    <a:pt x="15" y="16"/>
                  </a:lnTo>
                  <a:lnTo>
                    <a:pt x="15" y="15"/>
                  </a:lnTo>
                  <a:lnTo>
                    <a:pt x="16" y="13"/>
                  </a:lnTo>
                  <a:lnTo>
                    <a:pt x="16" y="12"/>
                  </a:lnTo>
                  <a:lnTo>
                    <a:pt x="16" y="11"/>
                  </a:lnTo>
                  <a:lnTo>
                    <a:pt x="17" y="9"/>
                  </a:lnTo>
                  <a:lnTo>
                    <a:pt x="17" y="8"/>
                  </a:lnTo>
                  <a:lnTo>
                    <a:pt x="18" y="7"/>
                  </a:lnTo>
                  <a:lnTo>
                    <a:pt x="19" y="6"/>
                  </a:lnTo>
                  <a:lnTo>
                    <a:pt x="20" y="5"/>
                  </a:lnTo>
                  <a:lnTo>
                    <a:pt x="21" y="4"/>
                  </a:lnTo>
                  <a:lnTo>
                    <a:pt x="22" y="3"/>
                  </a:lnTo>
                  <a:lnTo>
                    <a:pt x="23" y="2"/>
                  </a:lnTo>
                  <a:lnTo>
                    <a:pt x="24" y="1"/>
                  </a:lnTo>
                  <a:lnTo>
                    <a:pt x="25" y="1"/>
                  </a:lnTo>
                  <a:lnTo>
                    <a:pt x="26" y="0"/>
                  </a:lnTo>
                  <a:lnTo>
                    <a:pt x="27" y="0"/>
                  </a:lnTo>
                </a:path>
              </a:pathLst>
            </a:custGeom>
            <a:noFill/>
            <a:ln w="10972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6" name="Freeform 175"/>
            <p:cNvSpPr/>
            <p:nvPr/>
          </p:nvSpPr>
          <p:spPr>
            <a:xfrm>
              <a:off x="4846320" y="6519672"/>
              <a:ext cx="109728" cy="301752"/>
            </a:xfrm>
            <a:custGeom>
              <a:avLst/>
              <a:gdLst/>
              <a:ahLst/>
              <a:cxnLst/>
              <a:rect l="l" t="t" r="r" b="b"/>
              <a:pathLst>
                <a:path w="12" h="33">
                  <a:moveTo>
                    <a:pt x="12" y="33"/>
                  </a:moveTo>
                  <a:lnTo>
                    <a:pt x="11" y="32"/>
                  </a:lnTo>
                  <a:lnTo>
                    <a:pt x="11" y="32"/>
                  </a:lnTo>
                  <a:lnTo>
                    <a:pt x="10" y="31"/>
                  </a:lnTo>
                  <a:lnTo>
                    <a:pt x="9" y="30"/>
                  </a:lnTo>
                  <a:lnTo>
                    <a:pt x="8" y="29"/>
                  </a:lnTo>
                  <a:lnTo>
                    <a:pt x="7" y="27"/>
                  </a:lnTo>
                  <a:lnTo>
                    <a:pt x="7" y="26"/>
                  </a:lnTo>
                  <a:lnTo>
                    <a:pt x="6" y="25"/>
                  </a:lnTo>
                  <a:lnTo>
                    <a:pt x="5" y="24"/>
                  </a:lnTo>
                  <a:lnTo>
                    <a:pt x="4" y="23"/>
                  </a:lnTo>
                  <a:lnTo>
                    <a:pt x="4" y="22"/>
                  </a:lnTo>
                  <a:lnTo>
                    <a:pt x="3" y="20"/>
                  </a:lnTo>
                  <a:lnTo>
                    <a:pt x="3" y="19"/>
                  </a:lnTo>
                  <a:lnTo>
                    <a:pt x="2" y="18"/>
                  </a:lnTo>
                  <a:lnTo>
                    <a:pt x="1" y="17"/>
                  </a:lnTo>
                  <a:lnTo>
                    <a:pt x="1" y="15"/>
                  </a:lnTo>
                  <a:lnTo>
                    <a:pt x="1" y="14"/>
                  </a:lnTo>
                  <a:lnTo>
                    <a:pt x="0" y="13"/>
                  </a:lnTo>
                  <a:lnTo>
                    <a:pt x="0" y="11"/>
                  </a:lnTo>
                  <a:lnTo>
                    <a:pt x="0" y="10"/>
                  </a:lnTo>
                  <a:lnTo>
                    <a:pt x="0" y="8"/>
                  </a:lnTo>
                  <a:lnTo>
                    <a:pt x="0" y="7"/>
                  </a:lnTo>
                  <a:lnTo>
                    <a:pt x="1" y="5"/>
                  </a:lnTo>
                  <a:lnTo>
                    <a:pt x="1" y="4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noFill/>
            <a:ln w="10972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7" name="Freeform 176"/>
            <p:cNvSpPr/>
            <p:nvPr/>
          </p:nvSpPr>
          <p:spPr>
            <a:xfrm>
              <a:off x="4535424" y="6693408"/>
              <a:ext cx="420624" cy="164592"/>
            </a:xfrm>
            <a:custGeom>
              <a:avLst/>
              <a:gdLst/>
              <a:ahLst/>
              <a:cxnLst/>
              <a:rect l="l" t="t" r="r" b="b"/>
              <a:pathLst>
                <a:path w="46" h="18">
                  <a:moveTo>
                    <a:pt x="46" y="18"/>
                  </a:moveTo>
                  <a:lnTo>
                    <a:pt x="45" y="18"/>
                  </a:lnTo>
                  <a:lnTo>
                    <a:pt x="43" y="17"/>
                  </a:lnTo>
                  <a:lnTo>
                    <a:pt x="41" y="16"/>
                  </a:lnTo>
                  <a:lnTo>
                    <a:pt x="39" y="16"/>
                  </a:lnTo>
                  <a:lnTo>
                    <a:pt x="37" y="15"/>
                  </a:lnTo>
                  <a:lnTo>
                    <a:pt x="35" y="14"/>
                  </a:lnTo>
                  <a:lnTo>
                    <a:pt x="33" y="13"/>
                  </a:lnTo>
                  <a:lnTo>
                    <a:pt x="31" y="13"/>
                  </a:lnTo>
                  <a:lnTo>
                    <a:pt x="30" y="12"/>
                  </a:lnTo>
                  <a:lnTo>
                    <a:pt x="28" y="12"/>
                  </a:lnTo>
                  <a:lnTo>
                    <a:pt x="26" y="12"/>
                  </a:lnTo>
                  <a:lnTo>
                    <a:pt x="25" y="12"/>
                  </a:lnTo>
                  <a:lnTo>
                    <a:pt x="24" y="12"/>
                  </a:lnTo>
                  <a:lnTo>
                    <a:pt x="22" y="12"/>
                  </a:lnTo>
                  <a:lnTo>
                    <a:pt x="21" y="12"/>
                  </a:lnTo>
                  <a:lnTo>
                    <a:pt x="20" y="12"/>
                  </a:lnTo>
                  <a:lnTo>
                    <a:pt x="18" y="12"/>
                  </a:lnTo>
                  <a:lnTo>
                    <a:pt x="17" y="12"/>
                  </a:lnTo>
                  <a:lnTo>
                    <a:pt x="16" y="12"/>
                  </a:lnTo>
                  <a:lnTo>
                    <a:pt x="14" y="11"/>
                  </a:lnTo>
                  <a:lnTo>
                    <a:pt x="13" y="10"/>
                  </a:lnTo>
                  <a:lnTo>
                    <a:pt x="12" y="9"/>
                  </a:lnTo>
                  <a:lnTo>
                    <a:pt x="10" y="8"/>
                  </a:lnTo>
                  <a:lnTo>
                    <a:pt x="9" y="8"/>
                  </a:lnTo>
                  <a:lnTo>
                    <a:pt x="8" y="7"/>
                  </a:lnTo>
                  <a:lnTo>
                    <a:pt x="7" y="6"/>
                  </a:lnTo>
                  <a:lnTo>
                    <a:pt x="6" y="5"/>
                  </a:lnTo>
                  <a:lnTo>
                    <a:pt x="5" y="4"/>
                  </a:lnTo>
                  <a:lnTo>
                    <a:pt x="4" y="4"/>
                  </a:lnTo>
                  <a:lnTo>
                    <a:pt x="3" y="3"/>
                  </a:lnTo>
                  <a:lnTo>
                    <a:pt x="2" y="2"/>
                  </a:lnTo>
                  <a:lnTo>
                    <a:pt x="2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 w="10972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8" name="Freeform 177"/>
            <p:cNvSpPr/>
            <p:nvPr/>
          </p:nvSpPr>
          <p:spPr>
            <a:xfrm>
              <a:off x="4507992" y="6885432"/>
              <a:ext cx="429768" cy="164592"/>
            </a:xfrm>
            <a:custGeom>
              <a:avLst/>
              <a:gdLst/>
              <a:ahLst/>
              <a:cxnLst/>
              <a:rect l="l" t="t" r="r" b="b"/>
              <a:pathLst>
                <a:path w="47" h="18">
                  <a:moveTo>
                    <a:pt x="47" y="0"/>
                  </a:moveTo>
                  <a:lnTo>
                    <a:pt x="46" y="1"/>
                  </a:lnTo>
                  <a:lnTo>
                    <a:pt x="45" y="1"/>
                  </a:lnTo>
                  <a:lnTo>
                    <a:pt x="44" y="2"/>
                  </a:lnTo>
                  <a:lnTo>
                    <a:pt x="42" y="3"/>
                  </a:lnTo>
                  <a:lnTo>
                    <a:pt x="41" y="5"/>
                  </a:lnTo>
                  <a:lnTo>
                    <a:pt x="39" y="6"/>
                  </a:lnTo>
                  <a:lnTo>
                    <a:pt x="37" y="7"/>
                  </a:lnTo>
                  <a:lnTo>
                    <a:pt x="36" y="8"/>
                  </a:lnTo>
                  <a:lnTo>
                    <a:pt x="34" y="9"/>
                  </a:lnTo>
                  <a:lnTo>
                    <a:pt x="33" y="9"/>
                  </a:lnTo>
                  <a:lnTo>
                    <a:pt x="32" y="10"/>
                  </a:lnTo>
                  <a:lnTo>
                    <a:pt x="31" y="10"/>
                  </a:lnTo>
                  <a:lnTo>
                    <a:pt x="30" y="11"/>
                  </a:lnTo>
                  <a:lnTo>
                    <a:pt x="29" y="11"/>
                  </a:lnTo>
                  <a:lnTo>
                    <a:pt x="28" y="12"/>
                  </a:lnTo>
                  <a:lnTo>
                    <a:pt x="27" y="12"/>
                  </a:lnTo>
                  <a:lnTo>
                    <a:pt x="25" y="12"/>
                  </a:lnTo>
                  <a:lnTo>
                    <a:pt x="24" y="12"/>
                  </a:lnTo>
                  <a:lnTo>
                    <a:pt x="22" y="12"/>
                  </a:lnTo>
                  <a:lnTo>
                    <a:pt x="21" y="12"/>
                  </a:lnTo>
                  <a:lnTo>
                    <a:pt x="19" y="12"/>
                  </a:lnTo>
                  <a:lnTo>
                    <a:pt x="17" y="12"/>
                  </a:lnTo>
                  <a:lnTo>
                    <a:pt x="15" y="11"/>
                  </a:lnTo>
                  <a:lnTo>
                    <a:pt x="13" y="11"/>
                  </a:lnTo>
                  <a:lnTo>
                    <a:pt x="12" y="11"/>
                  </a:lnTo>
                  <a:lnTo>
                    <a:pt x="10" y="11"/>
                  </a:lnTo>
                  <a:lnTo>
                    <a:pt x="9" y="11"/>
                  </a:lnTo>
                  <a:lnTo>
                    <a:pt x="7" y="12"/>
                  </a:lnTo>
                  <a:lnTo>
                    <a:pt x="6" y="12"/>
                  </a:lnTo>
                  <a:lnTo>
                    <a:pt x="5" y="13"/>
                  </a:lnTo>
                  <a:lnTo>
                    <a:pt x="4" y="14"/>
                  </a:lnTo>
                  <a:lnTo>
                    <a:pt x="3" y="15"/>
                  </a:lnTo>
                  <a:lnTo>
                    <a:pt x="2" y="16"/>
                  </a:lnTo>
                  <a:lnTo>
                    <a:pt x="1" y="17"/>
                  </a:lnTo>
                  <a:lnTo>
                    <a:pt x="0" y="18"/>
                  </a:lnTo>
                  <a:lnTo>
                    <a:pt x="0" y="18"/>
                  </a:lnTo>
                </a:path>
              </a:pathLst>
            </a:custGeom>
            <a:noFill/>
            <a:ln w="10972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9" name="Freeform 178"/>
            <p:cNvSpPr/>
            <p:nvPr/>
          </p:nvSpPr>
          <p:spPr>
            <a:xfrm>
              <a:off x="4956048" y="6912864"/>
              <a:ext cx="109728" cy="329184"/>
            </a:xfrm>
            <a:custGeom>
              <a:avLst/>
              <a:gdLst/>
              <a:ahLst/>
              <a:cxnLst/>
              <a:rect l="l" t="t" r="r" b="b"/>
              <a:pathLst>
                <a:path w="12" h="36">
                  <a:moveTo>
                    <a:pt x="0" y="0"/>
                  </a:moveTo>
                  <a:lnTo>
                    <a:pt x="0" y="1"/>
                  </a:lnTo>
                  <a:lnTo>
                    <a:pt x="1" y="3"/>
                  </a:lnTo>
                  <a:lnTo>
                    <a:pt x="2" y="4"/>
                  </a:lnTo>
                  <a:lnTo>
                    <a:pt x="3" y="6"/>
                  </a:lnTo>
                  <a:lnTo>
                    <a:pt x="4" y="8"/>
                  </a:lnTo>
                  <a:lnTo>
                    <a:pt x="5" y="10"/>
                  </a:lnTo>
                  <a:lnTo>
                    <a:pt x="6" y="11"/>
                  </a:lnTo>
                  <a:lnTo>
                    <a:pt x="7" y="13"/>
                  </a:lnTo>
                  <a:lnTo>
                    <a:pt x="8" y="14"/>
                  </a:lnTo>
                  <a:lnTo>
                    <a:pt x="8" y="16"/>
                  </a:lnTo>
                  <a:lnTo>
                    <a:pt x="8" y="17"/>
                  </a:lnTo>
                  <a:lnTo>
                    <a:pt x="7" y="18"/>
                  </a:lnTo>
                  <a:lnTo>
                    <a:pt x="7" y="19"/>
                  </a:lnTo>
                  <a:lnTo>
                    <a:pt x="6" y="21"/>
                  </a:lnTo>
                  <a:lnTo>
                    <a:pt x="6" y="22"/>
                  </a:lnTo>
                  <a:lnTo>
                    <a:pt x="6" y="23"/>
                  </a:lnTo>
                  <a:lnTo>
                    <a:pt x="5" y="24"/>
                  </a:lnTo>
                  <a:lnTo>
                    <a:pt x="6" y="25"/>
                  </a:lnTo>
                  <a:lnTo>
                    <a:pt x="6" y="26"/>
                  </a:lnTo>
                  <a:lnTo>
                    <a:pt x="7" y="28"/>
                  </a:lnTo>
                  <a:lnTo>
                    <a:pt x="7" y="29"/>
                  </a:lnTo>
                  <a:lnTo>
                    <a:pt x="8" y="30"/>
                  </a:lnTo>
                  <a:lnTo>
                    <a:pt x="9" y="32"/>
                  </a:lnTo>
                  <a:lnTo>
                    <a:pt x="10" y="33"/>
                  </a:lnTo>
                  <a:lnTo>
                    <a:pt x="11" y="34"/>
                  </a:lnTo>
                  <a:lnTo>
                    <a:pt x="12" y="35"/>
                  </a:lnTo>
                  <a:lnTo>
                    <a:pt x="12" y="36"/>
                  </a:lnTo>
                </a:path>
              </a:pathLst>
            </a:custGeom>
            <a:noFill/>
            <a:ln w="10972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0" name="Freeform 179"/>
            <p:cNvSpPr/>
            <p:nvPr/>
          </p:nvSpPr>
          <p:spPr>
            <a:xfrm>
              <a:off x="4983480" y="6885432"/>
              <a:ext cx="329184" cy="118872"/>
            </a:xfrm>
            <a:custGeom>
              <a:avLst/>
              <a:gdLst/>
              <a:ahLst/>
              <a:cxnLst/>
              <a:rect l="l" t="t" r="r" b="b"/>
              <a:pathLst>
                <a:path w="36" h="13">
                  <a:moveTo>
                    <a:pt x="0" y="0"/>
                  </a:moveTo>
                  <a:lnTo>
                    <a:pt x="1" y="0"/>
                  </a:lnTo>
                  <a:lnTo>
                    <a:pt x="2" y="0"/>
                  </a:lnTo>
                  <a:lnTo>
                    <a:pt x="3" y="1"/>
                  </a:lnTo>
                  <a:lnTo>
                    <a:pt x="5" y="1"/>
                  </a:lnTo>
                  <a:lnTo>
                    <a:pt x="6" y="2"/>
                  </a:lnTo>
                  <a:lnTo>
                    <a:pt x="8" y="2"/>
                  </a:lnTo>
                  <a:lnTo>
                    <a:pt x="9" y="3"/>
                  </a:lnTo>
                  <a:lnTo>
                    <a:pt x="11" y="4"/>
                  </a:lnTo>
                  <a:lnTo>
                    <a:pt x="12" y="4"/>
                  </a:lnTo>
                  <a:lnTo>
                    <a:pt x="13" y="5"/>
                  </a:lnTo>
                  <a:lnTo>
                    <a:pt x="15" y="6"/>
                  </a:lnTo>
                  <a:lnTo>
                    <a:pt x="16" y="7"/>
                  </a:lnTo>
                  <a:lnTo>
                    <a:pt x="17" y="8"/>
                  </a:lnTo>
                  <a:lnTo>
                    <a:pt x="18" y="9"/>
                  </a:lnTo>
                  <a:lnTo>
                    <a:pt x="19" y="10"/>
                  </a:lnTo>
                  <a:lnTo>
                    <a:pt x="20" y="11"/>
                  </a:lnTo>
                  <a:lnTo>
                    <a:pt x="21" y="12"/>
                  </a:lnTo>
                  <a:lnTo>
                    <a:pt x="23" y="12"/>
                  </a:lnTo>
                  <a:lnTo>
                    <a:pt x="24" y="12"/>
                  </a:lnTo>
                  <a:lnTo>
                    <a:pt x="26" y="13"/>
                  </a:lnTo>
                  <a:lnTo>
                    <a:pt x="28" y="13"/>
                  </a:lnTo>
                  <a:lnTo>
                    <a:pt x="29" y="12"/>
                  </a:lnTo>
                  <a:lnTo>
                    <a:pt x="31" y="12"/>
                  </a:lnTo>
                  <a:lnTo>
                    <a:pt x="33" y="12"/>
                  </a:lnTo>
                  <a:lnTo>
                    <a:pt x="34" y="12"/>
                  </a:lnTo>
                  <a:lnTo>
                    <a:pt x="35" y="11"/>
                  </a:lnTo>
                  <a:lnTo>
                    <a:pt x="36" y="11"/>
                  </a:lnTo>
                </a:path>
              </a:pathLst>
            </a:custGeom>
            <a:noFill/>
            <a:ln w="10972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1" name="Freeform 180"/>
            <p:cNvSpPr/>
            <p:nvPr/>
          </p:nvSpPr>
          <p:spPr>
            <a:xfrm>
              <a:off x="5166360" y="6986016"/>
              <a:ext cx="73152" cy="182880"/>
            </a:xfrm>
            <a:custGeom>
              <a:avLst/>
              <a:gdLst/>
              <a:ahLst/>
              <a:cxnLst/>
              <a:rect l="l" t="t" r="r" b="b"/>
              <a:pathLst>
                <a:path w="8" h="20">
                  <a:moveTo>
                    <a:pt x="1" y="0"/>
                  </a:moveTo>
                  <a:lnTo>
                    <a:pt x="1" y="1"/>
                  </a:lnTo>
                  <a:lnTo>
                    <a:pt x="1" y="2"/>
                  </a:lnTo>
                  <a:lnTo>
                    <a:pt x="1" y="4"/>
                  </a:lnTo>
                  <a:lnTo>
                    <a:pt x="0" y="5"/>
                  </a:lnTo>
                  <a:lnTo>
                    <a:pt x="0" y="7"/>
                  </a:lnTo>
                  <a:lnTo>
                    <a:pt x="0" y="8"/>
                  </a:lnTo>
                  <a:lnTo>
                    <a:pt x="0" y="10"/>
                  </a:lnTo>
                  <a:lnTo>
                    <a:pt x="1" y="11"/>
                  </a:lnTo>
                  <a:lnTo>
                    <a:pt x="1" y="13"/>
                  </a:lnTo>
                  <a:lnTo>
                    <a:pt x="1" y="14"/>
                  </a:lnTo>
                  <a:lnTo>
                    <a:pt x="2" y="15"/>
                  </a:lnTo>
                  <a:lnTo>
                    <a:pt x="3" y="16"/>
                  </a:lnTo>
                  <a:lnTo>
                    <a:pt x="4" y="17"/>
                  </a:lnTo>
                  <a:lnTo>
                    <a:pt x="5" y="17"/>
                  </a:lnTo>
                  <a:lnTo>
                    <a:pt x="6" y="18"/>
                  </a:lnTo>
                  <a:lnTo>
                    <a:pt x="6" y="19"/>
                  </a:lnTo>
                  <a:lnTo>
                    <a:pt x="7" y="19"/>
                  </a:lnTo>
                  <a:lnTo>
                    <a:pt x="8" y="20"/>
                  </a:lnTo>
                </a:path>
              </a:pathLst>
            </a:custGeom>
            <a:noFill/>
            <a:ln w="10972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2" name="Freeform 181"/>
            <p:cNvSpPr/>
            <p:nvPr/>
          </p:nvSpPr>
          <p:spPr>
            <a:xfrm>
              <a:off x="4700016" y="6601968"/>
              <a:ext cx="91440" cy="201168"/>
            </a:xfrm>
            <a:custGeom>
              <a:avLst/>
              <a:gdLst/>
              <a:ahLst/>
              <a:cxnLst/>
              <a:rect l="l" t="t" r="r" b="b"/>
              <a:pathLst>
                <a:path w="10" h="22">
                  <a:moveTo>
                    <a:pt x="10" y="22"/>
                  </a:moveTo>
                  <a:lnTo>
                    <a:pt x="10" y="21"/>
                  </a:lnTo>
                  <a:lnTo>
                    <a:pt x="10" y="20"/>
                  </a:lnTo>
                  <a:lnTo>
                    <a:pt x="10" y="19"/>
                  </a:lnTo>
                  <a:lnTo>
                    <a:pt x="10" y="18"/>
                  </a:lnTo>
                  <a:lnTo>
                    <a:pt x="10" y="16"/>
                  </a:lnTo>
                  <a:lnTo>
                    <a:pt x="10" y="15"/>
                  </a:lnTo>
                  <a:lnTo>
                    <a:pt x="9" y="13"/>
                  </a:lnTo>
                  <a:lnTo>
                    <a:pt x="9" y="12"/>
                  </a:lnTo>
                  <a:lnTo>
                    <a:pt x="9" y="11"/>
                  </a:lnTo>
                  <a:lnTo>
                    <a:pt x="8" y="9"/>
                  </a:lnTo>
                  <a:lnTo>
                    <a:pt x="7" y="8"/>
                  </a:lnTo>
                  <a:lnTo>
                    <a:pt x="6" y="7"/>
                  </a:lnTo>
                  <a:lnTo>
                    <a:pt x="5" y="5"/>
                  </a:lnTo>
                  <a:lnTo>
                    <a:pt x="4" y="4"/>
                  </a:lnTo>
                  <a:lnTo>
                    <a:pt x="3" y="3"/>
                  </a:lnTo>
                  <a:lnTo>
                    <a:pt x="1" y="2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noFill/>
            <a:ln w="10972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3" name="Freeform 182"/>
            <p:cNvSpPr/>
            <p:nvPr/>
          </p:nvSpPr>
          <p:spPr>
            <a:xfrm>
              <a:off x="4690872" y="6995160"/>
              <a:ext cx="64008" cy="210312"/>
            </a:xfrm>
            <a:custGeom>
              <a:avLst/>
              <a:gdLst/>
              <a:ahLst/>
              <a:cxnLst/>
              <a:rect l="l" t="t" r="r" b="b"/>
              <a:pathLst>
                <a:path w="7" h="23">
                  <a:moveTo>
                    <a:pt x="4" y="0"/>
                  </a:moveTo>
                  <a:lnTo>
                    <a:pt x="4" y="1"/>
                  </a:lnTo>
                  <a:lnTo>
                    <a:pt x="5" y="2"/>
                  </a:lnTo>
                  <a:lnTo>
                    <a:pt x="5" y="3"/>
                  </a:lnTo>
                  <a:lnTo>
                    <a:pt x="5" y="4"/>
                  </a:lnTo>
                  <a:lnTo>
                    <a:pt x="6" y="6"/>
                  </a:lnTo>
                  <a:lnTo>
                    <a:pt x="6" y="7"/>
                  </a:lnTo>
                  <a:lnTo>
                    <a:pt x="7" y="9"/>
                  </a:lnTo>
                  <a:lnTo>
                    <a:pt x="7" y="10"/>
                  </a:lnTo>
                  <a:lnTo>
                    <a:pt x="7" y="12"/>
                  </a:lnTo>
                  <a:lnTo>
                    <a:pt x="6" y="13"/>
                  </a:lnTo>
                  <a:lnTo>
                    <a:pt x="6" y="14"/>
                  </a:lnTo>
                  <a:lnTo>
                    <a:pt x="5" y="16"/>
                  </a:lnTo>
                  <a:lnTo>
                    <a:pt x="4" y="17"/>
                  </a:lnTo>
                  <a:lnTo>
                    <a:pt x="3" y="19"/>
                  </a:lnTo>
                  <a:lnTo>
                    <a:pt x="2" y="20"/>
                  </a:lnTo>
                  <a:lnTo>
                    <a:pt x="1" y="21"/>
                  </a:lnTo>
                  <a:lnTo>
                    <a:pt x="1" y="22"/>
                  </a:lnTo>
                  <a:lnTo>
                    <a:pt x="0" y="23"/>
                  </a:lnTo>
                </a:path>
              </a:pathLst>
            </a:custGeom>
            <a:noFill/>
            <a:ln w="10972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4" name="Freeform 183"/>
            <p:cNvSpPr/>
            <p:nvPr/>
          </p:nvSpPr>
          <p:spPr>
            <a:xfrm>
              <a:off x="5093208" y="6693408"/>
              <a:ext cx="201168" cy="54864"/>
            </a:xfrm>
            <a:custGeom>
              <a:avLst/>
              <a:gdLst/>
              <a:ahLst/>
              <a:cxnLst/>
              <a:rect l="l" t="t" r="r" b="b"/>
              <a:pathLst>
                <a:path w="22" h="6">
                  <a:moveTo>
                    <a:pt x="0" y="4"/>
                  </a:moveTo>
                  <a:lnTo>
                    <a:pt x="1" y="4"/>
                  </a:lnTo>
                  <a:lnTo>
                    <a:pt x="2" y="5"/>
                  </a:lnTo>
                  <a:lnTo>
                    <a:pt x="3" y="5"/>
                  </a:lnTo>
                  <a:lnTo>
                    <a:pt x="4" y="5"/>
                  </a:lnTo>
                  <a:lnTo>
                    <a:pt x="5" y="6"/>
                  </a:lnTo>
                  <a:lnTo>
                    <a:pt x="7" y="6"/>
                  </a:lnTo>
                  <a:lnTo>
                    <a:pt x="8" y="6"/>
                  </a:lnTo>
                  <a:lnTo>
                    <a:pt x="9" y="6"/>
                  </a:lnTo>
                  <a:lnTo>
                    <a:pt x="11" y="6"/>
                  </a:lnTo>
                  <a:lnTo>
                    <a:pt x="12" y="6"/>
                  </a:lnTo>
                  <a:lnTo>
                    <a:pt x="13" y="5"/>
                  </a:lnTo>
                  <a:lnTo>
                    <a:pt x="15" y="4"/>
                  </a:lnTo>
                  <a:lnTo>
                    <a:pt x="16" y="3"/>
                  </a:lnTo>
                  <a:lnTo>
                    <a:pt x="18" y="3"/>
                  </a:lnTo>
                  <a:lnTo>
                    <a:pt x="19" y="2"/>
                  </a:lnTo>
                  <a:lnTo>
                    <a:pt x="20" y="1"/>
                  </a:lnTo>
                  <a:lnTo>
                    <a:pt x="22" y="0"/>
                  </a:lnTo>
                  <a:lnTo>
                    <a:pt x="22" y="0"/>
                  </a:lnTo>
                </a:path>
              </a:pathLst>
            </a:custGeom>
            <a:noFill/>
            <a:ln w="10972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5" name="Oval 184"/>
            <p:cNvSpPr/>
            <p:nvPr/>
          </p:nvSpPr>
          <p:spPr>
            <a:xfrm>
              <a:off x="4480560" y="6473952"/>
              <a:ext cx="877824" cy="804672"/>
            </a:xfrm>
            <a:prstGeom prst="ellipse">
              <a:avLst/>
            </a:prstGeom>
            <a:noFill/>
            <a:ln w="10972" cap="rnd">
              <a:solidFill>
                <a:srgbClr val="163769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87" name="Electric field + IL interactions"/>
          <p:cNvSpPr txBox="1"/>
          <p:nvPr/>
        </p:nvSpPr>
        <p:spPr>
          <a:xfrm>
            <a:off x="6199632" y="5559552"/>
            <a:ext cx="1014984" cy="5852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01010"/>
                </a:solidFill>
                <a:latin typeface="Times New Roman"/>
              </a:defRPr>
            </a:pPr>
            <a:r>
              <a:t>Electric field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01010"/>
                </a:solidFill>
                <a:latin typeface="Times New Roman"/>
              </a:defRPr>
            </a:pPr>
            <a:r>
              <a:t>+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01010"/>
                </a:solidFill>
                <a:latin typeface="Times New Roman"/>
              </a:defRPr>
            </a:pPr>
            <a:r>
              <a:t>IL interactions</a:t>
            </a:r>
          </a:p>
        </p:txBody>
      </p:sp>
      <p:sp>
        <p:nvSpPr>
          <p:cNvPr id="188" name="Right Arrow 187"/>
          <p:cNvSpPr/>
          <p:nvPr/>
        </p:nvSpPr>
        <p:spPr>
          <a:xfrm>
            <a:off x="5943600" y="6172200"/>
            <a:ext cx="1426464" cy="310896"/>
          </a:xfrm>
          <a:prstGeom prst="rightArrow">
            <a:avLst/>
          </a:prstGeom>
          <a:ln>
            <a:noFill/>
          </a:ln>
          <a:gradFill>
            <a:gsLst>
              <a:gs pos="0">
                <a:srgbClr val="F8FBFF"/>
              </a:gs>
              <a:gs pos="100000">
                <a:srgbClr val="467FC8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01" name="Starch granule — editable vector group"/>
          <p:cNvGrpSpPr/>
          <p:nvPr/>
        </p:nvGrpSpPr>
        <p:grpSpPr>
          <a:xfrm>
            <a:off x="7315200" y="6501384"/>
            <a:ext cx="795528" cy="795528"/>
            <a:chOff x="7315200" y="6501384"/>
            <a:chExt cx="795528" cy="795528"/>
          </a:xfrm>
        </p:grpSpPr>
        <p:sp>
          <p:nvSpPr>
            <p:cNvPr id="189" name="Editable starch granule"/>
            <p:cNvSpPr/>
            <p:nvPr/>
          </p:nvSpPr>
          <p:spPr>
            <a:xfrm>
              <a:off x="7315200" y="6501384"/>
              <a:ext cx="795528" cy="795528"/>
            </a:xfrm>
            <a:prstGeom prst="ellipse">
              <a:avLst/>
            </a:prstGeom>
            <a:ln w="9944" cap="rnd">
              <a:solidFill>
                <a:srgbClr val="163769"/>
              </a:solidFill>
              <a:round/>
            </a:ln>
            <a:gradFill>
              <a:gsLst>
                <a:gs pos="0">
                  <a:srgbClr val="FFFFFF"/>
                </a:gs>
                <a:gs pos="100000">
                  <a:srgbClr val="F7FBFF"/>
                </a:gs>
              </a:gsLst>
              <a:lin ang="2700000" scaled="1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0" name="Freeform 189"/>
            <p:cNvSpPr/>
            <p:nvPr/>
          </p:nvSpPr>
          <p:spPr>
            <a:xfrm>
              <a:off x="7452360" y="6592824"/>
              <a:ext cx="219456" cy="265176"/>
            </a:xfrm>
            <a:custGeom>
              <a:avLst/>
              <a:gdLst/>
              <a:ahLst/>
              <a:cxnLst/>
              <a:rect l="l" t="t" r="r" b="b"/>
              <a:pathLst>
                <a:path w="24" h="29">
                  <a:moveTo>
                    <a:pt x="24" y="29"/>
                  </a:moveTo>
                  <a:lnTo>
                    <a:pt x="24" y="29"/>
                  </a:lnTo>
                  <a:lnTo>
                    <a:pt x="23" y="28"/>
                  </a:lnTo>
                  <a:lnTo>
                    <a:pt x="22" y="27"/>
                  </a:lnTo>
                  <a:lnTo>
                    <a:pt x="21" y="26"/>
                  </a:lnTo>
                  <a:lnTo>
                    <a:pt x="20" y="24"/>
                  </a:lnTo>
                  <a:lnTo>
                    <a:pt x="19" y="23"/>
                  </a:lnTo>
                  <a:lnTo>
                    <a:pt x="18" y="22"/>
                  </a:lnTo>
                  <a:lnTo>
                    <a:pt x="17" y="21"/>
                  </a:lnTo>
                  <a:lnTo>
                    <a:pt x="16" y="20"/>
                  </a:lnTo>
                  <a:lnTo>
                    <a:pt x="16" y="20"/>
                  </a:lnTo>
                  <a:lnTo>
                    <a:pt x="15" y="20"/>
                  </a:lnTo>
                  <a:lnTo>
                    <a:pt x="14" y="19"/>
                  </a:lnTo>
                  <a:lnTo>
                    <a:pt x="14" y="19"/>
                  </a:lnTo>
                  <a:lnTo>
                    <a:pt x="13" y="19"/>
                  </a:lnTo>
                  <a:lnTo>
                    <a:pt x="13" y="19"/>
                  </a:lnTo>
                  <a:lnTo>
                    <a:pt x="12" y="19"/>
                  </a:lnTo>
                  <a:lnTo>
                    <a:pt x="12" y="18"/>
                  </a:lnTo>
                  <a:lnTo>
                    <a:pt x="11" y="18"/>
                  </a:lnTo>
                  <a:lnTo>
                    <a:pt x="11" y="17"/>
                  </a:lnTo>
                  <a:lnTo>
                    <a:pt x="10" y="16"/>
                  </a:lnTo>
                  <a:lnTo>
                    <a:pt x="10" y="15"/>
                  </a:lnTo>
                  <a:lnTo>
                    <a:pt x="10" y="13"/>
                  </a:lnTo>
                  <a:lnTo>
                    <a:pt x="9" y="12"/>
                  </a:lnTo>
                  <a:lnTo>
                    <a:pt x="9" y="10"/>
                  </a:lnTo>
                  <a:lnTo>
                    <a:pt x="9" y="9"/>
                  </a:lnTo>
                  <a:lnTo>
                    <a:pt x="8" y="8"/>
                  </a:lnTo>
                  <a:lnTo>
                    <a:pt x="8" y="7"/>
                  </a:lnTo>
                  <a:lnTo>
                    <a:pt x="7" y="6"/>
                  </a:lnTo>
                  <a:lnTo>
                    <a:pt x="6" y="5"/>
                  </a:lnTo>
                  <a:lnTo>
                    <a:pt x="5" y="4"/>
                  </a:lnTo>
                  <a:lnTo>
                    <a:pt x="4" y="3"/>
                  </a:lnTo>
                  <a:lnTo>
                    <a:pt x="3" y="2"/>
                  </a:lnTo>
                  <a:lnTo>
                    <a:pt x="2" y="1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 w="9944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1" name="Freeform 190"/>
            <p:cNvSpPr/>
            <p:nvPr/>
          </p:nvSpPr>
          <p:spPr>
            <a:xfrm>
              <a:off x="7680960" y="6547104"/>
              <a:ext cx="100584" cy="292608"/>
            </a:xfrm>
            <a:custGeom>
              <a:avLst/>
              <a:gdLst/>
              <a:ahLst/>
              <a:cxnLst/>
              <a:rect l="l" t="t" r="r" b="b"/>
              <a:pathLst>
                <a:path w="11" h="32">
                  <a:moveTo>
                    <a:pt x="0" y="32"/>
                  </a:moveTo>
                  <a:lnTo>
                    <a:pt x="0" y="32"/>
                  </a:lnTo>
                  <a:lnTo>
                    <a:pt x="1" y="31"/>
                  </a:lnTo>
                  <a:lnTo>
                    <a:pt x="2" y="30"/>
                  </a:lnTo>
                  <a:lnTo>
                    <a:pt x="2" y="29"/>
                  </a:lnTo>
                  <a:lnTo>
                    <a:pt x="3" y="28"/>
                  </a:lnTo>
                  <a:lnTo>
                    <a:pt x="4" y="27"/>
                  </a:lnTo>
                  <a:lnTo>
                    <a:pt x="5" y="26"/>
                  </a:lnTo>
                  <a:lnTo>
                    <a:pt x="5" y="25"/>
                  </a:lnTo>
                  <a:lnTo>
                    <a:pt x="6" y="24"/>
                  </a:lnTo>
                  <a:lnTo>
                    <a:pt x="7" y="23"/>
                  </a:lnTo>
                  <a:lnTo>
                    <a:pt x="7" y="21"/>
                  </a:lnTo>
                  <a:lnTo>
                    <a:pt x="8" y="20"/>
                  </a:lnTo>
                  <a:lnTo>
                    <a:pt x="8" y="19"/>
                  </a:lnTo>
                  <a:lnTo>
                    <a:pt x="9" y="18"/>
                  </a:lnTo>
                  <a:lnTo>
                    <a:pt x="9" y="16"/>
                  </a:lnTo>
                  <a:lnTo>
                    <a:pt x="10" y="15"/>
                  </a:lnTo>
                  <a:lnTo>
                    <a:pt x="10" y="14"/>
                  </a:lnTo>
                  <a:lnTo>
                    <a:pt x="10" y="12"/>
                  </a:lnTo>
                  <a:lnTo>
                    <a:pt x="11" y="11"/>
                  </a:lnTo>
                  <a:lnTo>
                    <a:pt x="11" y="10"/>
                  </a:lnTo>
                  <a:lnTo>
                    <a:pt x="11" y="8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3"/>
                  </a:lnTo>
                  <a:lnTo>
                    <a:pt x="10" y="2"/>
                  </a:lnTo>
                  <a:lnTo>
                    <a:pt x="10" y="1"/>
                  </a:lnTo>
                  <a:lnTo>
                    <a:pt x="10" y="0"/>
                  </a:lnTo>
                </a:path>
              </a:pathLst>
            </a:custGeom>
            <a:noFill/>
            <a:ln w="9944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2" name="Freeform 191"/>
            <p:cNvSpPr/>
            <p:nvPr/>
          </p:nvSpPr>
          <p:spPr>
            <a:xfrm>
              <a:off x="7680960" y="6711696"/>
              <a:ext cx="384048" cy="173736"/>
            </a:xfrm>
            <a:custGeom>
              <a:avLst/>
              <a:gdLst/>
              <a:ahLst/>
              <a:cxnLst/>
              <a:rect l="l" t="t" r="r" b="b"/>
              <a:pathLst>
                <a:path w="42" h="19">
                  <a:moveTo>
                    <a:pt x="0" y="19"/>
                  </a:moveTo>
                  <a:lnTo>
                    <a:pt x="1" y="18"/>
                  </a:lnTo>
                  <a:lnTo>
                    <a:pt x="2" y="18"/>
                  </a:lnTo>
                  <a:lnTo>
                    <a:pt x="4" y="17"/>
                  </a:lnTo>
                  <a:lnTo>
                    <a:pt x="6" y="16"/>
                  </a:lnTo>
                  <a:lnTo>
                    <a:pt x="8" y="15"/>
                  </a:lnTo>
                  <a:lnTo>
                    <a:pt x="10" y="14"/>
                  </a:lnTo>
                  <a:lnTo>
                    <a:pt x="11" y="14"/>
                  </a:lnTo>
                  <a:lnTo>
                    <a:pt x="13" y="13"/>
                  </a:lnTo>
                  <a:lnTo>
                    <a:pt x="15" y="13"/>
                  </a:lnTo>
                  <a:lnTo>
                    <a:pt x="16" y="12"/>
                  </a:lnTo>
                  <a:lnTo>
                    <a:pt x="18" y="12"/>
                  </a:lnTo>
                  <a:lnTo>
                    <a:pt x="19" y="12"/>
                  </a:lnTo>
                  <a:lnTo>
                    <a:pt x="20" y="13"/>
                  </a:lnTo>
                  <a:lnTo>
                    <a:pt x="21" y="13"/>
                  </a:lnTo>
                  <a:lnTo>
                    <a:pt x="23" y="13"/>
                  </a:lnTo>
                  <a:lnTo>
                    <a:pt x="24" y="13"/>
                  </a:lnTo>
                  <a:lnTo>
                    <a:pt x="25" y="13"/>
                  </a:lnTo>
                  <a:lnTo>
                    <a:pt x="26" y="13"/>
                  </a:lnTo>
                  <a:lnTo>
                    <a:pt x="27" y="12"/>
                  </a:lnTo>
                  <a:lnTo>
                    <a:pt x="29" y="12"/>
                  </a:lnTo>
                  <a:lnTo>
                    <a:pt x="30" y="11"/>
                  </a:lnTo>
                  <a:lnTo>
                    <a:pt x="31" y="10"/>
                  </a:lnTo>
                  <a:lnTo>
                    <a:pt x="32" y="9"/>
                  </a:lnTo>
                  <a:lnTo>
                    <a:pt x="33" y="8"/>
                  </a:lnTo>
                  <a:lnTo>
                    <a:pt x="35" y="7"/>
                  </a:lnTo>
                  <a:lnTo>
                    <a:pt x="36" y="6"/>
                  </a:lnTo>
                  <a:lnTo>
                    <a:pt x="37" y="6"/>
                  </a:lnTo>
                  <a:lnTo>
                    <a:pt x="37" y="5"/>
                  </a:lnTo>
                  <a:lnTo>
                    <a:pt x="38" y="4"/>
                  </a:lnTo>
                  <a:lnTo>
                    <a:pt x="39" y="4"/>
                  </a:lnTo>
                  <a:lnTo>
                    <a:pt x="40" y="3"/>
                  </a:lnTo>
                  <a:lnTo>
                    <a:pt x="40" y="2"/>
                  </a:lnTo>
                  <a:lnTo>
                    <a:pt x="41" y="2"/>
                  </a:lnTo>
                  <a:lnTo>
                    <a:pt x="41" y="1"/>
                  </a:lnTo>
                  <a:lnTo>
                    <a:pt x="41" y="1"/>
                  </a:lnTo>
                  <a:lnTo>
                    <a:pt x="42" y="0"/>
                  </a:lnTo>
                </a:path>
              </a:pathLst>
            </a:custGeom>
            <a:noFill/>
            <a:ln w="9944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3" name="Freeform 192"/>
            <p:cNvSpPr/>
            <p:nvPr/>
          </p:nvSpPr>
          <p:spPr>
            <a:xfrm>
              <a:off x="7699248" y="6903720"/>
              <a:ext cx="384048" cy="173736"/>
            </a:xfrm>
            <a:custGeom>
              <a:avLst/>
              <a:gdLst/>
              <a:ahLst/>
              <a:cxnLst/>
              <a:rect l="l" t="t" r="r" b="b"/>
              <a:pathLst>
                <a:path w="42" h="19">
                  <a:moveTo>
                    <a:pt x="0" y="0"/>
                  </a:moveTo>
                  <a:lnTo>
                    <a:pt x="1" y="1"/>
                  </a:lnTo>
                  <a:lnTo>
                    <a:pt x="2" y="2"/>
                  </a:lnTo>
                  <a:lnTo>
                    <a:pt x="3" y="3"/>
                  </a:lnTo>
                  <a:lnTo>
                    <a:pt x="4" y="4"/>
                  </a:lnTo>
                  <a:lnTo>
                    <a:pt x="6" y="5"/>
                  </a:lnTo>
                  <a:lnTo>
                    <a:pt x="7" y="6"/>
                  </a:lnTo>
                  <a:lnTo>
                    <a:pt x="8" y="7"/>
                  </a:lnTo>
                  <a:lnTo>
                    <a:pt x="10" y="8"/>
                  </a:lnTo>
                  <a:lnTo>
                    <a:pt x="11" y="9"/>
                  </a:lnTo>
                  <a:lnTo>
                    <a:pt x="12" y="10"/>
                  </a:lnTo>
                  <a:lnTo>
                    <a:pt x="13" y="10"/>
                  </a:lnTo>
                  <a:lnTo>
                    <a:pt x="14" y="11"/>
                  </a:lnTo>
                  <a:lnTo>
                    <a:pt x="15" y="11"/>
                  </a:lnTo>
                  <a:lnTo>
                    <a:pt x="16" y="12"/>
                  </a:lnTo>
                  <a:lnTo>
                    <a:pt x="17" y="12"/>
                  </a:lnTo>
                  <a:lnTo>
                    <a:pt x="18" y="12"/>
                  </a:lnTo>
                  <a:lnTo>
                    <a:pt x="19" y="12"/>
                  </a:lnTo>
                  <a:lnTo>
                    <a:pt x="21" y="13"/>
                  </a:lnTo>
                  <a:lnTo>
                    <a:pt x="22" y="13"/>
                  </a:lnTo>
                  <a:lnTo>
                    <a:pt x="24" y="12"/>
                  </a:lnTo>
                  <a:lnTo>
                    <a:pt x="25" y="12"/>
                  </a:lnTo>
                  <a:lnTo>
                    <a:pt x="27" y="12"/>
                  </a:lnTo>
                  <a:lnTo>
                    <a:pt x="29" y="12"/>
                  </a:lnTo>
                  <a:lnTo>
                    <a:pt x="30" y="12"/>
                  </a:lnTo>
                  <a:lnTo>
                    <a:pt x="32" y="11"/>
                  </a:lnTo>
                  <a:lnTo>
                    <a:pt x="33" y="11"/>
                  </a:lnTo>
                  <a:lnTo>
                    <a:pt x="35" y="12"/>
                  </a:lnTo>
                  <a:lnTo>
                    <a:pt x="36" y="12"/>
                  </a:lnTo>
                  <a:lnTo>
                    <a:pt x="37" y="13"/>
                  </a:lnTo>
                  <a:lnTo>
                    <a:pt x="38" y="14"/>
                  </a:lnTo>
                  <a:lnTo>
                    <a:pt x="39" y="15"/>
                  </a:lnTo>
                  <a:lnTo>
                    <a:pt x="40" y="16"/>
                  </a:lnTo>
                  <a:lnTo>
                    <a:pt x="41" y="17"/>
                  </a:lnTo>
                  <a:lnTo>
                    <a:pt x="41" y="17"/>
                  </a:lnTo>
                  <a:lnTo>
                    <a:pt x="42" y="18"/>
                  </a:lnTo>
                  <a:lnTo>
                    <a:pt x="42" y="19"/>
                  </a:lnTo>
                </a:path>
              </a:pathLst>
            </a:custGeom>
            <a:noFill/>
            <a:ln w="9944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4" name="Freeform 193"/>
            <p:cNvSpPr/>
            <p:nvPr/>
          </p:nvSpPr>
          <p:spPr>
            <a:xfrm>
              <a:off x="7580376" y="6940296"/>
              <a:ext cx="100584" cy="320040"/>
            </a:xfrm>
            <a:custGeom>
              <a:avLst/>
              <a:gdLst/>
              <a:ahLst/>
              <a:cxnLst/>
              <a:rect l="l" t="t" r="r" b="b"/>
              <a:pathLst>
                <a:path w="11" h="35">
                  <a:moveTo>
                    <a:pt x="11" y="0"/>
                  </a:moveTo>
                  <a:lnTo>
                    <a:pt x="11" y="1"/>
                  </a:lnTo>
                  <a:lnTo>
                    <a:pt x="10" y="2"/>
                  </a:lnTo>
                  <a:lnTo>
                    <a:pt x="9" y="4"/>
                  </a:lnTo>
                  <a:lnTo>
                    <a:pt x="8" y="5"/>
                  </a:lnTo>
                  <a:lnTo>
                    <a:pt x="7" y="7"/>
                  </a:lnTo>
                  <a:lnTo>
                    <a:pt x="6" y="9"/>
                  </a:lnTo>
                  <a:lnTo>
                    <a:pt x="5" y="11"/>
                  </a:lnTo>
                  <a:lnTo>
                    <a:pt x="4" y="12"/>
                  </a:lnTo>
                  <a:lnTo>
                    <a:pt x="4" y="14"/>
                  </a:lnTo>
                  <a:lnTo>
                    <a:pt x="4" y="15"/>
                  </a:lnTo>
                  <a:lnTo>
                    <a:pt x="4" y="16"/>
                  </a:lnTo>
                  <a:lnTo>
                    <a:pt x="4" y="18"/>
                  </a:lnTo>
                  <a:lnTo>
                    <a:pt x="5" y="19"/>
                  </a:lnTo>
                  <a:lnTo>
                    <a:pt x="5" y="20"/>
                  </a:lnTo>
                  <a:lnTo>
                    <a:pt x="5" y="21"/>
                  </a:lnTo>
                  <a:lnTo>
                    <a:pt x="6" y="22"/>
                  </a:lnTo>
                  <a:lnTo>
                    <a:pt x="6" y="23"/>
                  </a:lnTo>
                  <a:lnTo>
                    <a:pt x="6" y="24"/>
                  </a:lnTo>
                  <a:lnTo>
                    <a:pt x="5" y="25"/>
                  </a:lnTo>
                  <a:lnTo>
                    <a:pt x="5" y="27"/>
                  </a:lnTo>
                  <a:lnTo>
                    <a:pt x="4" y="28"/>
                  </a:lnTo>
                  <a:lnTo>
                    <a:pt x="3" y="29"/>
                  </a:lnTo>
                  <a:lnTo>
                    <a:pt x="2" y="31"/>
                  </a:lnTo>
                  <a:lnTo>
                    <a:pt x="2" y="32"/>
                  </a:lnTo>
                  <a:lnTo>
                    <a:pt x="1" y="33"/>
                  </a:lnTo>
                  <a:lnTo>
                    <a:pt x="0" y="34"/>
                  </a:lnTo>
                  <a:lnTo>
                    <a:pt x="0" y="35"/>
                  </a:lnTo>
                </a:path>
              </a:pathLst>
            </a:custGeom>
            <a:noFill/>
            <a:ln w="9944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5" name="Freeform 194"/>
            <p:cNvSpPr/>
            <p:nvPr/>
          </p:nvSpPr>
          <p:spPr>
            <a:xfrm>
              <a:off x="7351776" y="6903720"/>
              <a:ext cx="301752" cy="118872"/>
            </a:xfrm>
            <a:custGeom>
              <a:avLst/>
              <a:gdLst/>
              <a:ahLst/>
              <a:cxnLst/>
              <a:rect l="l" t="t" r="r" b="b"/>
              <a:pathLst>
                <a:path w="33" h="13">
                  <a:moveTo>
                    <a:pt x="33" y="0"/>
                  </a:moveTo>
                  <a:lnTo>
                    <a:pt x="33" y="1"/>
                  </a:lnTo>
                  <a:lnTo>
                    <a:pt x="32" y="1"/>
                  </a:lnTo>
                  <a:lnTo>
                    <a:pt x="30" y="1"/>
                  </a:lnTo>
                  <a:lnTo>
                    <a:pt x="29" y="2"/>
                  </a:lnTo>
                  <a:lnTo>
                    <a:pt x="28" y="2"/>
                  </a:lnTo>
                  <a:lnTo>
                    <a:pt x="26" y="3"/>
                  </a:lnTo>
                  <a:lnTo>
                    <a:pt x="25" y="3"/>
                  </a:lnTo>
                  <a:lnTo>
                    <a:pt x="23" y="4"/>
                  </a:lnTo>
                  <a:lnTo>
                    <a:pt x="22" y="5"/>
                  </a:lnTo>
                  <a:lnTo>
                    <a:pt x="21" y="5"/>
                  </a:lnTo>
                  <a:lnTo>
                    <a:pt x="20" y="6"/>
                  </a:lnTo>
                  <a:lnTo>
                    <a:pt x="19" y="7"/>
                  </a:lnTo>
                  <a:lnTo>
                    <a:pt x="18" y="8"/>
                  </a:lnTo>
                  <a:lnTo>
                    <a:pt x="17" y="9"/>
                  </a:lnTo>
                  <a:lnTo>
                    <a:pt x="16" y="10"/>
                  </a:lnTo>
                  <a:lnTo>
                    <a:pt x="15" y="11"/>
                  </a:lnTo>
                  <a:lnTo>
                    <a:pt x="14" y="12"/>
                  </a:lnTo>
                  <a:lnTo>
                    <a:pt x="13" y="13"/>
                  </a:lnTo>
                  <a:lnTo>
                    <a:pt x="11" y="13"/>
                  </a:lnTo>
                  <a:lnTo>
                    <a:pt x="10" y="13"/>
                  </a:lnTo>
                  <a:lnTo>
                    <a:pt x="8" y="13"/>
                  </a:lnTo>
                  <a:lnTo>
                    <a:pt x="7" y="13"/>
                  </a:lnTo>
                  <a:lnTo>
                    <a:pt x="5" y="12"/>
                  </a:lnTo>
                  <a:lnTo>
                    <a:pt x="4" y="12"/>
                  </a:lnTo>
                  <a:lnTo>
                    <a:pt x="2" y="12"/>
                  </a:lnTo>
                  <a:lnTo>
                    <a:pt x="1" y="12"/>
                  </a:lnTo>
                  <a:lnTo>
                    <a:pt x="0" y="12"/>
                  </a:lnTo>
                </a:path>
              </a:pathLst>
            </a:custGeom>
            <a:noFill/>
            <a:ln w="9944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6" name="Freeform 195"/>
            <p:cNvSpPr/>
            <p:nvPr/>
          </p:nvSpPr>
          <p:spPr>
            <a:xfrm>
              <a:off x="7424928" y="7013448"/>
              <a:ext cx="64008" cy="173736"/>
            </a:xfrm>
            <a:custGeom>
              <a:avLst/>
              <a:gdLst/>
              <a:ahLst/>
              <a:cxnLst/>
              <a:rect l="l" t="t" r="r" b="b"/>
              <a:pathLst>
                <a:path w="7" h="19">
                  <a:moveTo>
                    <a:pt x="6" y="0"/>
                  </a:moveTo>
                  <a:lnTo>
                    <a:pt x="6" y="1"/>
                  </a:lnTo>
                  <a:lnTo>
                    <a:pt x="6" y="2"/>
                  </a:lnTo>
                  <a:lnTo>
                    <a:pt x="6" y="3"/>
                  </a:lnTo>
                  <a:lnTo>
                    <a:pt x="7" y="5"/>
                  </a:lnTo>
                  <a:lnTo>
                    <a:pt x="7" y="6"/>
                  </a:lnTo>
                  <a:lnTo>
                    <a:pt x="7" y="8"/>
                  </a:lnTo>
                  <a:lnTo>
                    <a:pt x="7" y="9"/>
                  </a:lnTo>
                  <a:lnTo>
                    <a:pt x="7" y="11"/>
                  </a:lnTo>
                  <a:lnTo>
                    <a:pt x="6" y="12"/>
                  </a:lnTo>
                  <a:lnTo>
                    <a:pt x="6" y="13"/>
                  </a:lnTo>
                  <a:lnTo>
                    <a:pt x="5" y="14"/>
                  </a:lnTo>
                  <a:lnTo>
                    <a:pt x="4" y="15"/>
                  </a:lnTo>
                  <a:lnTo>
                    <a:pt x="4" y="16"/>
                  </a:lnTo>
                  <a:lnTo>
                    <a:pt x="3" y="16"/>
                  </a:lnTo>
                  <a:lnTo>
                    <a:pt x="2" y="17"/>
                  </a:lnTo>
                  <a:lnTo>
                    <a:pt x="1" y="18"/>
                  </a:lnTo>
                  <a:lnTo>
                    <a:pt x="1" y="18"/>
                  </a:lnTo>
                  <a:lnTo>
                    <a:pt x="0" y="19"/>
                  </a:lnTo>
                </a:path>
              </a:pathLst>
            </a:custGeom>
            <a:noFill/>
            <a:ln w="9944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7" name="Freeform 196"/>
            <p:cNvSpPr/>
            <p:nvPr/>
          </p:nvSpPr>
          <p:spPr>
            <a:xfrm>
              <a:off x="7827264" y="6629400"/>
              <a:ext cx="82296" cy="201168"/>
            </a:xfrm>
            <a:custGeom>
              <a:avLst/>
              <a:gdLst/>
              <a:ahLst/>
              <a:cxnLst/>
              <a:rect l="l" t="t" r="r" b="b"/>
              <a:pathLst>
                <a:path w="9" h="22">
                  <a:moveTo>
                    <a:pt x="1" y="22"/>
                  </a:moveTo>
                  <a:lnTo>
                    <a:pt x="1" y="21"/>
                  </a:lnTo>
                  <a:lnTo>
                    <a:pt x="1" y="20"/>
                  </a:lnTo>
                  <a:lnTo>
                    <a:pt x="1" y="19"/>
                  </a:lnTo>
                  <a:lnTo>
                    <a:pt x="0" y="17"/>
                  </a:lnTo>
                  <a:lnTo>
                    <a:pt x="1" y="16"/>
                  </a:lnTo>
                  <a:lnTo>
                    <a:pt x="1" y="14"/>
                  </a:lnTo>
                  <a:lnTo>
                    <a:pt x="1" y="13"/>
                  </a:lnTo>
                  <a:lnTo>
                    <a:pt x="1" y="12"/>
                  </a:lnTo>
                  <a:lnTo>
                    <a:pt x="1" y="10"/>
                  </a:lnTo>
                  <a:lnTo>
                    <a:pt x="2" y="9"/>
                  </a:lnTo>
                  <a:lnTo>
                    <a:pt x="3" y="8"/>
                  </a:lnTo>
                  <a:lnTo>
                    <a:pt x="4" y="6"/>
                  </a:lnTo>
                  <a:lnTo>
                    <a:pt x="5" y="5"/>
                  </a:lnTo>
                  <a:lnTo>
                    <a:pt x="6" y="4"/>
                  </a:lnTo>
                  <a:lnTo>
                    <a:pt x="7" y="3"/>
                  </a:lnTo>
                  <a:lnTo>
                    <a:pt x="8" y="2"/>
                  </a:lnTo>
                  <a:lnTo>
                    <a:pt x="9" y="1"/>
                  </a:lnTo>
                  <a:lnTo>
                    <a:pt x="9" y="0"/>
                  </a:lnTo>
                </a:path>
              </a:pathLst>
            </a:custGeom>
            <a:noFill/>
            <a:ln w="9944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8" name="Freeform 197"/>
            <p:cNvSpPr/>
            <p:nvPr/>
          </p:nvSpPr>
          <p:spPr>
            <a:xfrm>
              <a:off x="7863840" y="7022592"/>
              <a:ext cx="54864" cy="201168"/>
            </a:xfrm>
            <a:custGeom>
              <a:avLst/>
              <a:gdLst/>
              <a:ahLst/>
              <a:cxnLst/>
              <a:rect l="l" t="t" r="r" b="b"/>
              <a:pathLst>
                <a:path w="6" h="22">
                  <a:moveTo>
                    <a:pt x="3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2"/>
                  </a:lnTo>
                  <a:lnTo>
                    <a:pt x="1" y="4"/>
                  </a:lnTo>
                  <a:lnTo>
                    <a:pt x="1" y="5"/>
                  </a:lnTo>
                  <a:lnTo>
                    <a:pt x="0" y="7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1"/>
                  </a:lnTo>
                  <a:lnTo>
                    <a:pt x="0" y="12"/>
                  </a:lnTo>
                  <a:lnTo>
                    <a:pt x="1" y="14"/>
                  </a:lnTo>
                  <a:lnTo>
                    <a:pt x="2" y="15"/>
                  </a:lnTo>
                  <a:lnTo>
                    <a:pt x="2" y="17"/>
                  </a:lnTo>
                  <a:lnTo>
                    <a:pt x="3" y="18"/>
                  </a:lnTo>
                  <a:lnTo>
                    <a:pt x="4" y="19"/>
                  </a:lnTo>
                  <a:lnTo>
                    <a:pt x="5" y="20"/>
                  </a:lnTo>
                  <a:lnTo>
                    <a:pt x="6" y="21"/>
                  </a:lnTo>
                  <a:lnTo>
                    <a:pt x="6" y="22"/>
                  </a:lnTo>
                </a:path>
              </a:pathLst>
            </a:custGeom>
            <a:noFill/>
            <a:ln w="9944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9" name="Freeform 198"/>
            <p:cNvSpPr/>
            <p:nvPr/>
          </p:nvSpPr>
          <p:spPr>
            <a:xfrm>
              <a:off x="7370064" y="6711696"/>
              <a:ext cx="182880" cy="64008"/>
            </a:xfrm>
            <a:custGeom>
              <a:avLst/>
              <a:gdLst/>
              <a:ahLst/>
              <a:cxnLst/>
              <a:rect l="l" t="t" r="r" b="b"/>
              <a:pathLst>
                <a:path w="20" h="7">
                  <a:moveTo>
                    <a:pt x="20" y="5"/>
                  </a:moveTo>
                  <a:lnTo>
                    <a:pt x="19" y="5"/>
                  </a:lnTo>
                  <a:lnTo>
                    <a:pt x="19" y="5"/>
                  </a:lnTo>
                  <a:lnTo>
                    <a:pt x="18" y="6"/>
                  </a:lnTo>
                  <a:lnTo>
                    <a:pt x="17" y="6"/>
                  </a:lnTo>
                  <a:lnTo>
                    <a:pt x="15" y="6"/>
                  </a:lnTo>
                  <a:lnTo>
                    <a:pt x="14" y="7"/>
                  </a:lnTo>
                  <a:lnTo>
                    <a:pt x="13" y="7"/>
                  </a:lnTo>
                  <a:lnTo>
                    <a:pt x="12" y="7"/>
                  </a:lnTo>
                  <a:lnTo>
                    <a:pt x="11" y="7"/>
                  </a:lnTo>
                  <a:lnTo>
                    <a:pt x="9" y="6"/>
                  </a:lnTo>
                  <a:lnTo>
                    <a:pt x="8" y="6"/>
                  </a:lnTo>
                  <a:lnTo>
                    <a:pt x="7" y="5"/>
                  </a:lnTo>
                  <a:lnTo>
                    <a:pt x="5" y="4"/>
                  </a:lnTo>
                  <a:lnTo>
                    <a:pt x="4" y="3"/>
                  </a:lnTo>
                  <a:lnTo>
                    <a:pt x="3" y="2"/>
                  </a:lnTo>
                  <a:lnTo>
                    <a:pt x="2" y="2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noFill/>
            <a:ln w="9944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0" name="Oval 199"/>
            <p:cNvSpPr/>
            <p:nvPr/>
          </p:nvSpPr>
          <p:spPr>
            <a:xfrm>
              <a:off x="7315200" y="6501384"/>
              <a:ext cx="795528" cy="795528"/>
            </a:xfrm>
            <a:prstGeom prst="ellipse">
              <a:avLst/>
            </a:prstGeom>
            <a:noFill/>
            <a:ln w="9944" cap="rnd">
              <a:solidFill>
                <a:srgbClr val="163769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14" name="Starch granule — editable vector group"/>
          <p:cNvGrpSpPr/>
          <p:nvPr/>
        </p:nvGrpSpPr>
        <p:grpSpPr>
          <a:xfrm>
            <a:off x="8156448" y="6446520"/>
            <a:ext cx="384048" cy="365760"/>
            <a:chOff x="8156448" y="6446520"/>
            <a:chExt cx="384048" cy="365760"/>
          </a:xfrm>
        </p:grpSpPr>
        <p:sp>
          <p:nvSpPr>
            <p:cNvPr id="202" name="Editable starch granule"/>
            <p:cNvSpPr/>
            <p:nvPr/>
          </p:nvSpPr>
          <p:spPr>
            <a:xfrm>
              <a:off x="8156448" y="6446520"/>
              <a:ext cx="384048" cy="365760"/>
            </a:xfrm>
            <a:prstGeom prst="ellipse">
              <a:avLst/>
            </a:prstGeom>
            <a:ln w="7620" cap="rnd">
              <a:solidFill>
                <a:srgbClr val="163769"/>
              </a:solidFill>
              <a:round/>
            </a:ln>
            <a:gradFill>
              <a:gsLst>
                <a:gs pos="0">
                  <a:srgbClr val="FFFFFF"/>
                </a:gs>
                <a:gs pos="100000">
                  <a:srgbClr val="F7FBFF"/>
                </a:gs>
              </a:gsLst>
              <a:lin ang="2700000" scaled="1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3" name="Freeform 202"/>
            <p:cNvSpPr/>
            <p:nvPr/>
          </p:nvSpPr>
          <p:spPr>
            <a:xfrm>
              <a:off x="8366760" y="6483096"/>
              <a:ext cx="109728" cy="128016"/>
            </a:xfrm>
            <a:custGeom>
              <a:avLst/>
              <a:gdLst/>
              <a:ahLst/>
              <a:cxnLst/>
              <a:rect l="l" t="t" r="r" b="b"/>
              <a:pathLst>
                <a:path w="12" h="14">
                  <a:moveTo>
                    <a:pt x="0" y="14"/>
                  </a:moveTo>
                  <a:lnTo>
                    <a:pt x="0" y="14"/>
                  </a:lnTo>
                  <a:lnTo>
                    <a:pt x="1" y="13"/>
                  </a:lnTo>
                  <a:lnTo>
                    <a:pt x="1" y="13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3" y="11"/>
                  </a:lnTo>
                  <a:lnTo>
                    <a:pt x="3" y="11"/>
                  </a:lnTo>
                  <a:lnTo>
                    <a:pt x="3" y="10"/>
                  </a:lnTo>
                  <a:lnTo>
                    <a:pt x="4" y="10"/>
                  </a:lnTo>
                  <a:lnTo>
                    <a:pt x="4" y="10"/>
                  </a:lnTo>
                  <a:lnTo>
                    <a:pt x="5" y="10"/>
                  </a:lnTo>
                  <a:lnTo>
                    <a:pt x="5" y="10"/>
                  </a:lnTo>
                  <a:lnTo>
                    <a:pt x="5" y="9"/>
                  </a:lnTo>
                  <a:lnTo>
                    <a:pt x="5" y="9"/>
                  </a:lnTo>
                  <a:lnTo>
                    <a:pt x="6" y="9"/>
                  </a:lnTo>
                  <a:lnTo>
                    <a:pt x="6" y="9"/>
                  </a:lnTo>
                  <a:lnTo>
                    <a:pt x="6" y="9"/>
                  </a:lnTo>
                  <a:lnTo>
                    <a:pt x="6" y="9"/>
                  </a:lnTo>
                  <a:lnTo>
                    <a:pt x="7" y="8"/>
                  </a:lnTo>
                  <a:lnTo>
                    <a:pt x="7" y="8"/>
                  </a:lnTo>
                  <a:lnTo>
                    <a:pt x="7" y="7"/>
                  </a:lnTo>
                  <a:lnTo>
                    <a:pt x="7" y="7"/>
                  </a:lnTo>
                  <a:lnTo>
                    <a:pt x="7" y="6"/>
                  </a:lnTo>
                  <a:lnTo>
                    <a:pt x="7" y="5"/>
                  </a:lnTo>
                  <a:lnTo>
                    <a:pt x="8" y="5"/>
                  </a:lnTo>
                  <a:lnTo>
                    <a:pt x="8" y="4"/>
                  </a:lnTo>
                  <a:lnTo>
                    <a:pt x="8" y="4"/>
                  </a:lnTo>
                  <a:lnTo>
                    <a:pt x="8" y="3"/>
                  </a:lnTo>
                  <a:lnTo>
                    <a:pt x="9" y="3"/>
                  </a:lnTo>
                  <a:lnTo>
                    <a:pt x="9" y="2"/>
                  </a:lnTo>
                  <a:lnTo>
                    <a:pt x="10" y="2"/>
                  </a:lnTo>
                  <a:lnTo>
                    <a:pt x="10" y="1"/>
                  </a:lnTo>
                  <a:lnTo>
                    <a:pt x="11" y="1"/>
                  </a:lnTo>
                  <a:lnTo>
                    <a:pt x="11" y="1"/>
                  </a:lnTo>
                  <a:lnTo>
                    <a:pt x="12" y="1"/>
                  </a:lnTo>
                  <a:lnTo>
                    <a:pt x="12" y="0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4" name="Freeform 203"/>
            <p:cNvSpPr/>
            <p:nvPr/>
          </p:nvSpPr>
          <p:spPr>
            <a:xfrm>
              <a:off x="8321040" y="6464808"/>
              <a:ext cx="45720" cy="137160"/>
            </a:xfrm>
            <a:custGeom>
              <a:avLst/>
              <a:gdLst/>
              <a:ahLst/>
              <a:cxnLst/>
              <a:rect l="l" t="t" r="r" b="b"/>
              <a:pathLst>
                <a:path w="5" h="15">
                  <a:moveTo>
                    <a:pt x="5" y="15"/>
                  </a:moveTo>
                  <a:lnTo>
                    <a:pt x="4" y="15"/>
                  </a:lnTo>
                  <a:lnTo>
                    <a:pt x="4" y="15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3" y="13"/>
                  </a:lnTo>
                  <a:lnTo>
                    <a:pt x="3" y="13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2" y="11"/>
                  </a:lnTo>
                  <a:lnTo>
                    <a:pt x="1" y="11"/>
                  </a:lnTo>
                  <a:lnTo>
                    <a:pt x="1" y="10"/>
                  </a:lnTo>
                  <a:lnTo>
                    <a:pt x="1" y="10"/>
                  </a:lnTo>
                  <a:lnTo>
                    <a:pt x="1" y="9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6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4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2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5" name="Freeform 204"/>
            <p:cNvSpPr/>
            <p:nvPr/>
          </p:nvSpPr>
          <p:spPr>
            <a:xfrm>
              <a:off x="8183880" y="6547104"/>
              <a:ext cx="182880" cy="73152"/>
            </a:xfrm>
            <a:custGeom>
              <a:avLst/>
              <a:gdLst/>
              <a:ahLst/>
              <a:cxnLst/>
              <a:rect l="l" t="t" r="r" b="b"/>
              <a:pathLst>
                <a:path w="20" h="8">
                  <a:moveTo>
                    <a:pt x="20" y="8"/>
                  </a:moveTo>
                  <a:lnTo>
                    <a:pt x="19" y="8"/>
                  </a:lnTo>
                  <a:lnTo>
                    <a:pt x="19" y="8"/>
                  </a:lnTo>
                  <a:lnTo>
                    <a:pt x="18" y="7"/>
                  </a:lnTo>
                  <a:lnTo>
                    <a:pt x="17" y="7"/>
                  </a:lnTo>
                  <a:lnTo>
                    <a:pt x="16" y="7"/>
                  </a:lnTo>
                  <a:lnTo>
                    <a:pt x="15" y="6"/>
                  </a:lnTo>
                  <a:lnTo>
                    <a:pt x="14" y="6"/>
                  </a:lnTo>
                  <a:lnTo>
                    <a:pt x="13" y="6"/>
                  </a:lnTo>
                  <a:lnTo>
                    <a:pt x="13" y="5"/>
                  </a:lnTo>
                  <a:lnTo>
                    <a:pt x="12" y="5"/>
                  </a:lnTo>
                  <a:lnTo>
                    <a:pt x="11" y="5"/>
                  </a:lnTo>
                  <a:lnTo>
                    <a:pt x="11" y="5"/>
                  </a:lnTo>
                  <a:lnTo>
                    <a:pt x="10" y="5"/>
                  </a:lnTo>
                  <a:lnTo>
                    <a:pt x="9" y="5"/>
                  </a:lnTo>
                  <a:lnTo>
                    <a:pt x="9" y="6"/>
                  </a:lnTo>
                  <a:lnTo>
                    <a:pt x="8" y="6"/>
                  </a:lnTo>
                  <a:lnTo>
                    <a:pt x="8" y="6"/>
                  </a:lnTo>
                  <a:lnTo>
                    <a:pt x="7" y="5"/>
                  </a:lnTo>
                  <a:lnTo>
                    <a:pt x="6" y="5"/>
                  </a:lnTo>
                  <a:lnTo>
                    <a:pt x="6" y="5"/>
                  </a:lnTo>
                  <a:lnTo>
                    <a:pt x="5" y="5"/>
                  </a:lnTo>
                  <a:lnTo>
                    <a:pt x="5" y="4"/>
                  </a:lnTo>
                  <a:lnTo>
                    <a:pt x="4" y="4"/>
                  </a:lnTo>
                  <a:lnTo>
                    <a:pt x="4" y="3"/>
                  </a:lnTo>
                  <a:lnTo>
                    <a:pt x="3" y="3"/>
                  </a:lnTo>
                  <a:lnTo>
                    <a:pt x="2" y="3"/>
                  </a:lnTo>
                  <a:lnTo>
                    <a:pt x="2" y="2"/>
                  </a:lnTo>
                  <a:lnTo>
                    <a:pt x="2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6" name="Freeform 205"/>
            <p:cNvSpPr/>
            <p:nvPr/>
          </p:nvSpPr>
          <p:spPr>
            <a:xfrm>
              <a:off x="8165592" y="6629400"/>
              <a:ext cx="192024" cy="82296"/>
            </a:xfrm>
            <a:custGeom>
              <a:avLst/>
              <a:gdLst/>
              <a:ahLst/>
              <a:cxnLst/>
              <a:rect l="l" t="t" r="r" b="b"/>
              <a:pathLst>
                <a:path w="21" h="9">
                  <a:moveTo>
                    <a:pt x="21" y="0"/>
                  </a:moveTo>
                  <a:lnTo>
                    <a:pt x="20" y="1"/>
                  </a:lnTo>
                  <a:lnTo>
                    <a:pt x="20" y="1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8" y="3"/>
                  </a:lnTo>
                  <a:lnTo>
                    <a:pt x="17" y="3"/>
                  </a:lnTo>
                  <a:lnTo>
                    <a:pt x="17" y="4"/>
                  </a:lnTo>
                  <a:lnTo>
                    <a:pt x="16" y="4"/>
                  </a:lnTo>
                  <a:lnTo>
                    <a:pt x="15" y="4"/>
                  </a:lnTo>
                  <a:lnTo>
                    <a:pt x="15" y="5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3" y="5"/>
                  </a:lnTo>
                  <a:lnTo>
                    <a:pt x="13" y="6"/>
                  </a:lnTo>
                  <a:lnTo>
                    <a:pt x="12" y="6"/>
                  </a:lnTo>
                  <a:lnTo>
                    <a:pt x="12" y="6"/>
                  </a:lnTo>
                  <a:lnTo>
                    <a:pt x="11" y="6"/>
                  </a:lnTo>
                  <a:lnTo>
                    <a:pt x="11" y="6"/>
                  </a:lnTo>
                  <a:lnTo>
                    <a:pt x="10" y="6"/>
                  </a:lnTo>
                  <a:lnTo>
                    <a:pt x="9" y="6"/>
                  </a:lnTo>
                  <a:lnTo>
                    <a:pt x="9" y="6"/>
                  </a:lnTo>
                  <a:lnTo>
                    <a:pt x="8" y="6"/>
                  </a:lnTo>
                  <a:lnTo>
                    <a:pt x="7" y="6"/>
                  </a:lnTo>
                  <a:lnTo>
                    <a:pt x="6" y="6"/>
                  </a:lnTo>
                  <a:lnTo>
                    <a:pt x="5" y="5"/>
                  </a:lnTo>
                  <a:lnTo>
                    <a:pt x="5" y="5"/>
                  </a:lnTo>
                  <a:lnTo>
                    <a:pt x="4" y="6"/>
                  </a:lnTo>
                  <a:lnTo>
                    <a:pt x="3" y="6"/>
                  </a:lnTo>
                  <a:lnTo>
                    <a:pt x="3" y="6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7"/>
                  </a:lnTo>
                  <a:lnTo>
                    <a:pt x="1" y="8"/>
                  </a:lnTo>
                  <a:lnTo>
                    <a:pt x="1" y="8"/>
                  </a:lnTo>
                  <a:lnTo>
                    <a:pt x="0" y="9"/>
                  </a:lnTo>
                  <a:lnTo>
                    <a:pt x="0" y="9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7" name="Freeform 206"/>
            <p:cNvSpPr/>
            <p:nvPr/>
          </p:nvSpPr>
          <p:spPr>
            <a:xfrm>
              <a:off x="8366760" y="6647688"/>
              <a:ext cx="45720" cy="146304"/>
            </a:xfrm>
            <a:custGeom>
              <a:avLst/>
              <a:gdLst/>
              <a:ahLst/>
              <a:cxnLst/>
              <a:rect l="l" t="t" r="r" b="b"/>
              <a:pathLst>
                <a:path w="5" h="16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2"/>
                  </a:lnTo>
                  <a:lnTo>
                    <a:pt x="1" y="2"/>
                  </a:lnTo>
                  <a:lnTo>
                    <a:pt x="2" y="3"/>
                  </a:lnTo>
                  <a:lnTo>
                    <a:pt x="2" y="4"/>
                  </a:lnTo>
                  <a:lnTo>
                    <a:pt x="3" y="5"/>
                  </a:lnTo>
                  <a:lnTo>
                    <a:pt x="3" y="6"/>
                  </a:lnTo>
                  <a:lnTo>
                    <a:pt x="3" y="6"/>
                  </a:lnTo>
                  <a:lnTo>
                    <a:pt x="3" y="7"/>
                  </a:lnTo>
                  <a:lnTo>
                    <a:pt x="3" y="8"/>
                  </a:lnTo>
                  <a:lnTo>
                    <a:pt x="3" y="8"/>
                  </a:lnTo>
                  <a:lnTo>
                    <a:pt x="3" y="9"/>
                  </a:lnTo>
                  <a:lnTo>
                    <a:pt x="3" y="9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2" y="12"/>
                  </a:lnTo>
                  <a:lnTo>
                    <a:pt x="3" y="12"/>
                  </a:lnTo>
                  <a:lnTo>
                    <a:pt x="3" y="13"/>
                  </a:lnTo>
                  <a:lnTo>
                    <a:pt x="3" y="14"/>
                  </a:lnTo>
                  <a:lnTo>
                    <a:pt x="4" y="14"/>
                  </a:lnTo>
                  <a:lnTo>
                    <a:pt x="4" y="15"/>
                  </a:lnTo>
                  <a:lnTo>
                    <a:pt x="5" y="15"/>
                  </a:lnTo>
                  <a:lnTo>
                    <a:pt x="5" y="16"/>
                  </a:lnTo>
                  <a:lnTo>
                    <a:pt x="5" y="16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8" name="Freeform 207"/>
            <p:cNvSpPr/>
            <p:nvPr/>
          </p:nvSpPr>
          <p:spPr>
            <a:xfrm>
              <a:off x="8375904" y="6629400"/>
              <a:ext cx="146304" cy="54864"/>
            </a:xfrm>
            <a:custGeom>
              <a:avLst/>
              <a:gdLst/>
              <a:ahLst/>
              <a:cxnLst/>
              <a:rect l="l" t="t" r="r" b="b"/>
              <a:pathLst>
                <a:path w="16" h="6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2" y="1"/>
                  </a:lnTo>
                  <a:lnTo>
                    <a:pt x="3" y="1"/>
                  </a:lnTo>
                  <a:lnTo>
                    <a:pt x="3" y="2"/>
                  </a:lnTo>
                  <a:lnTo>
                    <a:pt x="4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6" y="3"/>
                  </a:lnTo>
                  <a:lnTo>
                    <a:pt x="6" y="3"/>
                  </a:lnTo>
                  <a:lnTo>
                    <a:pt x="7" y="4"/>
                  </a:lnTo>
                  <a:lnTo>
                    <a:pt x="7" y="4"/>
                  </a:lnTo>
                  <a:lnTo>
                    <a:pt x="8" y="5"/>
                  </a:lnTo>
                  <a:lnTo>
                    <a:pt x="8" y="5"/>
                  </a:lnTo>
                  <a:lnTo>
                    <a:pt x="9" y="5"/>
                  </a:lnTo>
                  <a:lnTo>
                    <a:pt x="9" y="6"/>
                  </a:lnTo>
                  <a:lnTo>
                    <a:pt x="10" y="6"/>
                  </a:lnTo>
                  <a:lnTo>
                    <a:pt x="11" y="6"/>
                  </a:lnTo>
                  <a:lnTo>
                    <a:pt x="11" y="6"/>
                  </a:lnTo>
                  <a:lnTo>
                    <a:pt x="12" y="6"/>
                  </a:lnTo>
                  <a:lnTo>
                    <a:pt x="13" y="6"/>
                  </a:lnTo>
                  <a:lnTo>
                    <a:pt x="14" y="6"/>
                  </a:lnTo>
                  <a:lnTo>
                    <a:pt x="14" y="6"/>
                  </a:lnTo>
                  <a:lnTo>
                    <a:pt x="15" y="6"/>
                  </a:lnTo>
                  <a:lnTo>
                    <a:pt x="15" y="6"/>
                  </a:lnTo>
                  <a:lnTo>
                    <a:pt x="16" y="6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9" name="Freeform 208"/>
            <p:cNvSpPr/>
            <p:nvPr/>
          </p:nvSpPr>
          <p:spPr>
            <a:xfrm>
              <a:off x="8458200" y="6684264"/>
              <a:ext cx="27432" cy="73152"/>
            </a:xfrm>
            <a:custGeom>
              <a:avLst/>
              <a:gdLst/>
              <a:ahLst/>
              <a:cxnLst/>
              <a:rect l="l" t="t" r="r" b="b"/>
              <a:pathLst>
                <a:path w="3" h="8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6"/>
                  </a:lnTo>
                  <a:lnTo>
                    <a:pt x="1" y="6"/>
                  </a:lnTo>
                  <a:lnTo>
                    <a:pt x="1" y="7"/>
                  </a:lnTo>
                  <a:lnTo>
                    <a:pt x="1" y="7"/>
                  </a:lnTo>
                  <a:lnTo>
                    <a:pt x="2" y="7"/>
                  </a:lnTo>
                  <a:lnTo>
                    <a:pt x="2" y="8"/>
                  </a:lnTo>
                  <a:lnTo>
                    <a:pt x="3" y="8"/>
                  </a:lnTo>
                  <a:lnTo>
                    <a:pt x="3" y="8"/>
                  </a:lnTo>
                  <a:lnTo>
                    <a:pt x="3" y="8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0" name="Freeform 209"/>
            <p:cNvSpPr/>
            <p:nvPr/>
          </p:nvSpPr>
          <p:spPr>
            <a:xfrm>
              <a:off x="8247888" y="6501384"/>
              <a:ext cx="45720" cy="91440"/>
            </a:xfrm>
            <a:custGeom>
              <a:avLst/>
              <a:gdLst/>
              <a:ahLst/>
              <a:cxnLst/>
              <a:rect l="l" t="t" r="r" b="b"/>
              <a:pathLst>
                <a:path w="5" h="10">
                  <a:moveTo>
                    <a:pt x="5" y="10"/>
                  </a:moveTo>
                  <a:lnTo>
                    <a:pt x="5" y="10"/>
                  </a:lnTo>
                  <a:lnTo>
                    <a:pt x="5" y="10"/>
                  </a:lnTo>
                  <a:lnTo>
                    <a:pt x="5" y="9"/>
                  </a:lnTo>
                  <a:lnTo>
                    <a:pt x="5" y="8"/>
                  </a:lnTo>
                  <a:lnTo>
                    <a:pt x="5" y="8"/>
                  </a:lnTo>
                  <a:lnTo>
                    <a:pt x="5" y="7"/>
                  </a:lnTo>
                  <a:lnTo>
                    <a:pt x="5" y="6"/>
                  </a:lnTo>
                  <a:lnTo>
                    <a:pt x="4" y="6"/>
                  </a:lnTo>
                  <a:lnTo>
                    <a:pt x="4" y="5"/>
                  </a:lnTo>
                  <a:lnTo>
                    <a:pt x="4" y="5"/>
                  </a:lnTo>
                  <a:lnTo>
                    <a:pt x="4" y="4"/>
                  </a:lnTo>
                  <a:lnTo>
                    <a:pt x="3" y="3"/>
                  </a:lnTo>
                  <a:lnTo>
                    <a:pt x="3" y="3"/>
                  </a:lnTo>
                  <a:lnTo>
                    <a:pt x="2" y="2"/>
                  </a:lnTo>
                  <a:lnTo>
                    <a:pt x="2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1" name="Freeform 210"/>
            <p:cNvSpPr/>
            <p:nvPr/>
          </p:nvSpPr>
          <p:spPr>
            <a:xfrm>
              <a:off x="8247888" y="6684264"/>
              <a:ext cx="27432" cy="91440"/>
            </a:xfrm>
            <a:custGeom>
              <a:avLst/>
              <a:gdLst/>
              <a:ahLst/>
              <a:cxnLst/>
              <a:rect l="l" t="t" r="r" b="b"/>
              <a:pathLst>
                <a:path w="3" h="10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2"/>
                  </a:lnTo>
                  <a:lnTo>
                    <a:pt x="3" y="3"/>
                  </a:lnTo>
                  <a:lnTo>
                    <a:pt x="3" y="3"/>
                  </a:lnTo>
                  <a:lnTo>
                    <a:pt x="3" y="4"/>
                  </a:lnTo>
                  <a:lnTo>
                    <a:pt x="3" y="5"/>
                  </a:lnTo>
                  <a:lnTo>
                    <a:pt x="3" y="5"/>
                  </a:lnTo>
                  <a:lnTo>
                    <a:pt x="3" y="6"/>
                  </a:lnTo>
                  <a:lnTo>
                    <a:pt x="3" y="6"/>
                  </a:lnTo>
                  <a:lnTo>
                    <a:pt x="2" y="7"/>
                  </a:lnTo>
                  <a:lnTo>
                    <a:pt x="2" y="8"/>
                  </a:lnTo>
                  <a:lnTo>
                    <a:pt x="1" y="8"/>
                  </a:lnTo>
                  <a:lnTo>
                    <a:pt x="1" y="9"/>
                  </a:lnTo>
                  <a:lnTo>
                    <a:pt x="1" y="10"/>
                  </a:lnTo>
                  <a:lnTo>
                    <a:pt x="0" y="10"/>
                  </a:lnTo>
                  <a:lnTo>
                    <a:pt x="0" y="10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2" name="Freeform 211"/>
            <p:cNvSpPr/>
            <p:nvPr/>
          </p:nvSpPr>
          <p:spPr>
            <a:xfrm>
              <a:off x="8421624" y="6547104"/>
              <a:ext cx="91440" cy="27432"/>
            </a:xfrm>
            <a:custGeom>
              <a:avLst/>
              <a:gdLst/>
              <a:ahLst/>
              <a:cxnLst/>
              <a:rect l="l" t="t" r="r" b="b"/>
              <a:pathLst>
                <a:path w="10" h="3">
                  <a:moveTo>
                    <a:pt x="0" y="2"/>
                  </a:moveTo>
                  <a:lnTo>
                    <a:pt x="1" y="2"/>
                  </a:lnTo>
                  <a:lnTo>
                    <a:pt x="1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3" y="2"/>
                  </a:lnTo>
                  <a:lnTo>
                    <a:pt x="3" y="3"/>
                  </a:lnTo>
                  <a:lnTo>
                    <a:pt x="4" y="3"/>
                  </a:lnTo>
                  <a:lnTo>
                    <a:pt x="4" y="3"/>
                  </a:lnTo>
                  <a:lnTo>
                    <a:pt x="5" y="3"/>
                  </a:lnTo>
                  <a:lnTo>
                    <a:pt x="6" y="2"/>
                  </a:lnTo>
                  <a:lnTo>
                    <a:pt x="6" y="2"/>
                  </a:lnTo>
                  <a:lnTo>
                    <a:pt x="7" y="2"/>
                  </a:lnTo>
                  <a:lnTo>
                    <a:pt x="8" y="1"/>
                  </a:lnTo>
                  <a:lnTo>
                    <a:pt x="8" y="1"/>
                  </a:lnTo>
                  <a:lnTo>
                    <a:pt x="9" y="1"/>
                  </a:lnTo>
                  <a:lnTo>
                    <a:pt x="9" y="0"/>
                  </a:lnTo>
                  <a:lnTo>
                    <a:pt x="10" y="0"/>
                  </a:lnTo>
                  <a:lnTo>
                    <a:pt x="10" y="0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3" name="Oval 212"/>
            <p:cNvSpPr/>
            <p:nvPr/>
          </p:nvSpPr>
          <p:spPr>
            <a:xfrm>
              <a:off x="8156448" y="6446520"/>
              <a:ext cx="384048" cy="365760"/>
            </a:xfrm>
            <a:prstGeom prst="ellipse">
              <a:avLst/>
            </a:prstGeom>
            <a:noFill/>
            <a:ln w="7620" cap="rnd">
              <a:solidFill>
                <a:srgbClr val="163769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27" name="Starch granule — editable vector group"/>
          <p:cNvGrpSpPr/>
          <p:nvPr/>
        </p:nvGrpSpPr>
        <p:grpSpPr>
          <a:xfrm>
            <a:off x="8247888" y="6912864"/>
            <a:ext cx="356616" cy="365760"/>
            <a:chOff x="8247888" y="6912864"/>
            <a:chExt cx="356616" cy="365760"/>
          </a:xfrm>
        </p:grpSpPr>
        <p:sp>
          <p:nvSpPr>
            <p:cNvPr id="215" name="Editable starch granule"/>
            <p:cNvSpPr/>
            <p:nvPr/>
          </p:nvSpPr>
          <p:spPr>
            <a:xfrm>
              <a:off x="8247888" y="6912864"/>
              <a:ext cx="356616" cy="365760"/>
            </a:xfrm>
            <a:prstGeom prst="ellipse">
              <a:avLst/>
            </a:prstGeom>
            <a:ln w="7620" cap="rnd">
              <a:solidFill>
                <a:srgbClr val="163769"/>
              </a:solidFill>
              <a:round/>
            </a:ln>
            <a:gradFill>
              <a:gsLst>
                <a:gs pos="0">
                  <a:srgbClr val="FFFFFF"/>
                </a:gs>
                <a:gs pos="100000">
                  <a:srgbClr val="F7FBFF"/>
                </a:gs>
              </a:gsLst>
              <a:lin ang="2700000" scaled="1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6" name="Freeform 215"/>
            <p:cNvSpPr/>
            <p:nvPr/>
          </p:nvSpPr>
          <p:spPr>
            <a:xfrm>
              <a:off x="8311896" y="6949440"/>
              <a:ext cx="100584" cy="128016"/>
            </a:xfrm>
            <a:custGeom>
              <a:avLst/>
              <a:gdLst/>
              <a:ahLst/>
              <a:cxnLst/>
              <a:rect l="l" t="t" r="r" b="b"/>
              <a:pathLst>
                <a:path w="11" h="14">
                  <a:moveTo>
                    <a:pt x="11" y="14"/>
                  </a:moveTo>
                  <a:lnTo>
                    <a:pt x="10" y="14"/>
                  </a:lnTo>
                  <a:lnTo>
                    <a:pt x="10" y="13"/>
                  </a:lnTo>
                  <a:lnTo>
                    <a:pt x="10" y="13"/>
                  </a:lnTo>
                  <a:lnTo>
                    <a:pt x="9" y="12"/>
                  </a:lnTo>
                  <a:lnTo>
                    <a:pt x="9" y="12"/>
                  </a:lnTo>
                  <a:lnTo>
                    <a:pt x="8" y="11"/>
                  </a:lnTo>
                  <a:lnTo>
                    <a:pt x="8" y="11"/>
                  </a:lnTo>
                  <a:lnTo>
                    <a:pt x="7" y="10"/>
                  </a:lnTo>
                  <a:lnTo>
                    <a:pt x="7" y="10"/>
                  </a:lnTo>
                  <a:lnTo>
                    <a:pt x="7" y="10"/>
                  </a:lnTo>
                  <a:lnTo>
                    <a:pt x="6" y="10"/>
                  </a:lnTo>
                  <a:lnTo>
                    <a:pt x="6" y="10"/>
                  </a:lnTo>
                  <a:lnTo>
                    <a:pt x="6" y="9"/>
                  </a:lnTo>
                  <a:lnTo>
                    <a:pt x="6" y="9"/>
                  </a:lnTo>
                  <a:lnTo>
                    <a:pt x="5" y="9"/>
                  </a:lnTo>
                  <a:lnTo>
                    <a:pt x="5" y="9"/>
                  </a:lnTo>
                  <a:lnTo>
                    <a:pt x="5" y="9"/>
                  </a:lnTo>
                  <a:lnTo>
                    <a:pt x="5" y="9"/>
                  </a:lnTo>
                  <a:lnTo>
                    <a:pt x="5" y="8"/>
                  </a:lnTo>
                  <a:lnTo>
                    <a:pt x="4" y="8"/>
                  </a:lnTo>
                  <a:lnTo>
                    <a:pt x="4" y="7"/>
                  </a:lnTo>
                  <a:lnTo>
                    <a:pt x="4" y="7"/>
                  </a:lnTo>
                  <a:lnTo>
                    <a:pt x="4" y="6"/>
                  </a:lnTo>
                  <a:lnTo>
                    <a:pt x="4" y="5"/>
                  </a:lnTo>
                  <a:lnTo>
                    <a:pt x="4" y="5"/>
                  </a:lnTo>
                  <a:lnTo>
                    <a:pt x="3" y="4"/>
                  </a:lnTo>
                  <a:lnTo>
                    <a:pt x="3" y="4"/>
                  </a:lnTo>
                  <a:lnTo>
                    <a:pt x="3" y="3"/>
                  </a:lnTo>
                  <a:lnTo>
                    <a:pt x="2" y="3"/>
                  </a:lnTo>
                  <a:lnTo>
                    <a:pt x="2" y="2"/>
                  </a:lnTo>
                  <a:lnTo>
                    <a:pt x="2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7" name="Freeform 216"/>
            <p:cNvSpPr/>
            <p:nvPr/>
          </p:nvSpPr>
          <p:spPr>
            <a:xfrm>
              <a:off x="8412480" y="6931152"/>
              <a:ext cx="45720" cy="137160"/>
            </a:xfrm>
            <a:custGeom>
              <a:avLst/>
              <a:gdLst/>
              <a:ahLst/>
              <a:cxnLst/>
              <a:rect l="l" t="t" r="r" b="b"/>
              <a:pathLst>
                <a:path w="5" h="15">
                  <a:moveTo>
                    <a:pt x="0" y="15"/>
                  </a:moveTo>
                  <a:lnTo>
                    <a:pt x="0" y="15"/>
                  </a:lnTo>
                  <a:lnTo>
                    <a:pt x="0" y="15"/>
                  </a:lnTo>
                  <a:lnTo>
                    <a:pt x="1" y="14"/>
                  </a:lnTo>
                  <a:lnTo>
                    <a:pt x="1" y="14"/>
                  </a:lnTo>
                  <a:lnTo>
                    <a:pt x="1" y="13"/>
                  </a:lnTo>
                  <a:lnTo>
                    <a:pt x="2" y="13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3" y="11"/>
                  </a:lnTo>
                  <a:lnTo>
                    <a:pt x="3" y="11"/>
                  </a:lnTo>
                  <a:lnTo>
                    <a:pt x="3" y="10"/>
                  </a:lnTo>
                  <a:lnTo>
                    <a:pt x="3" y="10"/>
                  </a:lnTo>
                  <a:lnTo>
                    <a:pt x="4" y="9"/>
                  </a:lnTo>
                  <a:lnTo>
                    <a:pt x="4" y="8"/>
                  </a:lnTo>
                  <a:lnTo>
                    <a:pt x="4" y="8"/>
                  </a:lnTo>
                  <a:lnTo>
                    <a:pt x="4" y="7"/>
                  </a:lnTo>
                  <a:lnTo>
                    <a:pt x="5" y="7"/>
                  </a:lnTo>
                  <a:lnTo>
                    <a:pt x="5" y="6"/>
                  </a:lnTo>
                  <a:lnTo>
                    <a:pt x="5" y="5"/>
                  </a:lnTo>
                  <a:lnTo>
                    <a:pt x="5" y="5"/>
                  </a:lnTo>
                  <a:lnTo>
                    <a:pt x="5" y="4"/>
                  </a:lnTo>
                  <a:lnTo>
                    <a:pt x="5" y="3"/>
                  </a:lnTo>
                  <a:lnTo>
                    <a:pt x="5" y="3"/>
                  </a:lnTo>
                  <a:lnTo>
                    <a:pt x="4" y="2"/>
                  </a:lnTo>
                  <a:lnTo>
                    <a:pt x="4" y="1"/>
                  </a:lnTo>
                  <a:lnTo>
                    <a:pt x="4" y="1"/>
                  </a:lnTo>
                  <a:lnTo>
                    <a:pt x="4" y="0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8" name="Freeform 217"/>
            <p:cNvSpPr/>
            <p:nvPr/>
          </p:nvSpPr>
          <p:spPr>
            <a:xfrm>
              <a:off x="8412480" y="7013448"/>
              <a:ext cx="173736" cy="73152"/>
            </a:xfrm>
            <a:custGeom>
              <a:avLst/>
              <a:gdLst/>
              <a:ahLst/>
              <a:cxnLst/>
              <a:rect l="l" t="t" r="r" b="b"/>
              <a:pathLst>
                <a:path w="19" h="8">
                  <a:moveTo>
                    <a:pt x="0" y="8"/>
                  </a:moveTo>
                  <a:lnTo>
                    <a:pt x="0" y="8"/>
                  </a:lnTo>
                  <a:lnTo>
                    <a:pt x="1" y="8"/>
                  </a:lnTo>
                  <a:lnTo>
                    <a:pt x="2" y="7"/>
                  </a:lnTo>
                  <a:lnTo>
                    <a:pt x="3" y="7"/>
                  </a:lnTo>
                  <a:lnTo>
                    <a:pt x="3" y="7"/>
                  </a:lnTo>
                  <a:lnTo>
                    <a:pt x="4" y="6"/>
                  </a:lnTo>
                  <a:lnTo>
                    <a:pt x="5" y="6"/>
                  </a:lnTo>
                  <a:lnTo>
                    <a:pt x="6" y="6"/>
                  </a:lnTo>
                  <a:lnTo>
                    <a:pt x="7" y="5"/>
                  </a:lnTo>
                  <a:lnTo>
                    <a:pt x="7" y="5"/>
                  </a:lnTo>
                  <a:lnTo>
                    <a:pt x="8" y="5"/>
                  </a:lnTo>
                  <a:lnTo>
                    <a:pt x="8" y="5"/>
                  </a:lnTo>
                  <a:lnTo>
                    <a:pt x="9" y="5"/>
                  </a:lnTo>
                  <a:lnTo>
                    <a:pt x="9" y="5"/>
                  </a:lnTo>
                  <a:lnTo>
                    <a:pt x="10" y="6"/>
                  </a:lnTo>
                  <a:lnTo>
                    <a:pt x="11" y="6"/>
                  </a:lnTo>
                  <a:lnTo>
                    <a:pt x="11" y="6"/>
                  </a:lnTo>
                  <a:lnTo>
                    <a:pt x="12" y="5"/>
                  </a:lnTo>
                  <a:lnTo>
                    <a:pt x="12" y="5"/>
                  </a:lnTo>
                  <a:lnTo>
                    <a:pt x="13" y="5"/>
                  </a:lnTo>
                  <a:lnTo>
                    <a:pt x="13" y="5"/>
                  </a:lnTo>
                  <a:lnTo>
                    <a:pt x="14" y="4"/>
                  </a:lnTo>
                  <a:lnTo>
                    <a:pt x="14" y="4"/>
                  </a:lnTo>
                  <a:lnTo>
                    <a:pt x="15" y="3"/>
                  </a:lnTo>
                  <a:lnTo>
                    <a:pt x="15" y="3"/>
                  </a:lnTo>
                  <a:lnTo>
                    <a:pt x="16" y="3"/>
                  </a:lnTo>
                  <a:lnTo>
                    <a:pt x="16" y="2"/>
                  </a:lnTo>
                  <a:lnTo>
                    <a:pt x="17" y="2"/>
                  </a:lnTo>
                  <a:lnTo>
                    <a:pt x="17" y="2"/>
                  </a:lnTo>
                  <a:lnTo>
                    <a:pt x="17" y="1"/>
                  </a:lnTo>
                  <a:lnTo>
                    <a:pt x="18" y="1"/>
                  </a:lnTo>
                  <a:lnTo>
                    <a:pt x="18" y="1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9" y="0"/>
                  </a:lnTo>
                  <a:lnTo>
                    <a:pt x="19" y="0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9" name="Freeform 218"/>
            <p:cNvSpPr/>
            <p:nvPr/>
          </p:nvSpPr>
          <p:spPr>
            <a:xfrm>
              <a:off x="8421624" y="7095744"/>
              <a:ext cx="173736" cy="82296"/>
            </a:xfrm>
            <a:custGeom>
              <a:avLst/>
              <a:gdLst/>
              <a:ahLst/>
              <a:cxnLst/>
              <a:rect l="l" t="t" r="r" b="b"/>
              <a:pathLst>
                <a:path w="19" h="9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2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4" y="4"/>
                  </a:lnTo>
                  <a:lnTo>
                    <a:pt x="4" y="4"/>
                  </a:lnTo>
                  <a:lnTo>
                    <a:pt x="5" y="4"/>
                  </a:lnTo>
                  <a:lnTo>
                    <a:pt x="5" y="5"/>
                  </a:lnTo>
                  <a:lnTo>
                    <a:pt x="6" y="5"/>
                  </a:lnTo>
                  <a:lnTo>
                    <a:pt x="6" y="5"/>
                  </a:lnTo>
                  <a:lnTo>
                    <a:pt x="7" y="5"/>
                  </a:lnTo>
                  <a:lnTo>
                    <a:pt x="7" y="6"/>
                  </a:lnTo>
                  <a:lnTo>
                    <a:pt x="8" y="6"/>
                  </a:lnTo>
                  <a:lnTo>
                    <a:pt x="8" y="6"/>
                  </a:lnTo>
                  <a:lnTo>
                    <a:pt x="9" y="6"/>
                  </a:lnTo>
                  <a:lnTo>
                    <a:pt x="9" y="6"/>
                  </a:lnTo>
                  <a:lnTo>
                    <a:pt x="10" y="6"/>
                  </a:lnTo>
                  <a:lnTo>
                    <a:pt x="10" y="6"/>
                  </a:lnTo>
                  <a:lnTo>
                    <a:pt x="11" y="6"/>
                  </a:lnTo>
                  <a:lnTo>
                    <a:pt x="12" y="6"/>
                  </a:lnTo>
                  <a:lnTo>
                    <a:pt x="13" y="6"/>
                  </a:lnTo>
                  <a:lnTo>
                    <a:pt x="13" y="6"/>
                  </a:lnTo>
                  <a:lnTo>
                    <a:pt x="14" y="5"/>
                  </a:lnTo>
                  <a:lnTo>
                    <a:pt x="15" y="5"/>
                  </a:lnTo>
                  <a:lnTo>
                    <a:pt x="15" y="6"/>
                  </a:lnTo>
                  <a:lnTo>
                    <a:pt x="16" y="6"/>
                  </a:lnTo>
                  <a:lnTo>
                    <a:pt x="16" y="6"/>
                  </a:lnTo>
                  <a:lnTo>
                    <a:pt x="17" y="7"/>
                  </a:lnTo>
                  <a:lnTo>
                    <a:pt x="17" y="7"/>
                  </a:lnTo>
                  <a:lnTo>
                    <a:pt x="18" y="7"/>
                  </a:lnTo>
                  <a:lnTo>
                    <a:pt x="18" y="8"/>
                  </a:lnTo>
                  <a:lnTo>
                    <a:pt x="18" y="8"/>
                  </a:lnTo>
                  <a:lnTo>
                    <a:pt x="19" y="9"/>
                  </a:lnTo>
                  <a:lnTo>
                    <a:pt x="19" y="9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0" name="Freeform 219"/>
            <p:cNvSpPr/>
            <p:nvPr/>
          </p:nvSpPr>
          <p:spPr>
            <a:xfrm>
              <a:off x="8366760" y="7114032"/>
              <a:ext cx="45720" cy="146304"/>
            </a:xfrm>
            <a:custGeom>
              <a:avLst/>
              <a:gdLst/>
              <a:ahLst/>
              <a:cxnLst/>
              <a:rect l="l" t="t" r="r" b="b"/>
              <a:pathLst>
                <a:path w="5" h="16">
                  <a:moveTo>
                    <a:pt x="5" y="0"/>
                  </a:moveTo>
                  <a:lnTo>
                    <a:pt x="5" y="0"/>
                  </a:lnTo>
                  <a:lnTo>
                    <a:pt x="4" y="1"/>
                  </a:lnTo>
                  <a:lnTo>
                    <a:pt x="4" y="2"/>
                  </a:lnTo>
                  <a:lnTo>
                    <a:pt x="4" y="2"/>
                  </a:lnTo>
                  <a:lnTo>
                    <a:pt x="3" y="3"/>
                  </a:lnTo>
                  <a:lnTo>
                    <a:pt x="3" y="4"/>
                  </a:lnTo>
                  <a:lnTo>
                    <a:pt x="2" y="5"/>
                  </a:lnTo>
                  <a:lnTo>
                    <a:pt x="2" y="6"/>
                  </a:lnTo>
                  <a:lnTo>
                    <a:pt x="2" y="6"/>
                  </a:lnTo>
                  <a:lnTo>
                    <a:pt x="2" y="7"/>
                  </a:lnTo>
                  <a:lnTo>
                    <a:pt x="2" y="8"/>
                  </a:lnTo>
                  <a:lnTo>
                    <a:pt x="2" y="8"/>
                  </a:lnTo>
                  <a:lnTo>
                    <a:pt x="2" y="9"/>
                  </a:lnTo>
                  <a:lnTo>
                    <a:pt x="2" y="9"/>
                  </a:lnTo>
                  <a:lnTo>
                    <a:pt x="2" y="10"/>
                  </a:lnTo>
                  <a:lnTo>
                    <a:pt x="3" y="10"/>
                  </a:lnTo>
                  <a:lnTo>
                    <a:pt x="3" y="11"/>
                  </a:lnTo>
                  <a:lnTo>
                    <a:pt x="3" y="11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2" y="13"/>
                  </a:lnTo>
                  <a:lnTo>
                    <a:pt x="1" y="14"/>
                  </a:lnTo>
                  <a:lnTo>
                    <a:pt x="1" y="14"/>
                  </a:lnTo>
                  <a:lnTo>
                    <a:pt x="1" y="15"/>
                  </a:lnTo>
                  <a:lnTo>
                    <a:pt x="0" y="15"/>
                  </a:lnTo>
                  <a:lnTo>
                    <a:pt x="0" y="16"/>
                  </a:lnTo>
                  <a:lnTo>
                    <a:pt x="0" y="16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1" name="Freeform 220"/>
            <p:cNvSpPr/>
            <p:nvPr/>
          </p:nvSpPr>
          <p:spPr>
            <a:xfrm>
              <a:off x="8266176" y="7095744"/>
              <a:ext cx="137160" cy="54864"/>
            </a:xfrm>
            <a:custGeom>
              <a:avLst/>
              <a:gdLst/>
              <a:ahLst/>
              <a:cxnLst/>
              <a:rect l="l" t="t" r="r" b="b"/>
              <a:pathLst>
                <a:path w="15" h="6">
                  <a:moveTo>
                    <a:pt x="15" y="0"/>
                  </a:moveTo>
                  <a:lnTo>
                    <a:pt x="14" y="1"/>
                  </a:lnTo>
                  <a:lnTo>
                    <a:pt x="14" y="1"/>
                  </a:lnTo>
                  <a:lnTo>
                    <a:pt x="13" y="1"/>
                  </a:lnTo>
                  <a:lnTo>
                    <a:pt x="13" y="1"/>
                  </a:lnTo>
                  <a:lnTo>
                    <a:pt x="12" y="1"/>
                  </a:lnTo>
                  <a:lnTo>
                    <a:pt x="12" y="2"/>
                  </a:lnTo>
                  <a:lnTo>
                    <a:pt x="11" y="2"/>
                  </a:lnTo>
                  <a:lnTo>
                    <a:pt x="10" y="2"/>
                  </a:lnTo>
                  <a:lnTo>
                    <a:pt x="10" y="2"/>
                  </a:lnTo>
                  <a:lnTo>
                    <a:pt x="9" y="3"/>
                  </a:lnTo>
                  <a:lnTo>
                    <a:pt x="9" y="3"/>
                  </a:lnTo>
                  <a:lnTo>
                    <a:pt x="8" y="4"/>
                  </a:lnTo>
                  <a:lnTo>
                    <a:pt x="8" y="4"/>
                  </a:lnTo>
                  <a:lnTo>
                    <a:pt x="7" y="5"/>
                  </a:lnTo>
                  <a:lnTo>
                    <a:pt x="7" y="5"/>
                  </a:lnTo>
                  <a:lnTo>
                    <a:pt x="6" y="5"/>
                  </a:lnTo>
                  <a:lnTo>
                    <a:pt x="6" y="6"/>
                  </a:lnTo>
                  <a:lnTo>
                    <a:pt x="5" y="6"/>
                  </a:lnTo>
                  <a:lnTo>
                    <a:pt x="5" y="6"/>
                  </a:lnTo>
                  <a:lnTo>
                    <a:pt x="4" y="6"/>
                  </a:lnTo>
                  <a:lnTo>
                    <a:pt x="3" y="6"/>
                  </a:lnTo>
                  <a:lnTo>
                    <a:pt x="3" y="6"/>
                  </a:lnTo>
                  <a:lnTo>
                    <a:pt x="2" y="6"/>
                  </a:lnTo>
                  <a:lnTo>
                    <a:pt x="1" y="6"/>
                  </a:lnTo>
                  <a:lnTo>
                    <a:pt x="1" y="6"/>
                  </a:lnTo>
                  <a:lnTo>
                    <a:pt x="0" y="6"/>
                  </a:lnTo>
                  <a:lnTo>
                    <a:pt x="0" y="6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2" name="Freeform 221"/>
            <p:cNvSpPr/>
            <p:nvPr/>
          </p:nvSpPr>
          <p:spPr>
            <a:xfrm>
              <a:off x="8293608" y="7150608"/>
              <a:ext cx="27432" cy="73152"/>
            </a:xfrm>
            <a:custGeom>
              <a:avLst/>
              <a:gdLst/>
              <a:ahLst/>
              <a:cxnLst/>
              <a:rect l="l" t="t" r="r" b="b"/>
              <a:pathLst>
                <a:path w="3" h="8">
                  <a:moveTo>
                    <a:pt x="3" y="0"/>
                  </a:moveTo>
                  <a:lnTo>
                    <a:pt x="3" y="0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2"/>
                  </a:lnTo>
                  <a:lnTo>
                    <a:pt x="3" y="3"/>
                  </a:lnTo>
                  <a:lnTo>
                    <a:pt x="3" y="3"/>
                  </a:lnTo>
                  <a:lnTo>
                    <a:pt x="3" y="4"/>
                  </a:lnTo>
                  <a:lnTo>
                    <a:pt x="3" y="5"/>
                  </a:lnTo>
                  <a:lnTo>
                    <a:pt x="3" y="5"/>
                  </a:lnTo>
                  <a:lnTo>
                    <a:pt x="3" y="6"/>
                  </a:lnTo>
                  <a:lnTo>
                    <a:pt x="3" y="6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7"/>
                  </a:lnTo>
                  <a:lnTo>
                    <a:pt x="1" y="8"/>
                  </a:lnTo>
                  <a:lnTo>
                    <a:pt x="1" y="8"/>
                  </a:lnTo>
                  <a:lnTo>
                    <a:pt x="1" y="8"/>
                  </a:lnTo>
                  <a:lnTo>
                    <a:pt x="0" y="8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3" name="Freeform 222"/>
            <p:cNvSpPr/>
            <p:nvPr/>
          </p:nvSpPr>
          <p:spPr>
            <a:xfrm>
              <a:off x="8476488" y="6967728"/>
              <a:ext cx="36576" cy="91440"/>
            </a:xfrm>
            <a:custGeom>
              <a:avLst/>
              <a:gdLst/>
              <a:ahLst/>
              <a:cxnLst/>
              <a:rect l="l" t="t" r="r" b="b"/>
              <a:pathLst>
                <a:path w="4" h="10">
                  <a:moveTo>
                    <a:pt x="0" y="10"/>
                  </a:moveTo>
                  <a:lnTo>
                    <a:pt x="0" y="10"/>
                  </a:lnTo>
                  <a:lnTo>
                    <a:pt x="0" y="10"/>
                  </a:lnTo>
                  <a:lnTo>
                    <a:pt x="0" y="9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7"/>
                  </a:lnTo>
                  <a:lnTo>
                    <a:pt x="0" y="6"/>
                  </a:lnTo>
                  <a:lnTo>
                    <a:pt x="1" y="6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4"/>
                  </a:lnTo>
                  <a:lnTo>
                    <a:pt x="2" y="3"/>
                  </a:lnTo>
                  <a:lnTo>
                    <a:pt x="2" y="3"/>
                  </a:lnTo>
                  <a:lnTo>
                    <a:pt x="3" y="2"/>
                  </a:lnTo>
                  <a:lnTo>
                    <a:pt x="3" y="2"/>
                  </a:lnTo>
                  <a:lnTo>
                    <a:pt x="4" y="1"/>
                  </a:lnTo>
                  <a:lnTo>
                    <a:pt x="4" y="1"/>
                  </a:lnTo>
                  <a:lnTo>
                    <a:pt x="4" y="0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4" name="Freeform 223"/>
            <p:cNvSpPr/>
            <p:nvPr/>
          </p:nvSpPr>
          <p:spPr>
            <a:xfrm>
              <a:off x="8494776" y="7150608"/>
              <a:ext cx="27432" cy="91440"/>
            </a:xfrm>
            <a:custGeom>
              <a:avLst/>
              <a:gdLst/>
              <a:ahLst/>
              <a:cxnLst/>
              <a:rect l="l" t="t" r="r" b="b"/>
              <a:pathLst>
                <a:path w="3" h="10">
                  <a:moveTo>
                    <a:pt x="1" y="0"/>
                  </a:moveTo>
                  <a:lnTo>
                    <a:pt x="1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6"/>
                  </a:lnTo>
                  <a:lnTo>
                    <a:pt x="1" y="7"/>
                  </a:lnTo>
                  <a:lnTo>
                    <a:pt x="1" y="8"/>
                  </a:lnTo>
                  <a:lnTo>
                    <a:pt x="1" y="8"/>
                  </a:lnTo>
                  <a:lnTo>
                    <a:pt x="2" y="9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3" y="10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5" name="Freeform 224"/>
            <p:cNvSpPr/>
            <p:nvPr/>
          </p:nvSpPr>
          <p:spPr>
            <a:xfrm>
              <a:off x="8275320" y="7013448"/>
              <a:ext cx="82296" cy="27432"/>
            </a:xfrm>
            <a:custGeom>
              <a:avLst/>
              <a:gdLst/>
              <a:ahLst/>
              <a:cxnLst/>
              <a:rect l="l" t="t" r="r" b="b"/>
              <a:pathLst>
                <a:path w="9" h="3">
                  <a:moveTo>
                    <a:pt x="9" y="2"/>
                  </a:moveTo>
                  <a:lnTo>
                    <a:pt x="8" y="2"/>
                  </a:lnTo>
                  <a:lnTo>
                    <a:pt x="8" y="2"/>
                  </a:lnTo>
                  <a:lnTo>
                    <a:pt x="8" y="2"/>
                  </a:lnTo>
                  <a:lnTo>
                    <a:pt x="7" y="2"/>
                  </a:lnTo>
                  <a:lnTo>
                    <a:pt x="7" y="2"/>
                  </a:lnTo>
                  <a:lnTo>
                    <a:pt x="6" y="3"/>
                  </a:lnTo>
                  <a:lnTo>
                    <a:pt x="5" y="3"/>
                  </a:lnTo>
                  <a:lnTo>
                    <a:pt x="5" y="3"/>
                  </a:lnTo>
                  <a:lnTo>
                    <a:pt x="4" y="3"/>
                  </a:lnTo>
                  <a:lnTo>
                    <a:pt x="4" y="2"/>
                  </a:lnTo>
                  <a:lnTo>
                    <a:pt x="3" y="2"/>
                  </a:lnTo>
                  <a:lnTo>
                    <a:pt x="3" y="2"/>
                  </a:lnTo>
                  <a:lnTo>
                    <a:pt x="2" y="1"/>
                  </a:lnTo>
                  <a:lnTo>
                    <a:pt x="2" y="1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6" name="Oval 225"/>
            <p:cNvSpPr/>
            <p:nvPr/>
          </p:nvSpPr>
          <p:spPr>
            <a:xfrm>
              <a:off x="8247888" y="6912864"/>
              <a:ext cx="356616" cy="365760"/>
            </a:xfrm>
            <a:prstGeom prst="ellipse">
              <a:avLst/>
            </a:prstGeom>
            <a:noFill/>
            <a:ln w="7620" cap="rnd">
              <a:solidFill>
                <a:srgbClr val="163769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40" name="Starch granule — editable vector group"/>
          <p:cNvGrpSpPr/>
          <p:nvPr/>
        </p:nvGrpSpPr>
        <p:grpSpPr>
          <a:xfrm>
            <a:off x="8604504" y="6739128"/>
            <a:ext cx="237744" cy="237744"/>
            <a:chOff x="8604504" y="6739128"/>
            <a:chExt cx="237744" cy="237744"/>
          </a:xfrm>
        </p:grpSpPr>
        <p:sp>
          <p:nvSpPr>
            <p:cNvPr id="228" name="Editable starch granule"/>
            <p:cNvSpPr/>
            <p:nvPr/>
          </p:nvSpPr>
          <p:spPr>
            <a:xfrm>
              <a:off x="8604504" y="6739128"/>
              <a:ext cx="237744" cy="237744"/>
            </a:xfrm>
            <a:prstGeom prst="ellipse">
              <a:avLst/>
            </a:prstGeom>
            <a:ln w="7620" cap="rnd">
              <a:solidFill>
                <a:srgbClr val="163769"/>
              </a:solidFill>
              <a:round/>
            </a:ln>
            <a:gradFill>
              <a:gsLst>
                <a:gs pos="0">
                  <a:srgbClr val="FFFFFF"/>
                </a:gs>
                <a:gs pos="100000">
                  <a:srgbClr val="F7FBFF"/>
                </a:gs>
              </a:gsLst>
              <a:lin ang="2700000" scaled="1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9" name="Freeform 228"/>
            <p:cNvSpPr/>
            <p:nvPr/>
          </p:nvSpPr>
          <p:spPr>
            <a:xfrm>
              <a:off x="8732520" y="6766560"/>
              <a:ext cx="73152" cy="82296"/>
            </a:xfrm>
            <a:custGeom>
              <a:avLst/>
              <a:gdLst/>
              <a:ahLst/>
              <a:cxnLst/>
              <a:rect l="l" t="t" r="r" b="b"/>
              <a:pathLst>
                <a:path w="8" h="9">
                  <a:moveTo>
                    <a:pt x="0" y="9"/>
                  </a:moveTo>
                  <a:lnTo>
                    <a:pt x="0" y="9"/>
                  </a:lnTo>
                  <a:lnTo>
                    <a:pt x="1" y="8"/>
                  </a:lnTo>
                  <a:lnTo>
                    <a:pt x="1" y="8"/>
                  </a:lnTo>
                  <a:lnTo>
                    <a:pt x="1" y="8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6"/>
                  </a:lnTo>
                  <a:lnTo>
                    <a:pt x="3" y="6"/>
                  </a:lnTo>
                  <a:lnTo>
                    <a:pt x="3" y="6"/>
                  </a:lnTo>
                  <a:lnTo>
                    <a:pt x="3" y="6"/>
                  </a:lnTo>
                  <a:lnTo>
                    <a:pt x="3" y="6"/>
                  </a:lnTo>
                  <a:lnTo>
                    <a:pt x="3" y="6"/>
                  </a:lnTo>
                  <a:lnTo>
                    <a:pt x="4" y="6"/>
                  </a:lnTo>
                  <a:lnTo>
                    <a:pt x="4" y="6"/>
                  </a:lnTo>
                  <a:lnTo>
                    <a:pt x="4" y="6"/>
                  </a:lnTo>
                  <a:lnTo>
                    <a:pt x="4" y="6"/>
                  </a:lnTo>
                  <a:lnTo>
                    <a:pt x="4" y="5"/>
                  </a:lnTo>
                  <a:lnTo>
                    <a:pt x="4" y="5"/>
                  </a:lnTo>
                  <a:lnTo>
                    <a:pt x="4" y="5"/>
                  </a:lnTo>
                  <a:lnTo>
                    <a:pt x="5" y="4"/>
                  </a:lnTo>
                  <a:lnTo>
                    <a:pt x="5" y="4"/>
                  </a:lnTo>
                  <a:lnTo>
                    <a:pt x="5" y="3"/>
                  </a:lnTo>
                  <a:lnTo>
                    <a:pt x="5" y="3"/>
                  </a:lnTo>
                  <a:lnTo>
                    <a:pt x="5" y="3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6" y="1"/>
                  </a:lnTo>
                  <a:lnTo>
                    <a:pt x="6" y="1"/>
                  </a:lnTo>
                  <a:lnTo>
                    <a:pt x="6" y="1"/>
                  </a:lnTo>
                  <a:lnTo>
                    <a:pt x="7" y="1"/>
                  </a:lnTo>
                  <a:lnTo>
                    <a:pt x="7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8" y="0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0" name="Freeform 229"/>
            <p:cNvSpPr/>
            <p:nvPr/>
          </p:nvSpPr>
          <p:spPr>
            <a:xfrm>
              <a:off x="8705088" y="6757416"/>
              <a:ext cx="27432" cy="82296"/>
            </a:xfrm>
            <a:custGeom>
              <a:avLst/>
              <a:gdLst/>
              <a:ahLst/>
              <a:cxnLst/>
              <a:rect l="l" t="t" r="r" b="b"/>
              <a:pathLst>
                <a:path w="3" h="9">
                  <a:moveTo>
                    <a:pt x="3" y="9"/>
                  </a:moveTo>
                  <a:lnTo>
                    <a:pt x="3" y="9"/>
                  </a:lnTo>
                  <a:lnTo>
                    <a:pt x="3" y="9"/>
                  </a:lnTo>
                  <a:lnTo>
                    <a:pt x="3" y="9"/>
                  </a:lnTo>
                  <a:lnTo>
                    <a:pt x="2" y="8"/>
                  </a:lnTo>
                  <a:lnTo>
                    <a:pt x="2" y="8"/>
                  </a:lnTo>
                  <a:lnTo>
                    <a:pt x="2" y="8"/>
                  </a:lnTo>
                  <a:lnTo>
                    <a:pt x="2" y="7"/>
                  </a:lnTo>
                  <a:lnTo>
                    <a:pt x="1" y="7"/>
                  </a:lnTo>
                  <a:lnTo>
                    <a:pt x="1" y="7"/>
                  </a:lnTo>
                  <a:lnTo>
                    <a:pt x="1" y="6"/>
                  </a:lnTo>
                  <a:lnTo>
                    <a:pt x="1" y="6"/>
                  </a:lnTo>
                  <a:lnTo>
                    <a:pt x="1" y="6"/>
                  </a:lnTo>
                  <a:lnTo>
                    <a:pt x="1" y="5"/>
                  </a:lnTo>
                  <a:lnTo>
                    <a:pt x="0" y="5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1" name="Freeform 230"/>
            <p:cNvSpPr/>
            <p:nvPr/>
          </p:nvSpPr>
          <p:spPr>
            <a:xfrm>
              <a:off x="8622792" y="6803136"/>
              <a:ext cx="109728" cy="45720"/>
            </a:xfrm>
            <a:custGeom>
              <a:avLst/>
              <a:gdLst/>
              <a:ahLst/>
              <a:cxnLst/>
              <a:rect l="l" t="t" r="r" b="b"/>
              <a:pathLst>
                <a:path w="12" h="5">
                  <a:moveTo>
                    <a:pt x="12" y="5"/>
                  </a:moveTo>
                  <a:lnTo>
                    <a:pt x="12" y="5"/>
                  </a:lnTo>
                  <a:lnTo>
                    <a:pt x="11" y="5"/>
                  </a:lnTo>
                  <a:lnTo>
                    <a:pt x="11" y="5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9" y="4"/>
                  </a:lnTo>
                  <a:lnTo>
                    <a:pt x="9" y="4"/>
                  </a:lnTo>
                  <a:lnTo>
                    <a:pt x="8" y="4"/>
                  </a:lnTo>
                  <a:lnTo>
                    <a:pt x="8" y="4"/>
                  </a:lnTo>
                  <a:lnTo>
                    <a:pt x="7" y="4"/>
                  </a:lnTo>
                  <a:lnTo>
                    <a:pt x="7" y="4"/>
                  </a:lnTo>
                  <a:lnTo>
                    <a:pt x="6" y="4"/>
                  </a:lnTo>
                  <a:lnTo>
                    <a:pt x="6" y="4"/>
                  </a:lnTo>
                  <a:lnTo>
                    <a:pt x="6" y="4"/>
                  </a:lnTo>
                  <a:lnTo>
                    <a:pt x="5" y="4"/>
                  </a:lnTo>
                  <a:lnTo>
                    <a:pt x="5" y="4"/>
                  </a:lnTo>
                  <a:lnTo>
                    <a:pt x="5" y="4"/>
                  </a:lnTo>
                  <a:lnTo>
                    <a:pt x="4" y="4"/>
                  </a:lnTo>
                  <a:lnTo>
                    <a:pt x="4" y="4"/>
                  </a:lnTo>
                  <a:lnTo>
                    <a:pt x="3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2" y="3"/>
                  </a:lnTo>
                  <a:lnTo>
                    <a:pt x="2" y="2"/>
                  </a:lnTo>
                  <a:lnTo>
                    <a:pt x="2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2" name="Freeform 231"/>
            <p:cNvSpPr/>
            <p:nvPr/>
          </p:nvSpPr>
          <p:spPr>
            <a:xfrm>
              <a:off x="8613648" y="6858000"/>
              <a:ext cx="118872" cy="54864"/>
            </a:xfrm>
            <a:custGeom>
              <a:avLst/>
              <a:gdLst/>
              <a:ahLst/>
              <a:cxnLst/>
              <a:rect l="l" t="t" r="r" b="b"/>
              <a:pathLst>
                <a:path w="13" h="6">
                  <a:moveTo>
                    <a:pt x="13" y="0"/>
                  </a:moveTo>
                  <a:lnTo>
                    <a:pt x="12" y="0"/>
                  </a:lnTo>
                  <a:lnTo>
                    <a:pt x="12" y="1"/>
                  </a:lnTo>
                  <a:lnTo>
                    <a:pt x="12" y="1"/>
                  </a:lnTo>
                  <a:lnTo>
                    <a:pt x="11" y="1"/>
                  </a:lnTo>
                  <a:lnTo>
                    <a:pt x="11" y="2"/>
                  </a:lnTo>
                  <a:lnTo>
                    <a:pt x="10" y="2"/>
                  </a:lnTo>
                  <a:lnTo>
                    <a:pt x="10" y="2"/>
                  </a:lnTo>
                  <a:lnTo>
                    <a:pt x="10" y="3"/>
                  </a:lnTo>
                  <a:lnTo>
                    <a:pt x="9" y="3"/>
                  </a:lnTo>
                  <a:lnTo>
                    <a:pt x="9" y="3"/>
                  </a:lnTo>
                  <a:lnTo>
                    <a:pt x="8" y="3"/>
                  </a:lnTo>
                  <a:lnTo>
                    <a:pt x="8" y="3"/>
                  </a:lnTo>
                  <a:lnTo>
                    <a:pt x="8" y="4"/>
                  </a:lnTo>
                  <a:lnTo>
                    <a:pt x="8" y="4"/>
                  </a:lnTo>
                  <a:lnTo>
                    <a:pt x="7" y="4"/>
                  </a:lnTo>
                  <a:lnTo>
                    <a:pt x="7" y="4"/>
                  </a:lnTo>
                  <a:lnTo>
                    <a:pt x="7" y="4"/>
                  </a:lnTo>
                  <a:lnTo>
                    <a:pt x="6" y="4"/>
                  </a:lnTo>
                  <a:lnTo>
                    <a:pt x="6" y="4"/>
                  </a:lnTo>
                  <a:lnTo>
                    <a:pt x="5" y="4"/>
                  </a:lnTo>
                  <a:lnTo>
                    <a:pt x="5" y="4"/>
                  </a:lnTo>
                  <a:lnTo>
                    <a:pt x="4" y="4"/>
                  </a:lnTo>
                  <a:lnTo>
                    <a:pt x="4" y="4"/>
                  </a:lnTo>
                  <a:lnTo>
                    <a:pt x="3" y="4"/>
                  </a:lnTo>
                  <a:lnTo>
                    <a:pt x="3" y="4"/>
                  </a:lnTo>
                  <a:lnTo>
                    <a:pt x="3" y="4"/>
                  </a:lnTo>
                  <a:lnTo>
                    <a:pt x="2" y="4"/>
                  </a:lnTo>
                  <a:lnTo>
                    <a:pt x="2" y="4"/>
                  </a:lnTo>
                  <a:lnTo>
                    <a:pt x="1" y="4"/>
                  </a:lnTo>
                  <a:lnTo>
                    <a:pt x="1" y="4"/>
                  </a:lnTo>
                  <a:lnTo>
                    <a:pt x="1" y="5"/>
                  </a:lnTo>
                  <a:lnTo>
                    <a:pt x="1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6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3" name="Freeform 232"/>
            <p:cNvSpPr/>
            <p:nvPr/>
          </p:nvSpPr>
          <p:spPr>
            <a:xfrm>
              <a:off x="8732520" y="6867144"/>
              <a:ext cx="27432" cy="100584"/>
            </a:xfrm>
            <a:custGeom>
              <a:avLst/>
              <a:gdLst/>
              <a:ahLst/>
              <a:cxnLst/>
              <a:rect l="l" t="t" r="r" b="b"/>
              <a:pathLst>
                <a:path w="3" h="1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1" y="2"/>
                  </a:lnTo>
                  <a:lnTo>
                    <a:pt x="2" y="3"/>
                  </a:lnTo>
                  <a:lnTo>
                    <a:pt x="2" y="4"/>
                  </a:lnTo>
                  <a:lnTo>
                    <a:pt x="2" y="4"/>
                  </a:lnTo>
                  <a:lnTo>
                    <a:pt x="2" y="4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6"/>
                  </a:lnTo>
                  <a:lnTo>
                    <a:pt x="2" y="6"/>
                  </a:lnTo>
                  <a:lnTo>
                    <a:pt x="2" y="6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8"/>
                  </a:lnTo>
                  <a:lnTo>
                    <a:pt x="2" y="8"/>
                  </a:lnTo>
                  <a:lnTo>
                    <a:pt x="2" y="8"/>
                  </a:lnTo>
                  <a:lnTo>
                    <a:pt x="2" y="9"/>
                  </a:lnTo>
                  <a:lnTo>
                    <a:pt x="2" y="9"/>
                  </a:lnTo>
                  <a:lnTo>
                    <a:pt x="3" y="10"/>
                  </a:lnTo>
                  <a:lnTo>
                    <a:pt x="3" y="10"/>
                  </a:lnTo>
                  <a:lnTo>
                    <a:pt x="3" y="10"/>
                  </a:lnTo>
                  <a:lnTo>
                    <a:pt x="3" y="10"/>
                  </a:lnTo>
                  <a:lnTo>
                    <a:pt x="3" y="11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4" name="Freeform 233"/>
            <p:cNvSpPr/>
            <p:nvPr/>
          </p:nvSpPr>
          <p:spPr>
            <a:xfrm>
              <a:off x="8741664" y="6858000"/>
              <a:ext cx="91440" cy="36576"/>
            </a:xfrm>
            <a:custGeom>
              <a:avLst/>
              <a:gdLst/>
              <a:ahLst/>
              <a:cxnLst/>
              <a:rect l="l" t="t" r="r" b="b"/>
              <a:pathLst>
                <a:path w="10" h="4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3" y="1"/>
                  </a:lnTo>
                  <a:lnTo>
                    <a:pt x="3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3"/>
                  </a:lnTo>
                  <a:lnTo>
                    <a:pt x="5" y="3"/>
                  </a:lnTo>
                  <a:lnTo>
                    <a:pt x="5" y="3"/>
                  </a:lnTo>
                  <a:lnTo>
                    <a:pt x="5" y="4"/>
                  </a:lnTo>
                  <a:lnTo>
                    <a:pt x="6" y="4"/>
                  </a:lnTo>
                  <a:lnTo>
                    <a:pt x="6" y="4"/>
                  </a:lnTo>
                  <a:lnTo>
                    <a:pt x="6" y="4"/>
                  </a:lnTo>
                  <a:lnTo>
                    <a:pt x="7" y="4"/>
                  </a:lnTo>
                  <a:lnTo>
                    <a:pt x="7" y="4"/>
                  </a:lnTo>
                  <a:lnTo>
                    <a:pt x="8" y="4"/>
                  </a:lnTo>
                  <a:lnTo>
                    <a:pt x="8" y="4"/>
                  </a:lnTo>
                  <a:lnTo>
                    <a:pt x="9" y="4"/>
                  </a:lnTo>
                  <a:lnTo>
                    <a:pt x="9" y="4"/>
                  </a:lnTo>
                  <a:lnTo>
                    <a:pt x="9" y="4"/>
                  </a:lnTo>
                  <a:lnTo>
                    <a:pt x="10" y="4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5" name="Freeform 234"/>
            <p:cNvSpPr/>
            <p:nvPr/>
          </p:nvSpPr>
          <p:spPr>
            <a:xfrm>
              <a:off x="8787384" y="6894576"/>
              <a:ext cx="18288" cy="45720"/>
            </a:xfrm>
            <a:custGeom>
              <a:avLst/>
              <a:gdLst/>
              <a:ahLst/>
              <a:cxnLst/>
              <a:rect l="l" t="t" r="r" b="b"/>
              <a:pathLst>
                <a:path w="2" h="5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1" y="3"/>
                  </a:lnTo>
                  <a:lnTo>
                    <a:pt x="1" y="4"/>
                  </a:lnTo>
                  <a:lnTo>
                    <a:pt x="1" y="4"/>
                  </a:lnTo>
                  <a:lnTo>
                    <a:pt x="1" y="4"/>
                  </a:lnTo>
                  <a:lnTo>
                    <a:pt x="1" y="4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6" name="Freeform 235"/>
            <p:cNvSpPr/>
            <p:nvPr/>
          </p:nvSpPr>
          <p:spPr>
            <a:xfrm>
              <a:off x="8668512" y="6775704"/>
              <a:ext cx="18288" cy="64008"/>
            </a:xfrm>
            <a:custGeom>
              <a:avLst/>
              <a:gdLst/>
              <a:ahLst/>
              <a:cxnLst/>
              <a:rect l="l" t="t" r="r" b="b"/>
              <a:pathLst>
                <a:path w="2" h="7">
                  <a:moveTo>
                    <a:pt x="2" y="7"/>
                  </a:moveTo>
                  <a:lnTo>
                    <a:pt x="2" y="6"/>
                  </a:lnTo>
                  <a:lnTo>
                    <a:pt x="2" y="6"/>
                  </a:lnTo>
                  <a:lnTo>
                    <a:pt x="2" y="6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4"/>
                  </a:lnTo>
                  <a:lnTo>
                    <a:pt x="2" y="4"/>
                  </a:lnTo>
                  <a:lnTo>
                    <a:pt x="2" y="3"/>
                  </a:lnTo>
                  <a:lnTo>
                    <a:pt x="2" y="3"/>
                  </a:lnTo>
                  <a:lnTo>
                    <a:pt x="1" y="3"/>
                  </a:lnTo>
                  <a:lnTo>
                    <a:pt x="1" y="2"/>
                  </a:lnTo>
                  <a:lnTo>
                    <a:pt x="1" y="2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7" name="Freeform 236"/>
            <p:cNvSpPr/>
            <p:nvPr/>
          </p:nvSpPr>
          <p:spPr>
            <a:xfrm>
              <a:off x="8659368" y="6894576"/>
              <a:ext cx="18288" cy="64008"/>
            </a:xfrm>
            <a:custGeom>
              <a:avLst/>
              <a:gdLst/>
              <a:ahLst/>
              <a:cxnLst/>
              <a:rect l="l" t="t" r="r" b="b"/>
              <a:pathLst>
                <a:path w="2" h="7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4"/>
                  </a:lnTo>
                  <a:lnTo>
                    <a:pt x="2" y="4"/>
                  </a:lnTo>
                  <a:lnTo>
                    <a:pt x="2" y="5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6"/>
                  </a:lnTo>
                  <a:lnTo>
                    <a:pt x="1" y="6"/>
                  </a:lnTo>
                  <a:lnTo>
                    <a:pt x="0" y="6"/>
                  </a:lnTo>
                  <a:lnTo>
                    <a:pt x="0" y="7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8" name="Freeform 237"/>
            <p:cNvSpPr/>
            <p:nvPr/>
          </p:nvSpPr>
          <p:spPr>
            <a:xfrm>
              <a:off x="8769096" y="6803136"/>
              <a:ext cx="54864" cy="18288"/>
            </a:xfrm>
            <a:custGeom>
              <a:avLst/>
              <a:gdLst/>
              <a:ahLst/>
              <a:cxnLst/>
              <a:rect l="l" t="t" r="r" b="b"/>
              <a:pathLst>
                <a:path w="6" h="2">
                  <a:moveTo>
                    <a:pt x="0" y="1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1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3" y="2"/>
                  </a:lnTo>
                  <a:lnTo>
                    <a:pt x="3" y="2"/>
                  </a:lnTo>
                  <a:lnTo>
                    <a:pt x="3" y="2"/>
                  </a:lnTo>
                  <a:lnTo>
                    <a:pt x="4" y="2"/>
                  </a:lnTo>
                  <a:lnTo>
                    <a:pt x="4" y="1"/>
                  </a:lnTo>
                  <a:lnTo>
                    <a:pt x="5" y="1"/>
                  </a:lnTo>
                  <a:lnTo>
                    <a:pt x="5" y="1"/>
                  </a:lnTo>
                  <a:lnTo>
                    <a:pt x="5" y="1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9" name="Oval 238"/>
            <p:cNvSpPr/>
            <p:nvPr/>
          </p:nvSpPr>
          <p:spPr>
            <a:xfrm>
              <a:off x="8604504" y="6739128"/>
              <a:ext cx="237744" cy="237744"/>
            </a:xfrm>
            <a:prstGeom prst="ellipse">
              <a:avLst/>
            </a:prstGeom>
            <a:noFill/>
            <a:ln w="7620" cap="rnd">
              <a:solidFill>
                <a:srgbClr val="163769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41" name="•"/>
          <p:cNvSpPr txBox="1"/>
          <p:nvPr/>
        </p:nvSpPr>
        <p:spPr>
          <a:xfrm>
            <a:off x="4261104" y="7360920"/>
            <a:ext cx="10058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30" b="0">
                <a:solidFill>
                  <a:srgbClr val="101010"/>
                </a:solidFill>
                <a:latin typeface="Times New Roman"/>
              </a:defRPr>
            </a:pPr>
            <a:r>
              <a:t>•</a:t>
            </a:r>
          </a:p>
        </p:txBody>
      </p:sp>
      <p:sp>
        <p:nvSpPr>
          <p:cNvPr id="242" name="Intact granule"/>
          <p:cNvSpPr txBox="1"/>
          <p:nvPr/>
        </p:nvSpPr>
        <p:spPr>
          <a:xfrm>
            <a:off x="4425696" y="7360920"/>
            <a:ext cx="2121408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30" b="0">
                <a:solidFill>
                  <a:srgbClr val="101010"/>
                </a:solidFill>
                <a:latin typeface="Times New Roman"/>
              </a:defRPr>
            </a:pPr>
            <a:r>
              <a:t>Intact granule</a:t>
            </a:r>
          </a:p>
        </p:txBody>
      </p:sp>
      <p:sp>
        <p:nvSpPr>
          <p:cNvPr id="243" name="•"/>
          <p:cNvSpPr txBox="1"/>
          <p:nvPr/>
        </p:nvSpPr>
        <p:spPr>
          <a:xfrm>
            <a:off x="4261104" y="7543800"/>
            <a:ext cx="10058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30" b="0">
                <a:solidFill>
                  <a:srgbClr val="101010"/>
                </a:solidFill>
                <a:latin typeface="Times New Roman"/>
              </a:defRPr>
            </a:pPr>
            <a:r>
              <a:t>•</a:t>
            </a:r>
          </a:p>
        </p:txBody>
      </p:sp>
      <p:sp>
        <p:nvSpPr>
          <p:cNvPr id="244" name="Ordered double helices"/>
          <p:cNvSpPr txBox="1"/>
          <p:nvPr/>
        </p:nvSpPr>
        <p:spPr>
          <a:xfrm>
            <a:off x="4425696" y="7543800"/>
            <a:ext cx="2121408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30" b="0">
                <a:solidFill>
                  <a:srgbClr val="101010"/>
                </a:solidFill>
                <a:latin typeface="Times New Roman"/>
              </a:defRPr>
            </a:pPr>
            <a:r>
              <a:t>Ordered double helices</a:t>
            </a:r>
          </a:p>
        </p:txBody>
      </p:sp>
      <p:sp>
        <p:nvSpPr>
          <p:cNvPr id="245" name="•"/>
          <p:cNvSpPr txBox="1"/>
          <p:nvPr/>
        </p:nvSpPr>
        <p:spPr>
          <a:xfrm>
            <a:off x="4261104" y="7726679"/>
            <a:ext cx="10058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30" b="0">
                <a:solidFill>
                  <a:srgbClr val="101010"/>
                </a:solidFill>
                <a:latin typeface="Times New Roman"/>
              </a:defRPr>
            </a:pPr>
            <a:r>
              <a:t>•</a:t>
            </a:r>
          </a:p>
        </p:txBody>
      </p:sp>
      <p:sp>
        <p:nvSpPr>
          <p:cNvPr id="246" name="Strong hydrogen bonding"/>
          <p:cNvSpPr txBox="1"/>
          <p:nvPr/>
        </p:nvSpPr>
        <p:spPr>
          <a:xfrm>
            <a:off x="4425696" y="7726679"/>
            <a:ext cx="2121408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30" b="0">
                <a:solidFill>
                  <a:srgbClr val="101010"/>
                </a:solidFill>
                <a:latin typeface="Times New Roman"/>
              </a:defRPr>
            </a:pPr>
            <a:r>
              <a:t>Strong hydrogen bonding</a:t>
            </a:r>
          </a:p>
        </p:txBody>
      </p:sp>
      <p:sp>
        <p:nvSpPr>
          <p:cNvPr id="247" name="•"/>
          <p:cNvSpPr txBox="1"/>
          <p:nvPr/>
        </p:nvSpPr>
        <p:spPr>
          <a:xfrm>
            <a:off x="6702552" y="7360920"/>
            <a:ext cx="10058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90" b="0">
                <a:solidFill>
                  <a:srgbClr val="101010"/>
                </a:solidFill>
                <a:latin typeface="Times New Roman"/>
              </a:defRPr>
            </a:pPr>
            <a:r>
              <a:t>•</a:t>
            </a:r>
          </a:p>
        </p:txBody>
      </p:sp>
      <p:sp>
        <p:nvSpPr>
          <p:cNvPr id="248" name="Granule fragmentation"/>
          <p:cNvSpPr txBox="1"/>
          <p:nvPr/>
        </p:nvSpPr>
        <p:spPr>
          <a:xfrm>
            <a:off x="6867144" y="7360920"/>
            <a:ext cx="2432304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90" b="0">
                <a:solidFill>
                  <a:srgbClr val="101010"/>
                </a:solidFill>
                <a:latin typeface="Times New Roman"/>
              </a:defRPr>
            </a:pPr>
            <a:r>
              <a:t>Granule fragmentation</a:t>
            </a:r>
          </a:p>
        </p:txBody>
      </p:sp>
      <p:sp>
        <p:nvSpPr>
          <p:cNvPr id="249" name="•"/>
          <p:cNvSpPr txBox="1"/>
          <p:nvPr/>
        </p:nvSpPr>
        <p:spPr>
          <a:xfrm>
            <a:off x="6702552" y="7543800"/>
            <a:ext cx="10058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90" b="0">
                <a:solidFill>
                  <a:srgbClr val="101010"/>
                </a:solidFill>
                <a:latin typeface="Times New Roman"/>
              </a:defRPr>
            </a:pPr>
            <a:r>
              <a:t>•</a:t>
            </a:r>
          </a:p>
        </p:txBody>
      </p:sp>
      <p:sp>
        <p:nvSpPr>
          <p:cNvPr id="250" name="Weakened hydrogen bonding"/>
          <p:cNvSpPr txBox="1"/>
          <p:nvPr/>
        </p:nvSpPr>
        <p:spPr>
          <a:xfrm>
            <a:off x="6867144" y="7543800"/>
            <a:ext cx="2432304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90" b="0">
                <a:solidFill>
                  <a:srgbClr val="101010"/>
                </a:solidFill>
                <a:latin typeface="Times New Roman"/>
              </a:defRPr>
            </a:pPr>
            <a:r>
              <a:t>Weakened hydrogen bonding</a:t>
            </a:r>
          </a:p>
        </p:txBody>
      </p:sp>
      <p:sp>
        <p:nvSpPr>
          <p:cNvPr id="251" name="•"/>
          <p:cNvSpPr txBox="1"/>
          <p:nvPr/>
        </p:nvSpPr>
        <p:spPr>
          <a:xfrm>
            <a:off x="6702552" y="7726679"/>
            <a:ext cx="10058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90" b="0">
                <a:solidFill>
                  <a:srgbClr val="101010"/>
                </a:solidFill>
                <a:latin typeface="Times New Roman"/>
              </a:defRPr>
            </a:pPr>
            <a:r>
              <a:t>•</a:t>
            </a:r>
          </a:p>
        </p:txBody>
      </p:sp>
      <p:sp>
        <p:nvSpPr>
          <p:cNvPr id="252" name="Chain disorder and loosened packing"/>
          <p:cNvSpPr txBox="1"/>
          <p:nvPr/>
        </p:nvSpPr>
        <p:spPr>
          <a:xfrm>
            <a:off x="6867144" y="7726679"/>
            <a:ext cx="2432304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90" b="0">
                <a:solidFill>
                  <a:srgbClr val="101010"/>
                </a:solidFill>
                <a:latin typeface="Times New Roman"/>
              </a:defRPr>
            </a:pPr>
            <a:r>
              <a:t>Chain disorder and loosened packing</a:t>
            </a:r>
          </a:p>
        </p:txBody>
      </p:sp>
      <p:sp>
        <p:nvSpPr>
          <p:cNvPr id="253" name="Down Arrow 252"/>
          <p:cNvSpPr/>
          <p:nvPr/>
        </p:nvSpPr>
        <p:spPr>
          <a:xfrm>
            <a:off x="4315968" y="8037575"/>
            <a:ext cx="640080" cy="521207"/>
          </a:xfrm>
          <a:prstGeom prst="downArrow">
            <a:avLst/>
          </a:prstGeom>
          <a:ln>
            <a:noFill/>
          </a:ln>
          <a:gradFill>
            <a:gsLst>
              <a:gs pos="0">
                <a:srgbClr val="F3F3F3"/>
              </a:gs>
              <a:gs pos="100000">
                <a:srgbClr val="737373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ounded Rectangle 253"/>
          <p:cNvSpPr/>
          <p:nvPr/>
        </p:nvSpPr>
        <p:spPr>
          <a:xfrm>
            <a:off x="420624" y="9729216"/>
            <a:ext cx="256032" cy="1819656"/>
          </a:xfrm>
          <a:prstGeom prst="roundRect">
            <a:avLst>
              <a:gd name="adj" fmla="val 14000"/>
            </a:avLst>
          </a:prstGeom>
          <a:ln w="12700" cap="rnd">
            <a:solidFill>
              <a:srgbClr val="101010"/>
            </a:solidFill>
            <a:round/>
          </a:ln>
          <a:gradFill>
            <a:gsLst>
              <a:gs pos="0">
                <a:srgbClr val="ECECEC"/>
              </a:gs>
              <a:gs pos="100000">
                <a:srgbClr val="C5C5C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+"/>
          <p:cNvSpPr txBox="1"/>
          <p:nvPr/>
        </p:nvSpPr>
        <p:spPr>
          <a:xfrm>
            <a:off x="420624" y="9983967"/>
            <a:ext cx="25603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A5AAD"/>
                </a:solidFill>
                <a:latin typeface="Times New Roman"/>
              </a:defRPr>
            </a:pPr>
            <a:r>
              <a:t>+</a:t>
            </a:r>
          </a:p>
        </p:txBody>
      </p:sp>
      <p:sp>
        <p:nvSpPr>
          <p:cNvPr id="256" name="+"/>
          <p:cNvSpPr txBox="1"/>
          <p:nvPr/>
        </p:nvSpPr>
        <p:spPr>
          <a:xfrm>
            <a:off x="420624" y="10366095"/>
            <a:ext cx="25603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A5AAD"/>
                </a:solidFill>
                <a:latin typeface="Times New Roman"/>
              </a:defRPr>
            </a:pPr>
            <a:r>
              <a:t>+</a:t>
            </a:r>
          </a:p>
        </p:txBody>
      </p:sp>
      <p:sp>
        <p:nvSpPr>
          <p:cNvPr id="257" name="+"/>
          <p:cNvSpPr txBox="1"/>
          <p:nvPr/>
        </p:nvSpPr>
        <p:spPr>
          <a:xfrm>
            <a:off x="420624" y="10748223"/>
            <a:ext cx="25603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A5AAD"/>
                </a:solidFill>
                <a:latin typeface="Times New Roman"/>
              </a:defRPr>
            </a:pPr>
            <a:r>
              <a:t>+</a:t>
            </a:r>
          </a:p>
        </p:txBody>
      </p:sp>
      <p:sp>
        <p:nvSpPr>
          <p:cNvPr id="258" name="+"/>
          <p:cNvSpPr txBox="1"/>
          <p:nvPr/>
        </p:nvSpPr>
        <p:spPr>
          <a:xfrm>
            <a:off x="420624" y="11130351"/>
            <a:ext cx="25603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A5AAD"/>
                </a:solidFill>
                <a:latin typeface="Times New Roman"/>
              </a:defRPr>
            </a:pPr>
            <a:r>
              <a:t>+</a:t>
            </a:r>
          </a:p>
        </p:txBody>
      </p:sp>
      <p:sp>
        <p:nvSpPr>
          <p:cNvPr id="259" name="Rounded Rectangle 258"/>
          <p:cNvSpPr/>
          <p:nvPr/>
        </p:nvSpPr>
        <p:spPr>
          <a:xfrm>
            <a:off x="3831336" y="9729216"/>
            <a:ext cx="246888" cy="1819656"/>
          </a:xfrm>
          <a:prstGeom prst="roundRect">
            <a:avLst>
              <a:gd name="adj" fmla="val 14000"/>
            </a:avLst>
          </a:prstGeom>
          <a:ln w="12700" cap="rnd">
            <a:solidFill>
              <a:srgbClr val="101010"/>
            </a:solidFill>
            <a:round/>
          </a:ln>
          <a:gradFill>
            <a:gsLst>
              <a:gs pos="0">
                <a:srgbClr val="ECECEC"/>
              </a:gs>
              <a:gs pos="100000">
                <a:srgbClr val="C5C5C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−"/>
          <p:cNvSpPr txBox="1"/>
          <p:nvPr/>
        </p:nvSpPr>
        <p:spPr>
          <a:xfrm>
            <a:off x="3831336" y="9983967"/>
            <a:ext cx="24688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A5AAD"/>
                </a:solidFill>
                <a:latin typeface="Times New Roman"/>
              </a:defRPr>
            </a:pPr>
            <a:r>
              <a:t>−</a:t>
            </a:r>
          </a:p>
        </p:txBody>
      </p:sp>
      <p:sp>
        <p:nvSpPr>
          <p:cNvPr id="261" name="−"/>
          <p:cNvSpPr txBox="1"/>
          <p:nvPr/>
        </p:nvSpPr>
        <p:spPr>
          <a:xfrm>
            <a:off x="3831336" y="10366095"/>
            <a:ext cx="24688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A5AAD"/>
                </a:solidFill>
                <a:latin typeface="Times New Roman"/>
              </a:defRPr>
            </a:pPr>
            <a:r>
              <a:t>−</a:t>
            </a:r>
          </a:p>
        </p:txBody>
      </p:sp>
      <p:sp>
        <p:nvSpPr>
          <p:cNvPr id="262" name="−"/>
          <p:cNvSpPr txBox="1"/>
          <p:nvPr/>
        </p:nvSpPr>
        <p:spPr>
          <a:xfrm>
            <a:off x="3831336" y="10748223"/>
            <a:ext cx="24688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A5AAD"/>
                </a:solidFill>
                <a:latin typeface="Times New Roman"/>
              </a:defRPr>
            </a:pPr>
            <a:r>
              <a:t>−</a:t>
            </a:r>
          </a:p>
        </p:txBody>
      </p:sp>
      <p:sp>
        <p:nvSpPr>
          <p:cNvPr id="263" name="−"/>
          <p:cNvSpPr txBox="1"/>
          <p:nvPr/>
        </p:nvSpPr>
        <p:spPr>
          <a:xfrm>
            <a:off x="3831336" y="11130351"/>
            <a:ext cx="24688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A5AAD"/>
                </a:solidFill>
                <a:latin typeface="Times New Roman"/>
              </a:defRPr>
            </a:pPr>
            <a:r>
              <a:t>−</a:t>
            </a:r>
          </a:p>
        </p:txBody>
      </p:sp>
      <p:sp>
        <p:nvSpPr>
          <p:cNvPr id="264" name="Oval 263"/>
          <p:cNvSpPr/>
          <p:nvPr/>
        </p:nvSpPr>
        <p:spPr>
          <a:xfrm>
            <a:off x="969264" y="9665208"/>
            <a:ext cx="283464" cy="283464"/>
          </a:xfrm>
          <a:prstGeom prst="ellipse">
            <a:avLst/>
          </a:prstGeom>
          <a:ln w="8890" cap="rnd">
            <a:solidFill>
              <a:srgbClr val="3F8420"/>
            </a:solidFill>
            <a:round/>
          </a:ln>
          <a:gradFill>
            <a:gsLst>
              <a:gs pos="0">
                <a:srgbClr val="A4D65C"/>
              </a:gs>
              <a:gs pos="100000">
                <a:srgbClr val="388315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−"/>
          <p:cNvSpPr txBox="1"/>
          <p:nvPr/>
        </p:nvSpPr>
        <p:spPr>
          <a:xfrm>
            <a:off x="969264" y="9721900"/>
            <a:ext cx="283464" cy="192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Times New Roman"/>
              </a:defRPr>
            </a:pPr>
            <a:r>
              <a:t>−</a:t>
            </a:r>
          </a:p>
        </p:txBody>
      </p:sp>
      <p:sp>
        <p:nvSpPr>
          <p:cNvPr id="266" name="Oval 265"/>
          <p:cNvSpPr/>
          <p:nvPr/>
        </p:nvSpPr>
        <p:spPr>
          <a:xfrm>
            <a:off x="1179576" y="10222992"/>
            <a:ext cx="283464" cy="283464"/>
          </a:xfrm>
          <a:prstGeom prst="ellipse">
            <a:avLst/>
          </a:prstGeom>
          <a:ln w="8890" cap="rnd">
            <a:solidFill>
              <a:srgbClr val="3F8420"/>
            </a:solidFill>
            <a:round/>
          </a:ln>
          <a:gradFill>
            <a:gsLst>
              <a:gs pos="0">
                <a:srgbClr val="A4D65C"/>
              </a:gs>
              <a:gs pos="100000">
                <a:srgbClr val="388315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−"/>
          <p:cNvSpPr txBox="1"/>
          <p:nvPr/>
        </p:nvSpPr>
        <p:spPr>
          <a:xfrm>
            <a:off x="1179576" y="10279684"/>
            <a:ext cx="283464" cy="192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Times New Roman"/>
              </a:defRPr>
            </a:pPr>
            <a:r>
              <a:t>−</a:t>
            </a:r>
          </a:p>
        </p:txBody>
      </p:sp>
      <p:sp>
        <p:nvSpPr>
          <p:cNvPr id="268" name="Oval 267"/>
          <p:cNvSpPr/>
          <p:nvPr/>
        </p:nvSpPr>
        <p:spPr>
          <a:xfrm>
            <a:off x="713232" y="10415016"/>
            <a:ext cx="283464" cy="283464"/>
          </a:xfrm>
          <a:prstGeom prst="ellipse">
            <a:avLst/>
          </a:prstGeom>
          <a:ln w="8890" cap="rnd">
            <a:solidFill>
              <a:srgbClr val="3F8420"/>
            </a:solidFill>
            <a:round/>
          </a:ln>
          <a:gradFill>
            <a:gsLst>
              <a:gs pos="0">
                <a:srgbClr val="A4D65C"/>
              </a:gs>
              <a:gs pos="100000">
                <a:srgbClr val="388315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−"/>
          <p:cNvSpPr txBox="1"/>
          <p:nvPr/>
        </p:nvSpPr>
        <p:spPr>
          <a:xfrm>
            <a:off x="713232" y="10471708"/>
            <a:ext cx="283464" cy="192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Times New Roman"/>
              </a:defRPr>
            </a:pPr>
            <a:r>
              <a:t>−</a:t>
            </a:r>
          </a:p>
        </p:txBody>
      </p:sp>
      <p:sp>
        <p:nvSpPr>
          <p:cNvPr id="270" name="Oval 269"/>
          <p:cNvSpPr/>
          <p:nvPr/>
        </p:nvSpPr>
        <p:spPr>
          <a:xfrm>
            <a:off x="850392" y="10954512"/>
            <a:ext cx="283464" cy="283464"/>
          </a:xfrm>
          <a:prstGeom prst="ellipse">
            <a:avLst/>
          </a:prstGeom>
          <a:ln w="8890" cap="rnd">
            <a:solidFill>
              <a:srgbClr val="3F8420"/>
            </a:solidFill>
            <a:round/>
          </a:ln>
          <a:gradFill>
            <a:gsLst>
              <a:gs pos="0">
                <a:srgbClr val="A4D65C"/>
              </a:gs>
              <a:gs pos="100000">
                <a:srgbClr val="388315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−"/>
          <p:cNvSpPr txBox="1"/>
          <p:nvPr/>
        </p:nvSpPr>
        <p:spPr>
          <a:xfrm>
            <a:off x="850392" y="11011204"/>
            <a:ext cx="283464" cy="192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Times New Roman"/>
              </a:defRPr>
            </a:pPr>
            <a:r>
              <a:t>−</a:t>
            </a:r>
          </a:p>
        </p:txBody>
      </p:sp>
      <p:sp>
        <p:nvSpPr>
          <p:cNvPr id="272" name="Rounded Rectangle 271"/>
          <p:cNvSpPr/>
          <p:nvPr/>
        </p:nvSpPr>
        <p:spPr>
          <a:xfrm>
            <a:off x="2350008" y="9656064"/>
            <a:ext cx="374904" cy="320040"/>
          </a:xfrm>
          <a:prstGeom prst="roundRect">
            <a:avLst>
              <a:gd name="adj" fmla="val 14000"/>
            </a:avLst>
          </a:prstGeom>
          <a:ln w="10160" cap="rnd">
            <a:solidFill>
              <a:srgbClr val="A84400"/>
            </a:solidFill>
            <a:round/>
          </a:ln>
          <a:gradFill>
            <a:gsLst>
              <a:gs pos="0">
                <a:srgbClr val="FCA13A"/>
              </a:gs>
              <a:gs pos="100000">
                <a:srgbClr val="CD4C00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3" name="Connector 272"/>
          <p:cNvCxnSpPr/>
          <p:nvPr/>
        </p:nvCxnSpPr>
        <p:spPr>
          <a:xfrm>
            <a:off x="2414016" y="9701784"/>
            <a:ext cx="246888" cy="0"/>
          </a:xfrm>
          <a:prstGeom prst="line">
            <a:avLst/>
          </a:prstGeom>
          <a:ln w="12700">
            <a:solidFill>
              <a:srgbClr val="FFB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4" name="+"/>
          <p:cNvSpPr txBox="1"/>
          <p:nvPr/>
        </p:nvSpPr>
        <p:spPr>
          <a:xfrm>
            <a:off x="2359152" y="9697669"/>
            <a:ext cx="356616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Times New Roman"/>
              </a:defRPr>
            </a:pPr>
            <a:r>
              <a:t>+</a:t>
            </a:r>
          </a:p>
        </p:txBody>
      </p:sp>
      <p:sp>
        <p:nvSpPr>
          <p:cNvPr id="275" name="Rounded Rectangle 274"/>
          <p:cNvSpPr/>
          <p:nvPr/>
        </p:nvSpPr>
        <p:spPr>
          <a:xfrm>
            <a:off x="3410712" y="9985248"/>
            <a:ext cx="374904" cy="320040"/>
          </a:xfrm>
          <a:prstGeom prst="roundRect">
            <a:avLst>
              <a:gd name="adj" fmla="val 14000"/>
            </a:avLst>
          </a:prstGeom>
          <a:ln w="10160" cap="rnd">
            <a:solidFill>
              <a:srgbClr val="A84400"/>
            </a:solidFill>
            <a:round/>
          </a:ln>
          <a:gradFill>
            <a:gsLst>
              <a:gs pos="0">
                <a:srgbClr val="FCA13A"/>
              </a:gs>
              <a:gs pos="100000">
                <a:srgbClr val="CD4C00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6" name="Connector 275"/>
          <p:cNvCxnSpPr/>
          <p:nvPr/>
        </p:nvCxnSpPr>
        <p:spPr>
          <a:xfrm>
            <a:off x="3474720" y="10030968"/>
            <a:ext cx="246888" cy="0"/>
          </a:xfrm>
          <a:prstGeom prst="line">
            <a:avLst/>
          </a:prstGeom>
          <a:ln w="12700">
            <a:solidFill>
              <a:srgbClr val="FFB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7" name="+"/>
          <p:cNvSpPr txBox="1"/>
          <p:nvPr/>
        </p:nvSpPr>
        <p:spPr>
          <a:xfrm>
            <a:off x="3419856" y="10026853"/>
            <a:ext cx="356616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Times New Roman"/>
              </a:defRPr>
            </a:pPr>
            <a:r>
              <a:t>+</a:t>
            </a:r>
          </a:p>
        </p:txBody>
      </p:sp>
      <p:sp>
        <p:nvSpPr>
          <p:cNvPr id="278" name="Rounded Rectangle 277"/>
          <p:cNvSpPr/>
          <p:nvPr/>
        </p:nvSpPr>
        <p:spPr>
          <a:xfrm>
            <a:off x="2788920" y="10634472"/>
            <a:ext cx="374904" cy="320040"/>
          </a:xfrm>
          <a:prstGeom prst="roundRect">
            <a:avLst>
              <a:gd name="adj" fmla="val 14000"/>
            </a:avLst>
          </a:prstGeom>
          <a:ln w="10160" cap="rnd">
            <a:solidFill>
              <a:srgbClr val="A84400"/>
            </a:solidFill>
            <a:round/>
          </a:ln>
          <a:gradFill>
            <a:gsLst>
              <a:gs pos="0">
                <a:srgbClr val="FCA13A"/>
              </a:gs>
              <a:gs pos="100000">
                <a:srgbClr val="CD4C00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9" name="Connector 278"/>
          <p:cNvCxnSpPr/>
          <p:nvPr/>
        </p:nvCxnSpPr>
        <p:spPr>
          <a:xfrm>
            <a:off x="2852928" y="10680192"/>
            <a:ext cx="246888" cy="0"/>
          </a:xfrm>
          <a:prstGeom prst="line">
            <a:avLst/>
          </a:prstGeom>
          <a:ln w="12700">
            <a:solidFill>
              <a:srgbClr val="FFB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0" name="+"/>
          <p:cNvSpPr txBox="1"/>
          <p:nvPr/>
        </p:nvSpPr>
        <p:spPr>
          <a:xfrm>
            <a:off x="2798064" y="10676077"/>
            <a:ext cx="356616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Times New Roman"/>
              </a:defRPr>
            </a:pPr>
            <a:r>
              <a:t>+</a:t>
            </a:r>
          </a:p>
        </p:txBody>
      </p:sp>
      <p:sp>
        <p:nvSpPr>
          <p:cNvPr id="281" name="Rounded Rectangle 280"/>
          <p:cNvSpPr/>
          <p:nvPr/>
        </p:nvSpPr>
        <p:spPr>
          <a:xfrm>
            <a:off x="3182112" y="11109960"/>
            <a:ext cx="374904" cy="320040"/>
          </a:xfrm>
          <a:prstGeom prst="roundRect">
            <a:avLst>
              <a:gd name="adj" fmla="val 14000"/>
            </a:avLst>
          </a:prstGeom>
          <a:ln w="10160" cap="rnd">
            <a:solidFill>
              <a:srgbClr val="A84400"/>
            </a:solidFill>
            <a:round/>
          </a:ln>
          <a:gradFill>
            <a:gsLst>
              <a:gs pos="0">
                <a:srgbClr val="FCA13A"/>
              </a:gs>
              <a:gs pos="100000">
                <a:srgbClr val="CD4C00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2" name="Connector 281"/>
          <p:cNvCxnSpPr/>
          <p:nvPr/>
        </p:nvCxnSpPr>
        <p:spPr>
          <a:xfrm>
            <a:off x="3246120" y="11155680"/>
            <a:ext cx="246888" cy="0"/>
          </a:xfrm>
          <a:prstGeom prst="line">
            <a:avLst/>
          </a:prstGeom>
          <a:ln w="12700">
            <a:solidFill>
              <a:srgbClr val="FFB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3" name="+"/>
          <p:cNvSpPr txBox="1"/>
          <p:nvPr/>
        </p:nvSpPr>
        <p:spPr>
          <a:xfrm>
            <a:off x="3191256" y="11151565"/>
            <a:ext cx="356616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Times New Roman"/>
              </a:defRPr>
            </a:pPr>
            <a:r>
              <a:t>+</a:t>
            </a:r>
          </a:p>
        </p:txBody>
      </p:sp>
      <p:cxnSp>
        <p:nvCxnSpPr>
          <p:cNvPr id="284" name="Connector 283"/>
          <p:cNvCxnSpPr/>
          <p:nvPr/>
        </p:nvCxnSpPr>
        <p:spPr>
          <a:xfrm>
            <a:off x="2779776" y="9884664"/>
            <a:ext cx="1005839" cy="0"/>
          </a:xfrm>
          <a:prstGeom prst="line">
            <a:avLst/>
          </a:prstGeom>
          <a:ln w="12700">
            <a:solidFill>
              <a:srgbClr val="DE681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5" name="Freeform 284"/>
          <p:cNvSpPr/>
          <p:nvPr/>
        </p:nvSpPr>
        <p:spPr>
          <a:xfrm>
            <a:off x="3694176" y="9838944"/>
            <a:ext cx="91440" cy="9144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10" y="5"/>
                </a:moveTo>
                <a:lnTo>
                  <a:pt x="0" y="0"/>
                </a:lnTo>
                <a:lnTo>
                  <a:pt x="0" y="10"/>
                </a:lnTo>
                <a:close/>
              </a:path>
            </a:pathLst>
          </a:custGeom>
          <a:solidFill>
            <a:srgbClr val="DE68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6" name="Connector 285"/>
          <p:cNvCxnSpPr/>
          <p:nvPr/>
        </p:nvCxnSpPr>
        <p:spPr>
          <a:xfrm>
            <a:off x="2999232" y="10515600"/>
            <a:ext cx="786383" cy="0"/>
          </a:xfrm>
          <a:prstGeom prst="line">
            <a:avLst/>
          </a:prstGeom>
          <a:ln w="12700">
            <a:solidFill>
              <a:srgbClr val="DE681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7" name="Freeform 286"/>
          <p:cNvSpPr/>
          <p:nvPr/>
        </p:nvSpPr>
        <p:spPr>
          <a:xfrm>
            <a:off x="3694176" y="10469880"/>
            <a:ext cx="91440" cy="9144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10" y="5"/>
                </a:moveTo>
                <a:lnTo>
                  <a:pt x="0" y="0"/>
                </a:lnTo>
                <a:lnTo>
                  <a:pt x="0" y="10"/>
                </a:lnTo>
                <a:close/>
              </a:path>
            </a:pathLst>
          </a:custGeom>
          <a:solidFill>
            <a:srgbClr val="DE68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8" name="Connector 287"/>
          <p:cNvCxnSpPr/>
          <p:nvPr/>
        </p:nvCxnSpPr>
        <p:spPr>
          <a:xfrm>
            <a:off x="3209544" y="11073384"/>
            <a:ext cx="576071" cy="0"/>
          </a:xfrm>
          <a:prstGeom prst="line">
            <a:avLst/>
          </a:prstGeom>
          <a:ln w="12700">
            <a:solidFill>
              <a:srgbClr val="DE681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9" name="Freeform 288"/>
          <p:cNvSpPr/>
          <p:nvPr/>
        </p:nvSpPr>
        <p:spPr>
          <a:xfrm>
            <a:off x="3694176" y="11027664"/>
            <a:ext cx="91440" cy="9144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10" y="5"/>
                </a:moveTo>
                <a:lnTo>
                  <a:pt x="0" y="0"/>
                </a:lnTo>
                <a:lnTo>
                  <a:pt x="0" y="10"/>
                </a:lnTo>
                <a:close/>
              </a:path>
            </a:pathLst>
          </a:custGeom>
          <a:solidFill>
            <a:srgbClr val="DE68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0" name="Connector 289"/>
          <p:cNvCxnSpPr/>
          <p:nvPr/>
        </p:nvCxnSpPr>
        <p:spPr>
          <a:xfrm flipH="1">
            <a:off x="731520" y="10158984"/>
            <a:ext cx="521208" cy="0"/>
          </a:xfrm>
          <a:prstGeom prst="line">
            <a:avLst/>
          </a:prstGeom>
          <a:ln w="12700">
            <a:solidFill>
              <a:srgbClr val="72B64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1" name="Freeform 290"/>
          <p:cNvSpPr/>
          <p:nvPr/>
        </p:nvSpPr>
        <p:spPr>
          <a:xfrm>
            <a:off x="731520" y="10113264"/>
            <a:ext cx="91440" cy="9144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0" y="5"/>
                </a:moveTo>
                <a:lnTo>
                  <a:pt x="10" y="10"/>
                </a:lnTo>
                <a:lnTo>
                  <a:pt x="10" y="0"/>
                </a:lnTo>
                <a:close/>
              </a:path>
            </a:pathLst>
          </a:custGeom>
          <a:solidFill>
            <a:srgbClr val="72B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2" name="Connector 291"/>
          <p:cNvCxnSpPr/>
          <p:nvPr/>
        </p:nvCxnSpPr>
        <p:spPr>
          <a:xfrm flipH="1">
            <a:off x="1033271" y="10652760"/>
            <a:ext cx="484633" cy="0"/>
          </a:xfrm>
          <a:prstGeom prst="line">
            <a:avLst/>
          </a:prstGeom>
          <a:ln w="12700">
            <a:solidFill>
              <a:srgbClr val="72B64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3" name="Freeform 292"/>
          <p:cNvSpPr/>
          <p:nvPr/>
        </p:nvSpPr>
        <p:spPr>
          <a:xfrm>
            <a:off x="1033272" y="10607040"/>
            <a:ext cx="91440" cy="9144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0" y="5"/>
                </a:moveTo>
                <a:lnTo>
                  <a:pt x="10" y="10"/>
                </a:lnTo>
                <a:lnTo>
                  <a:pt x="10" y="0"/>
                </a:lnTo>
                <a:close/>
              </a:path>
            </a:pathLst>
          </a:custGeom>
          <a:solidFill>
            <a:srgbClr val="72B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4" name="Connector 293"/>
          <p:cNvCxnSpPr/>
          <p:nvPr/>
        </p:nvCxnSpPr>
        <p:spPr>
          <a:xfrm flipH="1">
            <a:off x="886968" y="11548872"/>
            <a:ext cx="1307592" cy="0"/>
          </a:xfrm>
          <a:prstGeom prst="line">
            <a:avLst/>
          </a:prstGeom>
          <a:ln w="12700">
            <a:solidFill>
              <a:srgbClr val="72B64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5" name="Freeform 294"/>
          <p:cNvSpPr/>
          <p:nvPr/>
        </p:nvSpPr>
        <p:spPr>
          <a:xfrm>
            <a:off x="886968" y="11503152"/>
            <a:ext cx="91440" cy="9144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0" y="5"/>
                </a:moveTo>
                <a:lnTo>
                  <a:pt x="10" y="10"/>
                </a:lnTo>
                <a:lnTo>
                  <a:pt x="10" y="0"/>
                </a:lnTo>
                <a:close/>
              </a:path>
            </a:pathLst>
          </a:custGeom>
          <a:solidFill>
            <a:srgbClr val="72B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08" name="Starch granule — editable vector group"/>
          <p:cNvGrpSpPr/>
          <p:nvPr/>
        </p:nvGrpSpPr>
        <p:grpSpPr>
          <a:xfrm>
            <a:off x="1527048" y="9966960"/>
            <a:ext cx="978408" cy="868680"/>
            <a:chOff x="1527048" y="9966960"/>
            <a:chExt cx="978408" cy="868680"/>
          </a:xfrm>
        </p:grpSpPr>
        <p:sp>
          <p:nvSpPr>
            <p:cNvPr id="296" name="Editable starch granule"/>
            <p:cNvSpPr/>
            <p:nvPr/>
          </p:nvSpPr>
          <p:spPr>
            <a:xfrm>
              <a:off x="1527048" y="9966960"/>
              <a:ext cx="978408" cy="868680"/>
            </a:xfrm>
            <a:prstGeom prst="ellipse">
              <a:avLst/>
            </a:prstGeom>
            <a:ln w="12230" cap="rnd">
              <a:solidFill>
                <a:srgbClr val="163769"/>
              </a:solidFill>
              <a:round/>
            </a:ln>
            <a:gradFill>
              <a:gsLst>
                <a:gs pos="0">
                  <a:srgbClr val="FFFFFF"/>
                </a:gs>
                <a:gs pos="100000">
                  <a:srgbClr val="F7FBFF"/>
                </a:gs>
              </a:gsLst>
              <a:lin ang="2700000" scaled="1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7" name="Freeform 296"/>
            <p:cNvSpPr/>
            <p:nvPr/>
          </p:nvSpPr>
          <p:spPr>
            <a:xfrm>
              <a:off x="1691640" y="10058400"/>
              <a:ext cx="274320" cy="301752"/>
            </a:xfrm>
            <a:custGeom>
              <a:avLst/>
              <a:gdLst/>
              <a:ahLst/>
              <a:cxnLst/>
              <a:rect l="l" t="t" r="r" b="b"/>
              <a:pathLst>
                <a:path w="30" h="33">
                  <a:moveTo>
                    <a:pt x="30" y="33"/>
                  </a:moveTo>
                  <a:lnTo>
                    <a:pt x="29" y="32"/>
                  </a:lnTo>
                  <a:lnTo>
                    <a:pt x="29" y="31"/>
                  </a:lnTo>
                  <a:lnTo>
                    <a:pt x="28" y="30"/>
                  </a:lnTo>
                  <a:lnTo>
                    <a:pt x="26" y="29"/>
                  </a:lnTo>
                  <a:lnTo>
                    <a:pt x="25" y="28"/>
                  </a:lnTo>
                  <a:lnTo>
                    <a:pt x="24" y="26"/>
                  </a:lnTo>
                  <a:lnTo>
                    <a:pt x="23" y="25"/>
                  </a:lnTo>
                  <a:lnTo>
                    <a:pt x="22" y="24"/>
                  </a:lnTo>
                  <a:lnTo>
                    <a:pt x="21" y="23"/>
                  </a:lnTo>
                  <a:lnTo>
                    <a:pt x="20" y="23"/>
                  </a:lnTo>
                  <a:lnTo>
                    <a:pt x="19" y="22"/>
                  </a:lnTo>
                  <a:lnTo>
                    <a:pt x="18" y="22"/>
                  </a:lnTo>
                  <a:lnTo>
                    <a:pt x="17" y="22"/>
                  </a:lnTo>
                  <a:lnTo>
                    <a:pt x="17" y="22"/>
                  </a:lnTo>
                  <a:lnTo>
                    <a:pt x="16" y="22"/>
                  </a:lnTo>
                  <a:lnTo>
                    <a:pt x="15" y="22"/>
                  </a:lnTo>
                  <a:lnTo>
                    <a:pt x="15" y="21"/>
                  </a:lnTo>
                  <a:lnTo>
                    <a:pt x="14" y="20"/>
                  </a:lnTo>
                  <a:lnTo>
                    <a:pt x="14" y="19"/>
                  </a:lnTo>
                  <a:lnTo>
                    <a:pt x="13" y="18"/>
                  </a:lnTo>
                  <a:lnTo>
                    <a:pt x="13" y="17"/>
                  </a:lnTo>
                  <a:lnTo>
                    <a:pt x="12" y="15"/>
                  </a:lnTo>
                  <a:lnTo>
                    <a:pt x="12" y="14"/>
                  </a:lnTo>
                  <a:lnTo>
                    <a:pt x="12" y="12"/>
                  </a:lnTo>
                  <a:lnTo>
                    <a:pt x="11" y="11"/>
                  </a:lnTo>
                  <a:lnTo>
                    <a:pt x="11" y="9"/>
                  </a:lnTo>
                  <a:lnTo>
                    <a:pt x="10" y="8"/>
                  </a:lnTo>
                  <a:lnTo>
                    <a:pt x="9" y="7"/>
                  </a:lnTo>
                  <a:lnTo>
                    <a:pt x="8" y="6"/>
                  </a:lnTo>
                  <a:lnTo>
                    <a:pt x="7" y="5"/>
                  </a:lnTo>
                  <a:lnTo>
                    <a:pt x="5" y="4"/>
                  </a:lnTo>
                  <a:lnTo>
                    <a:pt x="4" y="3"/>
                  </a:lnTo>
                  <a:lnTo>
                    <a:pt x="3" y="2"/>
                  </a:lnTo>
                  <a:lnTo>
                    <a:pt x="2" y="2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noFill/>
            <a:ln w="12230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8" name="Freeform 297"/>
            <p:cNvSpPr/>
            <p:nvPr/>
          </p:nvSpPr>
          <p:spPr>
            <a:xfrm>
              <a:off x="1975104" y="10021824"/>
              <a:ext cx="118872" cy="320040"/>
            </a:xfrm>
            <a:custGeom>
              <a:avLst/>
              <a:gdLst/>
              <a:ahLst/>
              <a:cxnLst/>
              <a:rect l="l" t="t" r="r" b="b"/>
              <a:pathLst>
                <a:path w="13" h="35">
                  <a:moveTo>
                    <a:pt x="0" y="35"/>
                  </a:moveTo>
                  <a:lnTo>
                    <a:pt x="1" y="34"/>
                  </a:lnTo>
                  <a:lnTo>
                    <a:pt x="1" y="33"/>
                  </a:lnTo>
                  <a:lnTo>
                    <a:pt x="2" y="32"/>
                  </a:lnTo>
                  <a:lnTo>
                    <a:pt x="3" y="31"/>
                  </a:lnTo>
                  <a:lnTo>
                    <a:pt x="4" y="30"/>
                  </a:lnTo>
                  <a:lnTo>
                    <a:pt x="5" y="29"/>
                  </a:lnTo>
                  <a:lnTo>
                    <a:pt x="6" y="28"/>
                  </a:lnTo>
                  <a:lnTo>
                    <a:pt x="7" y="27"/>
                  </a:lnTo>
                  <a:lnTo>
                    <a:pt x="8" y="25"/>
                  </a:lnTo>
                  <a:lnTo>
                    <a:pt x="8" y="24"/>
                  </a:lnTo>
                  <a:lnTo>
                    <a:pt x="9" y="23"/>
                  </a:lnTo>
                  <a:lnTo>
                    <a:pt x="10" y="21"/>
                  </a:lnTo>
                  <a:lnTo>
                    <a:pt x="11" y="20"/>
                  </a:lnTo>
                  <a:lnTo>
                    <a:pt x="11" y="19"/>
                  </a:lnTo>
                  <a:lnTo>
                    <a:pt x="12" y="17"/>
                  </a:lnTo>
                  <a:lnTo>
                    <a:pt x="12" y="16"/>
                  </a:lnTo>
                  <a:lnTo>
                    <a:pt x="13" y="14"/>
                  </a:lnTo>
                  <a:lnTo>
                    <a:pt x="13" y="13"/>
                  </a:lnTo>
                  <a:lnTo>
                    <a:pt x="13" y="11"/>
                  </a:lnTo>
                  <a:lnTo>
                    <a:pt x="13" y="10"/>
                  </a:lnTo>
                  <a:lnTo>
                    <a:pt x="13" y="8"/>
                  </a:lnTo>
                  <a:lnTo>
                    <a:pt x="13" y="6"/>
                  </a:lnTo>
                  <a:lnTo>
                    <a:pt x="13" y="5"/>
                  </a:lnTo>
                  <a:lnTo>
                    <a:pt x="13" y="3"/>
                  </a:lnTo>
                  <a:lnTo>
                    <a:pt x="12" y="2"/>
                  </a:lnTo>
                  <a:lnTo>
                    <a:pt x="12" y="1"/>
                  </a:lnTo>
                  <a:lnTo>
                    <a:pt x="12" y="0"/>
                  </a:lnTo>
                </a:path>
              </a:pathLst>
            </a:custGeom>
            <a:noFill/>
            <a:ln w="12230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9" name="Freeform 298"/>
            <p:cNvSpPr/>
            <p:nvPr/>
          </p:nvSpPr>
          <p:spPr>
            <a:xfrm>
              <a:off x="1975104" y="10204704"/>
              <a:ext cx="475488" cy="182880"/>
            </a:xfrm>
            <a:custGeom>
              <a:avLst/>
              <a:gdLst/>
              <a:ahLst/>
              <a:cxnLst/>
              <a:rect l="l" t="t" r="r" b="b"/>
              <a:pathLst>
                <a:path w="52" h="20">
                  <a:moveTo>
                    <a:pt x="0" y="20"/>
                  </a:moveTo>
                  <a:lnTo>
                    <a:pt x="1" y="19"/>
                  </a:lnTo>
                  <a:lnTo>
                    <a:pt x="3" y="18"/>
                  </a:lnTo>
                  <a:lnTo>
                    <a:pt x="5" y="18"/>
                  </a:lnTo>
                  <a:lnTo>
                    <a:pt x="7" y="17"/>
                  </a:lnTo>
                  <a:lnTo>
                    <a:pt x="10" y="16"/>
                  </a:lnTo>
                  <a:lnTo>
                    <a:pt x="12" y="15"/>
                  </a:lnTo>
                  <a:lnTo>
                    <a:pt x="14" y="14"/>
                  </a:lnTo>
                  <a:lnTo>
                    <a:pt x="16" y="13"/>
                  </a:lnTo>
                  <a:lnTo>
                    <a:pt x="18" y="13"/>
                  </a:lnTo>
                  <a:lnTo>
                    <a:pt x="20" y="13"/>
                  </a:lnTo>
                  <a:lnTo>
                    <a:pt x="22" y="13"/>
                  </a:lnTo>
                  <a:lnTo>
                    <a:pt x="23" y="13"/>
                  </a:lnTo>
                  <a:lnTo>
                    <a:pt x="25" y="13"/>
                  </a:lnTo>
                  <a:lnTo>
                    <a:pt x="26" y="13"/>
                  </a:lnTo>
                  <a:lnTo>
                    <a:pt x="28" y="13"/>
                  </a:lnTo>
                  <a:lnTo>
                    <a:pt x="29" y="13"/>
                  </a:lnTo>
                  <a:lnTo>
                    <a:pt x="31" y="13"/>
                  </a:lnTo>
                  <a:lnTo>
                    <a:pt x="32" y="13"/>
                  </a:lnTo>
                  <a:lnTo>
                    <a:pt x="34" y="12"/>
                  </a:lnTo>
                  <a:lnTo>
                    <a:pt x="35" y="12"/>
                  </a:lnTo>
                  <a:lnTo>
                    <a:pt x="37" y="11"/>
                  </a:lnTo>
                  <a:lnTo>
                    <a:pt x="38" y="10"/>
                  </a:lnTo>
                  <a:lnTo>
                    <a:pt x="40" y="9"/>
                  </a:lnTo>
                  <a:lnTo>
                    <a:pt x="41" y="8"/>
                  </a:lnTo>
                  <a:lnTo>
                    <a:pt x="43" y="7"/>
                  </a:lnTo>
                  <a:lnTo>
                    <a:pt x="44" y="6"/>
                  </a:lnTo>
                  <a:lnTo>
                    <a:pt x="45" y="5"/>
                  </a:lnTo>
                  <a:lnTo>
                    <a:pt x="46" y="5"/>
                  </a:lnTo>
                  <a:lnTo>
                    <a:pt x="47" y="4"/>
                  </a:lnTo>
                  <a:lnTo>
                    <a:pt x="48" y="3"/>
                  </a:lnTo>
                  <a:lnTo>
                    <a:pt x="49" y="2"/>
                  </a:lnTo>
                  <a:lnTo>
                    <a:pt x="50" y="2"/>
                  </a:lnTo>
                  <a:lnTo>
                    <a:pt x="50" y="1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52" y="0"/>
                  </a:lnTo>
                </a:path>
              </a:pathLst>
            </a:custGeom>
            <a:noFill/>
            <a:ln w="12230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0" name="Freeform 299"/>
            <p:cNvSpPr/>
            <p:nvPr/>
          </p:nvSpPr>
          <p:spPr>
            <a:xfrm>
              <a:off x="1993392" y="10405872"/>
              <a:ext cx="484632" cy="182880"/>
            </a:xfrm>
            <a:custGeom>
              <a:avLst/>
              <a:gdLst/>
              <a:ahLst/>
              <a:cxnLst/>
              <a:rect l="l" t="t" r="r" b="b"/>
              <a:pathLst>
                <a:path w="53" h="20">
                  <a:moveTo>
                    <a:pt x="0" y="0"/>
                  </a:moveTo>
                  <a:lnTo>
                    <a:pt x="1" y="1"/>
                  </a:lnTo>
                  <a:lnTo>
                    <a:pt x="3" y="2"/>
                  </a:lnTo>
                  <a:lnTo>
                    <a:pt x="4" y="3"/>
                  </a:lnTo>
                  <a:lnTo>
                    <a:pt x="6" y="4"/>
                  </a:lnTo>
                  <a:lnTo>
                    <a:pt x="7" y="6"/>
                  </a:lnTo>
                  <a:lnTo>
                    <a:pt x="9" y="7"/>
                  </a:lnTo>
                  <a:lnTo>
                    <a:pt x="11" y="8"/>
                  </a:lnTo>
                  <a:lnTo>
                    <a:pt x="13" y="9"/>
                  </a:lnTo>
                  <a:lnTo>
                    <a:pt x="14" y="10"/>
                  </a:lnTo>
                  <a:lnTo>
                    <a:pt x="16" y="11"/>
                  </a:lnTo>
                  <a:lnTo>
                    <a:pt x="17" y="11"/>
                  </a:lnTo>
                  <a:lnTo>
                    <a:pt x="18" y="12"/>
                  </a:lnTo>
                  <a:lnTo>
                    <a:pt x="19" y="12"/>
                  </a:lnTo>
                  <a:lnTo>
                    <a:pt x="21" y="13"/>
                  </a:lnTo>
                  <a:lnTo>
                    <a:pt x="22" y="13"/>
                  </a:lnTo>
                  <a:lnTo>
                    <a:pt x="23" y="13"/>
                  </a:lnTo>
                  <a:lnTo>
                    <a:pt x="25" y="14"/>
                  </a:lnTo>
                  <a:lnTo>
                    <a:pt x="26" y="14"/>
                  </a:lnTo>
                  <a:lnTo>
                    <a:pt x="28" y="14"/>
                  </a:lnTo>
                  <a:lnTo>
                    <a:pt x="30" y="14"/>
                  </a:lnTo>
                  <a:lnTo>
                    <a:pt x="32" y="13"/>
                  </a:lnTo>
                  <a:lnTo>
                    <a:pt x="34" y="13"/>
                  </a:lnTo>
                  <a:lnTo>
                    <a:pt x="36" y="13"/>
                  </a:lnTo>
                  <a:lnTo>
                    <a:pt x="38" y="13"/>
                  </a:lnTo>
                  <a:lnTo>
                    <a:pt x="40" y="13"/>
                  </a:lnTo>
                  <a:lnTo>
                    <a:pt x="42" y="13"/>
                  </a:lnTo>
                  <a:lnTo>
                    <a:pt x="43" y="13"/>
                  </a:lnTo>
                  <a:lnTo>
                    <a:pt x="45" y="13"/>
                  </a:lnTo>
                  <a:lnTo>
                    <a:pt x="46" y="14"/>
                  </a:lnTo>
                  <a:lnTo>
                    <a:pt x="47" y="15"/>
                  </a:lnTo>
                  <a:lnTo>
                    <a:pt x="48" y="16"/>
                  </a:lnTo>
                  <a:lnTo>
                    <a:pt x="50" y="17"/>
                  </a:lnTo>
                  <a:lnTo>
                    <a:pt x="51" y="18"/>
                  </a:lnTo>
                  <a:lnTo>
                    <a:pt x="51" y="19"/>
                  </a:lnTo>
                  <a:lnTo>
                    <a:pt x="52" y="20"/>
                  </a:lnTo>
                  <a:lnTo>
                    <a:pt x="53" y="20"/>
                  </a:lnTo>
                </a:path>
              </a:pathLst>
            </a:custGeom>
            <a:noFill/>
            <a:ln w="12230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1" name="Freeform 300"/>
            <p:cNvSpPr/>
            <p:nvPr/>
          </p:nvSpPr>
          <p:spPr>
            <a:xfrm>
              <a:off x="1847088" y="10442448"/>
              <a:ext cx="128016" cy="347472"/>
            </a:xfrm>
            <a:custGeom>
              <a:avLst/>
              <a:gdLst/>
              <a:ahLst/>
              <a:cxnLst/>
              <a:rect l="l" t="t" r="r" b="b"/>
              <a:pathLst>
                <a:path w="14" h="38">
                  <a:moveTo>
                    <a:pt x="14" y="0"/>
                  </a:moveTo>
                  <a:lnTo>
                    <a:pt x="14" y="1"/>
                  </a:lnTo>
                  <a:lnTo>
                    <a:pt x="13" y="3"/>
                  </a:lnTo>
                  <a:lnTo>
                    <a:pt x="12" y="4"/>
                  </a:lnTo>
                  <a:lnTo>
                    <a:pt x="10" y="6"/>
                  </a:lnTo>
                  <a:lnTo>
                    <a:pt x="9" y="8"/>
                  </a:lnTo>
                  <a:lnTo>
                    <a:pt x="8" y="10"/>
                  </a:lnTo>
                  <a:lnTo>
                    <a:pt x="7" y="12"/>
                  </a:lnTo>
                  <a:lnTo>
                    <a:pt x="6" y="14"/>
                  </a:lnTo>
                  <a:lnTo>
                    <a:pt x="6" y="15"/>
                  </a:lnTo>
                  <a:lnTo>
                    <a:pt x="5" y="17"/>
                  </a:lnTo>
                  <a:lnTo>
                    <a:pt x="6" y="18"/>
                  </a:lnTo>
                  <a:lnTo>
                    <a:pt x="6" y="20"/>
                  </a:lnTo>
                  <a:lnTo>
                    <a:pt x="6" y="21"/>
                  </a:lnTo>
                  <a:lnTo>
                    <a:pt x="7" y="22"/>
                  </a:lnTo>
                  <a:lnTo>
                    <a:pt x="7" y="23"/>
                  </a:lnTo>
                  <a:lnTo>
                    <a:pt x="8" y="24"/>
                  </a:lnTo>
                  <a:lnTo>
                    <a:pt x="8" y="26"/>
                  </a:lnTo>
                  <a:lnTo>
                    <a:pt x="8" y="27"/>
                  </a:lnTo>
                  <a:lnTo>
                    <a:pt x="7" y="28"/>
                  </a:lnTo>
                  <a:lnTo>
                    <a:pt x="7" y="30"/>
                  </a:lnTo>
                  <a:lnTo>
                    <a:pt x="6" y="31"/>
                  </a:lnTo>
                  <a:lnTo>
                    <a:pt x="5" y="33"/>
                  </a:lnTo>
                  <a:lnTo>
                    <a:pt x="4" y="34"/>
                  </a:lnTo>
                  <a:lnTo>
                    <a:pt x="3" y="35"/>
                  </a:lnTo>
                  <a:lnTo>
                    <a:pt x="2" y="36"/>
                  </a:lnTo>
                  <a:lnTo>
                    <a:pt x="1" y="37"/>
                  </a:lnTo>
                  <a:lnTo>
                    <a:pt x="0" y="38"/>
                  </a:lnTo>
                </a:path>
              </a:pathLst>
            </a:custGeom>
            <a:noFill/>
            <a:ln w="12230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2" name="Freeform 301"/>
            <p:cNvSpPr/>
            <p:nvPr/>
          </p:nvSpPr>
          <p:spPr>
            <a:xfrm>
              <a:off x="1572768" y="10405872"/>
              <a:ext cx="374904" cy="128016"/>
            </a:xfrm>
            <a:custGeom>
              <a:avLst/>
              <a:gdLst/>
              <a:ahLst/>
              <a:cxnLst/>
              <a:rect l="l" t="t" r="r" b="b"/>
              <a:pathLst>
                <a:path w="41" h="14">
                  <a:moveTo>
                    <a:pt x="41" y="0"/>
                  </a:moveTo>
                  <a:lnTo>
                    <a:pt x="40" y="1"/>
                  </a:lnTo>
                  <a:lnTo>
                    <a:pt x="39" y="1"/>
                  </a:lnTo>
                  <a:lnTo>
                    <a:pt x="37" y="2"/>
                  </a:lnTo>
                  <a:lnTo>
                    <a:pt x="36" y="2"/>
                  </a:lnTo>
                  <a:lnTo>
                    <a:pt x="34" y="3"/>
                  </a:lnTo>
                  <a:lnTo>
                    <a:pt x="32" y="3"/>
                  </a:lnTo>
                  <a:lnTo>
                    <a:pt x="30" y="4"/>
                  </a:lnTo>
                  <a:lnTo>
                    <a:pt x="29" y="4"/>
                  </a:lnTo>
                  <a:lnTo>
                    <a:pt x="27" y="5"/>
                  </a:lnTo>
                  <a:lnTo>
                    <a:pt x="26" y="6"/>
                  </a:lnTo>
                  <a:lnTo>
                    <a:pt x="24" y="7"/>
                  </a:lnTo>
                  <a:lnTo>
                    <a:pt x="23" y="8"/>
                  </a:lnTo>
                  <a:lnTo>
                    <a:pt x="22" y="9"/>
                  </a:lnTo>
                  <a:lnTo>
                    <a:pt x="21" y="10"/>
                  </a:lnTo>
                  <a:lnTo>
                    <a:pt x="19" y="11"/>
                  </a:lnTo>
                  <a:lnTo>
                    <a:pt x="18" y="12"/>
                  </a:lnTo>
                  <a:lnTo>
                    <a:pt x="17" y="13"/>
                  </a:lnTo>
                  <a:lnTo>
                    <a:pt x="15" y="14"/>
                  </a:lnTo>
                  <a:lnTo>
                    <a:pt x="14" y="14"/>
                  </a:lnTo>
                  <a:lnTo>
                    <a:pt x="12" y="14"/>
                  </a:lnTo>
                  <a:lnTo>
                    <a:pt x="10" y="14"/>
                  </a:lnTo>
                  <a:lnTo>
                    <a:pt x="8" y="14"/>
                  </a:lnTo>
                  <a:lnTo>
                    <a:pt x="6" y="14"/>
                  </a:lnTo>
                  <a:lnTo>
                    <a:pt x="4" y="13"/>
                  </a:lnTo>
                  <a:lnTo>
                    <a:pt x="3" y="13"/>
                  </a:lnTo>
                  <a:lnTo>
                    <a:pt x="1" y="13"/>
                  </a:lnTo>
                  <a:lnTo>
                    <a:pt x="0" y="13"/>
                  </a:lnTo>
                </a:path>
              </a:pathLst>
            </a:custGeom>
            <a:noFill/>
            <a:ln w="12230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3" name="Freeform 302"/>
            <p:cNvSpPr/>
            <p:nvPr/>
          </p:nvSpPr>
          <p:spPr>
            <a:xfrm>
              <a:off x="1664208" y="10524744"/>
              <a:ext cx="73152" cy="192024"/>
            </a:xfrm>
            <a:custGeom>
              <a:avLst/>
              <a:gdLst/>
              <a:ahLst/>
              <a:cxnLst/>
              <a:rect l="l" t="t" r="r" b="b"/>
              <a:pathLst>
                <a:path w="8" h="21">
                  <a:moveTo>
                    <a:pt x="7" y="0"/>
                  </a:moveTo>
                  <a:lnTo>
                    <a:pt x="8" y="1"/>
                  </a:lnTo>
                  <a:lnTo>
                    <a:pt x="8" y="2"/>
                  </a:lnTo>
                  <a:lnTo>
                    <a:pt x="8" y="3"/>
                  </a:lnTo>
                  <a:lnTo>
                    <a:pt x="8" y="5"/>
                  </a:lnTo>
                  <a:lnTo>
                    <a:pt x="8" y="7"/>
                  </a:lnTo>
                  <a:lnTo>
                    <a:pt x="8" y="9"/>
                  </a:lnTo>
                  <a:lnTo>
                    <a:pt x="8" y="10"/>
                  </a:lnTo>
                  <a:lnTo>
                    <a:pt x="8" y="12"/>
                  </a:lnTo>
                  <a:lnTo>
                    <a:pt x="7" y="13"/>
                  </a:lnTo>
                  <a:lnTo>
                    <a:pt x="7" y="14"/>
                  </a:lnTo>
                  <a:lnTo>
                    <a:pt x="6" y="15"/>
                  </a:lnTo>
                  <a:lnTo>
                    <a:pt x="5" y="16"/>
                  </a:lnTo>
                  <a:lnTo>
                    <a:pt x="4" y="17"/>
                  </a:lnTo>
                  <a:lnTo>
                    <a:pt x="3" y="18"/>
                  </a:lnTo>
                  <a:lnTo>
                    <a:pt x="2" y="19"/>
                  </a:lnTo>
                  <a:lnTo>
                    <a:pt x="1" y="20"/>
                  </a:lnTo>
                  <a:lnTo>
                    <a:pt x="1" y="20"/>
                  </a:lnTo>
                  <a:lnTo>
                    <a:pt x="0" y="21"/>
                  </a:lnTo>
                </a:path>
              </a:pathLst>
            </a:custGeom>
            <a:noFill/>
            <a:ln w="12230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4" name="Freeform 303"/>
            <p:cNvSpPr/>
            <p:nvPr/>
          </p:nvSpPr>
          <p:spPr>
            <a:xfrm>
              <a:off x="2157984" y="10104120"/>
              <a:ext cx="100584" cy="219456"/>
            </a:xfrm>
            <a:custGeom>
              <a:avLst/>
              <a:gdLst/>
              <a:ahLst/>
              <a:cxnLst/>
              <a:rect l="l" t="t" r="r" b="b"/>
              <a:pathLst>
                <a:path w="11" h="24">
                  <a:moveTo>
                    <a:pt x="1" y="24"/>
                  </a:moveTo>
                  <a:lnTo>
                    <a:pt x="1" y="23"/>
                  </a:lnTo>
                  <a:lnTo>
                    <a:pt x="1" y="22"/>
                  </a:lnTo>
                  <a:lnTo>
                    <a:pt x="1" y="21"/>
                  </a:lnTo>
                  <a:lnTo>
                    <a:pt x="0" y="19"/>
                  </a:lnTo>
                  <a:lnTo>
                    <a:pt x="0" y="18"/>
                  </a:lnTo>
                  <a:lnTo>
                    <a:pt x="1" y="16"/>
                  </a:lnTo>
                  <a:lnTo>
                    <a:pt x="1" y="15"/>
                  </a:lnTo>
                  <a:lnTo>
                    <a:pt x="1" y="13"/>
                  </a:lnTo>
                  <a:lnTo>
                    <a:pt x="2" y="12"/>
                  </a:lnTo>
                  <a:lnTo>
                    <a:pt x="2" y="10"/>
                  </a:lnTo>
                  <a:lnTo>
                    <a:pt x="3" y="9"/>
                  </a:lnTo>
                  <a:lnTo>
                    <a:pt x="5" y="7"/>
                  </a:lnTo>
                  <a:lnTo>
                    <a:pt x="6" y="6"/>
                  </a:lnTo>
                  <a:lnTo>
                    <a:pt x="7" y="4"/>
                  </a:lnTo>
                  <a:lnTo>
                    <a:pt x="8" y="3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11" y="0"/>
                  </a:lnTo>
                </a:path>
              </a:pathLst>
            </a:custGeom>
            <a:noFill/>
            <a:ln w="12230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5" name="Freeform 304"/>
            <p:cNvSpPr/>
            <p:nvPr/>
          </p:nvSpPr>
          <p:spPr>
            <a:xfrm>
              <a:off x="2203704" y="10533888"/>
              <a:ext cx="64008" cy="219456"/>
            </a:xfrm>
            <a:custGeom>
              <a:avLst/>
              <a:gdLst/>
              <a:ahLst/>
              <a:cxnLst/>
              <a:rect l="l" t="t" r="r" b="b"/>
              <a:pathLst>
                <a:path w="7" h="24">
                  <a:moveTo>
                    <a:pt x="3" y="0"/>
                  </a:moveTo>
                  <a:lnTo>
                    <a:pt x="3" y="1"/>
                  </a:lnTo>
                  <a:lnTo>
                    <a:pt x="2" y="2"/>
                  </a:lnTo>
                  <a:lnTo>
                    <a:pt x="2" y="3"/>
                  </a:lnTo>
                  <a:lnTo>
                    <a:pt x="1" y="4"/>
                  </a:lnTo>
                  <a:lnTo>
                    <a:pt x="1" y="6"/>
                  </a:lnTo>
                  <a:lnTo>
                    <a:pt x="0" y="8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1" y="15"/>
                  </a:lnTo>
                  <a:lnTo>
                    <a:pt x="2" y="17"/>
                  </a:lnTo>
                  <a:lnTo>
                    <a:pt x="3" y="18"/>
                  </a:lnTo>
                  <a:lnTo>
                    <a:pt x="4" y="20"/>
                  </a:lnTo>
                  <a:lnTo>
                    <a:pt x="5" y="21"/>
                  </a:lnTo>
                  <a:lnTo>
                    <a:pt x="6" y="23"/>
                  </a:lnTo>
                  <a:lnTo>
                    <a:pt x="7" y="24"/>
                  </a:lnTo>
                  <a:lnTo>
                    <a:pt x="7" y="24"/>
                  </a:lnTo>
                </a:path>
              </a:pathLst>
            </a:custGeom>
            <a:noFill/>
            <a:ln w="12230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6" name="Freeform 305"/>
            <p:cNvSpPr/>
            <p:nvPr/>
          </p:nvSpPr>
          <p:spPr>
            <a:xfrm>
              <a:off x="1591056" y="10204704"/>
              <a:ext cx="228600" cy="54864"/>
            </a:xfrm>
            <a:custGeom>
              <a:avLst/>
              <a:gdLst/>
              <a:ahLst/>
              <a:cxnLst/>
              <a:rect l="l" t="t" r="r" b="b"/>
              <a:pathLst>
                <a:path w="25" h="6">
                  <a:moveTo>
                    <a:pt x="25" y="4"/>
                  </a:moveTo>
                  <a:lnTo>
                    <a:pt x="24" y="5"/>
                  </a:lnTo>
                  <a:lnTo>
                    <a:pt x="23" y="5"/>
                  </a:lnTo>
                  <a:lnTo>
                    <a:pt x="22" y="5"/>
                  </a:lnTo>
                  <a:lnTo>
                    <a:pt x="21" y="6"/>
                  </a:lnTo>
                  <a:lnTo>
                    <a:pt x="19" y="6"/>
                  </a:lnTo>
                  <a:lnTo>
                    <a:pt x="18" y="6"/>
                  </a:lnTo>
                  <a:lnTo>
                    <a:pt x="16" y="6"/>
                  </a:lnTo>
                  <a:lnTo>
                    <a:pt x="15" y="6"/>
                  </a:lnTo>
                  <a:lnTo>
                    <a:pt x="13" y="6"/>
                  </a:lnTo>
                  <a:lnTo>
                    <a:pt x="12" y="6"/>
                  </a:lnTo>
                  <a:lnTo>
                    <a:pt x="10" y="5"/>
                  </a:lnTo>
                  <a:lnTo>
                    <a:pt x="9" y="4"/>
                  </a:lnTo>
                  <a:lnTo>
                    <a:pt x="7" y="4"/>
                  </a:lnTo>
                  <a:lnTo>
                    <a:pt x="5" y="3"/>
                  </a:lnTo>
                  <a:lnTo>
                    <a:pt x="4" y="2"/>
                  </a:lnTo>
                  <a:lnTo>
                    <a:pt x="3" y="1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noFill/>
            <a:ln w="12230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7" name="Oval 306"/>
            <p:cNvSpPr/>
            <p:nvPr/>
          </p:nvSpPr>
          <p:spPr>
            <a:xfrm>
              <a:off x="1527048" y="9966960"/>
              <a:ext cx="978408" cy="868680"/>
            </a:xfrm>
            <a:prstGeom prst="ellipse">
              <a:avLst/>
            </a:prstGeom>
            <a:noFill/>
            <a:ln w="12230" cap="rnd">
              <a:solidFill>
                <a:srgbClr val="163769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21" name="Starch granule — editable vector group"/>
          <p:cNvGrpSpPr/>
          <p:nvPr/>
        </p:nvGrpSpPr>
        <p:grpSpPr>
          <a:xfrm>
            <a:off x="1353312" y="9656064"/>
            <a:ext cx="402336" cy="393192"/>
            <a:chOff x="1353312" y="9656064"/>
            <a:chExt cx="402336" cy="393192"/>
          </a:xfrm>
        </p:grpSpPr>
        <p:sp>
          <p:nvSpPr>
            <p:cNvPr id="309" name="Editable starch granule"/>
            <p:cNvSpPr/>
            <p:nvPr/>
          </p:nvSpPr>
          <p:spPr>
            <a:xfrm>
              <a:off x="1353312" y="9656064"/>
              <a:ext cx="402336" cy="393192"/>
            </a:xfrm>
            <a:prstGeom prst="ellipse">
              <a:avLst/>
            </a:prstGeom>
            <a:ln w="7620" cap="rnd">
              <a:solidFill>
                <a:srgbClr val="163769"/>
              </a:solidFill>
              <a:round/>
            </a:ln>
            <a:gradFill>
              <a:gsLst>
                <a:gs pos="0">
                  <a:srgbClr val="FFFFFF"/>
                </a:gs>
                <a:gs pos="100000">
                  <a:srgbClr val="F7FBFF"/>
                </a:gs>
              </a:gsLst>
              <a:lin ang="2700000" scaled="1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0" name="Freeform 309"/>
            <p:cNvSpPr/>
            <p:nvPr/>
          </p:nvSpPr>
          <p:spPr>
            <a:xfrm>
              <a:off x="1572768" y="9701784"/>
              <a:ext cx="118872" cy="128016"/>
            </a:xfrm>
            <a:custGeom>
              <a:avLst/>
              <a:gdLst/>
              <a:ahLst/>
              <a:cxnLst/>
              <a:rect l="l" t="t" r="r" b="b"/>
              <a:pathLst>
                <a:path w="13" h="14">
                  <a:moveTo>
                    <a:pt x="0" y="14"/>
                  </a:moveTo>
                  <a:lnTo>
                    <a:pt x="0" y="14"/>
                  </a:lnTo>
                  <a:lnTo>
                    <a:pt x="1" y="14"/>
                  </a:lnTo>
                  <a:lnTo>
                    <a:pt x="1" y="13"/>
                  </a:lnTo>
                  <a:lnTo>
                    <a:pt x="2" y="13"/>
                  </a:lnTo>
                  <a:lnTo>
                    <a:pt x="2" y="12"/>
                  </a:lnTo>
                  <a:lnTo>
                    <a:pt x="3" y="11"/>
                  </a:lnTo>
                  <a:lnTo>
                    <a:pt x="3" y="11"/>
                  </a:lnTo>
                  <a:lnTo>
                    <a:pt x="4" y="10"/>
                  </a:lnTo>
                  <a:lnTo>
                    <a:pt x="4" y="10"/>
                  </a:lnTo>
                  <a:lnTo>
                    <a:pt x="5" y="10"/>
                  </a:lnTo>
                  <a:lnTo>
                    <a:pt x="5" y="10"/>
                  </a:lnTo>
                  <a:lnTo>
                    <a:pt x="5" y="10"/>
                  </a:lnTo>
                  <a:lnTo>
                    <a:pt x="5" y="10"/>
                  </a:lnTo>
                  <a:lnTo>
                    <a:pt x="6" y="9"/>
                  </a:lnTo>
                  <a:lnTo>
                    <a:pt x="6" y="9"/>
                  </a:lnTo>
                  <a:lnTo>
                    <a:pt x="6" y="9"/>
                  </a:lnTo>
                  <a:lnTo>
                    <a:pt x="7" y="9"/>
                  </a:lnTo>
                  <a:lnTo>
                    <a:pt x="7" y="9"/>
                  </a:lnTo>
                  <a:lnTo>
                    <a:pt x="7" y="8"/>
                  </a:lnTo>
                  <a:lnTo>
                    <a:pt x="7" y="8"/>
                  </a:lnTo>
                  <a:lnTo>
                    <a:pt x="7" y="7"/>
                  </a:lnTo>
                  <a:lnTo>
                    <a:pt x="8" y="6"/>
                  </a:lnTo>
                  <a:lnTo>
                    <a:pt x="8" y="6"/>
                  </a:lnTo>
                  <a:lnTo>
                    <a:pt x="8" y="5"/>
                  </a:lnTo>
                  <a:lnTo>
                    <a:pt x="8" y="4"/>
                  </a:lnTo>
                  <a:lnTo>
                    <a:pt x="8" y="4"/>
                  </a:lnTo>
                  <a:lnTo>
                    <a:pt x="9" y="3"/>
                  </a:lnTo>
                  <a:lnTo>
                    <a:pt x="9" y="3"/>
                  </a:lnTo>
                  <a:lnTo>
                    <a:pt x="9" y="2"/>
                  </a:lnTo>
                  <a:lnTo>
                    <a:pt x="10" y="2"/>
                  </a:lnTo>
                  <a:lnTo>
                    <a:pt x="10" y="1"/>
                  </a:lnTo>
                  <a:lnTo>
                    <a:pt x="11" y="1"/>
                  </a:lnTo>
                  <a:lnTo>
                    <a:pt x="11" y="1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3" y="0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1" name="Freeform 310"/>
            <p:cNvSpPr/>
            <p:nvPr/>
          </p:nvSpPr>
          <p:spPr>
            <a:xfrm>
              <a:off x="1517904" y="9683496"/>
              <a:ext cx="54864" cy="137160"/>
            </a:xfrm>
            <a:custGeom>
              <a:avLst/>
              <a:gdLst/>
              <a:ahLst/>
              <a:cxnLst/>
              <a:rect l="l" t="t" r="r" b="b"/>
              <a:pathLst>
                <a:path w="6" h="15">
                  <a:moveTo>
                    <a:pt x="6" y="15"/>
                  </a:moveTo>
                  <a:lnTo>
                    <a:pt x="6" y="15"/>
                  </a:lnTo>
                  <a:lnTo>
                    <a:pt x="5" y="15"/>
                  </a:lnTo>
                  <a:lnTo>
                    <a:pt x="5" y="14"/>
                  </a:lnTo>
                  <a:lnTo>
                    <a:pt x="5" y="14"/>
                  </a:lnTo>
                  <a:lnTo>
                    <a:pt x="4" y="13"/>
                  </a:lnTo>
                  <a:lnTo>
                    <a:pt x="4" y="13"/>
                  </a:lnTo>
                  <a:lnTo>
                    <a:pt x="3" y="12"/>
                  </a:lnTo>
                  <a:lnTo>
                    <a:pt x="3" y="12"/>
                  </a:lnTo>
                  <a:lnTo>
                    <a:pt x="3" y="11"/>
                  </a:lnTo>
                  <a:lnTo>
                    <a:pt x="2" y="11"/>
                  </a:lnTo>
                  <a:lnTo>
                    <a:pt x="2" y="10"/>
                  </a:lnTo>
                  <a:lnTo>
                    <a:pt x="2" y="9"/>
                  </a:lnTo>
                  <a:lnTo>
                    <a:pt x="1" y="9"/>
                  </a:lnTo>
                  <a:lnTo>
                    <a:pt x="1" y="8"/>
                  </a:lnTo>
                  <a:lnTo>
                    <a:pt x="1" y="8"/>
                  </a:lnTo>
                  <a:lnTo>
                    <a:pt x="1" y="7"/>
                  </a:lnTo>
                  <a:lnTo>
                    <a:pt x="1" y="6"/>
                  </a:lnTo>
                  <a:lnTo>
                    <a:pt x="0" y="6"/>
                  </a:lnTo>
                  <a:lnTo>
                    <a:pt x="0" y="5"/>
                  </a:lnTo>
                  <a:lnTo>
                    <a:pt x="0" y="4"/>
                  </a:lnTo>
                  <a:lnTo>
                    <a:pt x="0" y="3"/>
                  </a:lnTo>
                  <a:lnTo>
                    <a:pt x="1" y="3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2" name="Freeform 311"/>
            <p:cNvSpPr/>
            <p:nvPr/>
          </p:nvSpPr>
          <p:spPr>
            <a:xfrm>
              <a:off x="1380744" y="9765792"/>
              <a:ext cx="192024" cy="82296"/>
            </a:xfrm>
            <a:custGeom>
              <a:avLst/>
              <a:gdLst/>
              <a:ahLst/>
              <a:cxnLst/>
              <a:rect l="l" t="t" r="r" b="b"/>
              <a:pathLst>
                <a:path w="21" h="9">
                  <a:moveTo>
                    <a:pt x="21" y="9"/>
                  </a:moveTo>
                  <a:lnTo>
                    <a:pt x="20" y="8"/>
                  </a:lnTo>
                  <a:lnTo>
                    <a:pt x="20" y="8"/>
                  </a:lnTo>
                  <a:lnTo>
                    <a:pt x="19" y="8"/>
                  </a:lnTo>
                  <a:lnTo>
                    <a:pt x="18" y="7"/>
                  </a:lnTo>
                  <a:lnTo>
                    <a:pt x="17" y="7"/>
                  </a:lnTo>
                  <a:lnTo>
                    <a:pt x="16" y="7"/>
                  </a:lnTo>
                  <a:lnTo>
                    <a:pt x="15" y="6"/>
                  </a:lnTo>
                  <a:lnTo>
                    <a:pt x="14" y="6"/>
                  </a:lnTo>
                  <a:lnTo>
                    <a:pt x="13" y="6"/>
                  </a:lnTo>
                  <a:lnTo>
                    <a:pt x="13" y="6"/>
                  </a:lnTo>
                  <a:lnTo>
                    <a:pt x="12" y="5"/>
                  </a:lnTo>
                  <a:lnTo>
                    <a:pt x="11" y="6"/>
                  </a:lnTo>
                  <a:lnTo>
                    <a:pt x="11" y="6"/>
                  </a:lnTo>
                  <a:lnTo>
                    <a:pt x="10" y="6"/>
                  </a:lnTo>
                  <a:lnTo>
                    <a:pt x="9" y="6"/>
                  </a:lnTo>
                  <a:lnTo>
                    <a:pt x="9" y="6"/>
                  </a:lnTo>
                  <a:lnTo>
                    <a:pt x="8" y="6"/>
                  </a:lnTo>
                  <a:lnTo>
                    <a:pt x="8" y="6"/>
                  </a:lnTo>
                  <a:lnTo>
                    <a:pt x="7" y="5"/>
                  </a:lnTo>
                  <a:lnTo>
                    <a:pt x="6" y="5"/>
                  </a:lnTo>
                  <a:lnTo>
                    <a:pt x="6" y="5"/>
                  </a:lnTo>
                  <a:lnTo>
                    <a:pt x="5" y="4"/>
                  </a:lnTo>
                  <a:lnTo>
                    <a:pt x="4" y="4"/>
                  </a:lnTo>
                  <a:lnTo>
                    <a:pt x="4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2" y="2"/>
                  </a:lnTo>
                  <a:lnTo>
                    <a:pt x="2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3" name="Freeform 312"/>
            <p:cNvSpPr/>
            <p:nvPr/>
          </p:nvSpPr>
          <p:spPr>
            <a:xfrm>
              <a:off x="1362456" y="9857232"/>
              <a:ext cx="201168" cy="82296"/>
            </a:xfrm>
            <a:custGeom>
              <a:avLst/>
              <a:gdLst/>
              <a:ahLst/>
              <a:cxnLst/>
              <a:rect l="l" t="t" r="r" b="b"/>
              <a:pathLst>
                <a:path w="22" h="9">
                  <a:moveTo>
                    <a:pt x="22" y="0"/>
                  </a:moveTo>
                  <a:lnTo>
                    <a:pt x="21" y="0"/>
                  </a:lnTo>
                  <a:lnTo>
                    <a:pt x="21" y="1"/>
                  </a:lnTo>
                  <a:lnTo>
                    <a:pt x="20" y="1"/>
                  </a:lnTo>
                  <a:lnTo>
                    <a:pt x="20" y="2"/>
                  </a:lnTo>
                  <a:lnTo>
                    <a:pt x="19" y="2"/>
                  </a:lnTo>
                  <a:lnTo>
                    <a:pt x="18" y="3"/>
                  </a:lnTo>
                  <a:lnTo>
                    <a:pt x="17" y="3"/>
                  </a:lnTo>
                  <a:lnTo>
                    <a:pt x="17" y="4"/>
                  </a:lnTo>
                  <a:lnTo>
                    <a:pt x="16" y="4"/>
                  </a:lnTo>
                  <a:lnTo>
                    <a:pt x="16" y="5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3" y="6"/>
                  </a:lnTo>
                  <a:lnTo>
                    <a:pt x="13" y="6"/>
                  </a:lnTo>
                  <a:lnTo>
                    <a:pt x="12" y="6"/>
                  </a:lnTo>
                  <a:lnTo>
                    <a:pt x="11" y="6"/>
                  </a:lnTo>
                  <a:lnTo>
                    <a:pt x="11" y="6"/>
                  </a:lnTo>
                  <a:lnTo>
                    <a:pt x="10" y="6"/>
                  </a:lnTo>
                  <a:lnTo>
                    <a:pt x="9" y="6"/>
                  </a:lnTo>
                  <a:lnTo>
                    <a:pt x="8" y="6"/>
                  </a:lnTo>
                  <a:lnTo>
                    <a:pt x="7" y="6"/>
                  </a:lnTo>
                  <a:lnTo>
                    <a:pt x="6" y="5"/>
                  </a:lnTo>
                  <a:lnTo>
                    <a:pt x="6" y="5"/>
                  </a:lnTo>
                  <a:lnTo>
                    <a:pt x="5" y="5"/>
                  </a:lnTo>
                  <a:lnTo>
                    <a:pt x="4" y="6"/>
                  </a:lnTo>
                  <a:lnTo>
                    <a:pt x="4" y="6"/>
                  </a:lnTo>
                  <a:lnTo>
                    <a:pt x="3" y="6"/>
                  </a:lnTo>
                  <a:lnTo>
                    <a:pt x="3" y="7"/>
                  </a:lnTo>
                  <a:lnTo>
                    <a:pt x="2" y="7"/>
                  </a:lnTo>
                  <a:lnTo>
                    <a:pt x="2" y="7"/>
                  </a:lnTo>
                  <a:lnTo>
                    <a:pt x="1" y="8"/>
                  </a:lnTo>
                  <a:lnTo>
                    <a:pt x="1" y="8"/>
                  </a:lnTo>
                  <a:lnTo>
                    <a:pt x="1" y="9"/>
                  </a:lnTo>
                  <a:lnTo>
                    <a:pt x="0" y="9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4" name="Freeform 313"/>
            <p:cNvSpPr/>
            <p:nvPr/>
          </p:nvSpPr>
          <p:spPr>
            <a:xfrm>
              <a:off x="1572768" y="9875520"/>
              <a:ext cx="45720" cy="155448"/>
            </a:xfrm>
            <a:custGeom>
              <a:avLst/>
              <a:gdLst/>
              <a:ahLst/>
              <a:cxnLst/>
              <a:rect l="l" t="t" r="r" b="b"/>
              <a:pathLst>
                <a:path w="5" h="17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2" y="3"/>
                  </a:lnTo>
                  <a:lnTo>
                    <a:pt x="2" y="4"/>
                  </a:lnTo>
                  <a:lnTo>
                    <a:pt x="3" y="5"/>
                  </a:lnTo>
                  <a:lnTo>
                    <a:pt x="3" y="6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8"/>
                  </a:lnTo>
                  <a:lnTo>
                    <a:pt x="3" y="8"/>
                  </a:lnTo>
                  <a:lnTo>
                    <a:pt x="3" y="9"/>
                  </a:lnTo>
                  <a:lnTo>
                    <a:pt x="3" y="9"/>
                  </a:lnTo>
                  <a:lnTo>
                    <a:pt x="3" y="10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2" y="12"/>
                  </a:lnTo>
                  <a:lnTo>
                    <a:pt x="3" y="12"/>
                  </a:lnTo>
                  <a:lnTo>
                    <a:pt x="3" y="13"/>
                  </a:lnTo>
                  <a:lnTo>
                    <a:pt x="3" y="14"/>
                  </a:lnTo>
                  <a:lnTo>
                    <a:pt x="4" y="14"/>
                  </a:lnTo>
                  <a:lnTo>
                    <a:pt x="4" y="15"/>
                  </a:lnTo>
                  <a:lnTo>
                    <a:pt x="5" y="16"/>
                  </a:lnTo>
                  <a:lnTo>
                    <a:pt x="5" y="16"/>
                  </a:lnTo>
                  <a:lnTo>
                    <a:pt x="5" y="17"/>
                  </a:lnTo>
                  <a:lnTo>
                    <a:pt x="5" y="17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5" name="Freeform 314"/>
            <p:cNvSpPr/>
            <p:nvPr/>
          </p:nvSpPr>
          <p:spPr>
            <a:xfrm>
              <a:off x="1581912" y="9857232"/>
              <a:ext cx="155448" cy="54864"/>
            </a:xfrm>
            <a:custGeom>
              <a:avLst/>
              <a:gdLst/>
              <a:ahLst/>
              <a:cxnLst/>
              <a:rect l="l" t="t" r="r" b="b"/>
              <a:pathLst>
                <a:path w="17" h="6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2" y="0"/>
                  </a:lnTo>
                  <a:lnTo>
                    <a:pt x="2" y="1"/>
                  </a:lnTo>
                  <a:lnTo>
                    <a:pt x="3" y="1"/>
                  </a:lnTo>
                  <a:lnTo>
                    <a:pt x="4" y="1"/>
                  </a:lnTo>
                  <a:lnTo>
                    <a:pt x="4" y="1"/>
                  </a:lnTo>
                  <a:lnTo>
                    <a:pt x="5" y="2"/>
                  </a:lnTo>
                  <a:lnTo>
                    <a:pt x="6" y="2"/>
                  </a:lnTo>
                  <a:lnTo>
                    <a:pt x="6" y="2"/>
                  </a:lnTo>
                  <a:lnTo>
                    <a:pt x="7" y="3"/>
                  </a:lnTo>
                  <a:lnTo>
                    <a:pt x="7" y="3"/>
                  </a:lnTo>
                  <a:lnTo>
                    <a:pt x="8" y="4"/>
                  </a:lnTo>
                  <a:lnTo>
                    <a:pt x="8" y="4"/>
                  </a:lnTo>
                  <a:lnTo>
                    <a:pt x="9" y="5"/>
                  </a:lnTo>
                  <a:lnTo>
                    <a:pt x="9" y="5"/>
                  </a:lnTo>
                  <a:lnTo>
                    <a:pt x="10" y="6"/>
                  </a:lnTo>
                  <a:lnTo>
                    <a:pt x="11" y="6"/>
                  </a:lnTo>
                  <a:lnTo>
                    <a:pt x="11" y="6"/>
                  </a:lnTo>
                  <a:lnTo>
                    <a:pt x="12" y="6"/>
                  </a:lnTo>
                  <a:lnTo>
                    <a:pt x="13" y="6"/>
                  </a:lnTo>
                  <a:lnTo>
                    <a:pt x="14" y="6"/>
                  </a:lnTo>
                  <a:lnTo>
                    <a:pt x="14" y="6"/>
                  </a:lnTo>
                  <a:lnTo>
                    <a:pt x="15" y="6"/>
                  </a:lnTo>
                  <a:lnTo>
                    <a:pt x="16" y="6"/>
                  </a:lnTo>
                  <a:lnTo>
                    <a:pt x="16" y="6"/>
                  </a:lnTo>
                  <a:lnTo>
                    <a:pt x="17" y="6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6" name="Freeform 315"/>
            <p:cNvSpPr/>
            <p:nvPr/>
          </p:nvSpPr>
          <p:spPr>
            <a:xfrm>
              <a:off x="1673352" y="9912096"/>
              <a:ext cx="27432" cy="82296"/>
            </a:xfrm>
            <a:custGeom>
              <a:avLst/>
              <a:gdLst/>
              <a:ahLst/>
              <a:cxnLst/>
              <a:rect l="l" t="t" r="r" b="b"/>
              <a:pathLst>
                <a:path w="3" h="9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7"/>
                  </a:lnTo>
                  <a:lnTo>
                    <a:pt x="1" y="7"/>
                  </a:lnTo>
                  <a:lnTo>
                    <a:pt x="1" y="7"/>
                  </a:lnTo>
                  <a:lnTo>
                    <a:pt x="2" y="8"/>
                  </a:lnTo>
                  <a:lnTo>
                    <a:pt x="2" y="8"/>
                  </a:lnTo>
                  <a:lnTo>
                    <a:pt x="2" y="8"/>
                  </a:lnTo>
                  <a:lnTo>
                    <a:pt x="3" y="9"/>
                  </a:lnTo>
                  <a:lnTo>
                    <a:pt x="3" y="9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7" name="Freeform 316"/>
            <p:cNvSpPr/>
            <p:nvPr/>
          </p:nvSpPr>
          <p:spPr>
            <a:xfrm>
              <a:off x="1453896" y="9720072"/>
              <a:ext cx="36576" cy="100584"/>
            </a:xfrm>
            <a:custGeom>
              <a:avLst/>
              <a:gdLst/>
              <a:ahLst/>
              <a:cxnLst/>
              <a:rect l="l" t="t" r="r" b="b"/>
              <a:pathLst>
                <a:path w="4" h="11">
                  <a:moveTo>
                    <a:pt x="4" y="11"/>
                  </a:moveTo>
                  <a:lnTo>
                    <a:pt x="4" y="10"/>
                  </a:lnTo>
                  <a:lnTo>
                    <a:pt x="4" y="10"/>
                  </a:lnTo>
                  <a:lnTo>
                    <a:pt x="4" y="9"/>
                  </a:lnTo>
                  <a:lnTo>
                    <a:pt x="4" y="9"/>
                  </a:lnTo>
                  <a:lnTo>
                    <a:pt x="4" y="8"/>
                  </a:lnTo>
                  <a:lnTo>
                    <a:pt x="4" y="7"/>
                  </a:lnTo>
                  <a:lnTo>
                    <a:pt x="4" y="6"/>
                  </a:lnTo>
                  <a:lnTo>
                    <a:pt x="4" y="6"/>
                  </a:lnTo>
                  <a:lnTo>
                    <a:pt x="4" y="5"/>
                  </a:lnTo>
                  <a:lnTo>
                    <a:pt x="4" y="4"/>
                  </a:lnTo>
                  <a:lnTo>
                    <a:pt x="3" y="4"/>
                  </a:lnTo>
                  <a:lnTo>
                    <a:pt x="3" y="3"/>
                  </a:lnTo>
                  <a:lnTo>
                    <a:pt x="2" y="2"/>
                  </a:lnTo>
                  <a:lnTo>
                    <a:pt x="2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8" name="Freeform 317"/>
            <p:cNvSpPr/>
            <p:nvPr/>
          </p:nvSpPr>
          <p:spPr>
            <a:xfrm>
              <a:off x="1453896" y="9912096"/>
              <a:ext cx="27432" cy="100584"/>
            </a:xfrm>
            <a:custGeom>
              <a:avLst/>
              <a:gdLst/>
              <a:ahLst/>
              <a:cxnLst/>
              <a:rect l="l" t="t" r="r" b="b"/>
              <a:pathLst>
                <a:path w="3" h="11">
                  <a:moveTo>
                    <a:pt x="1" y="0"/>
                  </a:moveTo>
                  <a:lnTo>
                    <a:pt x="1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2"/>
                  </a:lnTo>
                  <a:lnTo>
                    <a:pt x="2" y="3"/>
                  </a:lnTo>
                  <a:lnTo>
                    <a:pt x="2" y="3"/>
                  </a:lnTo>
                  <a:lnTo>
                    <a:pt x="3" y="4"/>
                  </a:lnTo>
                  <a:lnTo>
                    <a:pt x="3" y="5"/>
                  </a:lnTo>
                  <a:lnTo>
                    <a:pt x="3" y="6"/>
                  </a:lnTo>
                  <a:lnTo>
                    <a:pt x="2" y="6"/>
                  </a:lnTo>
                  <a:lnTo>
                    <a:pt x="2" y="7"/>
                  </a:lnTo>
                  <a:lnTo>
                    <a:pt x="2" y="8"/>
                  </a:lnTo>
                  <a:lnTo>
                    <a:pt x="1" y="8"/>
                  </a:lnTo>
                  <a:lnTo>
                    <a:pt x="1" y="9"/>
                  </a:lnTo>
                  <a:lnTo>
                    <a:pt x="1" y="10"/>
                  </a:lnTo>
                  <a:lnTo>
                    <a:pt x="0" y="10"/>
                  </a:lnTo>
                  <a:lnTo>
                    <a:pt x="0" y="11"/>
                  </a:lnTo>
                  <a:lnTo>
                    <a:pt x="0" y="11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9" name="Freeform 318"/>
            <p:cNvSpPr/>
            <p:nvPr/>
          </p:nvSpPr>
          <p:spPr>
            <a:xfrm>
              <a:off x="1636776" y="9765792"/>
              <a:ext cx="91440" cy="27432"/>
            </a:xfrm>
            <a:custGeom>
              <a:avLst/>
              <a:gdLst/>
              <a:ahLst/>
              <a:cxnLst/>
              <a:rect l="l" t="t" r="r" b="b"/>
              <a:pathLst>
                <a:path w="10" h="3">
                  <a:moveTo>
                    <a:pt x="0" y="2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3" y="3"/>
                  </a:lnTo>
                  <a:lnTo>
                    <a:pt x="3" y="3"/>
                  </a:lnTo>
                  <a:lnTo>
                    <a:pt x="4" y="3"/>
                  </a:lnTo>
                  <a:lnTo>
                    <a:pt x="5" y="3"/>
                  </a:lnTo>
                  <a:lnTo>
                    <a:pt x="5" y="2"/>
                  </a:lnTo>
                  <a:lnTo>
                    <a:pt x="6" y="2"/>
                  </a:lnTo>
                  <a:lnTo>
                    <a:pt x="7" y="2"/>
                  </a:lnTo>
                  <a:lnTo>
                    <a:pt x="7" y="1"/>
                  </a:lnTo>
                  <a:lnTo>
                    <a:pt x="8" y="1"/>
                  </a:lnTo>
                  <a:lnTo>
                    <a:pt x="9" y="1"/>
                  </a:lnTo>
                  <a:lnTo>
                    <a:pt x="9" y="0"/>
                  </a:lnTo>
                  <a:lnTo>
                    <a:pt x="10" y="0"/>
                  </a:lnTo>
                  <a:lnTo>
                    <a:pt x="10" y="0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0" name="Oval 319"/>
            <p:cNvSpPr/>
            <p:nvPr/>
          </p:nvSpPr>
          <p:spPr>
            <a:xfrm>
              <a:off x="1353312" y="9656064"/>
              <a:ext cx="402336" cy="393192"/>
            </a:xfrm>
            <a:prstGeom prst="ellipse">
              <a:avLst/>
            </a:prstGeom>
            <a:noFill/>
            <a:ln w="7620" cap="rnd">
              <a:solidFill>
                <a:srgbClr val="163769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34" name="Starch granule — editable vector group"/>
          <p:cNvGrpSpPr/>
          <p:nvPr/>
        </p:nvGrpSpPr>
        <p:grpSpPr>
          <a:xfrm>
            <a:off x="2551176" y="10177272"/>
            <a:ext cx="420624" cy="411480"/>
            <a:chOff x="2551176" y="10177272"/>
            <a:chExt cx="420624" cy="411480"/>
          </a:xfrm>
        </p:grpSpPr>
        <p:sp>
          <p:nvSpPr>
            <p:cNvPr id="322" name="Editable starch granule"/>
            <p:cNvSpPr/>
            <p:nvPr/>
          </p:nvSpPr>
          <p:spPr>
            <a:xfrm>
              <a:off x="2551176" y="10177272"/>
              <a:ext cx="420624" cy="411480"/>
            </a:xfrm>
            <a:prstGeom prst="ellipse">
              <a:avLst/>
            </a:prstGeom>
            <a:ln w="7620" cap="rnd">
              <a:solidFill>
                <a:srgbClr val="163769"/>
              </a:solidFill>
              <a:round/>
            </a:ln>
            <a:gradFill>
              <a:gsLst>
                <a:gs pos="0">
                  <a:srgbClr val="FFFFFF"/>
                </a:gs>
                <a:gs pos="100000">
                  <a:srgbClr val="F7FBFF"/>
                </a:gs>
              </a:gsLst>
              <a:lin ang="2700000" scaled="1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3" name="Freeform 322"/>
            <p:cNvSpPr/>
            <p:nvPr/>
          </p:nvSpPr>
          <p:spPr>
            <a:xfrm>
              <a:off x="2779776" y="10222992"/>
              <a:ext cx="118872" cy="137160"/>
            </a:xfrm>
            <a:custGeom>
              <a:avLst/>
              <a:gdLst/>
              <a:ahLst/>
              <a:cxnLst/>
              <a:rect l="l" t="t" r="r" b="b"/>
              <a:pathLst>
                <a:path w="13" h="15">
                  <a:moveTo>
                    <a:pt x="0" y="15"/>
                  </a:moveTo>
                  <a:lnTo>
                    <a:pt x="1" y="15"/>
                  </a:lnTo>
                  <a:lnTo>
                    <a:pt x="1" y="14"/>
                  </a:lnTo>
                  <a:lnTo>
                    <a:pt x="1" y="14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3" y="12"/>
                  </a:lnTo>
                  <a:lnTo>
                    <a:pt x="4" y="12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5" y="10"/>
                  </a:lnTo>
                  <a:lnTo>
                    <a:pt x="5" y="10"/>
                  </a:lnTo>
                  <a:lnTo>
                    <a:pt x="5" y="10"/>
                  </a:lnTo>
                  <a:lnTo>
                    <a:pt x="6" y="10"/>
                  </a:lnTo>
                  <a:lnTo>
                    <a:pt x="6" y="10"/>
                  </a:lnTo>
                  <a:lnTo>
                    <a:pt x="6" y="10"/>
                  </a:lnTo>
                  <a:lnTo>
                    <a:pt x="7" y="10"/>
                  </a:lnTo>
                  <a:lnTo>
                    <a:pt x="7" y="10"/>
                  </a:lnTo>
                  <a:lnTo>
                    <a:pt x="7" y="9"/>
                  </a:lnTo>
                  <a:lnTo>
                    <a:pt x="7" y="9"/>
                  </a:lnTo>
                  <a:lnTo>
                    <a:pt x="8" y="8"/>
                  </a:lnTo>
                  <a:lnTo>
                    <a:pt x="8" y="8"/>
                  </a:lnTo>
                  <a:lnTo>
                    <a:pt x="8" y="7"/>
                  </a:lnTo>
                  <a:lnTo>
                    <a:pt x="8" y="6"/>
                  </a:lnTo>
                  <a:lnTo>
                    <a:pt x="8" y="6"/>
                  </a:lnTo>
                  <a:lnTo>
                    <a:pt x="8" y="5"/>
                  </a:lnTo>
                  <a:lnTo>
                    <a:pt x="9" y="4"/>
                  </a:lnTo>
                  <a:lnTo>
                    <a:pt x="9" y="4"/>
                  </a:lnTo>
                  <a:lnTo>
                    <a:pt x="9" y="3"/>
                  </a:lnTo>
                  <a:lnTo>
                    <a:pt x="10" y="3"/>
                  </a:lnTo>
                  <a:lnTo>
                    <a:pt x="10" y="2"/>
                  </a:lnTo>
                  <a:lnTo>
                    <a:pt x="11" y="2"/>
                  </a:lnTo>
                  <a:lnTo>
                    <a:pt x="11" y="1"/>
                  </a:lnTo>
                  <a:lnTo>
                    <a:pt x="12" y="1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3" y="0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4" name="Freeform 323"/>
            <p:cNvSpPr/>
            <p:nvPr/>
          </p:nvSpPr>
          <p:spPr>
            <a:xfrm>
              <a:off x="2724912" y="10204704"/>
              <a:ext cx="54864" cy="146304"/>
            </a:xfrm>
            <a:custGeom>
              <a:avLst/>
              <a:gdLst/>
              <a:ahLst/>
              <a:cxnLst/>
              <a:rect l="l" t="t" r="r" b="b"/>
              <a:pathLst>
                <a:path w="6" h="16">
                  <a:moveTo>
                    <a:pt x="6" y="16"/>
                  </a:moveTo>
                  <a:lnTo>
                    <a:pt x="6" y="16"/>
                  </a:lnTo>
                  <a:lnTo>
                    <a:pt x="5" y="16"/>
                  </a:lnTo>
                  <a:lnTo>
                    <a:pt x="5" y="15"/>
                  </a:lnTo>
                  <a:lnTo>
                    <a:pt x="5" y="15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3" y="13"/>
                  </a:lnTo>
                  <a:lnTo>
                    <a:pt x="3" y="12"/>
                  </a:lnTo>
                  <a:lnTo>
                    <a:pt x="3" y="12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2" y="10"/>
                  </a:lnTo>
                  <a:lnTo>
                    <a:pt x="1" y="9"/>
                  </a:lnTo>
                  <a:lnTo>
                    <a:pt x="1" y="9"/>
                  </a:lnTo>
                  <a:lnTo>
                    <a:pt x="1" y="8"/>
                  </a:lnTo>
                  <a:lnTo>
                    <a:pt x="1" y="7"/>
                  </a:lnTo>
                  <a:lnTo>
                    <a:pt x="0" y="7"/>
                  </a:lnTo>
                  <a:lnTo>
                    <a:pt x="0" y="6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4"/>
                  </a:lnTo>
                  <a:lnTo>
                    <a:pt x="0" y="3"/>
                  </a:lnTo>
                  <a:lnTo>
                    <a:pt x="0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5" name="Freeform 324"/>
            <p:cNvSpPr/>
            <p:nvPr/>
          </p:nvSpPr>
          <p:spPr>
            <a:xfrm>
              <a:off x="2578608" y="10287000"/>
              <a:ext cx="201168" cy="91440"/>
            </a:xfrm>
            <a:custGeom>
              <a:avLst/>
              <a:gdLst/>
              <a:ahLst/>
              <a:cxnLst/>
              <a:rect l="l" t="t" r="r" b="b"/>
              <a:pathLst>
                <a:path w="22" h="10">
                  <a:moveTo>
                    <a:pt x="22" y="10"/>
                  </a:moveTo>
                  <a:lnTo>
                    <a:pt x="21" y="9"/>
                  </a:lnTo>
                  <a:lnTo>
                    <a:pt x="21" y="9"/>
                  </a:lnTo>
                  <a:lnTo>
                    <a:pt x="20" y="9"/>
                  </a:lnTo>
                  <a:lnTo>
                    <a:pt x="19" y="8"/>
                  </a:lnTo>
                  <a:lnTo>
                    <a:pt x="18" y="8"/>
                  </a:lnTo>
                  <a:lnTo>
                    <a:pt x="17" y="7"/>
                  </a:lnTo>
                  <a:lnTo>
                    <a:pt x="16" y="7"/>
                  </a:lnTo>
                  <a:lnTo>
                    <a:pt x="15" y="7"/>
                  </a:lnTo>
                  <a:lnTo>
                    <a:pt x="14" y="6"/>
                  </a:lnTo>
                  <a:lnTo>
                    <a:pt x="13" y="6"/>
                  </a:lnTo>
                  <a:lnTo>
                    <a:pt x="13" y="6"/>
                  </a:lnTo>
                  <a:lnTo>
                    <a:pt x="12" y="6"/>
                  </a:lnTo>
                  <a:lnTo>
                    <a:pt x="11" y="6"/>
                  </a:lnTo>
                  <a:lnTo>
                    <a:pt x="11" y="7"/>
                  </a:lnTo>
                  <a:lnTo>
                    <a:pt x="10" y="7"/>
                  </a:lnTo>
                  <a:lnTo>
                    <a:pt x="9" y="7"/>
                  </a:lnTo>
                  <a:lnTo>
                    <a:pt x="9" y="7"/>
                  </a:lnTo>
                  <a:lnTo>
                    <a:pt x="8" y="6"/>
                  </a:lnTo>
                  <a:lnTo>
                    <a:pt x="7" y="6"/>
                  </a:lnTo>
                  <a:lnTo>
                    <a:pt x="7" y="6"/>
                  </a:lnTo>
                  <a:lnTo>
                    <a:pt x="6" y="5"/>
                  </a:lnTo>
                  <a:lnTo>
                    <a:pt x="5" y="5"/>
                  </a:lnTo>
                  <a:lnTo>
                    <a:pt x="5" y="5"/>
                  </a:lnTo>
                  <a:lnTo>
                    <a:pt x="4" y="4"/>
                  </a:lnTo>
                  <a:lnTo>
                    <a:pt x="4" y="4"/>
                  </a:lnTo>
                  <a:lnTo>
                    <a:pt x="3" y="3"/>
                  </a:lnTo>
                  <a:lnTo>
                    <a:pt x="3" y="3"/>
                  </a:lnTo>
                  <a:lnTo>
                    <a:pt x="2" y="2"/>
                  </a:lnTo>
                  <a:lnTo>
                    <a:pt x="2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6" name="Freeform 325"/>
            <p:cNvSpPr/>
            <p:nvPr/>
          </p:nvSpPr>
          <p:spPr>
            <a:xfrm>
              <a:off x="2560320" y="10387584"/>
              <a:ext cx="210312" cy="82296"/>
            </a:xfrm>
            <a:custGeom>
              <a:avLst/>
              <a:gdLst/>
              <a:ahLst/>
              <a:cxnLst/>
              <a:rect l="l" t="t" r="r" b="b"/>
              <a:pathLst>
                <a:path w="23" h="9">
                  <a:moveTo>
                    <a:pt x="23" y="0"/>
                  </a:moveTo>
                  <a:lnTo>
                    <a:pt x="23" y="0"/>
                  </a:lnTo>
                  <a:lnTo>
                    <a:pt x="22" y="1"/>
                  </a:lnTo>
                  <a:lnTo>
                    <a:pt x="21" y="1"/>
                  </a:lnTo>
                  <a:lnTo>
                    <a:pt x="21" y="2"/>
                  </a:lnTo>
                  <a:lnTo>
                    <a:pt x="20" y="2"/>
                  </a:lnTo>
                  <a:lnTo>
                    <a:pt x="19" y="3"/>
                  </a:lnTo>
                  <a:lnTo>
                    <a:pt x="18" y="4"/>
                  </a:lnTo>
                  <a:lnTo>
                    <a:pt x="18" y="4"/>
                  </a:lnTo>
                  <a:lnTo>
                    <a:pt x="17" y="4"/>
                  </a:lnTo>
                  <a:lnTo>
                    <a:pt x="16" y="5"/>
                  </a:lnTo>
                  <a:lnTo>
                    <a:pt x="16" y="5"/>
                  </a:lnTo>
                  <a:lnTo>
                    <a:pt x="15" y="5"/>
                  </a:lnTo>
                  <a:lnTo>
                    <a:pt x="15" y="6"/>
                  </a:lnTo>
                  <a:lnTo>
                    <a:pt x="14" y="6"/>
                  </a:lnTo>
                  <a:lnTo>
                    <a:pt x="14" y="6"/>
                  </a:lnTo>
                  <a:lnTo>
                    <a:pt x="13" y="6"/>
                  </a:lnTo>
                  <a:lnTo>
                    <a:pt x="13" y="6"/>
                  </a:lnTo>
                  <a:lnTo>
                    <a:pt x="12" y="6"/>
                  </a:lnTo>
                  <a:lnTo>
                    <a:pt x="11" y="6"/>
                  </a:lnTo>
                  <a:lnTo>
                    <a:pt x="10" y="6"/>
                  </a:lnTo>
                  <a:lnTo>
                    <a:pt x="9" y="6"/>
                  </a:lnTo>
                  <a:lnTo>
                    <a:pt x="9" y="6"/>
                  </a:lnTo>
                  <a:lnTo>
                    <a:pt x="8" y="6"/>
                  </a:lnTo>
                  <a:lnTo>
                    <a:pt x="7" y="6"/>
                  </a:lnTo>
                  <a:lnTo>
                    <a:pt x="6" y="6"/>
                  </a:lnTo>
                  <a:lnTo>
                    <a:pt x="5" y="6"/>
                  </a:lnTo>
                  <a:lnTo>
                    <a:pt x="5" y="6"/>
                  </a:lnTo>
                  <a:lnTo>
                    <a:pt x="4" y="6"/>
                  </a:lnTo>
                  <a:lnTo>
                    <a:pt x="3" y="6"/>
                  </a:lnTo>
                  <a:lnTo>
                    <a:pt x="3" y="7"/>
                  </a:lnTo>
                  <a:lnTo>
                    <a:pt x="2" y="7"/>
                  </a:lnTo>
                  <a:lnTo>
                    <a:pt x="2" y="8"/>
                  </a:lnTo>
                  <a:lnTo>
                    <a:pt x="1" y="8"/>
                  </a:lnTo>
                  <a:lnTo>
                    <a:pt x="1" y="9"/>
                  </a:lnTo>
                  <a:lnTo>
                    <a:pt x="1" y="9"/>
                  </a:lnTo>
                  <a:lnTo>
                    <a:pt x="0" y="9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7" name="Freeform 326"/>
            <p:cNvSpPr/>
            <p:nvPr/>
          </p:nvSpPr>
          <p:spPr>
            <a:xfrm>
              <a:off x="2779776" y="10405872"/>
              <a:ext cx="54864" cy="164592"/>
            </a:xfrm>
            <a:custGeom>
              <a:avLst/>
              <a:gdLst/>
              <a:ahLst/>
              <a:cxnLst/>
              <a:rect l="l" t="t" r="r" b="b"/>
              <a:pathLst>
                <a:path w="6" h="18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2"/>
                  </a:lnTo>
                  <a:lnTo>
                    <a:pt x="1" y="3"/>
                  </a:lnTo>
                  <a:lnTo>
                    <a:pt x="2" y="3"/>
                  </a:lnTo>
                  <a:lnTo>
                    <a:pt x="2" y="4"/>
                  </a:lnTo>
                  <a:lnTo>
                    <a:pt x="3" y="5"/>
                  </a:lnTo>
                  <a:lnTo>
                    <a:pt x="3" y="6"/>
                  </a:lnTo>
                  <a:lnTo>
                    <a:pt x="4" y="7"/>
                  </a:lnTo>
                  <a:lnTo>
                    <a:pt x="4" y="8"/>
                  </a:lnTo>
                  <a:lnTo>
                    <a:pt x="4" y="8"/>
                  </a:lnTo>
                  <a:lnTo>
                    <a:pt x="3" y="9"/>
                  </a:lnTo>
                  <a:lnTo>
                    <a:pt x="3" y="9"/>
                  </a:lnTo>
                  <a:lnTo>
                    <a:pt x="3" y="10"/>
                  </a:lnTo>
                  <a:lnTo>
                    <a:pt x="3" y="11"/>
                  </a:lnTo>
                  <a:lnTo>
                    <a:pt x="3" y="11"/>
                  </a:lnTo>
                  <a:lnTo>
                    <a:pt x="3" y="12"/>
                  </a:lnTo>
                  <a:lnTo>
                    <a:pt x="3" y="12"/>
                  </a:lnTo>
                  <a:lnTo>
                    <a:pt x="3" y="13"/>
                  </a:lnTo>
                  <a:lnTo>
                    <a:pt x="3" y="14"/>
                  </a:lnTo>
                  <a:lnTo>
                    <a:pt x="3" y="14"/>
                  </a:lnTo>
                  <a:lnTo>
                    <a:pt x="4" y="15"/>
                  </a:lnTo>
                  <a:lnTo>
                    <a:pt x="4" y="16"/>
                  </a:lnTo>
                  <a:lnTo>
                    <a:pt x="5" y="16"/>
                  </a:lnTo>
                  <a:lnTo>
                    <a:pt x="5" y="17"/>
                  </a:lnTo>
                  <a:lnTo>
                    <a:pt x="6" y="17"/>
                  </a:lnTo>
                  <a:lnTo>
                    <a:pt x="6" y="18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8" name="Freeform 327"/>
            <p:cNvSpPr/>
            <p:nvPr/>
          </p:nvSpPr>
          <p:spPr>
            <a:xfrm>
              <a:off x="2788920" y="10387584"/>
              <a:ext cx="164592" cy="54864"/>
            </a:xfrm>
            <a:custGeom>
              <a:avLst/>
              <a:gdLst/>
              <a:ahLst/>
              <a:cxnLst/>
              <a:rect l="l" t="t" r="r" b="b"/>
              <a:pathLst>
                <a:path w="18" h="6">
                  <a:moveTo>
                    <a:pt x="0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2" y="0"/>
                  </a:lnTo>
                  <a:lnTo>
                    <a:pt x="3" y="1"/>
                  </a:lnTo>
                  <a:lnTo>
                    <a:pt x="3" y="1"/>
                  </a:lnTo>
                  <a:lnTo>
                    <a:pt x="4" y="1"/>
                  </a:lnTo>
                  <a:lnTo>
                    <a:pt x="5" y="2"/>
                  </a:lnTo>
                  <a:lnTo>
                    <a:pt x="6" y="2"/>
                  </a:lnTo>
                  <a:lnTo>
                    <a:pt x="6" y="2"/>
                  </a:lnTo>
                  <a:lnTo>
                    <a:pt x="7" y="3"/>
                  </a:lnTo>
                  <a:lnTo>
                    <a:pt x="7" y="3"/>
                  </a:lnTo>
                  <a:lnTo>
                    <a:pt x="8" y="4"/>
                  </a:lnTo>
                  <a:lnTo>
                    <a:pt x="8" y="4"/>
                  </a:lnTo>
                  <a:lnTo>
                    <a:pt x="9" y="5"/>
                  </a:lnTo>
                  <a:lnTo>
                    <a:pt x="10" y="5"/>
                  </a:lnTo>
                  <a:lnTo>
                    <a:pt x="10" y="6"/>
                  </a:lnTo>
                  <a:lnTo>
                    <a:pt x="11" y="6"/>
                  </a:lnTo>
                  <a:lnTo>
                    <a:pt x="11" y="6"/>
                  </a:lnTo>
                  <a:lnTo>
                    <a:pt x="12" y="6"/>
                  </a:lnTo>
                  <a:lnTo>
                    <a:pt x="13" y="6"/>
                  </a:lnTo>
                  <a:lnTo>
                    <a:pt x="14" y="6"/>
                  </a:lnTo>
                  <a:lnTo>
                    <a:pt x="14" y="6"/>
                  </a:lnTo>
                  <a:lnTo>
                    <a:pt x="15" y="6"/>
                  </a:lnTo>
                  <a:lnTo>
                    <a:pt x="16" y="6"/>
                  </a:lnTo>
                  <a:lnTo>
                    <a:pt x="17" y="6"/>
                  </a:lnTo>
                  <a:lnTo>
                    <a:pt x="17" y="6"/>
                  </a:lnTo>
                  <a:lnTo>
                    <a:pt x="18" y="6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9" name="Freeform 328"/>
            <p:cNvSpPr/>
            <p:nvPr/>
          </p:nvSpPr>
          <p:spPr>
            <a:xfrm>
              <a:off x="2880360" y="10442448"/>
              <a:ext cx="36576" cy="91440"/>
            </a:xfrm>
            <a:custGeom>
              <a:avLst/>
              <a:gdLst/>
              <a:ahLst/>
              <a:cxnLst/>
              <a:rect l="l" t="t" r="r" b="b"/>
              <a:pathLst>
                <a:path w="4" h="10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6"/>
                  </a:lnTo>
                  <a:lnTo>
                    <a:pt x="1" y="7"/>
                  </a:lnTo>
                  <a:lnTo>
                    <a:pt x="1" y="7"/>
                  </a:lnTo>
                  <a:lnTo>
                    <a:pt x="1" y="8"/>
                  </a:lnTo>
                  <a:lnTo>
                    <a:pt x="2" y="8"/>
                  </a:lnTo>
                  <a:lnTo>
                    <a:pt x="2" y="8"/>
                  </a:lnTo>
                  <a:lnTo>
                    <a:pt x="3" y="9"/>
                  </a:lnTo>
                  <a:lnTo>
                    <a:pt x="3" y="9"/>
                  </a:lnTo>
                  <a:lnTo>
                    <a:pt x="3" y="9"/>
                  </a:lnTo>
                  <a:lnTo>
                    <a:pt x="4" y="10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0" name="Freeform 329"/>
            <p:cNvSpPr/>
            <p:nvPr/>
          </p:nvSpPr>
          <p:spPr>
            <a:xfrm>
              <a:off x="2651760" y="10241280"/>
              <a:ext cx="45720" cy="100584"/>
            </a:xfrm>
            <a:custGeom>
              <a:avLst/>
              <a:gdLst/>
              <a:ahLst/>
              <a:cxnLst/>
              <a:rect l="l" t="t" r="r" b="b"/>
              <a:pathLst>
                <a:path w="5" h="11">
                  <a:moveTo>
                    <a:pt x="5" y="11"/>
                  </a:moveTo>
                  <a:lnTo>
                    <a:pt x="5" y="11"/>
                  </a:lnTo>
                  <a:lnTo>
                    <a:pt x="5" y="11"/>
                  </a:lnTo>
                  <a:lnTo>
                    <a:pt x="5" y="10"/>
                  </a:lnTo>
                  <a:lnTo>
                    <a:pt x="5" y="9"/>
                  </a:lnTo>
                  <a:lnTo>
                    <a:pt x="5" y="8"/>
                  </a:lnTo>
                  <a:lnTo>
                    <a:pt x="5" y="8"/>
                  </a:lnTo>
                  <a:lnTo>
                    <a:pt x="5" y="7"/>
                  </a:lnTo>
                  <a:lnTo>
                    <a:pt x="5" y="6"/>
                  </a:lnTo>
                  <a:lnTo>
                    <a:pt x="5" y="6"/>
                  </a:lnTo>
                  <a:lnTo>
                    <a:pt x="4" y="5"/>
                  </a:lnTo>
                  <a:lnTo>
                    <a:pt x="4" y="4"/>
                  </a:lnTo>
                  <a:lnTo>
                    <a:pt x="3" y="4"/>
                  </a:lnTo>
                  <a:lnTo>
                    <a:pt x="3" y="3"/>
                  </a:lnTo>
                  <a:lnTo>
                    <a:pt x="2" y="2"/>
                  </a:lnTo>
                  <a:lnTo>
                    <a:pt x="2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1" name="Freeform 330"/>
            <p:cNvSpPr/>
            <p:nvPr/>
          </p:nvSpPr>
          <p:spPr>
            <a:xfrm>
              <a:off x="2651760" y="10442448"/>
              <a:ext cx="27432" cy="109728"/>
            </a:xfrm>
            <a:custGeom>
              <a:avLst/>
              <a:gdLst/>
              <a:ahLst/>
              <a:cxnLst/>
              <a:rect l="l" t="t" r="r" b="b"/>
              <a:pathLst>
                <a:path w="3" h="12">
                  <a:moveTo>
                    <a:pt x="2" y="0"/>
                  </a:moveTo>
                  <a:lnTo>
                    <a:pt x="2" y="1"/>
                  </a:lnTo>
                  <a:lnTo>
                    <a:pt x="2" y="1"/>
                  </a:lnTo>
                  <a:lnTo>
                    <a:pt x="2" y="2"/>
                  </a:lnTo>
                  <a:lnTo>
                    <a:pt x="3" y="2"/>
                  </a:lnTo>
                  <a:lnTo>
                    <a:pt x="3" y="3"/>
                  </a:lnTo>
                  <a:lnTo>
                    <a:pt x="3" y="4"/>
                  </a:lnTo>
                  <a:lnTo>
                    <a:pt x="3" y="5"/>
                  </a:lnTo>
                  <a:lnTo>
                    <a:pt x="3" y="5"/>
                  </a:lnTo>
                  <a:lnTo>
                    <a:pt x="3" y="6"/>
                  </a:lnTo>
                  <a:lnTo>
                    <a:pt x="3" y="7"/>
                  </a:lnTo>
                  <a:lnTo>
                    <a:pt x="3" y="8"/>
                  </a:lnTo>
                  <a:lnTo>
                    <a:pt x="2" y="8"/>
                  </a:lnTo>
                  <a:lnTo>
                    <a:pt x="2" y="9"/>
                  </a:lnTo>
                  <a:lnTo>
                    <a:pt x="2" y="10"/>
                  </a:lnTo>
                  <a:lnTo>
                    <a:pt x="1" y="10"/>
                  </a:lnTo>
                  <a:lnTo>
                    <a:pt x="1" y="11"/>
                  </a:lnTo>
                  <a:lnTo>
                    <a:pt x="0" y="12"/>
                  </a:lnTo>
                  <a:lnTo>
                    <a:pt x="0" y="12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2" name="Freeform 331"/>
            <p:cNvSpPr/>
            <p:nvPr/>
          </p:nvSpPr>
          <p:spPr>
            <a:xfrm>
              <a:off x="2843784" y="10287000"/>
              <a:ext cx="100584" cy="27432"/>
            </a:xfrm>
            <a:custGeom>
              <a:avLst/>
              <a:gdLst/>
              <a:ahLst/>
              <a:cxnLst/>
              <a:rect l="l" t="t" r="r" b="b"/>
              <a:pathLst>
                <a:path w="11" h="3">
                  <a:moveTo>
                    <a:pt x="0" y="2"/>
                  </a:moveTo>
                  <a:lnTo>
                    <a:pt x="1" y="2"/>
                  </a:lnTo>
                  <a:lnTo>
                    <a:pt x="1" y="3"/>
                  </a:lnTo>
                  <a:lnTo>
                    <a:pt x="1" y="3"/>
                  </a:lnTo>
                  <a:lnTo>
                    <a:pt x="2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4" y="3"/>
                  </a:lnTo>
                  <a:lnTo>
                    <a:pt x="5" y="3"/>
                  </a:lnTo>
                  <a:lnTo>
                    <a:pt x="5" y="3"/>
                  </a:lnTo>
                  <a:lnTo>
                    <a:pt x="6" y="3"/>
                  </a:lnTo>
                  <a:lnTo>
                    <a:pt x="7" y="3"/>
                  </a:lnTo>
                  <a:lnTo>
                    <a:pt x="7" y="2"/>
                  </a:lnTo>
                  <a:lnTo>
                    <a:pt x="8" y="2"/>
                  </a:lnTo>
                  <a:lnTo>
                    <a:pt x="9" y="2"/>
                  </a:lnTo>
                  <a:lnTo>
                    <a:pt x="9" y="1"/>
                  </a:lnTo>
                  <a:lnTo>
                    <a:pt x="10" y="1"/>
                  </a:lnTo>
                  <a:lnTo>
                    <a:pt x="10" y="0"/>
                  </a:lnTo>
                  <a:lnTo>
                    <a:pt x="11" y="0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3" name="Oval 332"/>
            <p:cNvSpPr/>
            <p:nvPr/>
          </p:nvSpPr>
          <p:spPr>
            <a:xfrm>
              <a:off x="2551176" y="10177272"/>
              <a:ext cx="420624" cy="411480"/>
            </a:xfrm>
            <a:prstGeom prst="ellipse">
              <a:avLst/>
            </a:prstGeom>
            <a:noFill/>
            <a:ln w="7620" cap="rnd">
              <a:solidFill>
                <a:srgbClr val="163769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47" name="Starch granule — editable vector group"/>
          <p:cNvGrpSpPr/>
          <p:nvPr/>
        </p:nvGrpSpPr>
        <p:grpSpPr>
          <a:xfrm>
            <a:off x="1399032" y="10826496"/>
            <a:ext cx="576072" cy="576072"/>
            <a:chOff x="1399032" y="10826496"/>
            <a:chExt cx="576072" cy="576072"/>
          </a:xfrm>
        </p:grpSpPr>
        <p:sp>
          <p:nvSpPr>
            <p:cNvPr id="335" name="Editable starch granule"/>
            <p:cNvSpPr/>
            <p:nvPr/>
          </p:nvSpPr>
          <p:spPr>
            <a:xfrm>
              <a:off x="1399032" y="10826496"/>
              <a:ext cx="576072" cy="576072"/>
            </a:xfrm>
            <a:prstGeom prst="ellipse">
              <a:avLst/>
            </a:prstGeom>
            <a:ln w="7620" cap="rnd">
              <a:solidFill>
                <a:srgbClr val="163769"/>
              </a:solidFill>
              <a:round/>
            </a:ln>
            <a:gradFill>
              <a:gsLst>
                <a:gs pos="0">
                  <a:srgbClr val="FFFFFF"/>
                </a:gs>
                <a:gs pos="100000">
                  <a:srgbClr val="F7FBFF"/>
                </a:gs>
              </a:gsLst>
              <a:lin ang="2700000" scaled="1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6" name="Freeform 335"/>
            <p:cNvSpPr/>
            <p:nvPr/>
          </p:nvSpPr>
          <p:spPr>
            <a:xfrm>
              <a:off x="1499616" y="10890504"/>
              <a:ext cx="155448" cy="192024"/>
            </a:xfrm>
            <a:custGeom>
              <a:avLst/>
              <a:gdLst/>
              <a:ahLst/>
              <a:cxnLst/>
              <a:rect l="l" t="t" r="r" b="b"/>
              <a:pathLst>
                <a:path w="17" h="21">
                  <a:moveTo>
                    <a:pt x="17" y="21"/>
                  </a:moveTo>
                  <a:lnTo>
                    <a:pt x="17" y="21"/>
                  </a:lnTo>
                  <a:lnTo>
                    <a:pt x="16" y="20"/>
                  </a:lnTo>
                  <a:lnTo>
                    <a:pt x="16" y="20"/>
                  </a:lnTo>
                  <a:lnTo>
                    <a:pt x="15" y="19"/>
                  </a:lnTo>
                  <a:lnTo>
                    <a:pt x="14" y="18"/>
                  </a:lnTo>
                  <a:lnTo>
                    <a:pt x="14" y="17"/>
                  </a:lnTo>
                  <a:lnTo>
                    <a:pt x="13" y="16"/>
                  </a:lnTo>
                  <a:lnTo>
                    <a:pt x="12" y="16"/>
                  </a:lnTo>
                  <a:lnTo>
                    <a:pt x="12" y="15"/>
                  </a:lnTo>
                  <a:lnTo>
                    <a:pt x="11" y="15"/>
                  </a:lnTo>
                  <a:lnTo>
                    <a:pt x="11" y="14"/>
                  </a:lnTo>
                  <a:lnTo>
                    <a:pt x="10" y="14"/>
                  </a:lnTo>
                  <a:lnTo>
                    <a:pt x="10" y="14"/>
                  </a:lnTo>
                  <a:lnTo>
                    <a:pt x="9" y="14"/>
                  </a:lnTo>
                  <a:lnTo>
                    <a:pt x="9" y="14"/>
                  </a:lnTo>
                  <a:lnTo>
                    <a:pt x="9" y="14"/>
                  </a:lnTo>
                  <a:lnTo>
                    <a:pt x="8" y="14"/>
                  </a:lnTo>
                  <a:lnTo>
                    <a:pt x="8" y="13"/>
                  </a:lnTo>
                  <a:lnTo>
                    <a:pt x="8" y="13"/>
                  </a:lnTo>
                  <a:lnTo>
                    <a:pt x="7" y="12"/>
                  </a:lnTo>
                  <a:lnTo>
                    <a:pt x="7" y="11"/>
                  </a:lnTo>
                  <a:lnTo>
                    <a:pt x="7" y="10"/>
                  </a:lnTo>
                  <a:lnTo>
                    <a:pt x="7" y="9"/>
                  </a:lnTo>
                  <a:lnTo>
                    <a:pt x="6" y="8"/>
                  </a:lnTo>
                  <a:lnTo>
                    <a:pt x="6" y="7"/>
                  </a:lnTo>
                  <a:lnTo>
                    <a:pt x="6" y="6"/>
                  </a:lnTo>
                  <a:lnTo>
                    <a:pt x="5" y="5"/>
                  </a:lnTo>
                  <a:lnTo>
                    <a:pt x="5" y="4"/>
                  </a:lnTo>
                  <a:lnTo>
                    <a:pt x="4" y="4"/>
                  </a:lnTo>
                  <a:lnTo>
                    <a:pt x="4" y="3"/>
                  </a:lnTo>
                  <a:lnTo>
                    <a:pt x="3" y="2"/>
                  </a:lnTo>
                  <a:lnTo>
                    <a:pt x="2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 w="7200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7" name="Freeform 336"/>
            <p:cNvSpPr/>
            <p:nvPr/>
          </p:nvSpPr>
          <p:spPr>
            <a:xfrm>
              <a:off x="1664208" y="10863072"/>
              <a:ext cx="73152" cy="210312"/>
            </a:xfrm>
            <a:custGeom>
              <a:avLst/>
              <a:gdLst/>
              <a:ahLst/>
              <a:cxnLst/>
              <a:rect l="l" t="t" r="r" b="b"/>
              <a:pathLst>
                <a:path w="8" h="23">
                  <a:moveTo>
                    <a:pt x="0" y="23"/>
                  </a:moveTo>
                  <a:lnTo>
                    <a:pt x="0" y="23"/>
                  </a:lnTo>
                  <a:lnTo>
                    <a:pt x="1" y="22"/>
                  </a:lnTo>
                  <a:lnTo>
                    <a:pt x="1" y="22"/>
                  </a:lnTo>
                  <a:lnTo>
                    <a:pt x="2" y="21"/>
                  </a:lnTo>
                  <a:lnTo>
                    <a:pt x="2" y="20"/>
                  </a:lnTo>
                  <a:lnTo>
                    <a:pt x="3" y="19"/>
                  </a:lnTo>
                  <a:lnTo>
                    <a:pt x="3" y="18"/>
                  </a:lnTo>
                  <a:lnTo>
                    <a:pt x="4" y="18"/>
                  </a:lnTo>
                  <a:lnTo>
                    <a:pt x="4" y="17"/>
                  </a:lnTo>
                  <a:lnTo>
                    <a:pt x="5" y="16"/>
                  </a:lnTo>
                  <a:lnTo>
                    <a:pt x="5" y="15"/>
                  </a:lnTo>
                  <a:lnTo>
                    <a:pt x="6" y="14"/>
                  </a:lnTo>
                  <a:lnTo>
                    <a:pt x="6" y="13"/>
                  </a:lnTo>
                  <a:lnTo>
                    <a:pt x="6" y="12"/>
                  </a:lnTo>
                  <a:lnTo>
                    <a:pt x="7" y="11"/>
                  </a:lnTo>
                  <a:lnTo>
                    <a:pt x="7" y="10"/>
                  </a:lnTo>
                  <a:lnTo>
                    <a:pt x="7" y="10"/>
                  </a:lnTo>
                  <a:lnTo>
                    <a:pt x="8" y="9"/>
                  </a:lnTo>
                  <a:lnTo>
                    <a:pt x="8" y="8"/>
                  </a:lnTo>
                  <a:lnTo>
                    <a:pt x="8" y="7"/>
                  </a:lnTo>
                  <a:lnTo>
                    <a:pt x="8" y="5"/>
                  </a:lnTo>
                  <a:lnTo>
                    <a:pt x="7" y="4"/>
                  </a:lnTo>
                  <a:lnTo>
                    <a:pt x="7" y="3"/>
                  </a:lnTo>
                  <a:lnTo>
                    <a:pt x="7" y="2"/>
                  </a:lnTo>
                  <a:lnTo>
                    <a:pt x="7" y="1"/>
                  </a:lnTo>
                  <a:lnTo>
                    <a:pt x="7" y="0"/>
                  </a:lnTo>
                  <a:lnTo>
                    <a:pt x="7" y="0"/>
                  </a:lnTo>
                </a:path>
              </a:pathLst>
            </a:custGeom>
            <a:noFill/>
            <a:ln w="7200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8" name="Freeform 337"/>
            <p:cNvSpPr/>
            <p:nvPr/>
          </p:nvSpPr>
          <p:spPr>
            <a:xfrm>
              <a:off x="1664208" y="10981944"/>
              <a:ext cx="274320" cy="118872"/>
            </a:xfrm>
            <a:custGeom>
              <a:avLst/>
              <a:gdLst/>
              <a:ahLst/>
              <a:cxnLst/>
              <a:rect l="l" t="t" r="r" b="b"/>
              <a:pathLst>
                <a:path w="30" h="13">
                  <a:moveTo>
                    <a:pt x="0" y="13"/>
                  </a:moveTo>
                  <a:lnTo>
                    <a:pt x="1" y="13"/>
                  </a:lnTo>
                  <a:lnTo>
                    <a:pt x="2" y="12"/>
                  </a:lnTo>
                  <a:lnTo>
                    <a:pt x="3" y="12"/>
                  </a:lnTo>
                  <a:lnTo>
                    <a:pt x="4" y="11"/>
                  </a:lnTo>
                  <a:lnTo>
                    <a:pt x="6" y="11"/>
                  </a:lnTo>
                  <a:lnTo>
                    <a:pt x="7" y="10"/>
                  </a:lnTo>
                  <a:lnTo>
                    <a:pt x="8" y="10"/>
                  </a:lnTo>
                  <a:lnTo>
                    <a:pt x="10" y="9"/>
                  </a:lnTo>
                  <a:lnTo>
                    <a:pt x="11" y="9"/>
                  </a:lnTo>
                  <a:lnTo>
                    <a:pt x="12" y="9"/>
                  </a:lnTo>
                  <a:lnTo>
                    <a:pt x="13" y="9"/>
                  </a:lnTo>
                  <a:lnTo>
                    <a:pt x="14" y="9"/>
                  </a:lnTo>
                  <a:lnTo>
                    <a:pt x="15" y="9"/>
                  </a:lnTo>
                  <a:lnTo>
                    <a:pt x="15" y="9"/>
                  </a:lnTo>
                  <a:lnTo>
                    <a:pt x="16" y="9"/>
                  </a:lnTo>
                  <a:lnTo>
                    <a:pt x="17" y="9"/>
                  </a:lnTo>
                  <a:lnTo>
                    <a:pt x="18" y="9"/>
                  </a:lnTo>
                  <a:lnTo>
                    <a:pt x="19" y="9"/>
                  </a:lnTo>
                  <a:lnTo>
                    <a:pt x="20" y="8"/>
                  </a:lnTo>
                  <a:lnTo>
                    <a:pt x="21" y="8"/>
                  </a:lnTo>
                  <a:lnTo>
                    <a:pt x="22" y="7"/>
                  </a:lnTo>
                  <a:lnTo>
                    <a:pt x="22" y="7"/>
                  </a:lnTo>
                  <a:lnTo>
                    <a:pt x="23" y="6"/>
                  </a:lnTo>
                  <a:lnTo>
                    <a:pt x="24" y="6"/>
                  </a:lnTo>
                  <a:lnTo>
                    <a:pt x="25" y="5"/>
                  </a:lnTo>
                  <a:lnTo>
                    <a:pt x="26" y="4"/>
                  </a:lnTo>
                  <a:lnTo>
                    <a:pt x="26" y="4"/>
                  </a:lnTo>
                  <a:lnTo>
                    <a:pt x="27" y="3"/>
                  </a:lnTo>
                  <a:lnTo>
                    <a:pt x="28" y="3"/>
                  </a:lnTo>
                  <a:lnTo>
                    <a:pt x="28" y="2"/>
                  </a:lnTo>
                  <a:lnTo>
                    <a:pt x="29" y="2"/>
                  </a:lnTo>
                  <a:lnTo>
                    <a:pt x="29" y="1"/>
                  </a:lnTo>
                  <a:lnTo>
                    <a:pt x="29" y="1"/>
                  </a:lnTo>
                  <a:lnTo>
                    <a:pt x="30" y="1"/>
                  </a:lnTo>
                  <a:lnTo>
                    <a:pt x="30" y="0"/>
                  </a:lnTo>
                  <a:lnTo>
                    <a:pt x="30" y="0"/>
                  </a:lnTo>
                </a:path>
              </a:pathLst>
            </a:custGeom>
            <a:noFill/>
            <a:ln w="7200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9" name="Freeform 338"/>
            <p:cNvSpPr/>
            <p:nvPr/>
          </p:nvSpPr>
          <p:spPr>
            <a:xfrm>
              <a:off x="1673352" y="11119104"/>
              <a:ext cx="283464" cy="118872"/>
            </a:xfrm>
            <a:custGeom>
              <a:avLst/>
              <a:gdLst/>
              <a:ahLst/>
              <a:cxnLst/>
              <a:rect l="l" t="t" r="r" b="b"/>
              <a:pathLst>
                <a:path w="31" h="13">
                  <a:moveTo>
                    <a:pt x="0" y="0"/>
                  </a:moveTo>
                  <a:lnTo>
                    <a:pt x="1" y="1"/>
                  </a:lnTo>
                  <a:lnTo>
                    <a:pt x="2" y="1"/>
                  </a:lnTo>
                  <a:lnTo>
                    <a:pt x="2" y="2"/>
                  </a:lnTo>
                  <a:lnTo>
                    <a:pt x="3" y="3"/>
                  </a:lnTo>
                  <a:lnTo>
                    <a:pt x="4" y="4"/>
                  </a:lnTo>
                  <a:lnTo>
                    <a:pt x="5" y="4"/>
                  </a:lnTo>
                  <a:lnTo>
                    <a:pt x="7" y="5"/>
                  </a:lnTo>
                  <a:lnTo>
                    <a:pt x="8" y="6"/>
                  </a:lnTo>
                  <a:lnTo>
                    <a:pt x="8" y="6"/>
                  </a:lnTo>
                  <a:lnTo>
                    <a:pt x="9" y="7"/>
                  </a:lnTo>
                  <a:lnTo>
                    <a:pt x="10" y="7"/>
                  </a:lnTo>
                  <a:lnTo>
                    <a:pt x="11" y="8"/>
                  </a:lnTo>
                  <a:lnTo>
                    <a:pt x="11" y="8"/>
                  </a:lnTo>
                  <a:lnTo>
                    <a:pt x="12" y="8"/>
                  </a:lnTo>
                  <a:lnTo>
                    <a:pt x="13" y="8"/>
                  </a:lnTo>
                  <a:lnTo>
                    <a:pt x="14" y="9"/>
                  </a:lnTo>
                  <a:lnTo>
                    <a:pt x="14" y="9"/>
                  </a:lnTo>
                  <a:lnTo>
                    <a:pt x="15" y="9"/>
                  </a:lnTo>
                  <a:lnTo>
                    <a:pt x="16" y="9"/>
                  </a:lnTo>
                  <a:lnTo>
                    <a:pt x="17" y="9"/>
                  </a:lnTo>
                  <a:lnTo>
                    <a:pt x="19" y="9"/>
                  </a:lnTo>
                  <a:lnTo>
                    <a:pt x="20" y="9"/>
                  </a:lnTo>
                  <a:lnTo>
                    <a:pt x="21" y="8"/>
                  </a:lnTo>
                  <a:lnTo>
                    <a:pt x="22" y="8"/>
                  </a:lnTo>
                  <a:lnTo>
                    <a:pt x="23" y="8"/>
                  </a:lnTo>
                  <a:lnTo>
                    <a:pt x="24" y="8"/>
                  </a:lnTo>
                  <a:lnTo>
                    <a:pt x="25" y="8"/>
                  </a:lnTo>
                  <a:lnTo>
                    <a:pt x="26" y="9"/>
                  </a:lnTo>
                  <a:lnTo>
                    <a:pt x="27" y="9"/>
                  </a:lnTo>
                  <a:lnTo>
                    <a:pt x="28" y="10"/>
                  </a:lnTo>
                  <a:lnTo>
                    <a:pt x="29" y="10"/>
                  </a:lnTo>
                  <a:lnTo>
                    <a:pt x="29" y="11"/>
                  </a:lnTo>
                  <a:lnTo>
                    <a:pt x="30" y="12"/>
                  </a:lnTo>
                  <a:lnTo>
                    <a:pt x="30" y="12"/>
                  </a:lnTo>
                  <a:lnTo>
                    <a:pt x="31" y="13"/>
                  </a:lnTo>
                  <a:lnTo>
                    <a:pt x="31" y="13"/>
                  </a:lnTo>
                </a:path>
              </a:pathLst>
            </a:custGeom>
            <a:noFill/>
            <a:ln w="7200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0" name="Freeform 339"/>
            <p:cNvSpPr/>
            <p:nvPr/>
          </p:nvSpPr>
          <p:spPr>
            <a:xfrm>
              <a:off x="1591056" y="11146536"/>
              <a:ext cx="73152" cy="228600"/>
            </a:xfrm>
            <a:custGeom>
              <a:avLst/>
              <a:gdLst/>
              <a:ahLst/>
              <a:cxnLst/>
              <a:rect l="l" t="t" r="r" b="b"/>
              <a:pathLst>
                <a:path w="8" h="25">
                  <a:moveTo>
                    <a:pt x="8" y="0"/>
                  </a:moveTo>
                  <a:lnTo>
                    <a:pt x="8" y="0"/>
                  </a:lnTo>
                  <a:lnTo>
                    <a:pt x="7" y="1"/>
                  </a:lnTo>
                  <a:lnTo>
                    <a:pt x="6" y="2"/>
                  </a:lnTo>
                  <a:lnTo>
                    <a:pt x="6" y="4"/>
                  </a:lnTo>
                  <a:lnTo>
                    <a:pt x="5" y="5"/>
                  </a:lnTo>
                  <a:lnTo>
                    <a:pt x="4" y="6"/>
                  </a:lnTo>
                  <a:lnTo>
                    <a:pt x="4" y="7"/>
                  </a:lnTo>
                  <a:lnTo>
                    <a:pt x="3" y="9"/>
                  </a:lnTo>
                  <a:lnTo>
                    <a:pt x="3" y="10"/>
                  </a:lnTo>
                  <a:lnTo>
                    <a:pt x="3" y="11"/>
                  </a:lnTo>
                  <a:lnTo>
                    <a:pt x="3" y="12"/>
                  </a:lnTo>
                  <a:lnTo>
                    <a:pt x="3" y="12"/>
                  </a:lnTo>
                  <a:lnTo>
                    <a:pt x="3" y="13"/>
                  </a:lnTo>
                  <a:lnTo>
                    <a:pt x="4" y="14"/>
                  </a:lnTo>
                  <a:lnTo>
                    <a:pt x="4" y="15"/>
                  </a:lnTo>
                  <a:lnTo>
                    <a:pt x="4" y="16"/>
                  </a:lnTo>
                  <a:lnTo>
                    <a:pt x="4" y="16"/>
                  </a:lnTo>
                  <a:lnTo>
                    <a:pt x="4" y="17"/>
                  </a:lnTo>
                  <a:lnTo>
                    <a:pt x="4" y="18"/>
                  </a:lnTo>
                  <a:lnTo>
                    <a:pt x="4" y="19"/>
                  </a:lnTo>
                  <a:lnTo>
                    <a:pt x="3" y="20"/>
                  </a:lnTo>
                  <a:lnTo>
                    <a:pt x="2" y="21"/>
                  </a:lnTo>
                  <a:lnTo>
                    <a:pt x="2" y="22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0" y="24"/>
                  </a:lnTo>
                  <a:lnTo>
                    <a:pt x="0" y="25"/>
                  </a:lnTo>
                </a:path>
              </a:pathLst>
            </a:custGeom>
            <a:noFill/>
            <a:ln w="7200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1" name="Freeform 340"/>
            <p:cNvSpPr/>
            <p:nvPr/>
          </p:nvSpPr>
          <p:spPr>
            <a:xfrm>
              <a:off x="1426464" y="11119104"/>
              <a:ext cx="219456" cy="82296"/>
            </a:xfrm>
            <a:custGeom>
              <a:avLst/>
              <a:gdLst/>
              <a:ahLst/>
              <a:cxnLst/>
              <a:rect l="l" t="t" r="r" b="b"/>
              <a:pathLst>
                <a:path w="24" h="9">
                  <a:moveTo>
                    <a:pt x="24" y="0"/>
                  </a:moveTo>
                  <a:lnTo>
                    <a:pt x="24" y="0"/>
                  </a:lnTo>
                  <a:lnTo>
                    <a:pt x="23" y="1"/>
                  </a:lnTo>
                  <a:lnTo>
                    <a:pt x="22" y="1"/>
                  </a:lnTo>
                  <a:lnTo>
                    <a:pt x="21" y="1"/>
                  </a:lnTo>
                  <a:lnTo>
                    <a:pt x="20" y="2"/>
                  </a:lnTo>
                  <a:lnTo>
                    <a:pt x="19" y="2"/>
                  </a:lnTo>
                  <a:lnTo>
                    <a:pt x="18" y="2"/>
                  </a:lnTo>
                  <a:lnTo>
                    <a:pt x="17" y="3"/>
                  </a:lnTo>
                  <a:lnTo>
                    <a:pt x="16" y="3"/>
                  </a:lnTo>
                  <a:lnTo>
                    <a:pt x="15" y="4"/>
                  </a:lnTo>
                  <a:lnTo>
                    <a:pt x="14" y="4"/>
                  </a:lnTo>
                  <a:lnTo>
                    <a:pt x="14" y="5"/>
                  </a:lnTo>
                  <a:lnTo>
                    <a:pt x="13" y="6"/>
                  </a:lnTo>
                  <a:lnTo>
                    <a:pt x="12" y="7"/>
                  </a:lnTo>
                  <a:lnTo>
                    <a:pt x="11" y="7"/>
                  </a:lnTo>
                  <a:lnTo>
                    <a:pt x="11" y="8"/>
                  </a:lnTo>
                  <a:lnTo>
                    <a:pt x="10" y="9"/>
                  </a:lnTo>
                  <a:lnTo>
                    <a:pt x="9" y="9"/>
                  </a:lnTo>
                  <a:lnTo>
                    <a:pt x="8" y="9"/>
                  </a:lnTo>
                  <a:lnTo>
                    <a:pt x="7" y="9"/>
                  </a:lnTo>
                  <a:lnTo>
                    <a:pt x="6" y="9"/>
                  </a:lnTo>
                  <a:lnTo>
                    <a:pt x="5" y="9"/>
                  </a:lnTo>
                  <a:lnTo>
                    <a:pt x="4" y="9"/>
                  </a:lnTo>
                  <a:lnTo>
                    <a:pt x="3" y="9"/>
                  </a:lnTo>
                  <a:lnTo>
                    <a:pt x="2" y="9"/>
                  </a:lnTo>
                  <a:lnTo>
                    <a:pt x="1" y="8"/>
                  </a:lnTo>
                  <a:lnTo>
                    <a:pt x="0" y="8"/>
                  </a:lnTo>
                </a:path>
              </a:pathLst>
            </a:custGeom>
            <a:noFill/>
            <a:ln w="7200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2" name="Freeform 341"/>
            <p:cNvSpPr/>
            <p:nvPr/>
          </p:nvSpPr>
          <p:spPr>
            <a:xfrm>
              <a:off x="1481328" y="11192256"/>
              <a:ext cx="45720" cy="128016"/>
            </a:xfrm>
            <a:custGeom>
              <a:avLst/>
              <a:gdLst/>
              <a:ahLst/>
              <a:cxnLst/>
              <a:rect l="l" t="t" r="r" b="b"/>
              <a:pathLst>
                <a:path w="5" h="14">
                  <a:moveTo>
                    <a:pt x="4" y="0"/>
                  </a:moveTo>
                  <a:lnTo>
                    <a:pt x="4" y="1"/>
                  </a:lnTo>
                  <a:lnTo>
                    <a:pt x="4" y="2"/>
                  </a:lnTo>
                  <a:lnTo>
                    <a:pt x="4" y="3"/>
                  </a:lnTo>
                  <a:lnTo>
                    <a:pt x="4" y="4"/>
                  </a:lnTo>
                  <a:lnTo>
                    <a:pt x="5" y="5"/>
                  </a:lnTo>
                  <a:lnTo>
                    <a:pt x="5" y="6"/>
                  </a:lnTo>
                  <a:lnTo>
                    <a:pt x="5" y="7"/>
                  </a:lnTo>
                  <a:lnTo>
                    <a:pt x="4" y="8"/>
                  </a:lnTo>
                  <a:lnTo>
                    <a:pt x="4" y="9"/>
                  </a:lnTo>
                  <a:lnTo>
                    <a:pt x="4" y="10"/>
                  </a:lnTo>
                  <a:lnTo>
                    <a:pt x="3" y="11"/>
                  </a:lnTo>
                  <a:lnTo>
                    <a:pt x="3" y="11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1" y="13"/>
                  </a:lnTo>
                  <a:lnTo>
                    <a:pt x="1" y="13"/>
                  </a:lnTo>
                  <a:lnTo>
                    <a:pt x="0" y="14"/>
                  </a:lnTo>
                  <a:lnTo>
                    <a:pt x="0" y="14"/>
                  </a:lnTo>
                </a:path>
              </a:pathLst>
            </a:custGeom>
            <a:noFill/>
            <a:ln w="7200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3" name="Freeform 342"/>
            <p:cNvSpPr/>
            <p:nvPr/>
          </p:nvSpPr>
          <p:spPr>
            <a:xfrm>
              <a:off x="1773936" y="10917936"/>
              <a:ext cx="54864" cy="146304"/>
            </a:xfrm>
            <a:custGeom>
              <a:avLst/>
              <a:gdLst/>
              <a:ahLst/>
              <a:cxnLst/>
              <a:rect l="l" t="t" r="r" b="b"/>
              <a:pathLst>
                <a:path w="6" h="16">
                  <a:moveTo>
                    <a:pt x="0" y="16"/>
                  </a:moveTo>
                  <a:lnTo>
                    <a:pt x="0" y="15"/>
                  </a:lnTo>
                  <a:lnTo>
                    <a:pt x="0" y="15"/>
                  </a:lnTo>
                  <a:lnTo>
                    <a:pt x="0" y="14"/>
                  </a:lnTo>
                  <a:lnTo>
                    <a:pt x="0" y="13"/>
                  </a:lnTo>
                  <a:lnTo>
                    <a:pt x="0" y="12"/>
                  </a:lnTo>
                  <a:lnTo>
                    <a:pt x="0" y="11"/>
                  </a:lnTo>
                  <a:lnTo>
                    <a:pt x="0" y="10"/>
                  </a:lnTo>
                  <a:lnTo>
                    <a:pt x="0" y="9"/>
                  </a:lnTo>
                  <a:lnTo>
                    <a:pt x="1" y="8"/>
                  </a:lnTo>
                  <a:lnTo>
                    <a:pt x="1" y="7"/>
                  </a:lnTo>
                  <a:lnTo>
                    <a:pt x="2" y="6"/>
                  </a:lnTo>
                  <a:lnTo>
                    <a:pt x="2" y="5"/>
                  </a:lnTo>
                  <a:lnTo>
                    <a:pt x="3" y="4"/>
                  </a:lnTo>
                  <a:lnTo>
                    <a:pt x="4" y="3"/>
                  </a:lnTo>
                  <a:lnTo>
                    <a:pt x="5" y="2"/>
                  </a:lnTo>
                  <a:lnTo>
                    <a:pt x="5" y="1"/>
                  </a:lnTo>
                  <a:lnTo>
                    <a:pt x="6" y="1"/>
                  </a:lnTo>
                  <a:lnTo>
                    <a:pt x="6" y="0"/>
                  </a:lnTo>
                </a:path>
              </a:pathLst>
            </a:custGeom>
            <a:noFill/>
            <a:ln w="7200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4" name="Freeform 343"/>
            <p:cNvSpPr/>
            <p:nvPr/>
          </p:nvSpPr>
          <p:spPr>
            <a:xfrm>
              <a:off x="1792224" y="11201400"/>
              <a:ext cx="45720" cy="146304"/>
            </a:xfrm>
            <a:custGeom>
              <a:avLst/>
              <a:gdLst/>
              <a:ahLst/>
              <a:cxnLst/>
              <a:rect l="l" t="t" r="r" b="b"/>
              <a:pathLst>
                <a:path w="5" h="16">
                  <a:moveTo>
                    <a:pt x="2" y="0"/>
                  </a:moveTo>
                  <a:lnTo>
                    <a:pt x="2" y="1"/>
                  </a:lnTo>
                  <a:lnTo>
                    <a:pt x="2" y="1"/>
                  </a:lnTo>
                  <a:lnTo>
                    <a:pt x="2" y="2"/>
                  </a:lnTo>
                  <a:lnTo>
                    <a:pt x="1" y="3"/>
                  </a:lnTo>
                  <a:lnTo>
                    <a:pt x="1" y="4"/>
                  </a:lnTo>
                  <a:lnTo>
                    <a:pt x="1" y="5"/>
                  </a:lnTo>
                  <a:lnTo>
                    <a:pt x="1" y="6"/>
                  </a:lnTo>
                  <a:lnTo>
                    <a:pt x="0" y="7"/>
                  </a:lnTo>
                  <a:lnTo>
                    <a:pt x="0" y="8"/>
                  </a:lnTo>
                  <a:lnTo>
                    <a:pt x="1" y="9"/>
                  </a:lnTo>
                  <a:lnTo>
                    <a:pt x="1" y="10"/>
                  </a:lnTo>
                  <a:lnTo>
                    <a:pt x="2" y="11"/>
                  </a:lnTo>
                  <a:lnTo>
                    <a:pt x="2" y="12"/>
                  </a:lnTo>
                  <a:lnTo>
                    <a:pt x="3" y="13"/>
                  </a:lnTo>
                  <a:lnTo>
                    <a:pt x="4" y="14"/>
                  </a:lnTo>
                  <a:lnTo>
                    <a:pt x="4" y="15"/>
                  </a:lnTo>
                  <a:lnTo>
                    <a:pt x="5" y="16"/>
                  </a:lnTo>
                  <a:lnTo>
                    <a:pt x="5" y="16"/>
                  </a:lnTo>
                </a:path>
              </a:pathLst>
            </a:custGeom>
            <a:noFill/>
            <a:ln w="7200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5" name="Freeform 344"/>
            <p:cNvSpPr/>
            <p:nvPr/>
          </p:nvSpPr>
          <p:spPr>
            <a:xfrm>
              <a:off x="1435608" y="10981944"/>
              <a:ext cx="137160" cy="45720"/>
            </a:xfrm>
            <a:custGeom>
              <a:avLst/>
              <a:gdLst/>
              <a:ahLst/>
              <a:cxnLst/>
              <a:rect l="l" t="t" r="r" b="b"/>
              <a:pathLst>
                <a:path w="15" h="5">
                  <a:moveTo>
                    <a:pt x="15" y="3"/>
                  </a:moveTo>
                  <a:lnTo>
                    <a:pt x="14" y="3"/>
                  </a:lnTo>
                  <a:lnTo>
                    <a:pt x="14" y="3"/>
                  </a:lnTo>
                  <a:lnTo>
                    <a:pt x="13" y="4"/>
                  </a:lnTo>
                  <a:lnTo>
                    <a:pt x="12" y="4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10" y="4"/>
                  </a:lnTo>
                  <a:lnTo>
                    <a:pt x="9" y="5"/>
                  </a:lnTo>
                  <a:lnTo>
                    <a:pt x="8" y="4"/>
                  </a:lnTo>
                  <a:lnTo>
                    <a:pt x="7" y="4"/>
                  </a:lnTo>
                  <a:lnTo>
                    <a:pt x="6" y="4"/>
                  </a:lnTo>
                  <a:lnTo>
                    <a:pt x="5" y="3"/>
                  </a:lnTo>
                  <a:lnTo>
                    <a:pt x="4" y="3"/>
                  </a:lnTo>
                  <a:lnTo>
                    <a:pt x="3" y="2"/>
                  </a:lnTo>
                  <a:lnTo>
                    <a:pt x="2" y="1"/>
                  </a:lnTo>
                  <a:lnTo>
                    <a:pt x="2" y="1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noFill/>
            <a:ln w="7200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6" name="Oval 345"/>
            <p:cNvSpPr/>
            <p:nvPr/>
          </p:nvSpPr>
          <p:spPr>
            <a:xfrm>
              <a:off x="1399032" y="10826496"/>
              <a:ext cx="576072" cy="576072"/>
            </a:xfrm>
            <a:prstGeom prst="ellipse">
              <a:avLst/>
            </a:prstGeom>
            <a:noFill/>
            <a:ln w="7620" cap="rnd">
              <a:solidFill>
                <a:srgbClr val="163769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60" name="Starch granule — editable vector group"/>
          <p:cNvGrpSpPr/>
          <p:nvPr/>
        </p:nvGrpSpPr>
        <p:grpSpPr>
          <a:xfrm>
            <a:off x="2176272" y="10872216"/>
            <a:ext cx="484632" cy="475488"/>
            <a:chOff x="2176272" y="10872216"/>
            <a:chExt cx="484632" cy="475488"/>
          </a:xfrm>
        </p:grpSpPr>
        <p:sp>
          <p:nvSpPr>
            <p:cNvPr id="348" name="Editable starch granule"/>
            <p:cNvSpPr/>
            <p:nvPr/>
          </p:nvSpPr>
          <p:spPr>
            <a:xfrm>
              <a:off x="2176272" y="10872216"/>
              <a:ext cx="484632" cy="475488"/>
            </a:xfrm>
            <a:prstGeom prst="ellipse">
              <a:avLst/>
            </a:prstGeom>
            <a:ln w="7620" cap="rnd">
              <a:solidFill>
                <a:srgbClr val="163769"/>
              </a:solidFill>
              <a:round/>
            </a:ln>
            <a:gradFill>
              <a:gsLst>
                <a:gs pos="0">
                  <a:srgbClr val="FFFFFF"/>
                </a:gs>
                <a:gs pos="100000">
                  <a:srgbClr val="F7FBFF"/>
                </a:gs>
              </a:gsLst>
              <a:lin ang="2700000" scaled="1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9" name="Freeform 348"/>
            <p:cNvSpPr/>
            <p:nvPr/>
          </p:nvSpPr>
          <p:spPr>
            <a:xfrm>
              <a:off x="2441448" y="10927080"/>
              <a:ext cx="137160" cy="155448"/>
            </a:xfrm>
            <a:custGeom>
              <a:avLst/>
              <a:gdLst/>
              <a:ahLst/>
              <a:cxnLst/>
              <a:rect l="l" t="t" r="r" b="b"/>
              <a:pathLst>
                <a:path w="15" h="17">
                  <a:moveTo>
                    <a:pt x="0" y="17"/>
                  </a:moveTo>
                  <a:lnTo>
                    <a:pt x="0" y="17"/>
                  </a:lnTo>
                  <a:lnTo>
                    <a:pt x="1" y="17"/>
                  </a:lnTo>
                  <a:lnTo>
                    <a:pt x="1" y="16"/>
                  </a:lnTo>
                  <a:lnTo>
                    <a:pt x="2" y="15"/>
                  </a:lnTo>
                  <a:lnTo>
                    <a:pt x="3" y="15"/>
                  </a:lnTo>
                  <a:lnTo>
                    <a:pt x="3" y="14"/>
                  </a:lnTo>
                  <a:lnTo>
                    <a:pt x="4" y="13"/>
                  </a:lnTo>
                  <a:lnTo>
                    <a:pt x="4" y="13"/>
                  </a:lnTo>
                  <a:lnTo>
                    <a:pt x="5" y="12"/>
                  </a:lnTo>
                  <a:lnTo>
                    <a:pt x="5" y="12"/>
                  </a:lnTo>
                  <a:lnTo>
                    <a:pt x="6" y="12"/>
                  </a:lnTo>
                  <a:lnTo>
                    <a:pt x="6" y="12"/>
                  </a:lnTo>
                  <a:lnTo>
                    <a:pt x="7" y="12"/>
                  </a:lnTo>
                  <a:lnTo>
                    <a:pt x="7" y="11"/>
                  </a:lnTo>
                  <a:lnTo>
                    <a:pt x="7" y="11"/>
                  </a:lnTo>
                  <a:lnTo>
                    <a:pt x="7" y="11"/>
                  </a:lnTo>
                  <a:lnTo>
                    <a:pt x="8" y="11"/>
                  </a:lnTo>
                  <a:lnTo>
                    <a:pt x="8" y="11"/>
                  </a:lnTo>
                  <a:lnTo>
                    <a:pt x="8" y="10"/>
                  </a:lnTo>
                  <a:lnTo>
                    <a:pt x="9" y="9"/>
                  </a:lnTo>
                  <a:lnTo>
                    <a:pt x="9" y="9"/>
                  </a:lnTo>
                  <a:lnTo>
                    <a:pt x="9" y="8"/>
                  </a:lnTo>
                  <a:lnTo>
                    <a:pt x="9" y="7"/>
                  </a:lnTo>
                  <a:lnTo>
                    <a:pt x="9" y="6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11" y="3"/>
                  </a:lnTo>
                  <a:lnTo>
                    <a:pt x="11" y="3"/>
                  </a:lnTo>
                  <a:lnTo>
                    <a:pt x="12" y="2"/>
                  </a:lnTo>
                  <a:lnTo>
                    <a:pt x="12" y="2"/>
                  </a:lnTo>
                  <a:lnTo>
                    <a:pt x="13" y="1"/>
                  </a:lnTo>
                  <a:lnTo>
                    <a:pt x="14" y="1"/>
                  </a:lnTo>
                  <a:lnTo>
                    <a:pt x="14" y="0"/>
                  </a:lnTo>
                  <a:lnTo>
                    <a:pt x="15" y="0"/>
                  </a:lnTo>
                  <a:lnTo>
                    <a:pt x="15" y="0"/>
                  </a:lnTo>
                </a:path>
              </a:pathLst>
            </a:custGeom>
            <a:noFill/>
            <a:ln w="6057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0" name="Freeform 349"/>
            <p:cNvSpPr/>
            <p:nvPr/>
          </p:nvSpPr>
          <p:spPr>
            <a:xfrm>
              <a:off x="2377440" y="10899648"/>
              <a:ext cx="64008" cy="173736"/>
            </a:xfrm>
            <a:custGeom>
              <a:avLst/>
              <a:gdLst/>
              <a:ahLst/>
              <a:cxnLst/>
              <a:rect l="l" t="t" r="r" b="b"/>
              <a:pathLst>
                <a:path w="7" h="19">
                  <a:moveTo>
                    <a:pt x="7" y="19"/>
                  </a:moveTo>
                  <a:lnTo>
                    <a:pt x="6" y="19"/>
                  </a:lnTo>
                  <a:lnTo>
                    <a:pt x="6" y="19"/>
                  </a:lnTo>
                  <a:lnTo>
                    <a:pt x="6" y="18"/>
                  </a:lnTo>
                  <a:lnTo>
                    <a:pt x="5" y="17"/>
                  </a:lnTo>
                  <a:lnTo>
                    <a:pt x="5" y="17"/>
                  </a:lnTo>
                  <a:lnTo>
                    <a:pt x="4" y="16"/>
                  </a:lnTo>
                  <a:lnTo>
                    <a:pt x="4" y="16"/>
                  </a:lnTo>
                  <a:lnTo>
                    <a:pt x="3" y="15"/>
                  </a:lnTo>
                  <a:lnTo>
                    <a:pt x="3" y="14"/>
                  </a:lnTo>
                  <a:lnTo>
                    <a:pt x="3" y="13"/>
                  </a:lnTo>
                  <a:lnTo>
                    <a:pt x="2" y="13"/>
                  </a:lnTo>
                  <a:lnTo>
                    <a:pt x="2" y="12"/>
                  </a:lnTo>
                  <a:lnTo>
                    <a:pt x="1" y="11"/>
                  </a:lnTo>
                  <a:lnTo>
                    <a:pt x="1" y="11"/>
                  </a:lnTo>
                  <a:lnTo>
                    <a:pt x="1" y="10"/>
                  </a:lnTo>
                  <a:lnTo>
                    <a:pt x="1" y="9"/>
                  </a:lnTo>
                  <a:lnTo>
                    <a:pt x="0" y="8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6"/>
                  </a:lnTo>
                  <a:lnTo>
                    <a:pt x="0" y="5"/>
                  </a:lnTo>
                  <a:lnTo>
                    <a:pt x="0" y="4"/>
                  </a:lnTo>
                  <a:lnTo>
                    <a:pt x="0" y="3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noFill/>
            <a:ln w="6057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1" name="Freeform 350"/>
            <p:cNvSpPr/>
            <p:nvPr/>
          </p:nvSpPr>
          <p:spPr>
            <a:xfrm>
              <a:off x="2203704" y="11000232"/>
              <a:ext cx="237744" cy="100584"/>
            </a:xfrm>
            <a:custGeom>
              <a:avLst/>
              <a:gdLst/>
              <a:ahLst/>
              <a:cxnLst/>
              <a:rect l="l" t="t" r="r" b="b"/>
              <a:pathLst>
                <a:path w="26" h="11">
                  <a:moveTo>
                    <a:pt x="26" y="11"/>
                  </a:moveTo>
                  <a:lnTo>
                    <a:pt x="25" y="11"/>
                  </a:lnTo>
                  <a:lnTo>
                    <a:pt x="24" y="10"/>
                  </a:lnTo>
                  <a:lnTo>
                    <a:pt x="23" y="10"/>
                  </a:lnTo>
                  <a:lnTo>
                    <a:pt x="22" y="9"/>
                  </a:lnTo>
                  <a:lnTo>
                    <a:pt x="21" y="9"/>
                  </a:lnTo>
                  <a:lnTo>
                    <a:pt x="20" y="8"/>
                  </a:lnTo>
                  <a:lnTo>
                    <a:pt x="19" y="8"/>
                  </a:lnTo>
                  <a:lnTo>
                    <a:pt x="18" y="8"/>
                  </a:lnTo>
                  <a:lnTo>
                    <a:pt x="17" y="7"/>
                  </a:lnTo>
                  <a:lnTo>
                    <a:pt x="16" y="7"/>
                  </a:lnTo>
                  <a:lnTo>
                    <a:pt x="15" y="7"/>
                  </a:lnTo>
                  <a:lnTo>
                    <a:pt x="14" y="7"/>
                  </a:lnTo>
                  <a:lnTo>
                    <a:pt x="13" y="7"/>
                  </a:lnTo>
                  <a:lnTo>
                    <a:pt x="13" y="7"/>
                  </a:lnTo>
                  <a:lnTo>
                    <a:pt x="12" y="7"/>
                  </a:lnTo>
                  <a:lnTo>
                    <a:pt x="11" y="8"/>
                  </a:lnTo>
                  <a:lnTo>
                    <a:pt x="10" y="7"/>
                  </a:lnTo>
                  <a:lnTo>
                    <a:pt x="10" y="7"/>
                  </a:lnTo>
                  <a:lnTo>
                    <a:pt x="9" y="7"/>
                  </a:lnTo>
                  <a:lnTo>
                    <a:pt x="8" y="7"/>
                  </a:lnTo>
                  <a:lnTo>
                    <a:pt x="7" y="6"/>
                  </a:lnTo>
                  <a:lnTo>
                    <a:pt x="7" y="6"/>
                  </a:lnTo>
                  <a:lnTo>
                    <a:pt x="6" y="5"/>
                  </a:lnTo>
                  <a:lnTo>
                    <a:pt x="5" y="5"/>
                  </a:lnTo>
                  <a:lnTo>
                    <a:pt x="5" y="4"/>
                  </a:lnTo>
                  <a:lnTo>
                    <a:pt x="4" y="4"/>
                  </a:lnTo>
                  <a:lnTo>
                    <a:pt x="3" y="3"/>
                  </a:lnTo>
                  <a:lnTo>
                    <a:pt x="3" y="3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 w="6057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2" name="Freeform 351"/>
            <p:cNvSpPr/>
            <p:nvPr/>
          </p:nvSpPr>
          <p:spPr>
            <a:xfrm>
              <a:off x="2194560" y="11119104"/>
              <a:ext cx="237744" cy="91440"/>
            </a:xfrm>
            <a:custGeom>
              <a:avLst/>
              <a:gdLst/>
              <a:ahLst/>
              <a:cxnLst/>
              <a:rect l="l" t="t" r="r" b="b"/>
              <a:pathLst>
                <a:path w="26" h="10">
                  <a:moveTo>
                    <a:pt x="26" y="0"/>
                  </a:moveTo>
                  <a:lnTo>
                    <a:pt x="25" y="0"/>
                  </a:lnTo>
                  <a:lnTo>
                    <a:pt x="24" y="0"/>
                  </a:lnTo>
                  <a:lnTo>
                    <a:pt x="24" y="1"/>
                  </a:lnTo>
                  <a:lnTo>
                    <a:pt x="23" y="2"/>
                  </a:lnTo>
                  <a:lnTo>
                    <a:pt x="22" y="2"/>
                  </a:lnTo>
                  <a:lnTo>
                    <a:pt x="21" y="3"/>
                  </a:lnTo>
                  <a:lnTo>
                    <a:pt x="20" y="4"/>
                  </a:lnTo>
                  <a:lnTo>
                    <a:pt x="19" y="4"/>
                  </a:lnTo>
                  <a:lnTo>
                    <a:pt x="19" y="5"/>
                  </a:lnTo>
                  <a:lnTo>
                    <a:pt x="18" y="5"/>
                  </a:lnTo>
                  <a:lnTo>
                    <a:pt x="17" y="5"/>
                  </a:lnTo>
                  <a:lnTo>
                    <a:pt x="17" y="6"/>
                  </a:lnTo>
                  <a:lnTo>
                    <a:pt x="16" y="6"/>
                  </a:lnTo>
                  <a:lnTo>
                    <a:pt x="16" y="6"/>
                  </a:lnTo>
                  <a:lnTo>
                    <a:pt x="15" y="6"/>
                  </a:lnTo>
                  <a:lnTo>
                    <a:pt x="14" y="7"/>
                  </a:lnTo>
                  <a:lnTo>
                    <a:pt x="14" y="7"/>
                  </a:lnTo>
                  <a:lnTo>
                    <a:pt x="13" y="7"/>
                  </a:lnTo>
                  <a:lnTo>
                    <a:pt x="12" y="7"/>
                  </a:lnTo>
                  <a:lnTo>
                    <a:pt x="11" y="7"/>
                  </a:lnTo>
                  <a:lnTo>
                    <a:pt x="10" y="7"/>
                  </a:lnTo>
                  <a:lnTo>
                    <a:pt x="9" y="6"/>
                  </a:lnTo>
                  <a:lnTo>
                    <a:pt x="8" y="6"/>
                  </a:lnTo>
                  <a:lnTo>
                    <a:pt x="7" y="6"/>
                  </a:lnTo>
                  <a:lnTo>
                    <a:pt x="6" y="6"/>
                  </a:lnTo>
                  <a:lnTo>
                    <a:pt x="5" y="6"/>
                  </a:lnTo>
                  <a:lnTo>
                    <a:pt x="4" y="6"/>
                  </a:lnTo>
                  <a:lnTo>
                    <a:pt x="4" y="7"/>
                  </a:lnTo>
                  <a:lnTo>
                    <a:pt x="3" y="7"/>
                  </a:lnTo>
                  <a:lnTo>
                    <a:pt x="2" y="7"/>
                  </a:lnTo>
                  <a:lnTo>
                    <a:pt x="2" y="8"/>
                  </a:lnTo>
                  <a:lnTo>
                    <a:pt x="1" y="9"/>
                  </a:lnTo>
                  <a:lnTo>
                    <a:pt x="1" y="9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0" y="10"/>
                  </a:lnTo>
                </a:path>
              </a:pathLst>
            </a:custGeom>
            <a:noFill/>
            <a:ln w="6057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3" name="Freeform 352"/>
            <p:cNvSpPr/>
            <p:nvPr/>
          </p:nvSpPr>
          <p:spPr>
            <a:xfrm>
              <a:off x="2441448" y="11137392"/>
              <a:ext cx="64008" cy="182880"/>
            </a:xfrm>
            <a:custGeom>
              <a:avLst/>
              <a:gdLst/>
              <a:ahLst/>
              <a:cxnLst/>
              <a:rect l="l" t="t" r="r" b="b"/>
              <a:pathLst>
                <a:path w="7" h="20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2"/>
                  </a:lnTo>
                  <a:lnTo>
                    <a:pt x="2" y="3"/>
                  </a:lnTo>
                  <a:lnTo>
                    <a:pt x="2" y="4"/>
                  </a:lnTo>
                  <a:lnTo>
                    <a:pt x="3" y="5"/>
                  </a:lnTo>
                  <a:lnTo>
                    <a:pt x="3" y="6"/>
                  </a:lnTo>
                  <a:lnTo>
                    <a:pt x="4" y="7"/>
                  </a:lnTo>
                  <a:lnTo>
                    <a:pt x="4" y="8"/>
                  </a:lnTo>
                  <a:lnTo>
                    <a:pt x="4" y="9"/>
                  </a:lnTo>
                  <a:lnTo>
                    <a:pt x="4" y="9"/>
                  </a:lnTo>
                  <a:lnTo>
                    <a:pt x="4" y="10"/>
                  </a:lnTo>
                  <a:lnTo>
                    <a:pt x="3" y="11"/>
                  </a:lnTo>
                  <a:lnTo>
                    <a:pt x="3" y="12"/>
                  </a:lnTo>
                  <a:lnTo>
                    <a:pt x="3" y="12"/>
                  </a:lnTo>
                  <a:lnTo>
                    <a:pt x="3" y="13"/>
                  </a:lnTo>
                  <a:lnTo>
                    <a:pt x="3" y="13"/>
                  </a:lnTo>
                  <a:lnTo>
                    <a:pt x="3" y="14"/>
                  </a:lnTo>
                  <a:lnTo>
                    <a:pt x="3" y="15"/>
                  </a:lnTo>
                  <a:lnTo>
                    <a:pt x="3" y="16"/>
                  </a:lnTo>
                  <a:lnTo>
                    <a:pt x="4" y="16"/>
                  </a:lnTo>
                  <a:lnTo>
                    <a:pt x="4" y="17"/>
                  </a:lnTo>
                  <a:lnTo>
                    <a:pt x="5" y="18"/>
                  </a:lnTo>
                  <a:lnTo>
                    <a:pt x="5" y="19"/>
                  </a:lnTo>
                  <a:lnTo>
                    <a:pt x="6" y="19"/>
                  </a:lnTo>
                  <a:lnTo>
                    <a:pt x="6" y="20"/>
                  </a:lnTo>
                  <a:lnTo>
                    <a:pt x="7" y="20"/>
                  </a:lnTo>
                </a:path>
              </a:pathLst>
            </a:custGeom>
            <a:noFill/>
            <a:ln w="6057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4" name="Freeform 353"/>
            <p:cNvSpPr/>
            <p:nvPr/>
          </p:nvSpPr>
          <p:spPr>
            <a:xfrm>
              <a:off x="2450592" y="11119104"/>
              <a:ext cx="182880" cy="64008"/>
            </a:xfrm>
            <a:custGeom>
              <a:avLst/>
              <a:gdLst/>
              <a:ahLst/>
              <a:cxnLst/>
              <a:rect l="l" t="t" r="r" b="b"/>
              <a:pathLst>
                <a:path w="20" h="7">
                  <a:moveTo>
                    <a:pt x="0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2" y="0"/>
                  </a:lnTo>
                  <a:lnTo>
                    <a:pt x="3" y="0"/>
                  </a:lnTo>
                  <a:lnTo>
                    <a:pt x="4" y="1"/>
                  </a:lnTo>
                  <a:lnTo>
                    <a:pt x="5" y="1"/>
                  </a:lnTo>
                  <a:lnTo>
                    <a:pt x="6" y="1"/>
                  </a:lnTo>
                  <a:lnTo>
                    <a:pt x="6" y="2"/>
                  </a:lnTo>
                  <a:lnTo>
                    <a:pt x="7" y="2"/>
                  </a:lnTo>
                  <a:lnTo>
                    <a:pt x="8" y="3"/>
                  </a:lnTo>
                  <a:lnTo>
                    <a:pt x="8" y="3"/>
                  </a:lnTo>
                  <a:lnTo>
                    <a:pt x="9" y="4"/>
                  </a:lnTo>
                  <a:lnTo>
                    <a:pt x="10" y="4"/>
                  </a:lnTo>
                  <a:lnTo>
                    <a:pt x="10" y="5"/>
                  </a:lnTo>
                  <a:lnTo>
                    <a:pt x="11" y="6"/>
                  </a:lnTo>
                  <a:lnTo>
                    <a:pt x="12" y="6"/>
                  </a:lnTo>
                  <a:lnTo>
                    <a:pt x="12" y="6"/>
                  </a:lnTo>
                  <a:lnTo>
                    <a:pt x="13" y="7"/>
                  </a:lnTo>
                  <a:lnTo>
                    <a:pt x="14" y="7"/>
                  </a:lnTo>
                  <a:lnTo>
                    <a:pt x="15" y="7"/>
                  </a:lnTo>
                  <a:lnTo>
                    <a:pt x="16" y="7"/>
                  </a:lnTo>
                  <a:lnTo>
                    <a:pt x="17" y="7"/>
                  </a:lnTo>
                  <a:lnTo>
                    <a:pt x="17" y="7"/>
                  </a:lnTo>
                  <a:lnTo>
                    <a:pt x="18" y="7"/>
                  </a:lnTo>
                  <a:lnTo>
                    <a:pt x="19" y="6"/>
                  </a:lnTo>
                  <a:lnTo>
                    <a:pt x="20" y="6"/>
                  </a:lnTo>
                  <a:lnTo>
                    <a:pt x="20" y="6"/>
                  </a:lnTo>
                </a:path>
              </a:pathLst>
            </a:custGeom>
            <a:noFill/>
            <a:ln w="6057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5" name="Freeform 354"/>
            <p:cNvSpPr/>
            <p:nvPr/>
          </p:nvSpPr>
          <p:spPr>
            <a:xfrm>
              <a:off x="2560320" y="11173968"/>
              <a:ext cx="36576" cy="109728"/>
            </a:xfrm>
            <a:custGeom>
              <a:avLst/>
              <a:gdLst/>
              <a:ahLst/>
              <a:cxnLst/>
              <a:rect l="l" t="t" r="r" b="b"/>
              <a:pathLst>
                <a:path w="4" h="12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7"/>
                  </a:lnTo>
                  <a:lnTo>
                    <a:pt x="0" y="8"/>
                  </a:lnTo>
                  <a:lnTo>
                    <a:pt x="0" y="8"/>
                  </a:lnTo>
                  <a:lnTo>
                    <a:pt x="1" y="9"/>
                  </a:lnTo>
                  <a:lnTo>
                    <a:pt x="1" y="9"/>
                  </a:lnTo>
                  <a:lnTo>
                    <a:pt x="1" y="10"/>
                  </a:lnTo>
                  <a:lnTo>
                    <a:pt x="2" y="10"/>
                  </a:lnTo>
                  <a:lnTo>
                    <a:pt x="2" y="11"/>
                  </a:lnTo>
                  <a:lnTo>
                    <a:pt x="3" y="11"/>
                  </a:lnTo>
                  <a:lnTo>
                    <a:pt x="3" y="11"/>
                  </a:lnTo>
                  <a:lnTo>
                    <a:pt x="4" y="12"/>
                  </a:lnTo>
                </a:path>
              </a:pathLst>
            </a:custGeom>
            <a:noFill/>
            <a:ln w="6057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6" name="Freeform 355"/>
            <p:cNvSpPr/>
            <p:nvPr/>
          </p:nvSpPr>
          <p:spPr>
            <a:xfrm>
              <a:off x="2295144" y="10945368"/>
              <a:ext cx="54864" cy="118872"/>
            </a:xfrm>
            <a:custGeom>
              <a:avLst/>
              <a:gdLst/>
              <a:ahLst/>
              <a:cxnLst/>
              <a:rect l="l" t="t" r="r" b="b"/>
              <a:pathLst>
                <a:path w="6" h="13">
                  <a:moveTo>
                    <a:pt x="6" y="13"/>
                  </a:moveTo>
                  <a:lnTo>
                    <a:pt x="6" y="13"/>
                  </a:lnTo>
                  <a:lnTo>
                    <a:pt x="6" y="12"/>
                  </a:lnTo>
                  <a:lnTo>
                    <a:pt x="6" y="12"/>
                  </a:lnTo>
                  <a:lnTo>
                    <a:pt x="6" y="11"/>
                  </a:lnTo>
                  <a:lnTo>
                    <a:pt x="6" y="10"/>
                  </a:lnTo>
                  <a:lnTo>
                    <a:pt x="6" y="9"/>
                  </a:lnTo>
                  <a:lnTo>
                    <a:pt x="5" y="8"/>
                  </a:lnTo>
                  <a:lnTo>
                    <a:pt x="5" y="7"/>
                  </a:lnTo>
                  <a:lnTo>
                    <a:pt x="5" y="7"/>
                  </a:lnTo>
                  <a:lnTo>
                    <a:pt x="5" y="6"/>
                  </a:lnTo>
                  <a:lnTo>
                    <a:pt x="4" y="5"/>
                  </a:lnTo>
                  <a:lnTo>
                    <a:pt x="4" y="4"/>
                  </a:lnTo>
                  <a:lnTo>
                    <a:pt x="3" y="3"/>
                  </a:lnTo>
                  <a:lnTo>
                    <a:pt x="2" y="3"/>
                  </a:lnTo>
                  <a:lnTo>
                    <a:pt x="2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noFill/>
            <a:ln w="6057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7" name="Freeform 356"/>
            <p:cNvSpPr/>
            <p:nvPr/>
          </p:nvSpPr>
          <p:spPr>
            <a:xfrm>
              <a:off x="2295144" y="11183112"/>
              <a:ext cx="27432" cy="118872"/>
            </a:xfrm>
            <a:custGeom>
              <a:avLst/>
              <a:gdLst/>
              <a:ahLst/>
              <a:cxnLst/>
              <a:rect l="l" t="t" r="r" b="b"/>
              <a:pathLst>
                <a:path w="3" h="13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2"/>
                  </a:lnTo>
                  <a:lnTo>
                    <a:pt x="3" y="2"/>
                  </a:lnTo>
                  <a:lnTo>
                    <a:pt x="3" y="3"/>
                  </a:lnTo>
                  <a:lnTo>
                    <a:pt x="3" y="4"/>
                  </a:lnTo>
                  <a:lnTo>
                    <a:pt x="3" y="5"/>
                  </a:lnTo>
                  <a:lnTo>
                    <a:pt x="3" y="6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8"/>
                  </a:lnTo>
                  <a:lnTo>
                    <a:pt x="2" y="9"/>
                  </a:lnTo>
                  <a:lnTo>
                    <a:pt x="2" y="10"/>
                  </a:lnTo>
                  <a:lnTo>
                    <a:pt x="1" y="11"/>
                  </a:lnTo>
                  <a:lnTo>
                    <a:pt x="1" y="12"/>
                  </a:lnTo>
                  <a:lnTo>
                    <a:pt x="0" y="12"/>
                  </a:lnTo>
                  <a:lnTo>
                    <a:pt x="0" y="13"/>
                  </a:lnTo>
                  <a:lnTo>
                    <a:pt x="0" y="13"/>
                  </a:lnTo>
                </a:path>
              </a:pathLst>
            </a:custGeom>
            <a:noFill/>
            <a:ln w="6057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8" name="Freeform 357"/>
            <p:cNvSpPr/>
            <p:nvPr/>
          </p:nvSpPr>
          <p:spPr>
            <a:xfrm>
              <a:off x="2514600" y="11000232"/>
              <a:ext cx="109728" cy="36576"/>
            </a:xfrm>
            <a:custGeom>
              <a:avLst/>
              <a:gdLst/>
              <a:ahLst/>
              <a:cxnLst/>
              <a:rect l="l" t="t" r="r" b="b"/>
              <a:pathLst>
                <a:path w="12" h="4">
                  <a:moveTo>
                    <a:pt x="0" y="3"/>
                  </a:moveTo>
                  <a:lnTo>
                    <a:pt x="0" y="3"/>
                  </a:lnTo>
                  <a:lnTo>
                    <a:pt x="1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3" y="3"/>
                  </a:lnTo>
                  <a:lnTo>
                    <a:pt x="4" y="4"/>
                  </a:lnTo>
                  <a:lnTo>
                    <a:pt x="4" y="4"/>
                  </a:lnTo>
                  <a:lnTo>
                    <a:pt x="5" y="4"/>
                  </a:lnTo>
                  <a:lnTo>
                    <a:pt x="6" y="4"/>
                  </a:lnTo>
                  <a:lnTo>
                    <a:pt x="7" y="3"/>
                  </a:lnTo>
                  <a:lnTo>
                    <a:pt x="7" y="3"/>
                  </a:lnTo>
                  <a:lnTo>
                    <a:pt x="8" y="3"/>
                  </a:lnTo>
                  <a:lnTo>
                    <a:pt x="9" y="2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11" y="1"/>
                  </a:lnTo>
                  <a:lnTo>
                    <a:pt x="12" y="0"/>
                  </a:lnTo>
                  <a:lnTo>
                    <a:pt x="12" y="0"/>
                  </a:lnTo>
                </a:path>
              </a:pathLst>
            </a:custGeom>
            <a:noFill/>
            <a:ln w="6057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9" name="Oval 358"/>
            <p:cNvSpPr/>
            <p:nvPr/>
          </p:nvSpPr>
          <p:spPr>
            <a:xfrm>
              <a:off x="2176272" y="10872216"/>
              <a:ext cx="484632" cy="475488"/>
            </a:xfrm>
            <a:prstGeom prst="ellipse">
              <a:avLst/>
            </a:prstGeom>
            <a:noFill/>
            <a:ln w="7620" cap="rnd">
              <a:solidFill>
                <a:srgbClr val="163769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361" name="Rounded Rectangle 360"/>
          <p:cNvSpPr/>
          <p:nvPr/>
        </p:nvSpPr>
        <p:spPr>
          <a:xfrm>
            <a:off x="393192" y="11841480"/>
            <a:ext cx="3648456" cy="62179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0160" cap="rnd">
            <a:solidFill>
              <a:srgbClr val="86B8E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2" name="Connector 361"/>
          <p:cNvCxnSpPr/>
          <p:nvPr/>
        </p:nvCxnSpPr>
        <p:spPr>
          <a:xfrm>
            <a:off x="630936" y="12015216"/>
            <a:ext cx="502920" cy="0"/>
          </a:xfrm>
          <a:prstGeom prst="line">
            <a:avLst/>
          </a:prstGeom>
          <a:ln w="12700">
            <a:solidFill>
              <a:srgbClr val="E4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3" name="Freeform 362"/>
          <p:cNvSpPr/>
          <p:nvPr/>
        </p:nvSpPr>
        <p:spPr>
          <a:xfrm>
            <a:off x="1042416" y="11969496"/>
            <a:ext cx="91440" cy="9144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10" y="5"/>
                </a:moveTo>
                <a:lnTo>
                  <a:pt x="0" y="0"/>
                </a:lnTo>
                <a:lnTo>
                  <a:pt x="0" y="10"/>
                </a:lnTo>
                <a:close/>
              </a:path>
            </a:pathLst>
          </a:custGeom>
          <a:solidFill>
            <a:srgbClr val="E4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4" name="Connector 363"/>
          <p:cNvCxnSpPr/>
          <p:nvPr/>
        </p:nvCxnSpPr>
        <p:spPr>
          <a:xfrm>
            <a:off x="630936" y="12252960"/>
            <a:ext cx="502920" cy="0"/>
          </a:xfrm>
          <a:prstGeom prst="line">
            <a:avLst/>
          </a:prstGeom>
          <a:ln w="12700">
            <a:solidFill>
              <a:srgbClr val="72B64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5" name="Freeform 364"/>
          <p:cNvSpPr/>
          <p:nvPr/>
        </p:nvSpPr>
        <p:spPr>
          <a:xfrm>
            <a:off x="1042416" y="12207240"/>
            <a:ext cx="91440" cy="9144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10" y="5"/>
                </a:moveTo>
                <a:lnTo>
                  <a:pt x="0" y="0"/>
                </a:lnTo>
                <a:lnTo>
                  <a:pt x="0" y="10"/>
                </a:lnTo>
                <a:close/>
              </a:path>
            </a:pathLst>
          </a:custGeom>
          <a:solidFill>
            <a:srgbClr val="72B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Anion migration (to − electrode)"/>
          <p:cNvSpPr txBox="1"/>
          <p:nvPr/>
        </p:nvSpPr>
        <p:spPr>
          <a:xfrm>
            <a:off x="1179576" y="11932920"/>
            <a:ext cx="2788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10" b="0">
                <a:solidFill>
                  <a:srgbClr val="101010"/>
                </a:solidFill>
                <a:latin typeface="Times New Roman"/>
              </a:defRPr>
            </a:pPr>
            <a:r>
              <a:t>Anion migration (to − electrode)</a:t>
            </a:r>
          </a:p>
        </p:txBody>
      </p:sp>
      <p:sp>
        <p:nvSpPr>
          <p:cNvPr id="367" name="Cation migration (to + electrode)"/>
          <p:cNvSpPr txBox="1"/>
          <p:nvPr/>
        </p:nvSpPr>
        <p:spPr>
          <a:xfrm>
            <a:off x="1179576" y="12179808"/>
            <a:ext cx="2788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10" b="0">
                <a:solidFill>
                  <a:srgbClr val="101010"/>
                </a:solidFill>
                <a:latin typeface="Times New Roman"/>
              </a:defRPr>
            </a:pPr>
            <a:r>
              <a:t>Cation migration (to + electrode)</a:t>
            </a:r>
          </a:p>
        </p:txBody>
      </p:sp>
      <p:sp>
        <p:nvSpPr>
          <p:cNvPr id="368" name="Different anions polar:"/>
          <p:cNvSpPr txBox="1"/>
          <p:nvPr/>
        </p:nvSpPr>
        <p:spPr>
          <a:xfrm>
            <a:off x="5687568" y="8942832"/>
            <a:ext cx="338328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3A6DB4"/>
                </a:solidFill>
                <a:latin typeface="Times New Roman"/>
              </a:defRPr>
            </a:pPr>
            <a:r>
              <a:t>Different anions polar:</a:t>
            </a:r>
          </a:p>
        </p:txBody>
      </p:sp>
      <p:sp>
        <p:nvSpPr>
          <p:cNvPr id="369" name="Cl⁻"/>
          <p:cNvSpPr txBox="1"/>
          <p:nvPr/>
        </p:nvSpPr>
        <p:spPr>
          <a:xfrm>
            <a:off x="5788152" y="9226296"/>
            <a:ext cx="42976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50" b="1">
                <a:solidFill>
                  <a:srgbClr val="101010"/>
                </a:solidFill>
                <a:latin typeface="Times New Roman"/>
              </a:defRPr>
            </a:pPr>
            <a:r>
              <a:t>Cl⁻</a:t>
            </a:r>
          </a:p>
        </p:txBody>
      </p:sp>
      <p:sp>
        <p:nvSpPr>
          <p:cNvPr id="370" name="&gt;"/>
          <p:cNvSpPr txBox="1"/>
          <p:nvPr/>
        </p:nvSpPr>
        <p:spPr>
          <a:xfrm>
            <a:off x="7004304" y="9226296"/>
            <a:ext cx="274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01010"/>
                </a:solidFill>
                <a:latin typeface="Times New Roman"/>
              </a:defRPr>
            </a:pPr>
            <a:r>
              <a:t>&gt;</a:t>
            </a:r>
          </a:p>
        </p:txBody>
      </p:sp>
      <p:sp>
        <p:nvSpPr>
          <p:cNvPr id="371" name="[Oac]⁻"/>
          <p:cNvSpPr txBox="1"/>
          <p:nvPr/>
        </p:nvSpPr>
        <p:spPr>
          <a:xfrm>
            <a:off x="7726679" y="9226296"/>
            <a:ext cx="832104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50" b="1">
                <a:solidFill>
                  <a:srgbClr val="101010"/>
                </a:solidFill>
                <a:latin typeface="Times New Roman"/>
              </a:defRPr>
            </a:pPr>
            <a:r>
              <a:t>[Oac]⁻</a:t>
            </a:r>
          </a:p>
        </p:txBody>
      </p:sp>
      <p:sp>
        <p:nvSpPr>
          <p:cNvPr id="372" name="Oval 371"/>
          <p:cNvSpPr/>
          <p:nvPr/>
        </p:nvSpPr>
        <p:spPr>
          <a:xfrm>
            <a:off x="5559552" y="9537192"/>
            <a:ext cx="859536" cy="749808"/>
          </a:xfrm>
          <a:prstGeom prst="ellipse">
            <a:avLst/>
          </a:prstGeom>
          <a:noFill/>
          <a:ln w="10160" cap="rnd">
            <a:solidFill>
              <a:srgbClr val="4A7FDE"/>
            </a:solidFill>
            <a:prstDash val="dash"/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Oval 372"/>
          <p:cNvSpPr/>
          <p:nvPr/>
        </p:nvSpPr>
        <p:spPr>
          <a:xfrm>
            <a:off x="7662672" y="9592056"/>
            <a:ext cx="832104" cy="768096"/>
          </a:xfrm>
          <a:prstGeom prst="ellipse">
            <a:avLst/>
          </a:prstGeom>
          <a:noFill/>
          <a:ln w="10160" cap="rnd">
            <a:solidFill>
              <a:srgbClr val="4A7FDE"/>
            </a:solidFill>
            <a:prstDash val="dash"/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Cl"/>
          <p:cNvSpPr txBox="1"/>
          <p:nvPr/>
        </p:nvSpPr>
        <p:spPr>
          <a:xfrm>
            <a:off x="5824728" y="9784080"/>
            <a:ext cx="3657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01010"/>
                </a:solidFill>
                <a:latin typeface="Times New Roman"/>
              </a:defRPr>
            </a:pPr>
            <a:r>
              <a:t>Cl</a:t>
            </a:r>
          </a:p>
        </p:txBody>
      </p:sp>
      <p:sp>
        <p:nvSpPr>
          <p:cNvPr id="375" name="Oval 374"/>
          <p:cNvSpPr/>
          <p:nvPr/>
        </p:nvSpPr>
        <p:spPr>
          <a:xfrm>
            <a:off x="5751576" y="9811512"/>
            <a:ext cx="54864" cy="54864"/>
          </a:xfrm>
          <a:prstGeom prst="ellipse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Oval 375"/>
          <p:cNvSpPr/>
          <p:nvPr/>
        </p:nvSpPr>
        <p:spPr>
          <a:xfrm>
            <a:off x="5879592" y="9720072"/>
            <a:ext cx="54864" cy="54864"/>
          </a:xfrm>
          <a:prstGeom prst="ellipse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Oval 376"/>
          <p:cNvSpPr/>
          <p:nvPr/>
        </p:nvSpPr>
        <p:spPr>
          <a:xfrm>
            <a:off x="6025896" y="9729216"/>
            <a:ext cx="54864" cy="54864"/>
          </a:xfrm>
          <a:prstGeom prst="ellipse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Oval 377"/>
          <p:cNvSpPr/>
          <p:nvPr/>
        </p:nvSpPr>
        <p:spPr>
          <a:xfrm>
            <a:off x="6172200" y="9829800"/>
            <a:ext cx="54864" cy="54864"/>
          </a:xfrm>
          <a:prstGeom prst="ellipse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Oval 378"/>
          <p:cNvSpPr/>
          <p:nvPr/>
        </p:nvSpPr>
        <p:spPr>
          <a:xfrm>
            <a:off x="6172200" y="10012680"/>
            <a:ext cx="54864" cy="54864"/>
          </a:xfrm>
          <a:prstGeom prst="ellipse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Oval 379"/>
          <p:cNvSpPr/>
          <p:nvPr/>
        </p:nvSpPr>
        <p:spPr>
          <a:xfrm>
            <a:off x="6025896" y="10140696"/>
            <a:ext cx="54864" cy="54864"/>
          </a:xfrm>
          <a:prstGeom prst="ellipse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Oval 380"/>
          <p:cNvSpPr/>
          <p:nvPr/>
        </p:nvSpPr>
        <p:spPr>
          <a:xfrm>
            <a:off x="5879592" y="10131552"/>
            <a:ext cx="54864" cy="54864"/>
          </a:xfrm>
          <a:prstGeom prst="ellipse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Oval 381"/>
          <p:cNvSpPr/>
          <p:nvPr/>
        </p:nvSpPr>
        <p:spPr>
          <a:xfrm>
            <a:off x="5751576" y="10012680"/>
            <a:ext cx="54864" cy="54864"/>
          </a:xfrm>
          <a:prstGeom prst="ellipse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O"/>
          <p:cNvSpPr txBox="1"/>
          <p:nvPr/>
        </p:nvSpPr>
        <p:spPr>
          <a:xfrm>
            <a:off x="7955279" y="9582912"/>
            <a:ext cx="228600" cy="265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01010"/>
                </a:solidFill>
                <a:latin typeface="Times New Roman"/>
              </a:defRPr>
            </a:pPr>
            <a:r>
              <a:t>O</a:t>
            </a:r>
          </a:p>
        </p:txBody>
      </p:sp>
      <p:sp>
        <p:nvSpPr>
          <p:cNvPr id="384" name="C"/>
          <p:cNvSpPr txBox="1"/>
          <p:nvPr/>
        </p:nvSpPr>
        <p:spPr>
          <a:xfrm>
            <a:off x="7936992" y="9857232"/>
            <a:ext cx="228600" cy="265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01010"/>
                </a:solidFill>
                <a:latin typeface="Times New Roman"/>
              </a:defRPr>
            </a:pPr>
            <a:r>
              <a:t>C</a:t>
            </a:r>
          </a:p>
        </p:txBody>
      </p:sp>
      <p:sp>
        <p:nvSpPr>
          <p:cNvPr id="385" name="CH₃"/>
          <p:cNvSpPr txBox="1"/>
          <p:nvPr/>
        </p:nvSpPr>
        <p:spPr>
          <a:xfrm>
            <a:off x="7754112" y="10012680"/>
            <a:ext cx="39319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01010"/>
                </a:solidFill>
                <a:latin typeface="Times New Roman"/>
              </a:defRPr>
            </a:pPr>
            <a:r>
              <a:t>CH₃</a:t>
            </a:r>
          </a:p>
        </p:txBody>
      </p:sp>
      <p:sp>
        <p:nvSpPr>
          <p:cNvPr id="386" name="O⁻"/>
          <p:cNvSpPr txBox="1"/>
          <p:nvPr/>
        </p:nvSpPr>
        <p:spPr>
          <a:xfrm>
            <a:off x="8202168" y="10021824"/>
            <a:ext cx="31089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01010"/>
                </a:solidFill>
                <a:latin typeface="Times New Roman"/>
              </a:defRPr>
            </a:pPr>
            <a:r>
              <a:t>O⁻</a:t>
            </a:r>
          </a:p>
        </p:txBody>
      </p:sp>
      <p:cxnSp>
        <p:nvCxnSpPr>
          <p:cNvPr id="387" name="Connector 386"/>
          <p:cNvCxnSpPr/>
          <p:nvPr/>
        </p:nvCxnSpPr>
        <p:spPr>
          <a:xfrm>
            <a:off x="8037575" y="9784080"/>
            <a:ext cx="0" cy="109728"/>
          </a:xfrm>
          <a:prstGeom prst="line">
            <a:avLst/>
          </a:prstGeom>
          <a:ln w="10160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Connector 387"/>
          <p:cNvCxnSpPr/>
          <p:nvPr/>
        </p:nvCxnSpPr>
        <p:spPr>
          <a:xfrm>
            <a:off x="8083296" y="9784080"/>
            <a:ext cx="0" cy="109728"/>
          </a:xfrm>
          <a:prstGeom prst="line">
            <a:avLst/>
          </a:prstGeom>
          <a:ln w="10160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Connector 388"/>
          <p:cNvCxnSpPr/>
          <p:nvPr/>
        </p:nvCxnSpPr>
        <p:spPr>
          <a:xfrm flipH="1">
            <a:off x="7900416" y="10021824"/>
            <a:ext cx="64008" cy="64008"/>
          </a:xfrm>
          <a:prstGeom prst="line">
            <a:avLst/>
          </a:prstGeom>
          <a:ln w="10160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Connector 389"/>
          <p:cNvCxnSpPr/>
          <p:nvPr/>
        </p:nvCxnSpPr>
        <p:spPr>
          <a:xfrm>
            <a:off x="8138160" y="10021824"/>
            <a:ext cx="82296" cy="64008"/>
          </a:xfrm>
          <a:prstGeom prst="line">
            <a:avLst/>
          </a:prstGeom>
          <a:ln w="10160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1" name="Different alkyl chain lengths:"/>
          <p:cNvSpPr txBox="1"/>
          <p:nvPr/>
        </p:nvSpPr>
        <p:spPr>
          <a:xfrm>
            <a:off x="5678424" y="10351008"/>
            <a:ext cx="3529584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A6DB4"/>
                </a:solidFill>
                <a:latin typeface="Times New Roman"/>
              </a:defRPr>
            </a:pPr>
            <a:r>
              <a:t>Different alkyl chain lengths:</a:t>
            </a:r>
          </a:p>
        </p:txBody>
      </p:sp>
      <p:sp>
        <p:nvSpPr>
          <p:cNvPr id="392" name="[Bmim]⁺&gt;[Amim]⁺&gt;[Emim]⁺"/>
          <p:cNvSpPr txBox="1"/>
          <p:nvPr/>
        </p:nvSpPr>
        <p:spPr>
          <a:xfrm>
            <a:off x="5632704" y="10643616"/>
            <a:ext cx="338328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80" b="1">
                <a:solidFill>
                  <a:srgbClr val="101010"/>
                </a:solidFill>
                <a:latin typeface="Times New Roman"/>
              </a:defRPr>
            </a:pPr>
            <a:r>
              <a:t>[Bmim]⁺&gt;[Amim]⁺&gt;[Emim]⁺</a:t>
            </a:r>
          </a:p>
        </p:txBody>
      </p:sp>
      <p:grpSp>
        <p:nvGrpSpPr>
          <p:cNvPr id="409" name="Editable butyl imidazolium structure"/>
          <p:cNvGrpSpPr/>
          <p:nvPr/>
        </p:nvGrpSpPr>
        <p:grpSpPr>
          <a:xfrm>
            <a:off x="4553712" y="11027664"/>
            <a:ext cx="1581912" cy="411480"/>
            <a:chOff x="4553712" y="11027664"/>
            <a:chExt cx="1581912" cy="411480"/>
          </a:xfrm>
        </p:grpSpPr>
        <p:cxnSp>
          <p:nvCxnSpPr>
            <p:cNvPr id="393" name="Connector 392"/>
            <p:cNvCxnSpPr/>
            <p:nvPr/>
          </p:nvCxnSpPr>
          <p:spPr>
            <a:xfrm>
              <a:off x="4873752" y="11027664"/>
              <a:ext cx="246888" cy="0"/>
            </a:xfrm>
            <a:prstGeom prst="line">
              <a:avLst/>
            </a:prstGeom>
            <a:ln w="11430">
              <a:solidFill>
                <a:srgbClr val="10101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Connector 393"/>
            <p:cNvCxnSpPr/>
            <p:nvPr/>
          </p:nvCxnSpPr>
          <p:spPr>
            <a:xfrm flipH="1">
              <a:off x="4773168" y="11027664"/>
              <a:ext cx="100584" cy="219456"/>
            </a:xfrm>
            <a:prstGeom prst="line">
              <a:avLst/>
            </a:prstGeom>
            <a:ln w="11430">
              <a:solidFill>
                <a:srgbClr val="10101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5" name="Connector 394"/>
            <p:cNvCxnSpPr/>
            <p:nvPr/>
          </p:nvCxnSpPr>
          <p:spPr>
            <a:xfrm>
              <a:off x="5120640" y="11027664"/>
              <a:ext cx="82296" cy="210312"/>
            </a:xfrm>
            <a:prstGeom prst="line">
              <a:avLst/>
            </a:prstGeom>
            <a:ln w="11430">
              <a:solidFill>
                <a:srgbClr val="10101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Connector 395"/>
            <p:cNvCxnSpPr/>
            <p:nvPr/>
          </p:nvCxnSpPr>
          <p:spPr>
            <a:xfrm>
              <a:off x="4809744" y="11329416"/>
              <a:ext cx="192024" cy="91440"/>
            </a:xfrm>
            <a:prstGeom prst="line">
              <a:avLst/>
            </a:prstGeom>
            <a:ln w="11430">
              <a:solidFill>
                <a:srgbClr val="10101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Connector 396"/>
            <p:cNvCxnSpPr/>
            <p:nvPr/>
          </p:nvCxnSpPr>
          <p:spPr>
            <a:xfrm flipV="1">
              <a:off x="5001768" y="11320272"/>
              <a:ext cx="164592" cy="100584"/>
            </a:xfrm>
            <a:prstGeom prst="line">
              <a:avLst/>
            </a:prstGeom>
            <a:ln w="11430">
              <a:solidFill>
                <a:srgbClr val="10101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8" name="Connector 397"/>
            <p:cNvCxnSpPr/>
            <p:nvPr/>
          </p:nvCxnSpPr>
          <p:spPr>
            <a:xfrm>
              <a:off x="4901184" y="11064240"/>
              <a:ext cx="192024" cy="0"/>
            </a:xfrm>
            <a:prstGeom prst="line">
              <a:avLst/>
            </a:prstGeom>
            <a:ln w="11430">
              <a:solidFill>
                <a:srgbClr val="10101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Connector 398"/>
            <p:cNvCxnSpPr/>
            <p:nvPr/>
          </p:nvCxnSpPr>
          <p:spPr>
            <a:xfrm flipV="1">
              <a:off x="5020056" y="11301984"/>
              <a:ext cx="109728" cy="64008"/>
            </a:xfrm>
            <a:prstGeom prst="line">
              <a:avLst/>
            </a:prstGeom>
            <a:ln w="11430">
              <a:solidFill>
                <a:srgbClr val="10101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Connector 399"/>
            <p:cNvCxnSpPr/>
            <p:nvPr/>
          </p:nvCxnSpPr>
          <p:spPr>
            <a:xfrm flipH="1">
              <a:off x="4553712" y="11311128"/>
              <a:ext cx="173736" cy="54864"/>
            </a:xfrm>
            <a:prstGeom prst="line">
              <a:avLst/>
            </a:prstGeom>
            <a:ln w="11430">
              <a:solidFill>
                <a:srgbClr val="10101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1" name="Rectangle 400"/>
            <p:cNvSpPr/>
            <p:nvPr/>
          </p:nvSpPr>
          <p:spPr>
            <a:xfrm>
              <a:off x="4727448" y="11219688"/>
              <a:ext cx="146304" cy="15544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2" name="Rectangle 401"/>
            <p:cNvSpPr/>
            <p:nvPr/>
          </p:nvSpPr>
          <p:spPr>
            <a:xfrm>
              <a:off x="5148072" y="11201400"/>
              <a:ext cx="237744" cy="16459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3" name="N"/>
            <p:cNvSpPr txBox="1"/>
            <p:nvPr/>
          </p:nvSpPr>
          <p:spPr>
            <a:xfrm>
              <a:off x="4727448" y="11201400"/>
              <a:ext cx="192024" cy="201168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250" b="0">
                  <a:solidFill>
                    <a:srgbClr val="101010"/>
                  </a:solidFill>
                  <a:latin typeface="Times New Roman"/>
                </a:defRPr>
              </a:pPr>
              <a:r>
                <a:t>N</a:t>
              </a:r>
            </a:p>
          </p:txBody>
        </p:sp>
        <p:sp>
          <p:nvSpPr>
            <p:cNvPr id="404" name="N⁺"/>
            <p:cNvSpPr txBox="1"/>
            <p:nvPr/>
          </p:nvSpPr>
          <p:spPr>
            <a:xfrm>
              <a:off x="5138928" y="11183112"/>
              <a:ext cx="301752" cy="219456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250" b="0">
                  <a:solidFill>
                    <a:srgbClr val="101010"/>
                  </a:solidFill>
                  <a:latin typeface="Times New Roman"/>
                </a:defRPr>
              </a:pPr>
              <a:r>
                <a:t>N⁺</a:t>
              </a:r>
            </a:p>
          </p:txBody>
        </p:sp>
        <p:cxnSp>
          <p:nvCxnSpPr>
            <p:cNvPr id="405" name="Connector 404"/>
            <p:cNvCxnSpPr/>
            <p:nvPr/>
          </p:nvCxnSpPr>
          <p:spPr>
            <a:xfrm>
              <a:off x="5266944" y="11311128"/>
              <a:ext cx="210312" cy="128016"/>
            </a:xfrm>
            <a:prstGeom prst="line">
              <a:avLst/>
            </a:prstGeom>
            <a:ln w="16510">
              <a:solidFill>
                <a:srgbClr val="147B3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Connector 405"/>
            <p:cNvCxnSpPr/>
            <p:nvPr/>
          </p:nvCxnSpPr>
          <p:spPr>
            <a:xfrm flipV="1">
              <a:off x="5477256" y="11311128"/>
              <a:ext cx="219456" cy="128016"/>
            </a:xfrm>
            <a:prstGeom prst="line">
              <a:avLst/>
            </a:prstGeom>
            <a:ln w="16510">
              <a:solidFill>
                <a:srgbClr val="147B3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Connector 406"/>
            <p:cNvCxnSpPr/>
            <p:nvPr/>
          </p:nvCxnSpPr>
          <p:spPr>
            <a:xfrm>
              <a:off x="5696712" y="11311128"/>
              <a:ext cx="219456" cy="128016"/>
            </a:xfrm>
            <a:prstGeom prst="line">
              <a:avLst/>
            </a:prstGeom>
            <a:ln w="16510">
              <a:solidFill>
                <a:srgbClr val="147B3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Connector 407"/>
            <p:cNvCxnSpPr/>
            <p:nvPr/>
          </p:nvCxnSpPr>
          <p:spPr>
            <a:xfrm flipV="1">
              <a:off x="5916168" y="11311128"/>
              <a:ext cx="219456" cy="128016"/>
            </a:xfrm>
            <a:prstGeom prst="line">
              <a:avLst/>
            </a:prstGeom>
            <a:ln w="16510">
              <a:solidFill>
                <a:srgbClr val="147B3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6" name="Editable allyl imidazolium structure"/>
          <p:cNvGrpSpPr/>
          <p:nvPr/>
        </p:nvGrpSpPr>
        <p:grpSpPr>
          <a:xfrm>
            <a:off x="6400800" y="11027664"/>
            <a:ext cx="1362456" cy="457200"/>
            <a:chOff x="6400800" y="11027664"/>
            <a:chExt cx="1362456" cy="457200"/>
          </a:xfrm>
        </p:grpSpPr>
        <p:cxnSp>
          <p:nvCxnSpPr>
            <p:cNvPr id="410" name="Connector 409"/>
            <p:cNvCxnSpPr/>
            <p:nvPr/>
          </p:nvCxnSpPr>
          <p:spPr>
            <a:xfrm>
              <a:off x="6720840" y="11027664"/>
              <a:ext cx="246888" cy="0"/>
            </a:xfrm>
            <a:prstGeom prst="line">
              <a:avLst/>
            </a:prstGeom>
            <a:ln w="11430">
              <a:solidFill>
                <a:srgbClr val="10101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Connector 410"/>
            <p:cNvCxnSpPr/>
            <p:nvPr/>
          </p:nvCxnSpPr>
          <p:spPr>
            <a:xfrm flipH="1">
              <a:off x="6620256" y="11027664"/>
              <a:ext cx="100584" cy="219456"/>
            </a:xfrm>
            <a:prstGeom prst="line">
              <a:avLst/>
            </a:prstGeom>
            <a:ln w="11430">
              <a:solidFill>
                <a:srgbClr val="10101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Connector 411"/>
            <p:cNvCxnSpPr/>
            <p:nvPr/>
          </p:nvCxnSpPr>
          <p:spPr>
            <a:xfrm>
              <a:off x="6967728" y="11027664"/>
              <a:ext cx="82296" cy="210312"/>
            </a:xfrm>
            <a:prstGeom prst="line">
              <a:avLst/>
            </a:prstGeom>
            <a:ln w="11430">
              <a:solidFill>
                <a:srgbClr val="10101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Connector 412"/>
            <p:cNvCxnSpPr/>
            <p:nvPr/>
          </p:nvCxnSpPr>
          <p:spPr>
            <a:xfrm>
              <a:off x="6656832" y="11329416"/>
              <a:ext cx="192024" cy="91440"/>
            </a:xfrm>
            <a:prstGeom prst="line">
              <a:avLst/>
            </a:prstGeom>
            <a:ln w="11430">
              <a:solidFill>
                <a:srgbClr val="10101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" name="Connector 413"/>
            <p:cNvCxnSpPr/>
            <p:nvPr/>
          </p:nvCxnSpPr>
          <p:spPr>
            <a:xfrm flipV="1">
              <a:off x="6848856" y="11320272"/>
              <a:ext cx="164592" cy="100584"/>
            </a:xfrm>
            <a:prstGeom prst="line">
              <a:avLst/>
            </a:prstGeom>
            <a:ln w="11430">
              <a:solidFill>
                <a:srgbClr val="10101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Connector 414"/>
            <p:cNvCxnSpPr/>
            <p:nvPr/>
          </p:nvCxnSpPr>
          <p:spPr>
            <a:xfrm>
              <a:off x="6748272" y="11064240"/>
              <a:ext cx="192024" cy="0"/>
            </a:xfrm>
            <a:prstGeom prst="line">
              <a:avLst/>
            </a:prstGeom>
            <a:ln w="11430">
              <a:solidFill>
                <a:srgbClr val="10101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" name="Connector 415"/>
            <p:cNvCxnSpPr/>
            <p:nvPr/>
          </p:nvCxnSpPr>
          <p:spPr>
            <a:xfrm flipV="1">
              <a:off x="6867144" y="11301984"/>
              <a:ext cx="109728" cy="64008"/>
            </a:xfrm>
            <a:prstGeom prst="line">
              <a:avLst/>
            </a:prstGeom>
            <a:ln w="11430">
              <a:solidFill>
                <a:srgbClr val="10101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" name="Connector 416"/>
            <p:cNvCxnSpPr/>
            <p:nvPr/>
          </p:nvCxnSpPr>
          <p:spPr>
            <a:xfrm flipH="1">
              <a:off x="6400800" y="11311128"/>
              <a:ext cx="173736" cy="54864"/>
            </a:xfrm>
            <a:prstGeom prst="line">
              <a:avLst/>
            </a:prstGeom>
            <a:ln w="11430">
              <a:solidFill>
                <a:srgbClr val="10101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8" name="Rectangle 417"/>
            <p:cNvSpPr/>
            <p:nvPr/>
          </p:nvSpPr>
          <p:spPr>
            <a:xfrm>
              <a:off x="6574536" y="11219688"/>
              <a:ext cx="146304" cy="15544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9" name="Rectangle 418"/>
            <p:cNvSpPr/>
            <p:nvPr/>
          </p:nvSpPr>
          <p:spPr>
            <a:xfrm>
              <a:off x="6995160" y="11201400"/>
              <a:ext cx="237744" cy="16459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0" name="N"/>
            <p:cNvSpPr txBox="1"/>
            <p:nvPr/>
          </p:nvSpPr>
          <p:spPr>
            <a:xfrm>
              <a:off x="6574536" y="11201400"/>
              <a:ext cx="192024" cy="201168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250" b="0">
                  <a:solidFill>
                    <a:srgbClr val="101010"/>
                  </a:solidFill>
                  <a:latin typeface="Times New Roman"/>
                </a:defRPr>
              </a:pPr>
              <a:r>
                <a:t>N</a:t>
              </a:r>
            </a:p>
          </p:txBody>
        </p:sp>
        <p:sp>
          <p:nvSpPr>
            <p:cNvPr id="421" name="N⁺"/>
            <p:cNvSpPr txBox="1"/>
            <p:nvPr/>
          </p:nvSpPr>
          <p:spPr>
            <a:xfrm>
              <a:off x="6986016" y="11183112"/>
              <a:ext cx="301752" cy="219456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250" b="0">
                  <a:solidFill>
                    <a:srgbClr val="101010"/>
                  </a:solidFill>
                  <a:latin typeface="Times New Roman"/>
                </a:defRPr>
              </a:pPr>
              <a:r>
                <a:t>N⁺</a:t>
              </a:r>
            </a:p>
          </p:txBody>
        </p:sp>
        <p:cxnSp>
          <p:nvCxnSpPr>
            <p:cNvPr id="422" name="Connector 421"/>
            <p:cNvCxnSpPr/>
            <p:nvPr/>
          </p:nvCxnSpPr>
          <p:spPr>
            <a:xfrm>
              <a:off x="7114032" y="11311128"/>
              <a:ext cx="210312" cy="128016"/>
            </a:xfrm>
            <a:prstGeom prst="line">
              <a:avLst/>
            </a:prstGeom>
            <a:ln w="16510">
              <a:solidFill>
                <a:srgbClr val="002C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" name="Connector 422"/>
            <p:cNvCxnSpPr/>
            <p:nvPr/>
          </p:nvCxnSpPr>
          <p:spPr>
            <a:xfrm flipV="1">
              <a:off x="7324344" y="11311128"/>
              <a:ext cx="219456" cy="128016"/>
            </a:xfrm>
            <a:prstGeom prst="line">
              <a:avLst/>
            </a:prstGeom>
            <a:ln w="16510">
              <a:solidFill>
                <a:srgbClr val="002C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Connector 423"/>
            <p:cNvCxnSpPr/>
            <p:nvPr/>
          </p:nvCxnSpPr>
          <p:spPr>
            <a:xfrm>
              <a:off x="7543800" y="11311128"/>
              <a:ext cx="219456" cy="128016"/>
            </a:xfrm>
            <a:prstGeom prst="line">
              <a:avLst/>
            </a:prstGeom>
            <a:ln w="16510">
              <a:solidFill>
                <a:srgbClr val="002C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" name="Connector 424"/>
            <p:cNvCxnSpPr/>
            <p:nvPr/>
          </p:nvCxnSpPr>
          <p:spPr>
            <a:xfrm>
              <a:off x="7552944" y="11356848"/>
              <a:ext cx="201168" cy="128016"/>
            </a:xfrm>
            <a:prstGeom prst="line">
              <a:avLst/>
            </a:prstGeom>
            <a:ln w="12700">
              <a:solidFill>
                <a:srgbClr val="002C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1" name="Editable ethyl imidazolium structure"/>
          <p:cNvGrpSpPr/>
          <p:nvPr/>
        </p:nvGrpSpPr>
        <p:grpSpPr>
          <a:xfrm>
            <a:off x="8055864" y="11027664"/>
            <a:ext cx="1143000" cy="411480"/>
            <a:chOff x="8055864" y="11027664"/>
            <a:chExt cx="1143000" cy="411480"/>
          </a:xfrm>
        </p:grpSpPr>
        <p:cxnSp>
          <p:nvCxnSpPr>
            <p:cNvPr id="427" name="Connector 426"/>
            <p:cNvCxnSpPr/>
            <p:nvPr/>
          </p:nvCxnSpPr>
          <p:spPr>
            <a:xfrm>
              <a:off x="8375904" y="11027664"/>
              <a:ext cx="246888" cy="0"/>
            </a:xfrm>
            <a:prstGeom prst="line">
              <a:avLst/>
            </a:prstGeom>
            <a:ln w="11430">
              <a:solidFill>
                <a:srgbClr val="10101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Connector 427"/>
            <p:cNvCxnSpPr/>
            <p:nvPr/>
          </p:nvCxnSpPr>
          <p:spPr>
            <a:xfrm flipH="1">
              <a:off x="8275320" y="11027664"/>
              <a:ext cx="100584" cy="219456"/>
            </a:xfrm>
            <a:prstGeom prst="line">
              <a:avLst/>
            </a:prstGeom>
            <a:ln w="11430">
              <a:solidFill>
                <a:srgbClr val="10101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" name="Connector 428"/>
            <p:cNvCxnSpPr/>
            <p:nvPr/>
          </p:nvCxnSpPr>
          <p:spPr>
            <a:xfrm>
              <a:off x="8622792" y="11027664"/>
              <a:ext cx="82296" cy="210312"/>
            </a:xfrm>
            <a:prstGeom prst="line">
              <a:avLst/>
            </a:prstGeom>
            <a:ln w="11430">
              <a:solidFill>
                <a:srgbClr val="10101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Connector 429"/>
            <p:cNvCxnSpPr/>
            <p:nvPr/>
          </p:nvCxnSpPr>
          <p:spPr>
            <a:xfrm>
              <a:off x="8311896" y="11329416"/>
              <a:ext cx="192024" cy="91440"/>
            </a:xfrm>
            <a:prstGeom prst="line">
              <a:avLst/>
            </a:prstGeom>
            <a:ln w="11430">
              <a:solidFill>
                <a:srgbClr val="10101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Connector 430"/>
            <p:cNvCxnSpPr/>
            <p:nvPr/>
          </p:nvCxnSpPr>
          <p:spPr>
            <a:xfrm flipV="1">
              <a:off x="8503920" y="11320272"/>
              <a:ext cx="164592" cy="100584"/>
            </a:xfrm>
            <a:prstGeom prst="line">
              <a:avLst/>
            </a:prstGeom>
            <a:ln w="11430">
              <a:solidFill>
                <a:srgbClr val="10101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Connector 431"/>
            <p:cNvCxnSpPr/>
            <p:nvPr/>
          </p:nvCxnSpPr>
          <p:spPr>
            <a:xfrm>
              <a:off x="8403336" y="11064240"/>
              <a:ext cx="192024" cy="0"/>
            </a:xfrm>
            <a:prstGeom prst="line">
              <a:avLst/>
            </a:prstGeom>
            <a:ln w="11430">
              <a:solidFill>
                <a:srgbClr val="10101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3" name="Connector 432"/>
            <p:cNvCxnSpPr/>
            <p:nvPr/>
          </p:nvCxnSpPr>
          <p:spPr>
            <a:xfrm flipV="1">
              <a:off x="8522208" y="11301984"/>
              <a:ext cx="109728" cy="64008"/>
            </a:xfrm>
            <a:prstGeom prst="line">
              <a:avLst/>
            </a:prstGeom>
            <a:ln w="11430">
              <a:solidFill>
                <a:srgbClr val="10101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Connector 433"/>
            <p:cNvCxnSpPr/>
            <p:nvPr/>
          </p:nvCxnSpPr>
          <p:spPr>
            <a:xfrm flipH="1">
              <a:off x="8055864" y="11311128"/>
              <a:ext cx="173736" cy="54864"/>
            </a:xfrm>
            <a:prstGeom prst="line">
              <a:avLst/>
            </a:prstGeom>
            <a:ln w="11430">
              <a:solidFill>
                <a:srgbClr val="10101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5" name="Rectangle 434"/>
            <p:cNvSpPr/>
            <p:nvPr/>
          </p:nvSpPr>
          <p:spPr>
            <a:xfrm>
              <a:off x="8229600" y="11219688"/>
              <a:ext cx="146304" cy="15544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6" name="Rectangle 435"/>
            <p:cNvSpPr/>
            <p:nvPr/>
          </p:nvSpPr>
          <p:spPr>
            <a:xfrm>
              <a:off x="8650224" y="11201400"/>
              <a:ext cx="237744" cy="16459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7" name="N"/>
            <p:cNvSpPr txBox="1"/>
            <p:nvPr/>
          </p:nvSpPr>
          <p:spPr>
            <a:xfrm>
              <a:off x="8229600" y="11201400"/>
              <a:ext cx="192024" cy="201168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250" b="0">
                  <a:solidFill>
                    <a:srgbClr val="101010"/>
                  </a:solidFill>
                  <a:latin typeface="Times New Roman"/>
                </a:defRPr>
              </a:pPr>
              <a:r>
                <a:t>N</a:t>
              </a:r>
            </a:p>
          </p:txBody>
        </p:sp>
        <p:sp>
          <p:nvSpPr>
            <p:cNvPr id="438" name="N⁺"/>
            <p:cNvSpPr txBox="1"/>
            <p:nvPr/>
          </p:nvSpPr>
          <p:spPr>
            <a:xfrm>
              <a:off x="8641080" y="11183112"/>
              <a:ext cx="301752" cy="219456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250" b="0">
                  <a:solidFill>
                    <a:srgbClr val="101010"/>
                  </a:solidFill>
                  <a:latin typeface="Times New Roman"/>
                </a:defRPr>
              </a:pPr>
              <a:r>
                <a:t>N⁺</a:t>
              </a:r>
            </a:p>
          </p:txBody>
        </p:sp>
        <p:cxnSp>
          <p:nvCxnSpPr>
            <p:cNvPr id="439" name="Connector 438"/>
            <p:cNvCxnSpPr/>
            <p:nvPr/>
          </p:nvCxnSpPr>
          <p:spPr>
            <a:xfrm>
              <a:off x="8769096" y="11311128"/>
              <a:ext cx="210312" cy="128016"/>
            </a:xfrm>
            <a:prstGeom prst="line">
              <a:avLst/>
            </a:prstGeom>
            <a:ln w="16510">
              <a:solidFill>
                <a:srgbClr val="ED0D0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Connector 439"/>
            <p:cNvCxnSpPr/>
            <p:nvPr/>
          </p:nvCxnSpPr>
          <p:spPr>
            <a:xfrm flipV="1">
              <a:off x="8979408" y="11311128"/>
              <a:ext cx="219456" cy="128016"/>
            </a:xfrm>
            <a:prstGeom prst="line">
              <a:avLst/>
            </a:prstGeom>
            <a:ln w="16510">
              <a:solidFill>
                <a:srgbClr val="ED0D0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1" name="Editable schematic polymer contact fringe"/>
          <p:cNvGrpSpPr/>
          <p:nvPr/>
        </p:nvGrpSpPr>
        <p:grpSpPr>
          <a:xfrm>
            <a:off x="4818888" y="11579837"/>
            <a:ext cx="1307592" cy="311035"/>
            <a:chOff x="4818888" y="11579837"/>
            <a:chExt cx="1307592" cy="311035"/>
          </a:xfrm>
        </p:grpSpPr>
        <p:sp>
          <p:nvSpPr>
            <p:cNvPr id="442" name="Freeform 441"/>
            <p:cNvSpPr/>
            <p:nvPr/>
          </p:nvSpPr>
          <p:spPr>
            <a:xfrm>
              <a:off x="4818888" y="11612880"/>
              <a:ext cx="1307592" cy="73152"/>
            </a:xfrm>
            <a:custGeom>
              <a:avLst/>
              <a:gdLst/>
              <a:ahLst/>
              <a:cxnLst/>
              <a:rect l="l" t="t" r="r" b="b"/>
              <a:pathLst>
                <a:path w="143" h="8">
                  <a:moveTo>
                    <a:pt x="0" y="4"/>
                  </a:moveTo>
                  <a:lnTo>
                    <a:pt x="1" y="4"/>
                  </a:lnTo>
                  <a:lnTo>
                    <a:pt x="1" y="3"/>
                  </a:lnTo>
                  <a:lnTo>
                    <a:pt x="2" y="3"/>
                  </a:lnTo>
                  <a:lnTo>
                    <a:pt x="3" y="3"/>
                  </a:lnTo>
                  <a:lnTo>
                    <a:pt x="4" y="2"/>
                  </a:lnTo>
                  <a:lnTo>
                    <a:pt x="6" y="2"/>
                  </a:lnTo>
                  <a:lnTo>
                    <a:pt x="7" y="1"/>
                  </a:lnTo>
                  <a:lnTo>
                    <a:pt x="8" y="1"/>
                  </a:lnTo>
                  <a:lnTo>
                    <a:pt x="9" y="1"/>
                  </a:lnTo>
                  <a:lnTo>
                    <a:pt x="10" y="1"/>
                  </a:lnTo>
                  <a:lnTo>
                    <a:pt x="11" y="0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4" y="0"/>
                  </a:lnTo>
                  <a:lnTo>
                    <a:pt x="15" y="0"/>
                  </a:lnTo>
                  <a:lnTo>
                    <a:pt x="16" y="0"/>
                  </a:lnTo>
                  <a:lnTo>
                    <a:pt x="17" y="0"/>
                  </a:lnTo>
                  <a:lnTo>
                    <a:pt x="18" y="0"/>
                  </a:lnTo>
                  <a:lnTo>
                    <a:pt x="19" y="0"/>
                  </a:lnTo>
                  <a:lnTo>
                    <a:pt x="20" y="0"/>
                  </a:lnTo>
                  <a:lnTo>
                    <a:pt x="21" y="1"/>
                  </a:lnTo>
                  <a:lnTo>
                    <a:pt x="22" y="1"/>
                  </a:lnTo>
                  <a:lnTo>
                    <a:pt x="23" y="1"/>
                  </a:lnTo>
                  <a:lnTo>
                    <a:pt x="24" y="1"/>
                  </a:lnTo>
                  <a:lnTo>
                    <a:pt x="25" y="2"/>
                  </a:lnTo>
                  <a:lnTo>
                    <a:pt x="26" y="2"/>
                  </a:lnTo>
                  <a:lnTo>
                    <a:pt x="27" y="2"/>
                  </a:lnTo>
                  <a:lnTo>
                    <a:pt x="28" y="3"/>
                  </a:lnTo>
                  <a:lnTo>
                    <a:pt x="29" y="3"/>
                  </a:lnTo>
                  <a:lnTo>
                    <a:pt x="30" y="3"/>
                  </a:lnTo>
                  <a:lnTo>
                    <a:pt x="31" y="4"/>
                  </a:lnTo>
                  <a:lnTo>
                    <a:pt x="32" y="4"/>
                  </a:lnTo>
                  <a:lnTo>
                    <a:pt x="33" y="5"/>
                  </a:lnTo>
                  <a:lnTo>
                    <a:pt x="34" y="5"/>
                  </a:lnTo>
                  <a:lnTo>
                    <a:pt x="35" y="5"/>
                  </a:lnTo>
                  <a:lnTo>
                    <a:pt x="36" y="6"/>
                  </a:lnTo>
                  <a:lnTo>
                    <a:pt x="37" y="6"/>
                  </a:lnTo>
                  <a:lnTo>
                    <a:pt x="38" y="6"/>
                  </a:lnTo>
                  <a:lnTo>
                    <a:pt x="39" y="7"/>
                  </a:lnTo>
                  <a:lnTo>
                    <a:pt x="40" y="7"/>
                  </a:lnTo>
                  <a:lnTo>
                    <a:pt x="41" y="7"/>
                  </a:lnTo>
                  <a:lnTo>
                    <a:pt x="42" y="7"/>
                  </a:lnTo>
                  <a:lnTo>
                    <a:pt x="43" y="8"/>
                  </a:lnTo>
                  <a:lnTo>
                    <a:pt x="44" y="8"/>
                  </a:lnTo>
                  <a:lnTo>
                    <a:pt x="45" y="8"/>
                  </a:lnTo>
                  <a:lnTo>
                    <a:pt x="46" y="8"/>
                  </a:lnTo>
                  <a:lnTo>
                    <a:pt x="47" y="8"/>
                  </a:lnTo>
                  <a:lnTo>
                    <a:pt x="48" y="8"/>
                  </a:lnTo>
                  <a:lnTo>
                    <a:pt x="49" y="8"/>
                  </a:lnTo>
                  <a:lnTo>
                    <a:pt x="50" y="8"/>
                  </a:lnTo>
                  <a:lnTo>
                    <a:pt x="51" y="8"/>
                  </a:lnTo>
                  <a:lnTo>
                    <a:pt x="52" y="7"/>
                  </a:lnTo>
                  <a:lnTo>
                    <a:pt x="53" y="7"/>
                  </a:lnTo>
                  <a:lnTo>
                    <a:pt x="54" y="7"/>
                  </a:lnTo>
                  <a:lnTo>
                    <a:pt x="55" y="7"/>
                  </a:lnTo>
                  <a:lnTo>
                    <a:pt x="56" y="7"/>
                  </a:lnTo>
                  <a:lnTo>
                    <a:pt x="57" y="6"/>
                  </a:lnTo>
                  <a:lnTo>
                    <a:pt x="58" y="6"/>
                  </a:lnTo>
                  <a:lnTo>
                    <a:pt x="59" y="5"/>
                  </a:lnTo>
                  <a:lnTo>
                    <a:pt x="60" y="5"/>
                  </a:lnTo>
                  <a:lnTo>
                    <a:pt x="61" y="5"/>
                  </a:lnTo>
                  <a:lnTo>
                    <a:pt x="62" y="4"/>
                  </a:lnTo>
                  <a:lnTo>
                    <a:pt x="63" y="4"/>
                  </a:lnTo>
                  <a:lnTo>
                    <a:pt x="64" y="4"/>
                  </a:lnTo>
                  <a:lnTo>
                    <a:pt x="65" y="3"/>
                  </a:lnTo>
                  <a:lnTo>
                    <a:pt x="66" y="3"/>
                  </a:lnTo>
                  <a:lnTo>
                    <a:pt x="67" y="2"/>
                  </a:lnTo>
                  <a:lnTo>
                    <a:pt x="68" y="2"/>
                  </a:lnTo>
                  <a:lnTo>
                    <a:pt x="69" y="2"/>
                  </a:lnTo>
                  <a:lnTo>
                    <a:pt x="70" y="1"/>
                  </a:lnTo>
                  <a:lnTo>
                    <a:pt x="71" y="1"/>
                  </a:lnTo>
                  <a:lnTo>
                    <a:pt x="71" y="1"/>
                  </a:lnTo>
                  <a:lnTo>
                    <a:pt x="72" y="1"/>
                  </a:lnTo>
                  <a:lnTo>
                    <a:pt x="73" y="0"/>
                  </a:lnTo>
                  <a:lnTo>
                    <a:pt x="74" y="0"/>
                  </a:lnTo>
                  <a:lnTo>
                    <a:pt x="75" y="0"/>
                  </a:lnTo>
                  <a:lnTo>
                    <a:pt x="76" y="0"/>
                  </a:lnTo>
                  <a:lnTo>
                    <a:pt x="77" y="0"/>
                  </a:lnTo>
                  <a:lnTo>
                    <a:pt x="78" y="0"/>
                  </a:lnTo>
                  <a:lnTo>
                    <a:pt x="79" y="0"/>
                  </a:lnTo>
                  <a:lnTo>
                    <a:pt x="80" y="0"/>
                  </a:lnTo>
                  <a:lnTo>
                    <a:pt x="81" y="0"/>
                  </a:lnTo>
                  <a:lnTo>
                    <a:pt x="82" y="0"/>
                  </a:lnTo>
                  <a:lnTo>
                    <a:pt x="83" y="1"/>
                  </a:lnTo>
                  <a:lnTo>
                    <a:pt x="84" y="1"/>
                  </a:lnTo>
                  <a:lnTo>
                    <a:pt x="85" y="1"/>
                  </a:lnTo>
                  <a:lnTo>
                    <a:pt x="86" y="1"/>
                  </a:lnTo>
                  <a:lnTo>
                    <a:pt x="87" y="2"/>
                  </a:lnTo>
                  <a:lnTo>
                    <a:pt x="88" y="2"/>
                  </a:lnTo>
                  <a:lnTo>
                    <a:pt x="89" y="2"/>
                  </a:lnTo>
                  <a:lnTo>
                    <a:pt x="90" y="3"/>
                  </a:lnTo>
                  <a:lnTo>
                    <a:pt x="91" y="3"/>
                  </a:lnTo>
                  <a:lnTo>
                    <a:pt x="92" y="3"/>
                  </a:lnTo>
                  <a:lnTo>
                    <a:pt x="93" y="4"/>
                  </a:lnTo>
                  <a:lnTo>
                    <a:pt x="94" y="4"/>
                  </a:lnTo>
                  <a:lnTo>
                    <a:pt x="95" y="5"/>
                  </a:lnTo>
                  <a:lnTo>
                    <a:pt x="96" y="5"/>
                  </a:lnTo>
                  <a:lnTo>
                    <a:pt x="97" y="5"/>
                  </a:lnTo>
                  <a:lnTo>
                    <a:pt x="98" y="6"/>
                  </a:lnTo>
                  <a:lnTo>
                    <a:pt x="99" y="6"/>
                  </a:lnTo>
                  <a:lnTo>
                    <a:pt x="100" y="6"/>
                  </a:lnTo>
                  <a:lnTo>
                    <a:pt x="101" y="7"/>
                  </a:lnTo>
                  <a:lnTo>
                    <a:pt x="102" y="7"/>
                  </a:lnTo>
                  <a:lnTo>
                    <a:pt x="103" y="7"/>
                  </a:lnTo>
                  <a:lnTo>
                    <a:pt x="104" y="7"/>
                  </a:lnTo>
                  <a:lnTo>
                    <a:pt x="105" y="8"/>
                  </a:lnTo>
                  <a:lnTo>
                    <a:pt x="106" y="8"/>
                  </a:lnTo>
                  <a:lnTo>
                    <a:pt x="107" y="8"/>
                  </a:lnTo>
                  <a:lnTo>
                    <a:pt x="108" y="8"/>
                  </a:lnTo>
                  <a:lnTo>
                    <a:pt x="109" y="8"/>
                  </a:lnTo>
                  <a:lnTo>
                    <a:pt x="110" y="8"/>
                  </a:lnTo>
                  <a:lnTo>
                    <a:pt x="111" y="8"/>
                  </a:lnTo>
                  <a:lnTo>
                    <a:pt x="112" y="8"/>
                  </a:lnTo>
                  <a:lnTo>
                    <a:pt x="113" y="8"/>
                  </a:lnTo>
                  <a:lnTo>
                    <a:pt x="114" y="7"/>
                  </a:lnTo>
                  <a:lnTo>
                    <a:pt x="115" y="7"/>
                  </a:lnTo>
                  <a:lnTo>
                    <a:pt x="116" y="7"/>
                  </a:lnTo>
                  <a:lnTo>
                    <a:pt x="117" y="7"/>
                  </a:lnTo>
                  <a:lnTo>
                    <a:pt x="118" y="6"/>
                  </a:lnTo>
                  <a:lnTo>
                    <a:pt x="119" y="6"/>
                  </a:lnTo>
                  <a:lnTo>
                    <a:pt x="120" y="6"/>
                  </a:lnTo>
                  <a:lnTo>
                    <a:pt x="121" y="5"/>
                  </a:lnTo>
                  <a:lnTo>
                    <a:pt x="122" y="5"/>
                  </a:lnTo>
                  <a:lnTo>
                    <a:pt x="123" y="5"/>
                  </a:lnTo>
                  <a:lnTo>
                    <a:pt x="124" y="4"/>
                  </a:lnTo>
                  <a:lnTo>
                    <a:pt x="125" y="4"/>
                  </a:lnTo>
                  <a:lnTo>
                    <a:pt x="126" y="4"/>
                  </a:lnTo>
                  <a:lnTo>
                    <a:pt x="127" y="3"/>
                  </a:lnTo>
                  <a:lnTo>
                    <a:pt x="128" y="3"/>
                  </a:lnTo>
                  <a:lnTo>
                    <a:pt x="129" y="2"/>
                  </a:lnTo>
                  <a:lnTo>
                    <a:pt x="130" y="2"/>
                  </a:lnTo>
                  <a:lnTo>
                    <a:pt x="131" y="2"/>
                  </a:lnTo>
                  <a:lnTo>
                    <a:pt x="132" y="1"/>
                  </a:lnTo>
                  <a:lnTo>
                    <a:pt x="133" y="1"/>
                  </a:lnTo>
                  <a:lnTo>
                    <a:pt x="134" y="1"/>
                  </a:lnTo>
                  <a:lnTo>
                    <a:pt x="135" y="1"/>
                  </a:lnTo>
                  <a:lnTo>
                    <a:pt x="136" y="0"/>
                  </a:lnTo>
                  <a:lnTo>
                    <a:pt x="137" y="0"/>
                  </a:lnTo>
                  <a:lnTo>
                    <a:pt x="139" y="0"/>
                  </a:lnTo>
                  <a:lnTo>
                    <a:pt x="140" y="0"/>
                  </a:lnTo>
                  <a:lnTo>
                    <a:pt x="141" y="0"/>
                  </a:lnTo>
                  <a:lnTo>
                    <a:pt x="142" y="0"/>
                  </a:lnTo>
                  <a:lnTo>
                    <a:pt x="142" y="0"/>
                  </a:lnTo>
                  <a:lnTo>
                    <a:pt x="143" y="0"/>
                  </a:lnTo>
                </a:path>
              </a:pathLst>
            </a:custGeom>
            <a:noFill/>
            <a:ln w="16510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3" name="Oval 442"/>
            <p:cNvSpPr/>
            <p:nvPr/>
          </p:nvSpPr>
          <p:spPr>
            <a:xfrm>
              <a:off x="4965192" y="11579837"/>
              <a:ext cx="73152" cy="73152"/>
            </a:xfrm>
            <a:prstGeom prst="ellipse">
              <a:avLst/>
            </a:prstGeom>
            <a:solidFill>
              <a:srgbClr val="FFFFFF"/>
            </a:solidFill>
            <a:ln w="7620" cap="rnd">
              <a:solidFill>
                <a:srgbClr val="5577A2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44" name="Connector 443"/>
            <p:cNvCxnSpPr/>
            <p:nvPr/>
          </p:nvCxnSpPr>
          <p:spPr>
            <a:xfrm flipH="1">
              <a:off x="4956048" y="11662133"/>
              <a:ext cx="45720" cy="173736"/>
            </a:xfrm>
            <a:prstGeom prst="line">
              <a:avLst/>
            </a:prstGeom>
            <a:ln w="5715">
              <a:solidFill>
                <a:srgbClr val="FF5A5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5" name="Oval 444"/>
            <p:cNvSpPr/>
            <p:nvPr/>
          </p:nvSpPr>
          <p:spPr>
            <a:xfrm>
              <a:off x="5294376" y="11634840"/>
              <a:ext cx="73152" cy="73152"/>
            </a:xfrm>
            <a:prstGeom prst="ellipse">
              <a:avLst/>
            </a:prstGeom>
            <a:solidFill>
              <a:srgbClr val="FFFFFF"/>
            </a:solidFill>
            <a:ln w="7620" cap="rnd">
              <a:solidFill>
                <a:srgbClr val="5577A2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46" name="Connector 445"/>
            <p:cNvCxnSpPr/>
            <p:nvPr/>
          </p:nvCxnSpPr>
          <p:spPr>
            <a:xfrm>
              <a:off x="5330952" y="11717136"/>
              <a:ext cx="45720" cy="173736"/>
            </a:xfrm>
            <a:prstGeom prst="line">
              <a:avLst/>
            </a:prstGeom>
            <a:ln w="5715">
              <a:solidFill>
                <a:srgbClr val="FF5A5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7" name="Oval 446"/>
            <p:cNvSpPr/>
            <p:nvPr/>
          </p:nvSpPr>
          <p:spPr>
            <a:xfrm>
              <a:off x="5623560" y="11607036"/>
              <a:ext cx="73152" cy="73152"/>
            </a:xfrm>
            <a:prstGeom prst="ellipse">
              <a:avLst/>
            </a:prstGeom>
            <a:solidFill>
              <a:srgbClr val="FFFFFF"/>
            </a:solidFill>
            <a:ln w="7620" cap="rnd">
              <a:solidFill>
                <a:srgbClr val="5577A2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48" name="Connector 447"/>
            <p:cNvCxnSpPr/>
            <p:nvPr/>
          </p:nvCxnSpPr>
          <p:spPr>
            <a:xfrm flipH="1">
              <a:off x="5614416" y="11689332"/>
              <a:ext cx="45720" cy="173736"/>
            </a:xfrm>
            <a:prstGeom prst="line">
              <a:avLst/>
            </a:prstGeom>
            <a:ln w="5715">
              <a:solidFill>
                <a:srgbClr val="FF5A5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9" name="Oval 448"/>
            <p:cNvSpPr/>
            <p:nvPr/>
          </p:nvSpPr>
          <p:spPr>
            <a:xfrm>
              <a:off x="5952744" y="11601265"/>
              <a:ext cx="73152" cy="73152"/>
            </a:xfrm>
            <a:prstGeom prst="ellipse">
              <a:avLst/>
            </a:prstGeom>
            <a:solidFill>
              <a:srgbClr val="FFFFFF"/>
            </a:solidFill>
            <a:ln w="7620" cap="rnd">
              <a:solidFill>
                <a:srgbClr val="5577A2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50" name="Connector 449"/>
            <p:cNvCxnSpPr/>
            <p:nvPr/>
          </p:nvCxnSpPr>
          <p:spPr>
            <a:xfrm>
              <a:off x="5989320" y="11683561"/>
              <a:ext cx="45720" cy="173736"/>
            </a:xfrm>
            <a:prstGeom prst="line">
              <a:avLst/>
            </a:prstGeom>
            <a:ln w="5715">
              <a:solidFill>
                <a:srgbClr val="FF5A5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5" name="Editable schematic polymer contact fringe"/>
          <p:cNvGrpSpPr/>
          <p:nvPr/>
        </p:nvGrpSpPr>
        <p:grpSpPr>
          <a:xfrm>
            <a:off x="6382512" y="11578064"/>
            <a:ext cx="1399032" cy="326473"/>
            <a:chOff x="6382512" y="11578064"/>
            <a:chExt cx="1399032" cy="326473"/>
          </a:xfrm>
        </p:grpSpPr>
        <p:sp>
          <p:nvSpPr>
            <p:cNvPr id="452" name="Freeform 451"/>
            <p:cNvSpPr/>
            <p:nvPr/>
          </p:nvSpPr>
          <p:spPr>
            <a:xfrm>
              <a:off x="6382512" y="11612880"/>
              <a:ext cx="1399032" cy="73152"/>
            </a:xfrm>
            <a:custGeom>
              <a:avLst/>
              <a:gdLst/>
              <a:ahLst/>
              <a:cxnLst/>
              <a:rect l="l" t="t" r="r" b="b"/>
              <a:pathLst>
                <a:path w="153" h="8">
                  <a:moveTo>
                    <a:pt x="0" y="4"/>
                  </a:moveTo>
                  <a:lnTo>
                    <a:pt x="1" y="4"/>
                  </a:lnTo>
                  <a:lnTo>
                    <a:pt x="1" y="3"/>
                  </a:lnTo>
                  <a:lnTo>
                    <a:pt x="2" y="3"/>
                  </a:lnTo>
                  <a:lnTo>
                    <a:pt x="4" y="3"/>
                  </a:lnTo>
                  <a:lnTo>
                    <a:pt x="5" y="2"/>
                  </a:lnTo>
                  <a:lnTo>
                    <a:pt x="6" y="2"/>
                  </a:lnTo>
                  <a:lnTo>
                    <a:pt x="7" y="1"/>
                  </a:lnTo>
                  <a:lnTo>
                    <a:pt x="8" y="1"/>
                  </a:lnTo>
                  <a:lnTo>
                    <a:pt x="10" y="1"/>
                  </a:lnTo>
                  <a:lnTo>
                    <a:pt x="11" y="1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4" y="0"/>
                  </a:lnTo>
                  <a:lnTo>
                    <a:pt x="15" y="0"/>
                  </a:lnTo>
                  <a:lnTo>
                    <a:pt x="16" y="0"/>
                  </a:lnTo>
                  <a:lnTo>
                    <a:pt x="17" y="0"/>
                  </a:lnTo>
                  <a:lnTo>
                    <a:pt x="18" y="0"/>
                  </a:lnTo>
                  <a:lnTo>
                    <a:pt x="19" y="0"/>
                  </a:lnTo>
                  <a:lnTo>
                    <a:pt x="20" y="0"/>
                  </a:lnTo>
                  <a:lnTo>
                    <a:pt x="21" y="0"/>
                  </a:lnTo>
                  <a:lnTo>
                    <a:pt x="22" y="1"/>
                  </a:lnTo>
                  <a:lnTo>
                    <a:pt x="23" y="1"/>
                  </a:lnTo>
                  <a:lnTo>
                    <a:pt x="24" y="1"/>
                  </a:lnTo>
                  <a:lnTo>
                    <a:pt x="26" y="1"/>
                  </a:lnTo>
                  <a:lnTo>
                    <a:pt x="27" y="2"/>
                  </a:lnTo>
                  <a:lnTo>
                    <a:pt x="28" y="2"/>
                  </a:lnTo>
                  <a:lnTo>
                    <a:pt x="29" y="2"/>
                  </a:lnTo>
                  <a:lnTo>
                    <a:pt x="30" y="3"/>
                  </a:lnTo>
                  <a:lnTo>
                    <a:pt x="31" y="3"/>
                  </a:lnTo>
                  <a:lnTo>
                    <a:pt x="32" y="3"/>
                  </a:lnTo>
                  <a:lnTo>
                    <a:pt x="33" y="4"/>
                  </a:lnTo>
                  <a:lnTo>
                    <a:pt x="34" y="4"/>
                  </a:lnTo>
                  <a:lnTo>
                    <a:pt x="35" y="5"/>
                  </a:lnTo>
                  <a:lnTo>
                    <a:pt x="36" y="5"/>
                  </a:lnTo>
                  <a:lnTo>
                    <a:pt x="37" y="5"/>
                  </a:lnTo>
                  <a:lnTo>
                    <a:pt x="38" y="6"/>
                  </a:lnTo>
                  <a:lnTo>
                    <a:pt x="39" y="6"/>
                  </a:lnTo>
                  <a:lnTo>
                    <a:pt x="40" y="6"/>
                  </a:lnTo>
                  <a:lnTo>
                    <a:pt x="41" y="7"/>
                  </a:lnTo>
                  <a:lnTo>
                    <a:pt x="42" y="7"/>
                  </a:lnTo>
                  <a:lnTo>
                    <a:pt x="44" y="7"/>
                  </a:lnTo>
                  <a:lnTo>
                    <a:pt x="45" y="7"/>
                  </a:lnTo>
                  <a:lnTo>
                    <a:pt x="46" y="8"/>
                  </a:lnTo>
                  <a:lnTo>
                    <a:pt x="47" y="8"/>
                  </a:lnTo>
                  <a:lnTo>
                    <a:pt x="48" y="8"/>
                  </a:lnTo>
                  <a:lnTo>
                    <a:pt x="49" y="8"/>
                  </a:lnTo>
                  <a:lnTo>
                    <a:pt x="50" y="8"/>
                  </a:lnTo>
                  <a:lnTo>
                    <a:pt x="51" y="8"/>
                  </a:lnTo>
                  <a:lnTo>
                    <a:pt x="52" y="8"/>
                  </a:lnTo>
                  <a:lnTo>
                    <a:pt x="53" y="8"/>
                  </a:lnTo>
                  <a:lnTo>
                    <a:pt x="54" y="8"/>
                  </a:lnTo>
                  <a:lnTo>
                    <a:pt x="55" y="7"/>
                  </a:lnTo>
                  <a:lnTo>
                    <a:pt x="56" y="7"/>
                  </a:lnTo>
                  <a:lnTo>
                    <a:pt x="57" y="7"/>
                  </a:lnTo>
                  <a:lnTo>
                    <a:pt x="58" y="7"/>
                  </a:lnTo>
                  <a:lnTo>
                    <a:pt x="60" y="7"/>
                  </a:lnTo>
                  <a:lnTo>
                    <a:pt x="61" y="6"/>
                  </a:lnTo>
                  <a:lnTo>
                    <a:pt x="62" y="6"/>
                  </a:lnTo>
                  <a:lnTo>
                    <a:pt x="63" y="5"/>
                  </a:lnTo>
                  <a:lnTo>
                    <a:pt x="64" y="5"/>
                  </a:lnTo>
                  <a:lnTo>
                    <a:pt x="65" y="5"/>
                  </a:lnTo>
                  <a:lnTo>
                    <a:pt x="66" y="4"/>
                  </a:lnTo>
                  <a:lnTo>
                    <a:pt x="67" y="4"/>
                  </a:lnTo>
                  <a:lnTo>
                    <a:pt x="68" y="4"/>
                  </a:lnTo>
                  <a:lnTo>
                    <a:pt x="69" y="3"/>
                  </a:lnTo>
                  <a:lnTo>
                    <a:pt x="70" y="3"/>
                  </a:lnTo>
                  <a:lnTo>
                    <a:pt x="71" y="2"/>
                  </a:lnTo>
                  <a:lnTo>
                    <a:pt x="72" y="2"/>
                  </a:lnTo>
                  <a:lnTo>
                    <a:pt x="73" y="2"/>
                  </a:lnTo>
                  <a:lnTo>
                    <a:pt x="74" y="1"/>
                  </a:lnTo>
                  <a:lnTo>
                    <a:pt x="75" y="1"/>
                  </a:lnTo>
                  <a:lnTo>
                    <a:pt x="76" y="1"/>
                  </a:lnTo>
                  <a:lnTo>
                    <a:pt x="78" y="1"/>
                  </a:lnTo>
                  <a:lnTo>
                    <a:pt x="79" y="0"/>
                  </a:lnTo>
                  <a:lnTo>
                    <a:pt x="80" y="0"/>
                  </a:lnTo>
                  <a:lnTo>
                    <a:pt x="81" y="0"/>
                  </a:lnTo>
                  <a:lnTo>
                    <a:pt x="82" y="0"/>
                  </a:lnTo>
                  <a:lnTo>
                    <a:pt x="83" y="0"/>
                  </a:lnTo>
                  <a:lnTo>
                    <a:pt x="84" y="0"/>
                  </a:lnTo>
                  <a:lnTo>
                    <a:pt x="85" y="0"/>
                  </a:lnTo>
                  <a:lnTo>
                    <a:pt x="86" y="0"/>
                  </a:lnTo>
                  <a:lnTo>
                    <a:pt x="87" y="0"/>
                  </a:lnTo>
                  <a:lnTo>
                    <a:pt x="88" y="0"/>
                  </a:lnTo>
                  <a:lnTo>
                    <a:pt x="89" y="1"/>
                  </a:lnTo>
                  <a:lnTo>
                    <a:pt x="90" y="1"/>
                  </a:lnTo>
                  <a:lnTo>
                    <a:pt x="91" y="1"/>
                  </a:lnTo>
                  <a:lnTo>
                    <a:pt x="92" y="1"/>
                  </a:lnTo>
                  <a:lnTo>
                    <a:pt x="94" y="2"/>
                  </a:lnTo>
                  <a:lnTo>
                    <a:pt x="95" y="2"/>
                  </a:lnTo>
                  <a:lnTo>
                    <a:pt x="96" y="2"/>
                  </a:lnTo>
                  <a:lnTo>
                    <a:pt x="97" y="3"/>
                  </a:lnTo>
                  <a:lnTo>
                    <a:pt x="98" y="3"/>
                  </a:lnTo>
                  <a:lnTo>
                    <a:pt x="99" y="3"/>
                  </a:lnTo>
                  <a:lnTo>
                    <a:pt x="100" y="4"/>
                  </a:lnTo>
                  <a:lnTo>
                    <a:pt x="101" y="4"/>
                  </a:lnTo>
                  <a:lnTo>
                    <a:pt x="102" y="5"/>
                  </a:lnTo>
                  <a:lnTo>
                    <a:pt x="103" y="5"/>
                  </a:lnTo>
                  <a:lnTo>
                    <a:pt x="104" y="5"/>
                  </a:lnTo>
                  <a:lnTo>
                    <a:pt x="105" y="6"/>
                  </a:lnTo>
                  <a:lnTo>
                    <a:pt x="106" y="6"/>
                  </a:lnTo>
                  <a:lnTo>
                    <a:pt x="107" y="6"/>
                  </a:lnTo>
                  <a:lnTo>
                    <a:pt x="108" y="7"/>
                  </a:lnTo>
                  <a:lnTo>
                    <a:pt x="109" y="7"/>
                  </a:lnTo>
                  <a:lnTo>
                    <a:pt x="110" y="7"/>
                  </a:lnTo>
                  <a:lnTo>
                    <a:pt x="112" y="7"/>
                  </a:lnTo>
                  <a:lnTo>
                    <a:pt x="113" y="8"/>
                  </a:lnTo>
                  <a:lnTo>
                    <a:pt x="114" y="8"/>
                  </a:lnTo>
                  <a:lnTo>
                    <a:pt x="115" y="8"/>
                  </a:lnTo>
                  <a:lnTo>
                    <a:pt x="116" y="8"/>
                  </a:lnTo>
                  <a:lnTo>
                    <a:pt x="117" y="8"/>
                  </a:lnTo>
                  <a:lnTo>
                    <a:pt x="118" y="8"/>
                  </a:lnTo>
                  <a:lnTo>
                    <a:pt x="119" y="8"/>
                  </a:lnTo>
                  <a:lnTo>
                    <a:pt x="120" y="8"/>
                  </a:lnTo>
                  <a:lnTo>
                    <a:pt x="121" y="8"/>
                  </a:lnTo>
                  <a:lnTo>
                    <a:pt x="122" y="7"/>
                  </a:lnTo>
                  <a:lnTo>
                    <a:pt x="123" y="7"/>
                  </a:lnTo>
                  <a:lnTo>
                    <a:pt x="124" y="7"/>
                  </a:lnTo>
                  <a:lnTo>
                    <a:pt x="125" y="7"/>
                  </a:lnTo>
                  <a:lnTo>
                    <a:pt x="126" y="6"/>
                  </a:lnTo>
                  <a:lnTo>
                    <a:pt x="128" y="6"/>
                  </a:lnTo>
                  <a:lnTo>
                    <a:pt x="129" y="6"/>
                  </a:lnTo>
                  <a:lnTo>
                    <a:pt x="130" y="5"/>
                  </a:lnTo>
                  <a:lnTo>
                    <a:pt x="131" y="5"/>
                  </a:lnTo>
                  <a:lnTo>
                    <a:pt x="132" y="5"/>
                  </a:lnTo>
                  <a:lnTo>
                    <a:pt x="133" y="4"/>
                  </a:lnTo>
                  <a:lnTo>
                    <a:pt x="134" y="4"/>
                  </a:lnTo>
                  <a:lnTo>
                    <a:pt x="135" y="4"/>
                  </a:lnTo>
                  <a:lnTo>
                    <a:pt x="136" y="3"/>
                  </a:lnTo>
                  <a:lnTo>
                    <a:pt x="137" y="3"/>
                  </a:lnTo>
                  <a:lnTo>
                    <a:pt x="138" y="2"/>
                  </a:lnTo>
                  <a:lnTo>
                    <a:pt x="139" y="2"/>
                  </a:lnTo>
                  <a:lnTo>
                    <a:pt x="140" y="2"/>
                  </a:lnTo>
                  <a:lnTo>
                    <a:pt x="141" y="1"/>
                  </a:lnTo>
                  <a:lnTo>
                    <a:pt x="142" y="1"/>
                  </a:lnTo>
                  <a:lnTo>
                    <a:pt x="143" y="1"/>
                  </a:lnTo>
                  <a:lnTo>
                    <a:pt x="145" y="1"/>
                  </a:lnTo>
                  <a:lnTo>
                    <a:pt x="146" y="0"/>
                  </a:lnTo>
                  <a:lnTo>
                    <a:pt x="147" y="0"/>
                  </a:lnTo>
                  <a:lnTo>
                    <a:pt x="148" y="0"/>
                  </a:lnTo>
                  <a:lnTo>
                    <a:pt x="149" y="0"/>
                  </a:lnTo>
                  <a:lnTo>
                    <a:pt x="151" y="0"/>
                  </a:lnTo>
                  <a:lnTo>
                    <a:pt x="152" y="0"/>
                  </a:lnTo>
                  <a:lnTo>
                    <a:pt x="152" y="0"/>
                  </a:lnTo>
                  <a:lnTo>
                    <a:pt x="153" y="0"/>
                  </a:lnTo>
                </a:path>
              </a:pathLst>
            </a:custGeom>
            <a:noFill/>
            <a:ln w="16510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3" name="Oval 452"/>
            <p:cNvSpPr/>
            <p:nvPr/>
          </p:nvSpPr>
          <p:spPr>
            <a:xfrm>
              <a:off x="6528816" y="11578064"/>
              <a:ext cx="73152" cy="73152"/>
            </a:xfrm>
            <a:prstGeom prst="ellipse">
              <a:avLst/>
            </a:prstGeom>
            <a:solidFill>
              <a:srgbClr val="FFFFFF"/>
            </a:solidFill>
            <a:ln w="7620" cap="rnd">
              <a:solidFill>
                <a:srgbClr val="5577A2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54" name="Connector 453"/>
            <p:cNvCxnSpPr/>
            <p:nvPr/>
          </p:nvCxnSpPr>
          <p:spPr>
            <a:xfrm flipH="1">
              <a:off x="6519672" y="11660360"/>
              <a:ext cx="45720" cy="173736"/>
            </a:xfrm>
            <a:prstGeom prst="line">
              <a:avLst/>
            </a:prstGeom>
            <a:ln w="5715">
              <a:solidFill>
                <a:srgbClr val="FF5A5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5" name="Oval 454"/>
            <p:cNvSpPr/>
            <p:nvPr/>
          </p:nvSpPr>
          <p:spPr>
            <a:xfrm>
              <a:off x="6744614" y="11642883"/>
              <a:ext cx="73152" cy="73152"/>
            </a:xfrm>
            <a:prstGeom prst="ellipse">
              <a:avLst/>
            </a:prstGeom>
            <a:solidFill>
              <a:srgbClr val="FFFFFF"/>
            </a:solidFill>
            <a:ln w="7620" cap="rnd">
              <a:solidFill>
                <a:srgbClr val="5577A2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56" name="Connector 455"/>
            <p:cNvCxnSpPr/>
            <p:nvPr/>
          </p:nvCxnSpPr>
          <p:spPr>
            <a:xfrm>
              <a:off x="6781190" y="11725179"/>
              <a:ext cx="45720" cy="173736"/>
            </a:xfrm>
            <a:prstGeom prst="line">
              <a:avLst/>
            </a:prstGeom>
            <a:ln w="5715">
              <a:solidFill>
                <a:srgbClr val="FF5A5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7" name="Oval 456"/>
            <p:cNvSpPr/>
            <p:nvPr/>
          </p:nvSpPr>
          <p:spPr>
            <a:xfrm>
              <a:off x="6960412" y="11611361"/>
              <a:ext cx="73152" cy="73152"/>
            </a:xfrm>
            <a:prstGeom prst="ellipse">
              <a:avLst/>
            </a:prstGeom>
            <a:solidFill>
              <a:srgbClr val="FFFFFF"/>
            </a:solidFill>
            <a:ln w="7620" cap="rnd">
              <a:solidFill>
                <a:srgbClr val="5577A2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58" name="Connector 457"/>
            <p:cNvCxnSpPr/>
            <p:nvPr/>
          </p:nvCxnSpPr>
          <p:spPr>
            <a:xfrm flipH="1">
              <a:off x="6951268" y="11693657"/>
              <a:ext cx="45720" cy="173736"/>
            </a:xfrm>
            <a:prstGeom prst="line">
              <a:avLst/>
            </a:prstGeom>
            <a:ln w="5715">
              <a:solidFill>
                <a:srgbClr val="FF5A5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9" name="Oval 458"/>
            <p:cNvSpPr/>
            <p:nvPr/>
          </p:nvSpPr>
          <p:spPr>
            <a:xfrm>
              <a:off x="7176211" y="11584715"/>
              <a:ext cx="73152" cy="73152"/>
            </a:xfrm>
            <a:prstGeom prst="ellipse">
              <a:avLst/>
            </a:prstGeom>
            <a:solidFill>
              <a:srgbClr val="FFFFFF"/>
            </a:solidFill>
            <a:ln w="7620" cap="rnd">
              <a:solidFill>
                <a:srgbClr val="5577A2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60" name="Connector 459"/>
            <p:cNvCxnSpPr/>
            <p:nvPr/>
          </p:nvCxnSpPr>
          <p:spPr>
            <a:xfrm>
              <a:off x="7212787" y="11667011"/>
              <a:ext cx="45720" cy="173736"/>
            </a:xfrm>
            <a:prstGeom prst="line">
              <a:avLst/>
            </a:prstGeom>
            <a:ln w="5715">
              <a:solidFill>
                <a:srgbClr val="FF5A5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1" name="Oval 460"/>
            <p:cNvSpPr/>
            <p:nvPr/>
          </p:nvSpPr>
          <p:spPr>
            <a:xfrm>
              <a:off x="7392009" y="11648505"/>
              <a:ext cx="73152" cy="73152"/>
            </a:xfrm>
            <a:prstGeom prst="ellipse">
              <a:avLst/>
            </a:prstGeom>
            <a:solidFill>
              <a:srgbClr val="FFFFFF"/>
            </a:solidFill>
            <a:ln w="7620" cap="rnd">
              <a:solidFill>
                <a:srgbClr val="5577A2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62" name="Connector 461"/>
            <p:cNvCxnSpPr/>
            <p:nvPr/>
          </p:nvCxnSpPr>
          <p:spPr>
            <a:xfrm flipH="1">
              <a:off x="7382865" y="11730801"/>
              <a:ext cx="45720" cy="173736"/>
            </a:xfrm>
            <a:prstGeom prst="line">
              <a:avLst/>
            </a:prstGeom>
            <a:ln w="5715">
              <a:solidFill>
                <a:srgbClr val="FF5A5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3" name="Oval 462"/>
            <p:cNvSpPr/>
            <p:nvPr/>
          </p:nvSpPr>
          <p:spPr>
            <a:xfrm>
              <a:off x="7607808" y="11597903"/>
              <a:ext cx="73152" cy="73152"/>
            </a:xfrm>
            <a:prstGeom prst="ellipse">
              <a:avLst/>
            </a:prstGeom>
            <a:solidFill>
              <a:srgbClr val="FFFFFF"/>
            </a:solidFill>
            <a:ln w="7620" cap="rnd">
              <a:solidFill>
                <a:srgbClr val="5577A2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64" name="Connector 463"/>
            <p:cNvCxnSpPr/>
            <p:nvPr/>
          </p:nvCxnSpPr>
          <p:spPr>
            <a:xfrm>
              <a:off x="7644383" y="11680199"/>
              <a:ext cx="45721" cy="173736"/>
            </a:xfrm>
            <a:prstGeom prst="line">
              <a:avLst/>
            </a:prstGeom>
            <a:ln w="5715">
              <a:solidFill>
                <a:srgbClr val="FF5A5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3" name="Editable schematic polymer contact fringe"/>
          <p:cNvGrpSpPr/>
          <p:nvPr/>
        </p:nvGrpSpPr>
        <p:grpSpPr>
          <a:xfrm>
            <a:off x="7863840" y="11578840"/>
            <a:ext cx="1344168" cy="324203"/>
            <a:chOff x="7863840" y="11578840"/>
            <a:chExt cx="1344168" cy="324203"/>
          </a:xfrm>
        </p:grpSpPr>
        <p:sp>
          <p:nvSpPr>
            <p:cNvPr id="466" name="Freeform 465"/>
            <p:cNvSpPr/>
            <p:nvPr/>
          </p:nvSpPr>
          <p:spPr>
            <a:xfrm>
              <a:off x="7863840" y="11612880"/>
              <a:ext cx="1344168" cy="73152"/>
            </a:xfrm>
            <a:custGeom>
              <a:avLst/>
              <a:gdLst/>
              <a:ahLst/>
              <a:cxnLst/>
              <a:rect l="l" t="t" r="r" b="b"/>
              <a:pathLst>
                <a:path w="147" h="8">
                  <a:moveTo>
                    <a:pt x="0" y="4"/>
                  </a:moveTo>
                  <a:lnTo>
                    <a:pt x="1" y="4"/>
                  </a:lnTo>
                  <a:lnTo>
                    <a:pt x="1" y="3"/>
                  </a:lnTo>
                  <a:lnTo>
                    <a:pt x="2" y="3"/>
                  </a:lnTo>
                  <a:lnTo>
                    <a:pt x="3" y="3"/>
                  </a:lnTo>
                  <a:lnTo>
                    <a:pt x="5" y="2"/>
                  </a:lnTo>
                  <a:lnTo>
                    <a:pt x="6" y="2"/>
                  </a:lnTo>
                  <a:lnTo>
                    <a:pt x="7" y="1"/>
                  </a:lnTo>
                  <a:lnTo>
                    <a:pt x="8" y="1"/>
                  </a:lnTo>
                  <a:lnTo>
                    <a:pt x="9" y="1"/>
                  </a:lnTo>
                  <a:lnTo>
                    <a:pt x="10" y="1"/>
                  </a:lnTo>
                  <a:lnTo>
                    <a:pt x="11" y="0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4" y="0"/>
                  </a:lnTo>
                  <a:lnTo>
                    <a:pt x="15" y="0"/>
                  </a:lnTo>
                  <a:lnTo>
                    <a:pt x="16" y="0"/>
                  </a:lnTo>
                  <a:lnTo>
                    <a:pt x="17" y="0"/>
                  </a:lnTo>
                  <a:lnTo>
                    <a:pt x="18" y="0"/>
                  </a:lnTo>
                  <a:lnTo>
                    <a:pt x="19" y="0"/>
                  </a:lnTo>
                  <a:lnTo>
                    <a:pt x="20" y="0"/>
                  </a:lnTo>
                  <a:lnTo>
                    <a:pt x="21" y="1"/>
                  </a:lnTo>
                  <a:lnTo>
                    <a:pt x="22" y="1"/>
                  </a:lnTo>
                  <a:lnTo>
                    <a:pt x="23" y="1"/>
                  </a:lnTo>
                  <a:lnTo>
                    <a:pt x="24" y="1"/>
                  </a:lnTo>
                  <a:lnTo>
                    <a:pt x="26" y="2"/>
                  </a:lnTo>
                  <a:lnTo>
                    <a:pt x="27" y="2"/>
                  </a:lnTo>
                  <a:lnTo>
                    <a:pt x="28" y="2"/>
                  </a:lnTo>
                  <a:lnTo>
                    <a:pt x="29" y="3"/>
                  </a:lnTo>
                  <a:lnTo>
                    <a:pt x="30" y="3"/>
                  </a:lnTo>
                  <a:lnTo>
                    <a:pt x="31" y="3"/>
                  </a:lnTo>
                  <a:lnTo>
                    <a:pt x="32" y="4"/>
                  </a:lnTo>
                  <a:lnTo>
                    <a:pt x="33" y="4"/>
                  </a:lnTo>
                  <a:lnTo>
                    <a:pt x="34" y="5"/>
                  </a:lnTo>
                  <a:lnTo>
                    <a:pt x="35" y="5"/>
                  </a:lnTo>
                  <a:lnTo>
                    <a:pt x="36" y="5"/>
                  </a:lnTo>
                  <a:lnTo>
                    <a:pt x="37" y="6"/>
                  </a:lnTo>
                  <a:lnTo>
                    <a:pt x="38" y="6"/>
                  </a:lnTo>
                  <a:lnTo>
                    <a:pt x="39" y="6"/>
                  </a:lnTo>
                  <a:lnTo>
                    <a:pt x="40" y="7"/>
                  </a:lnTo>
                  <a:lnTo>
                    <a:pt x="41" y="7"/>
                  </a:lnTo>
                  <a:lnTo>
                    <a:pt x="42" y="7"/>
                  </a:lnTo>
                  <a:lnTo>
                    <a:pt x="43" y="7"/>
                  </a:lnTo>
                  <a:lnTo>
                    <a:pt x="44" y="8"/>
                  </a:lnTo>
                  <a:lnTo>
                    <a:pt x="45" y="8"/>
                  </a:lnTo>
                  <a:lnTo>
                    <a:pt x="46" y="8"/>
                  </a:lnTo>
                  <a:lnTo>
                    <a:pt x="47" y="8"/>
                  </a:lnTo>
                  <a:lnTo>
                    <a:pt x="48" y="8"/>
                  </a:lnTo>
                  <a:lnTo>
                    <a:pt x="49" y="8"/>
                  </a:lnTo>
                  <a:lnTo>
                    <a:pt x="50" y="8"/>
                  </a:lnTo>
                  <a:lnTo>
                    <a:pt x="51" y="8"/>
                  </a:lnTo>
                  <a:lnTo>
                    <a:pt x="52" y="8"/>
                  </a:lnTo>
                  <a:lnTo>
                    <a:pt x="53" y="7"/>
                  </a:lnTo>
                  <a:lnTo>
                    <a:pt x="54" y="7"/>
                  </a:lnTo>
                  <a:lnTo>
                    <a:pt x="55" y="7"/>
                  </a:lnTo>
                  <a:lnTo>
                    <a:pt x="56" y="7"/>
                  </a:lnTo>
                  <a:lnTo>
                    <a:pt x="57" y="7"/>
                  </a:lnTo>
                  <a:lnTo>
                    <a:pt x="58" y="6"/>
                  </a:lnTo>
                  <a:lnTo>
                    <a:pt x="59" y="6"/>
                  </a:lnTo>
                  <a:lnTo>
                    <a:pt x="60" y="5"/>
                  </a:lnTo>
                  <a:lnTo>
                    <a:pt x="61" y="5"/>
                  </a:lnTo>
                  <a:lnTo>
                    <a:pt x="62" y="5"/>
                  </a:lnTo>
                  <a:lnTo>
                    <a:pt x="63" y="4"/>
                  </a:lnTo>
                  <a:lnTo>
                    <a:pt x="64" y="4"/>
                  </a:lnTo>
                  <a:lnTo>
                    <a:pt x="65" y="4"/>
                  </a:lnTo>
                  <a:lnTo>
                    <a:pt x="66" y="3"/>
                  </a:lnTo>
                  <a:lnTo>
                    <a:pt x="67" y="3"/>
                  </a:lnTo>
                  <a:lnTo>
                    <a:pt x="68" y="2"/>
                  </a:lnTo>
                  <a:lnTo>
                    <a:pt x="69" y="2"/>
                  </a:lnTo>
                  <a:lnTo>
                    <a:pt x="70" y="2"/>
                  </a:lnTo>
                  <a:lnTo>
                    <a:pt x="71" y="1"/>
                  </a:lnTo>
                  <a:lnTo>
                    <a:pt x="72" y="1"/>
                  </a:lnTo>
                  <a:lnTo>
                    <a:pt x="74" y="1"/>
                  </a:lnTo>
                  <a:lnTo>
                    <a:pt x="75" y="1"/>
                  </a:lnTo>
                  <a:lnTo>
                    <a:pt x="76" y="0"/>
                  </a:lnTo>
                  <a:lnTo>
                    <a:pt x="77" y="0"/>
                  </a:lnTo>
                  <a:lnTo>
                    <a:pt x="78" y="0"/>
                  </a:lnTo>
                  <a:lnTo>
                    <a:pt x="79" y="0"/>
                  </a:lnTo>
                  <a:lnTo>
                    <a:pt x="80" y="0"/>
                  </a:lnTo>
                  <a:lnTo>
                    <a:pt x="81" y="0"/>
                  </a:lnTo>
                  <a:lnTo>
                    <a:pt x="82" y="0"/>
                  </a:lnTo>
                  <a:lnTo>
                    <a:pt x="83" y="0"/>
                  </a:lnTo>
                  <a:lnTo>
                    <a:pt x="84" y="0"/>
                  </a:lnTo>
                  <a:lnTo>
                    <a:pt x="85" y="0"/>
                  </a:lnTo>
                  <a:lnTo>
                    <a:pt x="86" y="1"/>
                  </a:lnTo>
                  <a:lnTo>
                    <a:pt x="87" y="1"/>
                  </a:lnTo>
                  <a:lnTo>
                    <a:pt x="88" y="1"/>
                  </a:lnTo>
                  <a:lnTo>
                    <a:pt x="89" y="1"/>
                  </a:lnTo>
                  <a:lnTo>
                    <a:pt x="90" y="2"/>
                  </a:lnTo>
                  <a:lnTo>
                    <a:pt x="91" y="2"/>
                  </a:lnTo>
                  <a:lnTo>
                    <a:pt x="92" y="2"/>
                  </a:lnTo>
                  <a:lnTo>
                    <a:pt x="93" y="3"/>
                  </a:lnTo>
                  <a:lnTo>
                    <a:pt x="94" y="3"/>
                  </a:lnTo>
                  <a:lnTo>
                    <a:pt x="95" y="3"/>
                  </a:lnTo>
                  <a:lnTo>
                    <a:pt x="96" y="4"/>
                  </a:lnTo>
                  <a:lnTo>
                    <a:pt x="97" y="4"/>
                  </a:lnTo>
                  <a:lnTo>
                    <a:pt x="98" y="5"/>
                  </a:lnTo>
                  <a:lnTo>
                    <a:pt x="99" y="5"/>
                  </a:lnTo>
                  <a:lnTo>
                    <a:pt x="100" y="5"/>
                  </a:lnTo>
                  <a:lnTo>
                    <a:pt x="101" y="6"/>
                  </a:lnTo>
                  <a:lnTo>
                    <a:pt x="102" y="6"/>
                  </a:lnTo>
                  <a:lnTo>
                    <a:pt x="103" y="6"/>
                  </a:lnTo>
                  <a:lnTo>
                    <a:pt x="104" y="7"/>
                  </a:lnTo>
                  <a:lnTo>
                    <a:pt x="105" y="7"/>
                  </a:lnTo>
                  <a:lnTo>
                    <a:pt x="106" y="7"/>
                  </a:lnTo>
                  <a:lnTo>
                    <a:pt x="107" y="7"/>
                  </a:lnTo>
                  <a:lnTo>
                    <a:pt x="108" y="8"/>
                  </a:lnTo>
                  <a:lnTo>
                    <a:pt x="109" y="8"/>
                  </a:lnTo>
                  <a:lnTo>
                    <a:pt x="110" y="8"/>
                  </a:lnTo>
                  <a:lnTo>
                    <a:pt x="111" y="8"/>
                  </a:lnTo>
                  <a:lnTo>
                    <a:pt x="112" y="8"/>
                  </a:lnTo>
                  <a:lnTo>
                    <a:pt x="113" y="8"/>
                  </a:lnTo>
                  <a:lnTo>
                    <a:pt x="114" y="8"/>
                  </a:lnTo>
                  <a:lnTo>
                    <a:pt x="115" y="8"/>
                  </a:lnTo>
                  <a:lnTo>
                    <a:pt x="116" y="8"/>
                  </a:lnTo>
                  <a:lnTo>
                    <a:pt x="117" y="7"/>
                  </a:lnTo>
                  <a:lnTo>
                    <a:pt x="118" y="7"/>
                  </a:lnTo>
                  <a:lnTo>
                    <a:pt x="119" y="7"/>
                  </a:lnTo>
                  <a:lnTo>
                    <a:pt x="120" y="7"/>
                  </a:lnTo>
                  <a:lnTo>
                    <a:pt x="121" y="6"/>
                  </a:lnTo>
                  <a:lnTo>
                    <a:pt x="122" y="6"/>
                  </a:lnTo>
                  <a:lnTo>
                    <a:pt x="124" y="6"/>
                  </a:lnTo>
                  <a:lnTo>
                    <a:pt x="125" y="5"/>
                  </a:lnTo>
                  <a:lnTo>
                    <a:pt x="126" y="5"/>
                  </a:lnTo>
                  <a:lnTo>
                    <a:pt x="127" y="5"/>
                  </a:lnTo>
                  <a:lnTo>
                    <a:pt x="128" y="4"/>
                  </a:lnTo>
                  <a:lnTo>
                    <a:pt x="129" y="4"/>
                  </a:lnTo>
                  <a:lnTo>
                    <a:pt x="130" y="4"/>
                  </a:lnTo>
                  <a:lnTo>
                    <a:pt x="131" y="3"/>
                  </a:lnTo>
                  <a:lnTo>
                    <a:pt x="132" y="3"/>
                  </a:lnTo>
                  <a:lnTo>
                    <a:pt x="133" y="2"/>
                  </a:lnTo>
                  <a:lnTo>
                    <a:pt x="134" y="2"/>
                  </a:lnTo>
                  <a:lnTo>
                    <a:pt x="135" y="2"/>
                  </a:lnTo>
                  <a:lnTo>
                    <a:pt x="136" y="1"/>
                  </a:lnTo>
                  <a:lnTo>
                    <a:pt x="137" y="1"/>
                  </a:lnTo>
                  <a:lnTo>
                    <a:pt x="138" y="1"/>
                  </a:lnTo>
                  <a:lnTo>
                    <a:pt x="139" y="1"/>
                  </a:lnTo>
                  <a:lnTo>
                    <a:pt x="140" y="0"/>
                  </a:lnTo>
                  <a:lnTo>
                    <a:pt x="141" y="0"/>
                  </a:lnTo>
                  <a:lnTo>
                    <a:pt x="142" y="0"/>
                  </a:lnTo>
                  <a:lnTo>
                    <a:pt x="144" y="0"/>
                  </a:lnTo>
                  <a:lnTo>
                    <a:pt x="145" y="0"/>
                  </a:lnTo>
                  <a:lnTo>
                    <a:pt x="146" y="0"/>
                  </a:lnTo>
                  <a:lnTo>
                    <a:pt x="146" y="0"/>
                  </a:lnTo>
                  <a:lnTo>
                    <a:pt x="147" y="0"/>
                  </a:lnTo>
                </a:path>
              </a:pathLst>
            </a:custGeom>
            <a:noFill/>
            <a:ln w="16510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7" name="Oval 466"/>
            <p:cNvSpPr/>
            <p:nvPr/>
          </p:nvSpPr>
          <p:spPr>
            <a:xfrm>
              <a:off x="8010144" y="11579028"/>
              <a:ext cx="73152" cy="73152"/>
            </a:xfrm>
            <a:prstGeom prst="ellipse">
              <a:avLst/>
            </a:prstGeom>
            <a:solidFill>
              <a:srgbClr val="FFFFFF"/>
            </a:solidFill>
            <a:ln w="7620" cap="rnd">
              <a:solidFill>
                <a:srgbClr val="5577A2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68" name="Connector 467"/>
            <p:cNvCxnSpPr/>
            <p:nvPr/>
          </p:nvCxnSpPr>
          <p:spPr>
            <a:xfrm flipH="1">
              <a:off x="8001000" y="11661324"/>
              <a:ext cx="45720" cy="173736"/>
            </a:xfrm>
            <a:prstGeom prst="line">
              <a:avLst/>
            </a:prstGeom>
            <a:ln w="5715">
              <a:solidFill>
                <a:srgbClr val="FF5A5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9" name="Oval 468"/>
            <p:cNvSpPr/>
            <p:nvPr/>
          </p:nvSpPr>
          <p:spPr>
            <a:xfrm>
              <a:off x="8156448" y="11626614"/>
              <a:ext cx="73152" cy="73152"/>
            </a:xfrm>
            <a:prstGeom prst="ellipse">
              <a:avLst/>
            </a:prstGeom>
            <a:solidFill>
              <a:srgbClr val="FFFFFF"/>
            </a:solidFill>
            <a:ln w="7620" cap="rnd">
              <a:solidFill>
                <a:srgbClr val="5577A2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70" name="Connector 469"/>
            <p:cNvCxnSpPr/>
            <p:nvPr/>
          </p:nvCxnSpPr>
          <p:spPr>
            <a:xfrm>
              <a:off x="8193024" y="11708910"/>
              <a:ext cx="45720" cy="173736"/>
            </a:xfrm>
            <a:prstGeom prst="line">
              <a:avLst/>
            </a:prstGeom>
            <a:ln w="5715">
              <a:solidFill>
                <a:srgbClr val="FF5A5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1" name="Oval 470"/>
            <p:cNvSpPr/>
            <p:nvPr/>
          </p:nvSpPr>
          <p:spPr>
            <a:xfrm>
              <a:off x="8302752" y="11646826"/>
              <a:ext cx="73152" cy="73152"/>
            </a:xfrm>
            <a:prstGeom prst="ellipse">
              <a:avLst/>
            </a:prstGeom>
            <a:solidFill>
              <a:srgbClr val="FFFFFF"/>
            </a:solidFill>
            <a:ln w="7620" cap="rnd">
              <a:solidFill>
                <a:srgbClr val="5577A2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72" name="Connector 471"/>
            <p:cNvCxnSpPr/>
            <p:nvPr/>
          </p:nvCxnSpPr>
          <p:spPr>
            <a:xfrm flipH="1">
              <a:off x="8293608" y="11729122"/>
              <a:ext cx="45719" cy="173736"/>
            </a:xfrm>
            <a:prstGeom prst="line">
              <a:avLst/>
            </a:prstGeom>
            <a:ln w="5715">
              <a:solidFill>
                <a:srgbClr val="FF5A5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3" name="Oval 472"/>
            <p:cNvSpPr/>
            <p:nvPr/>
          </p:nvSpPr>
          <p:spPr>
            <a:xfrm>
              <a:off x="8449056" y="11599379"/>
              <a:ext cx="73152" cy="73152"/>
            </a:xfrm>
            <a:prstGeom prst="ellipse">
              <a:avLst/>
            </a:prstGeom>
            <a:solidFill>
              <a:srgbClr val="FFFFFF"/>
            </a:solidFill>
            <a:ln w="7620" cap="rnd">
              <a:solidFill>
                <a:srgbClr val="5577A2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74" name="Connector 473"/>
            <p:cNvCxnSpPr/>
            <p:nvPr/>
          </p:nvCxnSpPr>
          <p:spPr>
            <a:xfrm>
              <a:off x="8485632" y="11681675"/>
              <a:ext cx="45720" cy="173736"/>
            </a:xfrm>
            <a:prstGeom prst="line">
              <a:avLst/>
            </a:prstGeom>
            <a:ln w="5715">
              <a:solidFill>
                <a:srgbClr val="FF5A5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5" name="Oval 474"/>
            <p:cNvSpPr/>
            <p:nvPr/>
          </p:nvSpPr>
          <p:spPr>
            <a:xfrm>
              <a:off x="8595360" y="11578840"/>
              <a:ext cx="73152" cy="73152"/>
            </a:xfrm>
            <a:prstGeom prst="ellipse">
              <a:avLst/>
            </a:prstGeom>
            <a:solidFill>
              <a:srgbClr val="FFFFFF"/>
            </a:solidFill>
            <a:ln w="7620" cap="rnd">
              <a:solidFill>
                <a:srgbClr val="5577A2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76" name="Connector 475"/>
            <p:cNvCxnSpPr/>
            <p:nvPr/>
          </p:nvCxnSpPr>
          <p:spPr>
            <a:xfrm flipH="1">
              <a:off x="8586216" y="11661136"/>
              <a:ext cx="45720" cy="173736"/>
            </a:xfrm>
            <a:prstGeom prst="line">
              <a:avLst/>
            </a:prstGeom>
            <a:ln w="5715">
              <a:solidFill>
                <a:srgbClr val="FF5A5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7" name="Oval 476"/>
            <p:cNvSpPr/>
            <p:nvPr/>
          </p:nvSpPr>
          <p:spPr>
            <a:xfrm>
              <a:off x="8741664" y="11626145"/>
              <a:ext cx="73152" cy="73152"/>
            </a:xfrm>
            <a:prstGeom prst="ellipse">
              <a:avLst/>
            </a:prstGeom>
            <a:solidFill>
              <a:srgbClr val="FFFFFF"/>
            </a:solidFill>
            <a:ln w="7620" cap="rnd">
              <a:solidFill>
                <a:srgbClr val="5577A2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78" name="Connector 477"/>
            <p:cNvCxnSpPr/>
            <p:nvPr/>
          </p:nvCxnSpPr>
          <p:spPr>
            <a:xfrm>
              <a:off x="8778240" y="11708441"/>
              <a:ext cx="45720" cy="173736"/>
            </a:xfrm>
            <a:prstGeom prst="line">
              <a:avLst/>
            </a:prstGeom>
            <a:ln w="5715">
              <a:solidFill>
                <a:srgbClr val="FF5A5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9" name="Oval 478"/>
            <p:cNvSpPr/>
            <p:nvPr/>
          </p:nvSpPr>
          <p:spPr>
            <a:xfrm>
              <a:off x="8887968" y="11647011"/>
              <a:ext cx="73152" cy="73152"/>
            </a:xfrm>
            <a:prstGeom prst="ellipse">
              <a:avLst/>
            </a:prstGeom>
            <a:solidFill>
              <a:srgbClr val="FFFFFF"/>
            </a:solidFill>
            <a:ln w="7620" cap="rnd">
              <a:solidFill>
                <a:srgbClr val="5577A2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80" name="Connector 479"/>
            <p:cNvCxnSpPr/>
            <p:nvPr/>
          </p:nvCxnSpPr>
          <p:spPr>
            <a:xfrm flipH="1">
              <a:off x="8878824" y="11729307"/>
              <a:ext cx="45720" cy="173736"/>
            </a:xfrm>
            <a:prstGeom prst="line">
              <a:avLst/>
            </a:prstGeom>
            <a:ln w="5715">
              <a:solidFill>
                <a:srgbClr val="FF5A5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1" name="Oval 480"/>
            <p:cNvSpPr/>
            <p:nvPr/>
          </p:nvSpPr>
          <p:spPr>
            <a:xfrm>
              <a:off x="9034272" y="11599850"/>
              <a:ext cx="73152" cy="73152"/>
            </a:xfrm>
            <a:prstGeom prst="ellipse">
              <a:avLst/>
            </a:prstGeom>
            <a:solidFill>
              <a:srgbClr val="FFFFFF"/>
            </a:solidFill>
            <a:ln w="7620" cap="rnd">
              <a:solidFill>
                <a:srgbClr val="5577A2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82" name="Connector 481"/>
            <p:cNvCxnSpPr/>
            <p:nvPr/>
          </p:nvCxnSpPr>
          <p:spPr>
            <a:xfrm>
              <a:off x="9070848" y="11682146"/>
              <a:ext cx="45720" cy="173736"/>
            </a:xfrm>
            <a:prstGeom prst="line">
              <a:avLst/>
            </a:prstGeom>
            <a:ln w="5715">
              <a:solidFill>
                <a:srgbClr val="FF5A5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4" name="Weaker disruption"/>
          <p:cNvSpPr txBox="1"/>
          <p:nvPr/>
        </p:nvSpPr>
        <p:spPr>
          <a:xfrm>
            <a:off x="4626864" y="11951208"/>
            <a:ext cx="1627632" cy="265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40" b="1">
                <a:solidFill>
                  <a:srgbClr val="101010"/>
                </a:solidFill>
                <a:latin typeface="Times New Roman"/>
              </a:defRPr>
            </a:pPr>
            <a:r>
              <a:t>Weaker disruption</a:t>
            </a:r>
          </a:p>
        </p:txBody>
      </p:sp>
      <p:sp>
        <p:nvSpPr>
          <p:cNvPr id="485" name="Moderate disruption"/>
          <p:cNvSpPr txBox="1"/>
          <p:nvPr/>
        </p:nvSpPr>
        <p:spPr>
          <a:xfrm>
            <a:off x="6199632" y="11951208"/>
            <a:ext cx="1645920" cy="265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40" b="1">
                <a:solidFill>
                  <a:srgbClr val="101010"/>
                </a:solidFill>
                <a:latin typeface="Times New Roman"/>
              </a:defRPr>
            </a:pPr>
            <a:r>
              <a:t>Moderate disruption</a:t>
            </a:r>
          </a:p>
        </p:txBody>
      </p:sp>
      <p:sp>
        <p:nvSpPr>
          <p:cNvPr id="486" name="Stronger disruption"/>
          <p:cNvSpPr txBox="1"/>
          <p:nvPr/>
        </p:nvSpPr>
        <p:spPr>
          <a:xfrm>
            <a:off x="7827264" y="11951208"/>
            <a:ext cx="1517904" cy="265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40" b="1">
                <a:solidFill>
                  <a:srgbClr val="101010"/>
                </a:solidFill>
                <a:latin typeface="Times New Roman"/>
              </a:defRPr>
            </a:pPr>
            <a:r>
              <a:t>Stronger disruption</a:t>
            </a:r>
          </a:p>
        </p:txBody>
      </p:sp>
      <p:sp>
        <p:nvSpPr>
          <p:cNvPr id="487" name="Right Arrow 486"/>
          <p:cNvSpPr/>
          <p:nvPr/>
        </p:nvSpPr>
        <p:spPr>
          <a:xfrm>
            <a:off x="4928616" y="12179808"/>
            <a:ext cx="4160520" cy="265176"/>
          </a:xfrm>
          <a:prstGeom prst="rightArrow">
            <a:avLst/>
          </a:prstGeom>
          <a:ln>
            <a:noFill/>
          </a:ln>
          <a:gradFill>
            <a:gsLst>
              <a:gs pos="0">
                <a:srgbClr val="F8FBFF"/>
              </a:gs>
              <a:gs pos="100000">
                <a:srgbClr val="366EC3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Starch disruption"/>
          <p:cNvSpPr txBox="1"/>
          <p:nvPr/>
        </p:nvSpPr>
        <p:spPr>
          <a:xfrm>
            <a:off x="6318504" y="12426696"/>
            <a:ext cx="2221992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01010"/>
                </a:solidFill>
                <a:latin typeface="Times New Roman"/>
              </a:defRPr>
            </a:pPr>
            <a:r>
              <a:t>Starch disruption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1682496" y="13030200"/>
            <a:ext cx="6236208" cy="658368"/>
          </a:xfrm>
          <a:prstGeom prst="roundRect">
            <a:avLst>
              <a:gd name="adj" fmla="val 17000"/>
            </a:avLst>
          </a:prstGeom>
          <a:solidFill>
            <a:srgbClr val="FFFFFF"/>
          </a:solidFill>
          <a:ln w="12700" cap="rnd">
            <a:solidFill>
              <a:srgbClr val="789CE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502" name="Starch granule — editable vector group"/>
          <p:cNvGrpSpPr/>
          <p:nvPr/>
        </p:nvGrpSpPr>
        <p:grpSpPr>
          <a:xfrm>
            <a:off x="2002536" y="13103352"/>
            <a:ext cx="484632" cy="484632"/>
            <a:chOff x="2002536" y="13103352"/>
            <a:chExt cx="484632" cy="484632"/>
          </a:xfrm>
        </p:grpSpPr>
        <p:sp>
          <p:nvSpPr>
            <p:cNvPr id="490" name="Editable starch granule"/>
            <p:cNvSpPr/>
            <p:nvPr/>
          </p:nvSpPr>
          <p:spPr>
            <a:xfrm>
              <a:off x="2002536" y="13103352"/>
              <a:ext cx="484632" cy="484632"/>
            </a:xfrm>
            <a:prstGeom prst="ellipse">
              <a:avLst/>
            </a:prstGeom>
            <a:ln w="7620" cap="rnd">
              <a:solidFill>
                <a:srgbClr val="163769"/>
              </a:solidFill>
              <a:round/>
            </a:ln>
            <a:gradFill>
              <a:gsLst>
                <a:gs pos="0">
                  <a:srgbClr val="FFFFFF"/>
                </a:gs>
                <a:gs pos="100000">
                  <a:srgbClr val="F7FBFF"/>
                </a:gs>
              </a:gsLst>
              <a:lin ang="2700000" scaled="1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1" name="Freeform 490"/>
            <p:cNvSpPr/>
            <p:nvPr/>
          </p:nvSpPr>
          <p:spPr>
            <a:xfrm>
              <a:off x="2084832" y="13158216"/>
              <a:ext cx="137160" cy="164592"/>
            </a:xfrm>
            <a:custGeom>
              <a:avLst/>
              <a:gdLst/>
              <a:ahLst/>
              <a:cxnLst/>
              <a:rect l="l" t="t" r="r" b="b"/>
              <a:pathLst>
                <a:path w="15" h="18">
                  <a:moveTo>
                    <a:pt x="15" y="18"/>
                  </a:moveTo>
                  <a:lnTo>
                    <a:pt x="15" y="17"/>
                  </a:lnTo>
                  <a:lnTo>
                    <a:pt x="14" y="17"/>
                  </a:lnTo>
                  <a:lnTo>
                    <a:pt x="14" y="16"/>
                  </a:lnTo>
                  <a:lnTo>
                    <a:pt x="13" y="16"/>
                  </a:lnTo>
                  <a:lnTo>
                    <a:pt x="12" y="15"/>
                  </a:lnTo>
                  <a:lnTo>
                    <a:pt x="12" y="14"/>
                  </a:lnTo>
                  <a:lnTo>
                    <a:pt x="11" y="14"/>
                  </a:lnTo>
                  <a:lnTo>
                    <a:pt x="11" y="13"/>
                  </a:lnTo>
                  <a:lnTo>
                    <a:pt x="10" y="13"/>
                  </a:lnTo>
                  <a:lnTo>
                    <a:pt x="10" y="12"/>
                  </a:lnTo>
                  <a:lnTo>
                    <a:pt x="9" y="12"/>
                  </a:lnTo>
                  <a:lnTo>
                    <a:pt x="9" y="12"/>
                  </a:lnTo>
                  <a:lnTo>
                    <a:pt x="8" y="12"/>
                  </a:lnTo>
                  <a:lnTo>
                    <a:pt x="8" y="12"/>
                  </a:lnTo>
                  <a:lnTo>
                    <a:pt x="8" y="12"/>
                  </a:lnTo>
                  <a:lnTo>
                    <a:pt x="8" y="12"/>
                  </a:lnTo>
                  <a:lnTo>
                    <a:pt x="7" y="11"/>
                  </a:lnTo>
                  <a:lnTo>
                    <a:pt x="7" y="11"/>
                  </a:lnTo>
                  <a:lnTo>
                    <a:pt x="7" y="10"/>
                  </a:lnTo>
                  <a:lnTo>
                    <a:pt x="6" y="10"/>
                  </a:lnTo>
                  <a:lnTo>
                    <a:pt x="6" y="9"/>
                  </a:lnTo>
                  <a:lnTo>
                    <a:pt x="6" y="8"/>
                  </a:lnTo>
                  <a:lnTo>
                    <a:pt x="6" y="7"/>
                  </a:lnTo>
                  <a:lnTo>
                    <a:pt x="6" y="6"/>
                  </a:lnTo>
                  <a:lnTo>
                    <a:pt x="5" y="6"/>
                  </a:lnTo>
                  <a:lnTo>
                    <a:pt x="5" y="5"/>
                  </a:lnTo>
                  <a:lnTo>
                    <a:pt x="5" y="4"/>
                  </a:lnTo>
                  <a:lnTo>
                    <a:pt x="4" y="3"/>
                  </a:lnTo>
                  <a:lnTo>
                    <a:pt x="4" y="3"/>
                  </a:lnTo>
                  <a:lnTo>
                    <a:pt x="3" y="2"/>
                  </a:lnTo>
                  <a:lnTo>
                    <a:pt x="3" y="2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 w="6057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2" name="Freeform 491"/>
            <p:cNvSpPr/>
            <p:nvPr/>
          </p:nvSpPr>
          <p:spPr>
            <a:xfrm>
              <a:off x="2221992" y="13130784"/>
              <a:ext cx="64008" cy="182880"/>
            </a:xfrm>
            <a:custGeom>
              <a:avLst/>
              <a:gdLst/>
              <a:ahLst/>
              <a:cxnLst/>
              <a:rect l="l" t="t" r="r" b="b"/>
              <a:pathLst>
                <a:path w="7" h="20">
                  <a:moveTo>
                    <a:pt x="0" y="20"/>
                  </a:moveTo>
                  <a:lnTo>
                    <a:pt x="1" y="19"/>
                  </a:lnTo>
                  <a:lnTo>
                    <a:pt x="1" y="19"/>
                  </a:lnTo>
                  <a:lnTo>
                    <a:pt x="1" y="18"/>
                  </a:lnTo>
                  <a:lnTo>
                    <a:pt x="2" y="18"/>
                  </a:lnTo>
                  <a:lnTo>
                    <a:pt x="2" y="17"/>
                  </a:lnTo>
                  <a:lnTo>
                    <a:pt x="3" y="17"/>
                  </a:lnTo>
                  <a:lnTo>
                    <a:pt x="3" y="16"/>
                  </a:lnTo>
                  <a:lnTo>
                    <a:pt x="4" y="15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5" y="13"/>
                  </a:lnTo>
                  <a:lnTo>
                    <a:pt x="5" y="12"/>
                  </a:lnTo>
                  <a:lnTo>
                    <a:pt x="6" y="12"/>
                  </a:lnTo>
                  <a:lnTo>
                    <a:pt x="6" y="11"/>
                  </a:lnTo>
                  <a:lnTo>
                    <a:pt x="6" y="10"/>
                  </a:lnTo>
                  <a:lnTo>
                    <a:pt x="6" y="9"/>
                  </a:lnTo>
                  <a:lnTo>
                    <a:pt x="7" y="8"/>
                  </a:lnTo>
                  <a:lnTo>
                    <a:pt x="7" y="8"/>
                  </a:lnTo>
                  <a:lnTo>
                    <a:pt x="7" y="7"/>
                  </a:lnTo>
                  <a:lnTo>
                    <a:pt x="7" y="6"/>
                  </a:lnTo>
                  <a:lnTo>
                    <a:pt x="7" y="5"/>
                  </a:lnTo>
                  <a:lnTo>
                    <a:pt x="7" y="4"/>
                  </a:lnTo>
                  <a:lnTo>
                    <a:pt x="7" y="3"/>
                  </a:lnTo>
                  <a:lnTo>
                    <a:pt x="6" y="2"/>
                  </a:lnTo>
                  <a:lnTo>
                    <a:pt x="6" y="1"/>
                  </a:lnTo>
                  <a:lnTo>
                    <a:pt x="6" y="1"/>
                  </a:lnTo>
                  <a:lnTo>
                    <a:pt x="6" y="0"/>
                  </a:lnTo>
                </a:path>
              </a:pathLst>
            </a:custGeom>
            <a:noFill/>
            <a:ln w="6057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3" name="Freeform 492"/>
            <p:cNvSpPr/>
            <p:nvPr/>
          </p:nvSpPr>
          <p:spPr>
            <a:xfrm>
              <a:off x="2221992" y="13231368"/>
              <a:ext cx="237744" cy="100584"/>
            </a:xfrm>
            <a:custGeom>
              <a:avLst/>
              <a:gdLst/>
              <a:ahLst/>
              <a:cxnLst/>
              <a:rect l="l" t="t" r="r" b="b"/>
              <a:pathLst>
                <a:path w="26" h="11">
                  <a:moveTo>
                    <a:pt x="0" y="11"/>
                  </a:moveTo>
                  <a:lnTo>
                    <a:pt x="1" y="11"/>
                  </a:lnTo>
                  <a:lnTo>
                    <a:pt x="2" y="11"/>
                  </a:lnTo>
                  <a:lnTo>
                    <a:pt x="3" y="10"/>
                  </a:lnTo>
                  <a:lnTo>
                    <a:pt x="4" y="10"/>
                  </a:lnTo>
                  <a:lnTo>
                    <a:pt x="5" y="9"/>
                  </a:lnTo>
                  <a:lnTo>
                    <a:pt x="6" y="9"/>
                  </a:lnTo>
                  <a:lnTo>
                    <a:pt x="7" y="8"/>
                  </a:lnTo>
                  <a:lnTo>
                    <a:pt x="8" y="8"/>
                  </a:lnTo>
                  <a:lnTo>
                    <a:pt x="9" y="8"/>
                  </a:lnTo>
                  <a:lnTo>
                    <a:pt x="10" y="8"/>
                  </a:lnTo>
                  <a:lnTo>
                    <a:pt x="11" y="8"/>
                  </a:lnTo>
                  <a:lnTo>
                    <a:pt x="12" y="8"/>
                  </a:lnTo>
                  <a:lnTo>
                    <a:pt x="13" y="8"/>
                  </a:lnTo>
                  <a:lnTo>
                    <a:pt x="13" y="8"/>
                  </a:lnTo>
                  <a:lnTo>
                    <a:pt x="14" y="8"/>
                  </a:lnTo>
                  <a:lnTo>
                    <a:pt x="15" y="8"/>
                  </a:lnTo>
                  <a:lnTo>
                    <a:pt x="16" y="8"/>
                  </a:lnTo>
                  <a:lnTo>
                    <a:pt x="16" y="8"/>
                  </a:lnTo>
                  <a:lnTo>
                    <a:pt x="17" y="7"/>
                  </a:lnTo>
                  <a:lnTo>
                    <a:pt x="18" y="7"/>
                  </a:lnTo>
                  <a:lnTo>
                    <a:pt x="19" y="7"/>
                  </a:lnTo>
                  <a:lnTo>
                    <a:pt x="19" y="6"/>
                  </a:lnTo>
                  <a:lnTo>
                    <a:pt x="20" y="6"/>
                  </a:lnTo>
                  <a:lnTo>
                    <a:pt x="21" y="5"/>
                  </a:lnTo>
                  <a:lnTo>
                    <a:pt x="21" y="4"/>
                  </a:lnTo>
                  <a:lnTo>
                    <a:pt x="22" y="4"/>
                  </a:lnTo>
                  <a:lnTo>
                    <a:pt x="23" y="3"/>
                  </a:lnTo>
                  <a:lnTo>
                    <a:pt x="23" y="3"/>
                  </a:lnTo>
                  <a:lnTo>
                    <a:pt x="24" y="3"/>
                  </a:lnTo>
                  <a:lnTo>
                    <a:pt x="24" y="2"/>
                  </a:lnTo>
                  <a:lnTo>
                    <a:pt x="24" y="2"/>
                  </a:lnTo>
                  <a:lnTo>
                    <a:pt x="25" y="1"/>
                  </a:lnTo>
                  <a:lnTo>
                    <a:pt x="25" y="1"/>
                  </a:lnTo>
                  <a:lnTo>
                    <a:pt x="25" y="1"/>
                  </a:lnTo>
                  <a:lnTo>
                    <a:pt x="26" y="1"/>
                  </a:lnTo>
                  <a:lnTo>
                    <a:pt x="26" y="0"/>
                  </a:lnTo>
                </a:path>
              </a:pathLst>
            </a:custGeom>
            <a:noFill/>
            <a:ln w="6057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4" name="Freeform 493"/>
            <p:cNvSpPr/>
            <p:nvPr/>
          </p:nvSpPr>
          <p:spPr>
            <a:xfrm>
              <a:off x="2231136" y="13350240"/>
              <a:ext cx="237744" cy="100584"/>
            </a:xfrm>
            <a:custGeom>
              <a:avLst/>
              <a:gdLst/>
              <a:ahLst/>
              <a:cxnLst/>
              <a:rect l="l" t="t" r="r" b="b"/>
              <a:pathLst>
                <a:path w="26" h="11">
                  <a:moveTo>
                    <a:pt x="0" y="0"/>
                  </a:moveTo>
                  <a:lnTo>
                    <a:pt x="1" y="0"/>
                  </a:lnTo>
                  <a:lnTo>
                    <a:pt x="2" y="1"/>
                  </a:lnTo>
                  <a:lnTo>
                    <a:pt x="2" y="2"/>
                  </a:lnTo>
                  <a:lnTo>
                    <a:pt x="3" y="2"/>
                  </a:lnTo>
                  <a:lnTo>
                    <a:pt x="4" y="3"/>
                  </a:lnTo>
                  <a:lnTo>
                    <a:pt x="5" y="4"/>
                  </a:lnTo>
                  <a:lnTo>
                    <a:pt x="6" y="4"/>
                  </a:lnTo>
                  <a:lnTo>
                    <a:pt x="7" y="5"/>
                  </a:lnTo>
                  <a:lnTo>
                    <a:pt x="7" y="5"/>
                  </a:lnTo>
                  <a:lnTo>
                    <a:pt x="8" y="6"/>
                  </a:lnTo>
                  <a:lnTo>
                    <a:pt x="9" y="6"/>
                  </a:lnTo>
                  <a:lnTo>
                    <a:pt x="9" y="6"/>
                  </a:lnTo>
                  <a:lnTo>
                    <a:pt x="10" y="7"/>
                  </a:lnTo>
                  <a:lnTo>
                    <a:pt x="10" y="7"/>
                  </a:lnTo>
                  <a:lnTo>
                    <a:pt x="11" y="7"/>
                  </a:lnTo>
                  <a:lnTo>
                    <a:pt x="12" y="7"/>
                  </a:lnTo>
                  <a:lnTo>
                    <a:pt x="12" y="7"/>
                  </a:lnTo>
                  <a:lnTo>
                    <a:pt x="13" y="7"/>
                  </a:lnTo>
                  <a:lnTo>
                    <a:pt x="14" y="7"/>
                  </a:lnTo>
                  <a:lnTo>
                    <a:pt x="15" y="7"/>
                  </a:lnTo>
                  <a:lnTo>
                    <a:pt x="16" y="7"/>
                  </a:lnTo>
                  <a:lnTo>
                    <a:pt x="17" y="7"/>
                  </a:lnTo>
                  <a:lnTo>
                    <a:pt x="18" y="7"/>
                  </a:lnTo>
                  <a:lnTo>
                    <a:pt x="19" y="7"/>
                  </a:lnTo>
                  <a:lnTo>
                    <a:pt x="20" y="7"/>
                  </a:lnTo>
                  <a:lnTo>
                    <a:pt x="21" y="7"/>
                  </a:lnTo>
                  <a:lnTo>
                    <a:pt x="22" y="7"/>
                  </a:lnTo>
                  <a:lnTo>
                    <a:pt x="22" y="7"/>
                  </a:lnTo>
                  <a:lnTo>
                    <a:pt x="23" y="8"/>
                  </a:lnTo>
                  <a:lnTo>
                    <a:pt x="24" y="8"/>
                  </a:lnTo>
                  <a:lnTo>
                    <a:pt x="24" y="9"/>
                  </a:lnTo>
                  <a:lnTo>
                    <a:pt x="25" y="9"/>
                  </a:lnTo>
                  <a:lnTo>
                    <a:pt x="25" y="10"/>
                  </a:lnTo>
                  <a:lnTo>
                    <a:pt x="26" y="10"/>
                  </a:lnTo>
                  <a:lnTo>
                    <a:pt x="26" y="11"/>
                  </a:lnTo>
                  <a:lnTo>
                    <a:pt x="26" y="11"/>
                  </a:lnTo>
                </a:path>
              </a:pathLst>
            </a:custGeom>
            <a:noFill/>
            <a:ln w="6057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5" name="Freeform 494"/>
            <p:cNvSpPr/>
            <p:nvPr/>
          </p:nvSpPr>
          <p:spPr>
            <a:xfrm>
              <a:off x="2157984" y="13368528"/>
              <a:ext cx="64008" cy="192024"/>
            </a:xfrm>
            <a:custGeom>
              <a:avLst/>
              <a:gdLst/>
              <a:ahLst/>
              <a:cxnLst/>
              <a:rect l="l" t="t" r="r" b="b"/>
              <a:pathLst>
                <a:path w="7" h="21">
                  <a:moveTo>
                    <a:pt x="7" y="0"/>
                  </a:moveTo>
                  <a:lnTo>
                    <a:pt x="7" y="1"/>
                  </a:lnTo>
                  <a:lnTo>
                    <a:pt x="7" y="2"/>
                  </a:lnTo>
                  <a:lnTo>
                    <a:pt x="6" y="2"/>
                  </a:lnTo>
                  <a:lnTo>
                    <a:pt x="5" y="3"/>
                  </a:lnTo>
                  <a:lnTo>
                    <a:pt x="5" y="5"/>
                  </a:lnTo>
                  <a:lnTo>
                    <a:pt x="4" y="6"/>
                  </a:lnTo>
                  <a:lnTo>
                    <a:pt x="4" y="7"/>
                  </a:lnTo>
                  <a:lnTo>
                    <a:pt x="3" y="8"/>
                  </a:lnTo>
                  <a:lnTo>
                    <a:pt x="3" y="9"/>
                  </a:lnTo>
                  <a:lnTo>
                    <a:pt x="3" y="9"/>
                  </a:lnTo>
                  <a:lnTo>
                    <a:pt x="3" y="10"/>
                  </a:lnTo>
                  <a:lnTo>
                    <a:pt x="3" y="11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4" y="13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4" y="15"/>
                  </a:lnTo>
                  <a:lnTo>
                    <a:pt x="4" y="16"/>
                  </a:lnTo>
                  <a:lnTo>
                    <a:pt x="4" y="17"/>
                  </a:lnTo>
                  <a:lnTo>
                    <a:pt x="3" y="17"/>
                  </a:lnTo>
                  <a:lnTo>
                    <a:pt x="3" y="18"/>
                  </a:lnTo>
                  <a:lnTo>
                    <a:pt x="2" y="19"/>
                  </a:lnTo>
                  <a:lnTo>
                    <a:pt x="2" y="20"/>
                  </a:lnTo>
                  <a:lnTo>
                    <a:pt x="1" y="20"/>
                  </a:lnTo>
                  <a:lnTo>
                    <a:pt x="1" y="21"/>
                  </a:lnTo>
                  <a:lnTo>
                    <a:pt x="0" y="21"/>
                  </a:lnTo>
                </a:path>
              </a:pathLst>
            </a:custGeom>
            <a:noFill/>
            <a:ln w="6057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6" name="Freeform 495"/>
            <p:cNvSpPr/>
            <p:nvPr/>
          </p:nvSpPr>
          <p:spPr>
            <a:xfrm>
              <a:off x="2029968" y="13350240"/>
              <a:ext cx="182880" cy="73152"/>
            </a:xfrm>
            <a:custGeom>
              <a:avLst/>
              <a:gdLst/>
              <a:ahLst/>
              <a:cxnLst/>
              <a:rect l="l" t="t" r="r" b="b"/>
              <a:pathLst>
                <a:path w="20" h="8">
                  <a:moveTo>
                    <a:pt x="20" y="0"/>
                  </a:moveTo>
                  <a:lnTo>
                    <a:pt x="19" y="0"/>
                  </a:lnTo>
                  <a:lnTo>
                    <a:pt x="19" y="0"/>
                  </a:lnTo>
                  <a:lnTo>
                    <a:pt x="18" y="1"/>
                  </a:lnTo>
                  <a:lnTo>
                    <a:pt x="17" y="1"/>
                  </a:lnTo>
                  <a:lnTo>
                    <a:pt x="16" y="1"/>
                  </a:lnTo>
                  <a:lnTo>
                    <a:pt x="15" y="2"/>
                  </a:lnTo>
                  <a:lnTo>
                    <a:pt x="14" y="2"/>
                  </a:lnTo>
                  <a:lnTo>
                    <a:pt x="14" y="2"/>
                  </a:lnTo>
                  <a:lnTo>
                    <a:pt x="13" y="3"/>
                  </a:lnTo>
                  <a:lnTo>
                    <a:pt x="12" y="3"/>
                  </a:lnTo>
                  <a:lnTo>
                    <a:pt x="12" y="4"/>
                  </a:lnTo>
                  <a:lnTo>
                    <a:pt x="11" y="4"/>
                  </a:lnTo>
                  <a:lnTo>
                    <a:pt x="10" y="5"/>
                  </a:lnTo>
                  <a:lnTo>
                    <a:pt x="10" y="6"/>
                  </a:lnTo>
                  <a:lnTo>
                    <a:pt x="9" y="6"/>
                  </a:lnTo>
                  <a:lnTo>
                    <a:pt x="8" y="7"/>
                  </a:lnTo>
                  <a:lnTo>
                    <a:pt x="8" y="7"/>
                  </a:lnTo>
                  <a:lnTo>
                    <a:pt x="7" y="7"/>
                  </a:lnTo>
                  <a:lnTo>
                    <a:pt x="6" y="8"/>
                  </a:lnTo>
                  <a:lnTo>
                    <a:pt x="5" y="8"/>
                  </a:lnTo>
                  <a:lnTo>
                    <a:pt x="4" y="8"/>
                  </a:lnTo>
                  <a:lnTo>
                    <a:pt x="3" y="8"/>
                  </a:lnTo>
                  <a:lnTo>
                    <a:pt x="3" y="7"/>
                  </a:lnTo>
                  <a:lnTo>
                    <a:pt x="2" y="7"/>
                  </a:lnTo>
                  <a:lnTo>
                    <a:pt x="1" y="7"/>
                  </a:lnTo>
                  <a:lnTo>
                    <a:pt x="0" y="7"/>
                  </a:lnTo>
                  <a:lnTo>
                    <a:pt x="0" y="7"/>
                  </a:lnTo>
                </a:path>
              </a:pathLst>
            </a:custGeom>
            <a:noFill/>
            <a:ln w="6057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7" name="Freeform 496"/>
            <p:cNvSpPr/>
            <p:nvPr/>
          </p:nvSpPr>
          <p:spPr>
            <a:xfrm>
              <a:off x="2066544" y="13414248"/>
              <a:ext cx="36576" cy="109728"/>
            </a:xfrm>
            <a:custGeom>
              <a:avLst/>
              <a:gdLst/>
              <a:ahLst/>
              <a:cxnLst/>
              <a:rect l="l" t="t" r="r" b="b"/>
              <a:pathLst>
                <a:path w="4" h="12">
                  <a:moveTo>
                    <a:pt x="4" y="0"/>
                  </a:moveTo>
                  <a:lnTo>
                    <a:pt x="4" y="0"/>
                  </a:lnTo>
                  <a:lnTo>
                    <a:pt x="4" y="1"/>
                  </a:lnTo>
                  <a:lnTo>
                    <a:pt x="4" y="2"/>
                  </a:lnTo>
                  <a:lnTo>
                    <a:pt x="4" y="3"/>
                  </a:lnTo>
                  <a:lnTo>
                    <a:pt x="4" y="4"/>
                  </a:lnTo>
                  <a:lnTo>
                    <a:pt x="4" y="5"/>
                  </a:lnTo>
                  <a:lnTo>
                    <a:pt x="4" y="6"/>
                  </a:lnTo>
                  <a:lnTo>
                    <a:pt x="4" y="7"/>
                  </a:lnTo>
                  <a:lnTo>
                    <a:pt x="4" y="7"/>
                  </a:lnTo>
                  <a:lnTo>
                    <a:pt x="4" y="8"/>
                  </a:lnTo>
                  <a:lnTo>
                    <a:pt x="3" y="9"/>
                  </a:lnTo>
                  <a:lnTo>
                    <a:pt x="3" y="9"/>
                  </a:lnTo>
                  <a:lnTo>
                    <a:pt x="3" y="10"/>
                  </a:lnTo>
                  <a:lnTo>
                    <a:pt x="2" y="10"/>
                  </a:lnTo>
                  <a:lnTo>
                    <a:pt x="2" y="11"/>
                  </a:lnTo>
                  <a:lnTo>
                    <a:pt x="1" y="11"/>
                  </a:lnTo>
                  <a:lnTo>
                    <a:pt x="1" y="11"/>
                  </a:lnTo>
                  <a:lnTo>
                    <a:pt x="0" y="12"/>
                  </a:lnTo>
                </a:path>
              </a:pathLst>
            </a:custGeom>
            <a:noFill/>
            <a:ln w="6057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8" name="Freeform 497"/>
            <p:cNvSpPr/>
            <p:nvPr/>
          </p:nvSpPr>
          <p:spPr>
            <a:xfrm>
              <a:off x="2313432" y="13176504"/>
              <a:ext cx="54864" cy="128016"/>
            </a:xfrm>
            <a:custGeom>
              <a:avLst/>
              <a:gdLst/>
              <a:ahLst/>
              <a:cxnLst/>
              <a:rect l="l" t="t" r="r" b="b"/>
              <a:pathLst>
                <a:path w="6" h="14">
                  <a:moveTo>
                    <a:pt x="0" y="14"/>
                  </a:moveTo>
                  <a:lnTo>
                    <a:pt x="0" y="13"/>
                  </a:lnTo>
                  <a:lnTo>
                    <a:pt x="0" y="13"/>
                  </a:lnTo>
                  <a:lnTo>
                    <a:pt x="0" y="12"/>
                  </a:lnTo>
                  <a:lnTo>
                    <a:pt x="0" y="11"/>
                  </a:lnTo>
                  <a:lnTo>
                    <a:pt x="0" y="10"/>
                  </a:lnTo>
                  <a:lnTo>
                    <a:pt x="0" y="9"/>
                  </a:lnTo>
                  <a:lnTo>
                    <a:pt x="1" y="8"/>
                  </a:lnTo>
                  <a:lnTo>
                    <a:pt x="1" y="8"/>
                  </a:lnTo>
                  <a:lnTo>
                    <a:pt x="1" y="7"/>
                  </a:lnTo>
                  <a:lnTo>
                    <a:pt x="1" y="6"/>
                  </a:lnTo>
                  <a:lnTo>
                    <a:pt x="2" y="5"/>
                  </a:lnTo>
                  <a:lnTo>
                    <a:pt x="2" y="4"/>
                  </a:lnTo>
                  <a:lnTo>
                    <a:pt x="3" y="4"/>
                  </a:lnTo>
                  <a:lnTo>
                    <a:pt x="4" y="3"/>
                  </a:lnTo>
                  <a:lnTo>
                    <a:pt x="4" y="2"/>
                  </a:lnTo>
                  <a:lnTo>
                    <a:pt x="5" y="1"/>
                  </a:lnTo>
                  <a:lnTo>
                    <a:pt x="5" y="1"/>
                  </a:lnTo>
                  <a:lnTo>
                    <a:pt x="6" y="0"/>
                  </a:lnTo>
                </a:path>
              </a:pathLst>
            </a:custGeom>
            <a:noFill/>
            <a:ln w="6057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9" name="Freeform 498"/>
            <p:cNvSpPr/>
            <p:nvPr/>
          </p:nvSpPr>
          <p:spPr>
            <a:xfrm>
              <a:off x="2340864" y="13414248"/>
              <a:ext cx="27432" cy="128016"/>
            </a:xfrm>
            <a:custGeom>
              <a:avLst/>
              <a:gdLst/>
              <a:ahLst/>
              <a:cxnLst/>
              <a:rect l="l" t="t" r="r" b="b"/>
              <a:pathLst>
                <a:path w="3" h="14">
                  <a:moveTo>
                    <a:pt x="1" y="0"/>
                  </a:moveTo>
                  <a:lnTo>
                    <a:pt x="1" y="1"/>
                  </a:lnTo>
                  <a:lnTo>
                    <a:pt x="1" y="2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8"/>
                  </a:lnTo>
                  <a:lnTo>
                    <a:pt x="0" y="9"/>
                  </a:lnTo>
                  <a:lnTo>
                    <a:pt x="1" y="10"/>
                  </a:lnTo>
                  <a:lnTo>
                    <a:pt x="1" y="11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3" y="13"/>
                  </a:lnTo>
                  <a:lnTo>
                    <a:pt x="3" y="14"/>
                  </a:lnTo>
                  <a:lnTo>
                    <a:pt x="3" y="14"/>
                  </a:lnTo>
                </a:path>
              </a:pathLst>
            </a:custGeom>
            <a:noFill/>
            <a:ln w="6057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0" name="Freeform 499"/>
            <p:cNvSpPr/>
            <p:nvPr/>
          </p:nvSpPr>
          <p:spPr>
            <a:xfrm>
              <a:off x="2039112" y="13231368"/>
              <a:ext cx="109728" cy="36576"/>
            </a:xfrm>
            <a:custGeom>
              <a:avLst/>
              <a:gdLst/>
              <a:ahLst/>
              <a:cxnLst/>
              <a:rect l="l" t="t" r="r" b="b"/>
              <a:pathLst>
                <a:path w="12" h="4">
                  <a:moveTo>
                    <a:pt x="12" y="3"/>
                  </a:moveTo>
                  <a:lnTo>
                    <a:pt x="12" y="3"/>
                  </a:lnTo>
                  <a:lnTo>
                    <a:pt x="11" y="3"/>
                  </a:lnTo>
                  <a:lnTo>
                    <a:pt x="10" y="3"/>
                  </a:lnTo>
                  <a:lnTo>
                    <a:pt x="10" y="4"/>
                  </a:lnTo>
                  <a:lnTo>
                    <a:pt x="9" y="4"/>
                  </a:lnTo>
                  <a:lnTo>
                    <a:pt x="8" y="4"/>
                  </a:lnTo>
                  <a:lnTo>
                    <a:pt x="8" y="4"/>
                  </a:lnTo>
                  <a:lnTo>
                    <a:pt x="7" y="4"/>
                  </a:lnTo>
                  <a:lnTo>
                    <a:pt x="6" y="4"/>
                  </a:lnTo>
                  <a:lnTo>
                    <a:pt x="5" y="4"/>
                  </a:lnTo>
                  <a:lnTo>
                    <a:pt x="5" y="3"/>
                  </a:lnTo>
                  <a:lnTo>
                    <a:pt x="4" y="3"/>
                  </a:lnTo>
                  <a:lnTo>
                    <a:pt x="3" y="2"/>
                  </a:lnTo>
                  <a:lnTo>
                    <a:pt x="2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noFill/>
            <a:ln w="6057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1" name="Oval 500"/>
            <p:cNvSpPr/>
            <p:nvPr/>
          </p:nvSpPr>
          <p:spPr>
            <a:xfrm>
              <a:off x="2002536" y="13103352"/>
              <a:ext cx="484632" cy="484632"/>
            </a:xfrm>
            <a:prstGeom prst="ellipse">
              <a:avLst/>
            </a:prstGeom>
            <a:noFill/>
            <a:ln w="7620" cap="rnd">
              <a:solidFill>
                <a:srgbClr val="163769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03" name="Starch granule"/>
          <p:cNvSpPr txBox="1"/>
          <p:nvPr/>
        </p:nvSpPr>
        <p:spPr>
          <a:xfrm>
            <a:off x="2587752" y="13203936"/>
            <a:ext cx="1581912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80" b="1">
                <a:solidFill>
                  <a:srgbClr val="101010"/>
                </a:solidFill>
                <a:latin typeface="Times New Roman"/>
              </a:defRPr>
            </a:pPr>
            <a:r>
              <a:t>Starch granule</a:t>
            </a:r>
          </a:p>
        </p:txBody>
      </p:sp>
      <p:sp>
        <p:nvSpPr>
          <p:cNvPr id="504" name="Rounded Rectangle 503"/>
          <p:cNvSpPr/>
          <p:nvPr/>
        </p:nvSpPr>
        <p:spPr>
          <a:xfrm>
            <a:off x="4206240" y="13167360"/>
            <a:ext cx="393192" cy="292608"/>
          </a:xfrm>
          <a:prstGeom prst="roundRect">
            <a:avLst>
              <a:gd name="adj" fmla="val 14000"/>
            </a:avLst>
          </a:prstGeom>
          <a:ln w="10160" cap="rnd">
            <a:solidFill>
              <a:srgbClr val="A84400"/>
            </a:solidFill>
            <a:round/>
          </a:ln>
          <a:gradFill>
            <a:gsLst>
              <a:gs pos="0">
                <a:srgbClr val="FCA13A"/>
              </a:gs>
              <a:gs pos="100000">
                <a:srgbClr val="CD4C00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5" name="Connector 504"/>
          <p:cNvCxnSpPr/>
          <p:nvPr/>
        </p:nvCxnSpPr>
        <p:spPr>
          <a:xfrm>
            <a:off x="4270248" y="13213080"/>
            <a:ext cx="265176" cy="0"/>
          </a:xfrm>
          <a:prstGeom prst="line">
            <a:avLst/>
          </a:prstGeom>
          <a:ln w="12700">
            <a:solidFill>
              <a:srgbClr val="FFB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6" name="+"/>
          <p:cNvSpPr txBox="1"/>
          <p:nvPr/>
        </p:nvSpPr>
        <p:spPr>
          <a:xfrm>
            <a:off x="4215384" y="13205399"/>
            <a:ext cx="374904" cy="2340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Times New Roman"/>
              </a:defRPr>
            </a:pPr>
            <a:r>
              <a:t>+</a:t>
            </a:r>
          </a:p>
        </p:txBody>
      </p:sp>
      <p:sp>
        <p:nvSpPr>
          <p:cNvPr id="507" name="Cation (IL⁺)"/>
          <p:cNvSpPr txBox="1"/>
          <p:nvPr/>
        </p:nvSpPr>
        <p:spPr>
          <a:xfrm>
            <a:off x="4645152" y="13203936"/>
            <a:ext cx="1435608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101010"/>
                </a:solidFill>
                <a:latin typeface="Times New Roman"/>
              </a:defRPr>
            </a:pPr>
            <a:r>
              <a:t>Cation (IL⁺)</a:t>
            </a:r>
          </a:p>
        </p:txBody>
      </p:sp>
      <p:sp>
        <p:nvSpPr>
          <p:cNvPr id="508" name="Oval 507"/>
          <p:cNvSpPr/>
          <p:nvPr/>
        </p:nvSpPr>
        <p:spPr>
          <a:xfrm>
            <a:off x="6217920" y="13176504"/>
            <a:ext cx="283464" cy="283464"/>
          </a:xfrm>
          <a:prstGeom prst="ellipse">
            <a:avLst/>
          </a:prstGeom>
          <a:ln w="8890" cap="rnd">
            <a:solidFill>
              <a:srgbClr val="3F8420"/>
            </a:solidFill>
            <a:round/>
          </a:ln>
          <a:gradFill>
            <a:gsLst>
              <a:gs pos="0">
                <a:srgbClr val="A4D65C"/>
              </a:gs>
              <a:gs pos="100000">
                <a:srgbClr val="388315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" name="−"/>
          <p:cNvSpPr txBox="1"/>
          <p:nvPr/>
        </p:nvSpPr>
        <p:spPr>
          <a:xfrm>
            <a:off x="6217920" y="13233196"/>
            <a:ext cx="283464" cy="192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Times New Roman"/>
              </a:defRPr>
            </a:pPr>
            <a:r>
              <a:t>−</a:t>
            </a:r>
          </a:p>
        </p:txBody>
      </p:sp>
      <p:sp>
        <p:nvSpPr>
          <p:cNvPr id="510" name="Anion (IL⁻)"/>
          <p:cNvSpPr txBox="1"/>
          <p:nvPr/>
        </p:nvSpPr>
        <p:spPr>
          <a:xfrm>
            <a:off x="6665976" y="13203936"/>
            <a:ext cx="1207008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101010"/>
                </a:solidFill>
                <a:latin typeface="Times New Roman"/>
              </a:defRPr>
            </a:pPr>
            <a:r>
              <a:t>Anion (IL⁻)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Electric current and ionic-liquid-assisted starch disruption — revised diagram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